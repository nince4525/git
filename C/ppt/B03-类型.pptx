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1"/>
  </p:notesMasterIdLst>
  <p:sldIdLst>
    <p:sldId id="256" r:id="rId2"/>
    <p:sldId id="269" r:id="rId3"/>
    <p:sldId id="267" r:id="rId4"/>
    <p:sldId id="268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E6F38-CE0C-4D08-A2F9-7C5C72D1B8A7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C0248-1C6B-4F64-A51C-E50C24A02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25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29F9-2DF6-4E99-87FA-A86E21EE8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487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2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614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36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45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9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4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77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58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9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5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1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类型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EF935-DA90-B9EF-8476-E0861137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6D793-B4AC-6B1D-1AE4-AAC75175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简而言之，</a:t>
            </a:r>
            <a:r>
              <a:rPr lang="zh-CN" altLang="en-US" b="1" dirty="0">
                <a:solidFill>
                  <a:srgbClr val="FF0000"/>
                </a:solidFill>
              </a:rPr>
              <a:t>对象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object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就是计算机内一段</a:t>
            </a:r>
            <a:r>
              <a:rPr lang="zh-CN" altLang="en-US" b="1" dirty="0">
                <a:solidFill>
                  <a:srgbClr val="FF0000"/>
                </a:solidFill>
              </a:rPr>
              <a:t>带有类型的内存。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语言中，对象最常用的称呼是</a:t>
            </a:r>
            <a:r>
              <a:rPr lang="zh-CN" altLang="en-US" b="1" dirty="0">
                <a:solidFill>
                  <a:srgbClr val="FF0000"/>
                </a:solidFill>
              </a:rPr>
              <a:t>变量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variable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67ED627-253D-C73A-4035-CCC1D8A03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004012"/>
              </p:ext>
            </p:extLst>
          </p:nvPr>
        </p:nvGraphicFramePr>
        <p:xfrm>
          <a:off x="2385447" y="3366270"/>
          <a:ext cx="7421106" cy="6068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3386">
                  <a:extLst>
                    <a:ext uri="{9D8B030D-6E8A-4147-A177-3AD203B41FA5}">
                      <a16:colId xmlns:a16="http://schemas.microsoft.com/office/drawing/2014/main" val="340328250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32902313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948113888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860539433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66008313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909426436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68213855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31015498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977787847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752274915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09811256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88591935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025568035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1762374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636533138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34634352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55917979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27585027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66668404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644560386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192043514"/>
                    </a:ext>
                  </a:extLst>
                </a:gridCol>
              </a:tblGrid>
              <a:tr h="606858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347185"/>
                  </a:ext>
                </a:extLst>
              </a:tr>
            </a:tbl>
          </a:graphicData>
        </a:graphic>
      </p:graphicFrame>
      <p:sp>
        <p:nvSpPr>
          <p:cNvPr id="5" name="右大括号 4">
            <a:extLst>
              <a:ext uri="{FF2B5EF4-FFF2-40B4-BE49-F238E27FC236}">
                <a16:creationId xmlns:a16="http://schemas.microsoft.com/office/drawing/2014/main" id="{26F31F63-59C5-C85C-90E7-D09513039D78}"/>
              </a:ext>
            </a:extLst>
          </p:cNvPr>
          <p:cNvSpPr/>
          <p:nvPr/>
        </p:nvSpPr>
        <p:spPr>
          <a:xfrm rot="5400000">
            <a:off x="5602309" y="3296987"/>
            <a:ext cx="283336" cy="1725768"/>
          </a:xfrm>
          <a:prstGeom prst="rightBrace">
            <a:avLst>
              <a:gd name="adj1" fmla="val 8333"/>
              <a:gd name="adj2" fmla="val 49083"/>
            </a:avLst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D3161E-5E58-E8DD-896C-C01043EE42DA}"/>
              </a:ext>
            </a:extLst>
          </p:cNvPr>
          <p:cNvSpPr txBox="1"/>
          <p:nvPr/>
        </p:nvSpPr>
        <p:spPr>
          <a:xfrm>
            <a:off x="4394393" y="4338338"/>
            <a:ext cx="2868555" cy="283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对象占据的内存（连续的字节）</a:t>
            </a:r>
          </a:p>
        </p:txBody>
      </p:sp>
    </p:spTree>
    <p:extLst>
      <p:ext uri="{BB962C8B-B14F-4D97-AF65-F5344CB8AC3E}">
        <p14:creationId xmlns:p14="http://schemas.microsoft.com/office/powerpoint/2010/main" val="6354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6D728-28A1-79F6-782B-6E7EB104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629C6-4A16-7F08-1874-B231C57D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对象的物理属性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D0C0409-702D-2A3E-B4BD-F0EAB33A7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471222"/>
              </p:ext>
            </p:extLst>
          </p:nvPr>
        </p:nvGraphicFramePr>
        <p:xfrm>
          <a:off x="2385447" y="2001110"/>
          <a:ext cx="7421106" cy="6068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3386">
                  <a:extLst>
                    <a:ext uri="{9D8B030D-6E8A-4147-A177-3AD203B41FA5}">
                      <a16:colId xmlns:a16="http://schemas.microsoft.com/office/drawing/2014/main" val="340328250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32902313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948113888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860539433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66008313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909426436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68213855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31015498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977787847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752274915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09811256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88591935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025568035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1762374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636533138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34634352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55917979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27585027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66668404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644560386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192043514"/>
                    </a:ext>
                  </a:extLst>
                </a:gridCol>
              </a:tblGrid>
              <a:tr h="606858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347185"/>
                  </a:ext>
                </a:extLst>
              </a:tr>
            </a:tbl>
          </a:graphicData>
        </a:graphic>
      </p:graphicFrame>
      <p:sp>
        <p:nvSpPr>
          <p:cNvPr id="7" name="右大括号 6">
            <a:extLst>
              <a:ext uri="{FF2B5EF4-FFF2-40B4-BE49-F238E27FC236}">
                <a16:creationId xmlns:a16="http://schemas.microsoft.com/office/drawing/2014/main" id="{70D7174A-E764-DD96-8514-6148384FC28F}"/>
              </a:ext>
            </a:extLst>
          </p:cNvPr>
          <p:cNvSpPr/>
          <p:nvPr/>
        </p:nvSpPr>
        <p:spPr>
          <a:xfrm rot="5400000">
            <a:off x="5602309" y="1931827"/>
            <a:ext cx="283336" cy="1725768"/>
          </a:xfrm>
          <a:prstGeom prst="rightBrace">
            <a:avLst>
              <a:gd name="adj1" fmla="val 8333"/>
              <a:gd name="adj2" fmla="val 49083"/>
            </a:avLst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7A4127-2007-49C0-6128-B801B760DA55}"/>
              </a:ext>
            </a:extLst>
          </p:cNvPr>
          <p:cNvSpPr txBox="1"/>
          <p:nvPr/>
        </p:nvSpPr>
        <p:spPr>
          <a:xfrm>
            <a:off x="4394393" y="2973178"/>
            <a:ext cx="2868555" cy="283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对象占据的内存（连续的字节）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B1D5E1-879B-EECF-0BCA-28C7DA2013FA}"/>
              </a:ext>
            </a:extLst>
          </p:cNvPr>
          <p:cNvSpPr txBox="1"/>
          <p:nvPr/>
        </p:nvSpPr>
        <p:spPr>
          <a:xfrm>
            <a:off x="1333942" y="3761076"/>
            <a:ext cx="9684498" cy="230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dirty="0"/>
              <a:t>地址</a:t>
            </a:r>
            <a:r>
              <a:rPr lang="en-US" altLang="zh-CN" sz="1600" dirty="0"/>
              <a:t>(address)</a:t>
            </a:r>
            <a:r>
              <a:rPr lang="zh-CN" altLang="en-US" sz="1600" dirty="0"/>
              <a:t>：连续字节中最低字节的地址，由系统决定</a:t>
            </a:r>
            <a:endParaRPr lang="en-US" altLang="zh-CN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dirty="0"/>
              <a:t>对齐要求</a:t>
            </a:r>
            <a:r>
              <a:rPr lang="en-US" altLang="zh-CN" sz="1600" dirty="0"/>
              <a:t>(alignment)</a:t>
            </a:r>
            <a:r>
              <a:rPr lang="zh-CN" altLang="en-US" sz="1600" dirty="0"/>
              <a:t>：</a:t>
            </a:r>
            <a:r>
              <a:rPr lang="en-US" altLang="zh-CN" sz="1600" dirty="0"/>
              <a:t>address % alignment = 0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dirty="0"/>
              <a:t>对象名</a:t>
            </a:r>
            <a:r>
              <a:rPr lang="en-US" altLang="zh-CN" sz="1600" dirty="0"/>
              <a:t>(name)</a:t>
            </a:r>
            <a:r>
              <a:rPr lang="zh-CN" altLang="en-US" sz="1600" dirty="0"/>
              <a:t>：有名字的对象称为</a:t>
            </a:r>
            <a:r>
              <a:rPr lang="zh-CN" altLang="en-US" sz="1600" b="1" dirty="0">
                <a:solidFill>
                  <a:srgbClr val="FF0000"/>
                </a:solidFill>
              </a:rPr>
              <a:t>具名对象</a:t>
            </a:r>
            <a:r>
              <a:rPr lang="en-US" altLang="zh-CN" sz="1600" b="1" dirty="0">
                <a:solidFill>
                  <a:srgbClr val="FF0000"/>
                </a:solidFill>
              </a:rPr>
              <a:t>(</a:t>
            </a:r>
            <a:r>
              <a:rPr lang="en-US" altLang="zh-CN" sz="1600" b="1" i="1" dirty="0">
                <a:solidFill>
                  <a:srgbClr val="FF0000"/>
                </a:solidFill>
              </a:rPr>
              <a:t>named object</a:t>
            </a:r>
            <a:r>
              <a:rPr lang="en-US" altLang="zh-CN" sz="1600" b="1" dirty="0">
                <a:solidFill>
                  <a:srgbClr val="FF0000"/>
                </a:solidFill>
              </a:rPr>
              <a:t>)</a:t>
            </a:r>
            <a:r>
              <a:rPr lang="zh-CN" altLang="en-US" sz="1600" dirty="0"/>
              <a:t>，否则称为</a:t>
            </a:r>
            <a:r>
              <a:rPr lang="zh-CN" altLang="en-US" sz="1600" b="1" dirty="0">
                <a:solidFill>
                  <a:srgbClr val="FF0000"/>
                </a:solidFill>
              </a:rPr>
              <a:t>匿名对象</a:t>
            </a:r>
            <a:r>
              <a:rPr lang="en-US" altLang="zh-CN" sz="1600" b="1" dirty="0">
                <a:solidFill>
                  <a:srgbClr val="FF0000"/>
                </a:solidFill>
              </a:rPr>
              <a:t>(</a:t>
            </a:r>
            <a:r>
              <a:rPr lang="en-US" altLang="zh-CN" sz="1600" b="1" i="1" dirty="0">
                <a:solidFill>
                  <a:srgbClr val="FF0000"/>
                </a:solidFill>
              </a:rPr>
              <a:t>unnamed object</a:t>
            </a:r>
            <a:r>
              <a:rPr lang="en-US" altLang="zh-CN" sz="1600" b="1" dirty="0">
                <a:solidFill>
                  <a:srgbClr val="FF0000"/>
                </a:solidFill>
              </a:rPr>
              <a:t>)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dirty="0"/>
              <a:t>类型</a:t>
            </a:r>
            <a:r>
              <a:rPr lang="en-US" altLang="zh-CN" sz="1600" dirty="0"/>
              <a:t>(type)</a:t>
            </a:r>
            <a:r>
              <a:rPr lang="zh-CN" altLang="en-US" sz="1600" dirty="0"/>
              <a:t>：最核心属性</a:t>
            </a:r>
            <a:endParaRPr lang="en-US" altLang="zh-CN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dirty="0"/>
              <a:t>大小</a:t>
            </a:r>
            <a:r>
              <a:rPr lang="en-US" altLang="zh-CN" sz="1600" dirty="0"/>
              <a:t>(size)</a:t>
            </a:r>
            <a:r>
              <a:rPr lang="zh-CN" altLang="en-US" sz="1600" dirty="0"/>
              <a:t>：连续字节的数量</a:t>
            </a:r>
            <a:endParaRPr lang="en-US" altLang="zh-CN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dirty="0"/>
              <a:t>表示</a:t>
            </a:r>
            <a:r>
              <a:rPr lang="en-US" altLang="zh-CN" sz="1600" dirty="0"/>
              <a:t>(representation)</a:t>
            </a:r>
            <a:r>
              <a:rPr lang="zh-CN" altLang="en-US" sz="1600" dirty="0"/>
              <a:t>：连续的二进制串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4762C15-2C6D-EAB7-32AC-00C4F70CA3D8}"/>
              </a:ext>
            </a:extLst>
          </p:cNvPr>
          <p:cNvSpPr txBox="1"/>
          <p:nvPr/>
        </p:nvSpPr>
        <p:spPr>
          <a:xfrm>
            <a:off x="1173559" y="3256514"/>
            <a:ext cx="9844881" cy="504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i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&lt;Address, Object Type, Name, Size, Object Representation, Alignment&gt;</a:t>
            </a:r>
            <a:endParaRPr lang="zh-CN" altLang="en-US" sz="2000" b="1" i="1" dirty="0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79F665-59F5-E0F5-6679-3F855E914656}"/>
              </a:ext>
            </a:extLst>
          </p:cNvPr>
          <p:cNvSpPr txBox="1"/>
          <p:nvPr/>
        </p:nvSpPr>
        <p:spPr>
          <a:xfrm>
            <a:off x="3651200" y="2188164"/>
            <a:ext cx="4889598" cy="2481672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对象类型的核心地位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决定了对象的大小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决定了对象的默认对齐要求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决定了如何理解对象的表示</a:t>
            </a:r>
          </a:p>
        </p:txBody>
      </p:sp>
    </p:spTree>
    <p:extLst>
      <p:ext uri="{BB962C8B-B14F-4D97-AF65-F5344CB8AC3E}">
        <p14:creationId xmlns:p14="http://schemas.microsoft.com/office/powerpoint/2010/main" val="202814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4A3DD-563E-0880-AF6D-919C1153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4E7EF-C5BE-5EF1-2DDA-8D22D475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对象类型的核心地位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BF584A7-8CBB-D230-4300-404871AE4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15903"/>
              </p:ext>
            </p:extLst>
          </p:nvPr>
        </p:nvGraphicFramePr>
        <p:xfrm>
          <a:off x="2385447" y="2239372"/>
          <a:ext cx="7421106" cy="6068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3386">
                  <a:extLst>
                    <a:ext uri="{9D8B030D-6E8A-4147-A177-3AD203B41FA5}">
                      <a16:colId xmlns:a16="http://schemas.microsoft.com/office/drawing/2014/main" val="340328250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32902313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948113888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860539433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66008313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909426436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68213855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31015498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977787847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752274915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09811256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88591935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025568035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17623744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1636533138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346343521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55917979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2275850270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666684049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644560386"/>
                    </a:ext>
                  </a:extLst>
                </a:gridCol>
                <a:gridCol w="353386">
                  <a:extLst>
                    <a:ext uri="{9D8B030D-6E8A-4147-A177-3AD203B41FA5}">
                      <a16:colId xmlns:a16="http://schemas.microsoft.com/office/drawing/2014/main" val="3192043514"/>
                    </a:ext>
                  </a:extLst>
                </a:gridCol>
              </a:tblGrid>
              <a:tr h="606858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347185"/>
                  </a:ext>
                </a:extLst>
              </a:tr>
            </a:tbl>
          </a:graphicData>
        </a:graphic>
      </p:graphicFrame>
      <p:sp>
        <p:nvSpPr>
          <p:cNvPr id="7" name="右大括号 6">
            <a:extLst>
              <a:ext uri="{FF2B5EF4-FFF2-40B4-BE49-F238E27FC236}">
                <a16:creationId xmlns:a16="http://schemas.microsoft.com/office/drawing/2014/main" id="{EBC06FC7-1F01-2CCA-4316-DFE2B94ACC27}"/>
              </a:ext>
            </a:extLst>
          </p:cNvPr>
          <p:cNvSpPr/>
          <p:nvPr/>
        </p:nvSpPr>
        <p:spPr>
          <a:xfrm rot="5400000">
            <a:off x="5602309" y="2170089"/>
            <a:ext cx="283336" cy="1725768"/>
          </a:xfrm>
          <a:prstGeom prst="rightBrace">
            <a:avLst>
              <a:gd name="adj1" fmla="val 8333"/>
              <a:gd name="adj2" fmla="val 49083"/>
            </a:avLst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336E31-6742-7577-B0E3-63CB8CCBF690}"/>
              </a:ext>
            </a:extLst>
          </p:cNvPr>
          <p:cNvSpPr txBox="1"/>
          <p:nvPr/>
        </p:nvSpPr>
        <p:spPr>
          <a:xfrm>
            <a:off x="4394393" y="3211440"/>
            <a:ext cx="2868555" cy="283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010010…01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ECA57A-5952-CA02-F3B2-CBDBA9F920BE}"/>
              </a:ext>
            </a:extLst>
          </p:cNvPr>
          <p:cNvSpPr txBox="1"/>
          <p:nvPr/>
        </p:nvSpPr>
        <p:spPr>
          <a:xfrm>
            <a:off x="2385447" y="4465874"/>
            <a:ext cx="1944835" cy="581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对象的表示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A1C402-5E24-97D8-F0DA-FC72FBB402F7}"/>
              </a:ext>
            </a:extLst>
          </p:cNvPr>
          <p:cNvSpPr txBox="1"/>
          <p:nvPr/>
        </p:nvSpPr>
        <p:spPr>
          <a:xfrm>
            <a:off x="7861720" y="4465874"/>
            <a:ext cx="1944835" cy="581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对象的值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2B3943F-058C-FC18-BA6D-90D7A7CECA7E}"/>
              </a:ext>
            </a:extLst>
          </p:cNvPr>
          <p:cNvGrpSpPr/>
          <p:nvPr/>
        </p:nvGrpSpPr>
        <p:grpSpPr>
          <a:xfrm>
            <a:off x="4386329" y="3690272"/>
            <a:ext cx="3419341" cy="2136942"/>
            <a:chOff x="4386329" y="3429000"/>
            <a:chExt cx="3419341" cy="2136942"/>
          </a:xfrm>
        </p:grpSpPr>
        <p:sp>
          <p:nvSpPr>
            <p:cNvPr id="9" name="箭头: 左右 8">
              <a:extLst>
                <a:ext uri="{FF2B5EF4-FFF2-40B4-BE49-F238E27FC236}">
                  <a16:creationId xmlns:a16="http://schemas.microsoft.com/office/drawing/2014/main" id="{D52EF313-8E85-5721-D1A8-66F0989E2CF1}"/>
                </a:ext>
              </a:extLst>
            </p:cNvPr>
            <p:cNvSpPr/>
            <p:nvPr/>
          </p:nvSpPr>
          <p:spPr>
            <a:xfrm>
              <a:off x="4386329" y="4146997"/>
              <a:ext cx="3419341" cy="779172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35BB9FF-582A-FD42-B1F1-30ABC2DC273D}"/>
                </a:ext>
              </a:extLst>
            </p:cNvPr>
            <p:cNvSpPr/>
            <p:nvPr/>
          </p:nvSpPr>
          <p:spPr>
            <a:xfrm>
              <a:off x="5027529" y="3429000"/>
              <a:ext cx="2136942" cy="213694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+mn-ea"/>
                </a:rPr>
                <a:t>对象类型</a:t>
              </a:r>
            </a:p>
          </p:txBody>
        </p:sp>
      </p:grp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250D14F1-2A5E-9B63-AF40-8B92A2364638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B03-type/obj-rep2val.c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32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/>
              <a:t>的常用类型</a:t>
            </a:r>
            <a:r>
              <a:rPr lang="zh-CN" altLang="en-US" dirty="0"/>
              <a:t>的表示范围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232448"/>
              </p:ext>
            </p:extLst>
          </p:nvPr>
        </p:nvGraphicFramePr>
        <p:xfrm>
          <a:off x="1141411" y="1352282"/>
          <a:ext cx="9906000" cy="4584882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984408">
                  <a:extLst>
                    <a:ext uri="{9D8B030D-6E8A-4147-A177-3AD203B41FA5}">
                      <a16:colId xmlns:a16="http://schemas.microsoft.com/office/drawing/2014/main" val="1444268581"/>
                    </a:ext>
                  </a:extLst>
                </a:gridCol>
                <a:gridCol w="2023353">
                  <a:extLst>
                    <a:ext uri="{9D8B030D-6E8A-4147-A177-3AD203B41FA5}">
                      <a16:colId xmlns:a16="http://schemas.microsoft.com/office/drawing/2014/main" val="350994731"/>
                    </a:ext>
                  </a:extLst>
                </a:gridCol>
                <a:gridCol w="3022060">
                  <a:extLst>
                    <a:ext uri="{9D8B030D-6E8A-4147-A177-3AD203B41FA5}">
                      <a16:colId xmlns:a16="http://schemas.microsoft.com/office/drawing/2014/main" val="4189086558"/>
                    </a:ext>
                  </a:extLst>
                </a:gridCol>
                <a:gridCol w="2876179">
                  <a:extLst>
                    <a:ext uri="{9D8B030D-6E8A-4147-A177-3AD203B41FA5}">
                      <a16:colId xmlns:a16="http://schemas.microsoft.com/office/drawing/2014/main" val="618746298"/>
                    </a:ext>
                  </a:extLst>
                </a:gridCol>
              </a:tblGrid>
              <a:tr h="5998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占用字节数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有符号表示范围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无符号表示范围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223202"/>
                  </a:ext>
                </a:extLst>
              </a:tr>
              <a:tr h="5998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char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-128~127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0~255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865900"/>
                  </a:ext>
                </a:extLst>
              </a:tr>
              <a:tr h="5998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short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-32768~32767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0~65535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640124"/>
                  </a:ext>
                </a:extLst>
              </a:tr>
              <a:tr h="6963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int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ea typeface="+mn-ea"/>
                        </a:rPr>
                        <a:t>±21</a:t>
                      </a:r>
                      <a:r>
                        <a:rPr lang="zh-CN" altLang="en-US" dirty="0">
                          <a:latin typeface="Consolas" panose="020B0609020204030204" pitchFamily="49" charset="0"/>
                          <a:ea typeface="+mn-ea"/>
                        </a:rPr>
                        <a:t>亿</a:t>
                      </a:r>
                      <a:endParaRPr lang="en-US" altLang="zh-CN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ea typeface="+mn-ea"/>
                        </a:rPr>
                        <a:t>10</a:t>
                      </a:r>
                      <a:r>
                        <a:rPr lang="zh-CN" altLang="en-US" dirty="0">
                          <a:latin typeface="Consolas" panose="020B0609020204030204" pitchFamily="49" charset="0"/>
                          <a:ea typeface="+mn-ea"/>
                        </a:rPr>
                        <a:t>位十进制数字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0~42</a:t>
                      </a:r>
                      <a:r>
                        <a:rPr lang="zh-CN" altLang="en-US" dirty="0">
                          <a:latin typeface="Consolas" panose="020B0609020204030204" pitchFamily="49" charset="0"/>
                        </a:rPr>
                        <a:t>亿</a:t>
                      </a:r>
                      <a:endParaRPr lang="en-US" altLang="zh-CN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ea typeface="+mn-ea"/>
                        </a:rPr>
                        <a:t>10</a:t>
                      </a:r>
                      <a:r>
                        <a:rPr lang="zh-CN" altLang="en-US" dirty="0">
                          <a:latin typeface="Consolas" panose="020B0609020204030204" pitchFamily="49" charset="0"/>
                          <a:ea typeface="+mn-ea"/>
                        </a:rPr>
                        <a:t>位十进制数字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852954"/>
                  </a:ext>
                </a:extLst>
              </a:tr>
              <a:tr h="6963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long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32bits: 4</a:t>
                      </a:r>
                    </a:p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64bits: 8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  <a:ea typeface="+mn-ea"/>
                        </a:rPr>
                        <a:t>同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  <a:ea typeface="+mn-ea"/>
                        </a:rPr>
                        <a:t>int</a:t>
                      </a:r>
                      <a:endParaRPr lang="en-US" altLang="zh-CN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ea typeface="+mn-ea"/>
                        </a:rPr>
                        <a:t>19</a:t>
                      </a:r>
                      <a:r>
                        <a:rPr lang="zh-CN" altLang="en-US" dirty="0">
                          <a:latin typeface="Consolas" panose="020B0609020204030204" pitchFamily="49" charset="0"/>
                          <a:ea typeface="+mn-ea"/>
                        </a:rPr>
                        <a:t>位十进制数字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同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</a:rPr>
                        <a:t>int</a:t>
                      </a:r>
                      <a:endParaRPr lang="en-US" altLang="zh-CN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ea typeface="+mn-ea"/>
                        </a:rPr>
                        <a:t>19</a:t>
                      </a:r>
                      <a:r>
                        <a:rPr lang="zh-CN" altLang="en-US" dirty="0">
                          <a:latin typeface="Consolas" panose="020B0609020204030204" pitchFamily="49" charset="0"/>
                          <a:ea typeface="+mn-ea"/>
                        </a:rPr>
                        <a:t>位十进制数字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980391"/>
                  </a:ext>
                </a:extLst>
              </a:tr>
              <a:tr h="6963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float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依赖于实现</a:t>
                      </a:r>
                      <a:endParaRPr lang="en-US" altLang="zh-CN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（例如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IEEE</a:t>
                      </a:r>
                      <a:r>
                        <a:rPr lang="zh-CN" altLang="en-US" dirty="0">
                          <a:latin typeface="Consolas" panose="020B0609020204030204" pitchFamily="49" charset="0"/>
                        </a:rPr>
                        <a:t>格式）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ea typeface="+mn-ea"/>
                        </a:rPr>
                        <a:t>±3x10</a:t>
                      </a:r>
                      <a:r>
                        <a:rPr lang="en-US" altLang="zh-CN" baseline="30000" dirty="0">
                          <a:latin typeface="Consolas" panose="020B0609020204030204" pitchFamily="49" charset="0"/>
                          <a:ea typeface="+mn-ea"/>
                        </a:rPr>
                        <a:t>38</a:t>
                      </a:r>
                      <a:endParaRPr lang="zh-CN" altLang="en-US" baseline="30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N/A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206048"/>
                  </a:ext>
                </a:extLst>
              </a:tr>
              <a:tr h="6963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double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Consolas" panose="020B0609020204030204" pitchFamily="49" charset="0"/>
                        </a:rPr>
                        <a:t>依赖于实现</a:t>
                      </a:r>
                      <a:endParaRPr lang="en-US" altLang="zh-CN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Consolas" panose="020B0609020204030204" pitchFamily="49" charset="0"/>
                        </a:rPr>
                        <a:t>（例如</a:t>
                      </a:r>
                      <a:r>
                        <a:rPr lang="en-US" altLang="zh-CN" dirty="0">
                          <a:latin typeface="Consolas" panose="020B0609020204030204" pitchFamily="49" charset="0"/>
                        </a:rPr>
                        <a:t>IEEE</a:t>
                      </a:r>
                      <a:r>
                        <a:rPr lang="zh-CN" altLang="en-US" dirty="0">
                          <a:latin typeface="Consolas" panose="020B0609020204030204" pitchFamily="49" charset="0"/>
                        </a:rPr>
                        <a:t>格式）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ea typeface="+mn-ea"/>
                        </a:rPr>
                        <a:t>±1x10</a:t>
                      </a:r>
                      <a:r>
                        <a:rPr lang="en-US" altLang="zh-CN" baseline="30000" dirty="0">
                          <a:latin typeface="Consolas" panose="020B0609020204030204" pitchFamily="49" charset="0"/>
                          <a:ea typeface="+mn-ea"/>
                        </a:rPr>
                        <a:t>308</a:t>
                      </a:r>
                      <a:endParaRPr lang="zh-CN" altLang="en-US" baseline="30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N/A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595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22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整数溢出（以</a:t>
            </a:r>
            <a:r>
              <a:rPr lang="en-US" altLang="zh-CN" dirty="0"/>
              <a:t>32</a:t>
            </a:r>
            <a:r>
              <a:rPr lang="zh-CN" altLang="en-US" dirty="0"/>
              <a:t>位整数为例）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919041"/>
              </p:ext>
            </p:extLst>
          </p:nvPr>
        </p:nvGraphicFramePr>
        <p:xfrm>
          <a:off x="3800592" y="2447619"/>
          <a:ext cx="6878535" cy="370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2845">
                  <a:extLst>
                    <a:ext uri="{9D8B030D-6E8A-4147-A177-3AD203B41FA5}">
                      <a16:colId xmlns:a16="http://schemas.microsoft.com/office/drawing/2014/main" val="218234256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827967580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369674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x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89762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221252"/>
              </p:ext>
            </p:extLst>
          </p:nvPr>
        </p:nvGraphicFramePr>
        <p:xfrm>
          <a:off x="3800591" y="2076779"/>
          <a:ext cx="6878535" cy="370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2845">
                  <a:extLst>
                    <a:ext uri="{9D8B030D-6E8A-4147-A177-3AD203B41FA5}">
                      <a16:colId xmlns:a16="http://schemas.microsoft.com/office/drawing/2014/main" val="218234256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827967580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369674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89762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310094"/>
              </p:ext>
            </p:extLst>
          </p:nvPr>
        </p:nvGraphicFramePr>
        <p:xfrm>
          <a:off x="3800591" y="2818459"/>
          <a:ext cx="2292845" cy="370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2845">
                  <a:extLst>
                    <a:ext uri="{9D8B030D-6E8A-4147-A177-3AD203B41FA5}">
                      <a16:colId xmlns:a16="http://schemas.microsoft.com/office/drawing/2014/main" val="218234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运算产生低位进位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897623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843932"/>
              </p:ext>
            </p:extLst>
          </p:nvPr>
        </p:nvGraphicFramePr>
        <p:xfrm>
          <a:off x="3800592" y="4111049"/>
          <a:ext cx="6878535" cy="370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2845">
                  <a:extLst>
                    <a:ext uri="{9D8B030D-6E8A-4147-A177-3AD203B41FA5}">
                      <a16:colId xmlns:a16="http://schemas.microsoft.com/office/drawing/2014/main" val="218234256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827967580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369674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y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897623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272714"/>
              </p:ext>
            </p:extLst>
          </p:nvPr>
        </p:nvGraphicFramePr>
        <p:xfrm>
          <a:off x="3800591" y="3740209"/>
          <a:ext cx="6878535" cy="370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2845">
                  <a:extLst>
                    <a:ext uri="{9D8B030D-6E8A-4147-A177-3AD203B41FA5}">
                      <a16:colId xmlns:a16="http://schemas.microsoft.com/office/drawing/2014/main" val="218234256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827967580"/>
                    </a:ext>
                  </a:extLst>
                </a:gridCol>
                <a:gridCol w="2292845">
                  <a:extLst>
                    <a:ext uri="{9D8B030D-6E8A-4147-A177-3AD203B41FA5}">
                      <a16:colId xmlns:a16="http://schemas.microsoft.com/office/drawing/2014/main" val="369674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897623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057700"/>
              </p:ext>
            </p:extLst>
          </p:nvPr>
        </p:nvGraphicFramePr>
        <p:xfrm>
          <a:off x="1507746" y="4111049"/>
          <a:ext cx="2292845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92845">
                  <a:extLst>
                    <a:ext uri="{9D8B030D-6E8A-4147-A177-3AD203B41FA5}">
                      <a16:colId xmlns:a16="http://schemas.microsoft.com/office/drawing/2014/main" val="218234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89762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11662"/>
              </p:ext>
            </p:extLst>
          </p:nvPr>
        </p:nvGraphicFramePr>
        <p:xfrm>
          <a:off x="1507745" y="3740209"/>
          <a:ext cx="2292845" cy="370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2845">
                  <a:extLst>
                    <a:ext uri="{9D8B030D-6E8A-4147-A177-3AD203B41FA5}">
                      <a16:colId xmlns:a16="http://schemas.microsoft.com/office/drawing/2014/main" val="218234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溢出位</a:t>
                      </a:r>
                      <a:endParaRPr lang="zh-CN" altLang="en-US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897623"/>
                  </a:ext>
                </a:extLst>
              </a:tr>
            </a:tbl>
          </a:graphicData>
        </a:graphic>
      </p:graphicFrame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EA84D60A-75EE-E5A7-C4F4-670700518F83}"/>
              </a:ext>
            </a:extLst>
          </p:cNvPr>
          <p:cNvSpPr/>
          <p:nvPr/>
        </p:nvSpPr>
        <p:spPr>
          <a:xfrm>
            <a:off x="0" y="614531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B03-type/int-</a:t>
            </a:r>
            <a:r>
              <a:rPr lang="en-US" altLang="zh-CN" sz="1400" dirty="0" err="1">
                <a:latin typeface="Consolas" panose="020B0609020204030204" pitchFamily="49" charset="0"/>
              </a:rPr>
              <a:t>overflow.c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2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6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9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关于浮点数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因为定长存储会带来精度误差，所以浮点数不能精确比较。例如：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float a = 1.1;</a:t>
            </a:r>
          </a:p>
          <a:p>
            <a:pPr marL="0" indent="0">
              <a:buNone/>
            </a:pPr>
            <a:r>
              <a:rPr lang="en-US" altLang="zh-CN" dirty="0"/>
              <a:t>if (a == 1.1) …</a:t>
            </a:r>
          </a:p>
          <a:p>
            <a:pPr marL="0" indent="0">
              <a:buNone/>
            </a:pPr>
            <a:r>
              <a:rPr lang="zh-CN" altLang="en-US" dirty="0"/>
              <a:t>这个比较可能得到不是预期的结果。</a:t>
            </a:r>
            <a:endParaRPr lang="en-US" altLang="zh-CN" dirty="0"/>
          </a:p>
          <a:p>
            <a:r>
              <a:rPr lang="zh-CN" altLang="en-US" dirty="0"/>
              <a:t>正确的方法是：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if (</a:t>
            </a:r>
            <a:r>
              <a:rPr lang="en-US" altLang="zh-CN" b="1" i="1" dirty="0" err="1">
                <a:solidFill>
                  <a:srgbClr val="FF0000"/>
                </a:solidFill>
              </a:rPr>
              <a:t>fabs</a:t>
            </a:r>
            <a:r>
              <a:rPr lang="en-US" altLang="zh-CN" b="1" i="1" dirty="0">
                <a:solidFill>
                  <a:srgbClr val="FF0000"/>
                </a:solidFill>
              </a:rPr>
              <a:t>(a – 1.1) &lt; 1E-7</a:t>
            </a:r>
            <a:r>
              <a:rPr lang="en-US" altLang="zh-CN" dirty="0"/>
              <a:t>) …</a:t>
            </a:r>
            <a:endParaRPr lang="zh-CN" altLang="en-US" dirty="0"/>
          </a:p>
        </p:txBody>
      </p:sp>
      <p:sp>
        <p:nvSpPr>
          <p:cNvPr id="4" name="矩形标注 3"/>
          <p:cNvSpPr/>
          <p:nvPr/>
        </p:nvSpPr>
        <p:spPr>
          <a:xfrm>
            <a:off x="7035974" y="2020247"/>
            <a:ext cx="3793787" cy="2263303"/>
          </a:xfrm>
          <a:prstGeom prst="wedgeRectCallout">
            <a:avLst>
              <a:gd name="adj1" fmla="val -72026"/>
              <a:gd name="adj2" fmla="val 37173"/>
            </a:avLst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latin typeface="Consolas" panose="020B0609020204030204" pitchFamily="49" charset="0"/>
              </a:rPr>
              <a:t>为了能使用</a:t>
            </a:r>
            <a:r>
              <a:rPr lang="en-US" altLang="zh-CN" dirty="0" err="1">
                <a:latin typeface="Consolas" panose="020B0609020204030204" pitchFamily="49" charset="0"/>
              </a:rPr>
              <a:t>fabs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  <a:r>
              <a:rPr lang="zh-CN" altLang="en-US" dirty="0">
                <a:latin typeface="Consolas" panose="020B0609020204030204" pitchFamily="49" charset="0"/>
              </a:rPr>
              <a:t>函数，要在源文件中使用：</a:t>
            </a:r>
            <a:endParaRPr lang="en-US" altLang="zh-CN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math.h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algn="just"/>
            <a:endParaRPr lang="en-US" altLang="zh-CN" dirty="0">
              <a:latin typeface="Consolas" panose="020B0609020204030204" pitchFamily="49" charset="0"/>
            </a:endParaRPr>
          </a:p>
          <a:p>
            <a:pPr algn="just"/>
            <a:r>
              <a:rPr lang="zh-CN" altLang="en-US" dirty="0">
                <a:latin typeface="Consolas" panose="020B0609020204030204" pitchFamily="49" charset="0"/>
              </a:rPr>
              <a:t>如果</a:t>
            </a:r>
            <a:r>
              <a:rPr lang="en-US" altLang="zh-CN" dirty="0" err="1">
                <a:latin typeface="Consolas" panose="020B0609020204030204" pitchFamily="49" charset="0"/>
              </a:rPr>
              <a:t>gcc</a:t>
            </a:r>
            <a:r>
              <a:rPr lang="zh-CN" altLang="en-US" dirty="0">
                <a:latin typeface="Consolas" panose="020B0609020204030204" pitchFamily="49" charset="0"/>
              </a:rPr>
              <a:t>链接时提示找不到</a:t>
            </a:r>
            <a:r>
              <a:rPr lang="en-US" altLang="zh-CN" dirty="0" err="1">
                <a:latin typeface="Consolas" panose="020B0609020204030204" pitchFamily="49" charset="0"/>
              </a:rPr>
              <a:t>fabs</a:t>
            </a:r>
            <a:r>
              <a:rPr lang="zh-CN" altLang="en-US" dirty="0">
                <a:latin typeface="Consolas" panose="020B0609020204030204" pitchFamily="49" charset="0"/>
              </a:rPr>
              <a:t>，那么这么做：</a:t>
            </a:r>
            <a:endParaRPr lang="en-US" altLang="zh-CN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2000" dirty="0" err="1">
                <a:latin typeface="Consolas" panose="020B0609020204030204" pitchFamily="49" charset="0"/>
              </a:rPr>
              <a:t>gcc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f.c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b="1" i="1" dirty="0">
                <a:solidFill>
                  <a:srgbClr val="FFC000"/>
                </a:solidFill>
                <a:latin typeface="Consolas" panose="020B0609020204030204" pitchFamily="49" charset="0"/>
              </a:rPr>
              <a:t>-lm</a:t>
            </a:r>
            <a:endParaRPr lang="zh-CN" altLang="en-US" sz="2000" b="1" i="1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CC244DBE-9DAF-0438-6DB7-313A8FB1EC85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B03-type/float-*.c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52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字符在内存中的存储是其</a:t>
            </a:r>
            <a:r>
              <a:rPr lang="en-US" altLang="zh-CN" dirty="0"/>
              <a:t>ASCII</a:t>
            </a:r>
            <a:r>
              <a:rPr lang="zh-CN" altLang="en-US" dirty="0"/>
              <a:t>码。</a:t>
            </a:r>
            <a:endParaRPr lang="en-US" altLang="zh-CN" dirty="0"/>
          </a:p>
          <a:p>
            <a:r>
              <a:rPr lang="en-US" altLang="zh-CN" dirty="0"/>
              <a:t>ASCII</a:t>
            </a:r>
            <a:r>
              <a:rPr lang="zh-CN" altLang="en-US" dirty="0"/>
              <a:t>码是一个</a:t>
            </a:r>
            <a:r>
              <a:rPr lang="en-US" altLang="zh-CN" dirty="0"/>
              <a:t>8</a:t>
            </a:r>
            <a:r>
              <a:rPr lang="zh-CN" altLang="en-US" dirty="0"/>
              <a:t>位的无符号整数。</a:t>
            </a:r>
            <a:endParaRPr lang="en-US" altLang="zh-CN" dirty="0"/>
          </a:p>
          <a:p>
            <a:r>
              <a:rPr lang="en-US" altLang="zh-CN" dirty="0"/>
              <a:t>ASCII</a:t>
            </a:r>
            <a:r>
              <a:rPr lang="zh-CN" altLang="en-US" dirty="0"/>
              <a:t>码是有序的，因此可以用于（范围）的比较。例如：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char c = </a:t>
            </a:r>
            <a:r>
              <a:rPr lang="en-US" altLang="zh-CN" dirty="0" err="1"/>
              <a:t>getchar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if (c &gt;= ‘a’ &amp;&amp; c &lt;= ‘z’) …</a:t>
            </a:r>
          </a:p>
          <a:p>
            <a:pPr marL="0" indent="0">
              <a:buNone/>
            </a:pPr>
            <a:r>
              <a:rPr lang="zh-CN" altLang="en-US" dirty="0"/>
              <a:t>这不是在比较字符的形状，而是在比较他们的</a:t>
            </a:r>
            <a:r>
              <a:rPr lang="en-US" altLang="zh-CN" dirty="0"/>
              <a:t>ASCII</a:t>
            </a:r>
            <a:r>
              <a:rPr lang="zh-CN" altLang="en-US" dirty="0"/>
              <a:t>码！</a:t>
            </a:r>
          </a:p>
        </p:txBody>
      </p:sp>
    </p:spTree>
    <p:extLst>
      <p:ext uri="{BB962C8B-B14F-4D97-AF65-F5344CB8AC3E}">
        <p14:creationId xmlns:p14="http://schemas.microsoft.com/office/powerpoint/2010/main" val="397747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转义序列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\ </a:t>
            </a:r>
            <a:r>
              <a:rPr lang="zh-CN" altLang="en-US" dirty="0"/>
              <a:t>是转义字符，即后面跟着的符号（串）不再是原来的含义</a:t>
            </a:r>
            <a:endParaRPr lang="en-US" altLang="zh-CN" dirty="0"/>
          </a:p>
          <a:p>
            <a:r>
              <a:rPr lang="en-US" altLang="zh-CN" dirty="0"/>
              <a:t>‘\\’</a:t>
            </a:r>
            <a:r>
              <a:rPr lang="zh-CN" altLang="en-US" dirty="0"/>
              <a:t>代表 </a:t>
            </a:r>
            <a:r>
              <a:rPr lang="en-US" altLang="zh-CN" dirty="0"/>
              <a:t>\ </a:t>
            </a:r>
            <a:r>
              <a:rPr lang="zh-CN" altLang="en-US" dirty="0"/>
              <a:t>本身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B7C2F2AB-B762-C68D-8911-C7349E18A379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B03-type/esc-</a:t>
            </a:r>
            <a:r>
              <a:rPr lang="en-US" altLang="zh-CN" sz="1400" dirty="0" err="1">
                <a:latin typeface="Consolas" panose="020B0609020204030204" pitchFamily="49" charset="0"/>
              </a:rPr>
              <a:t>seq.c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48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108</TotalTime>
  <Words>522</Words>
  <Application>Microsoft Office PowerPoint</Application>
  <PresentationFormat>宽屏</PresentationFormat>
  <Paragraphs>106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Consolas</vt:lpstr>
      <vt:lpstr>Office 主题​​</vt:lpstr>
      <vt:lpstr>类型</vt:lpstr>
      <vt:lpstr>对象</vt:lpstr>
      <vt:lpstr>对象的物理属性</vt:lpstr>
      <vt:lpstr>对象类型的核心地位</vt:lpstr>
      <vt:lpstr>C的常用类型的表示范围</vt:lpstr>
      <vt:lpstr>整数溢出（以32位整数为例）</vt:lpstr>
      <vt:lpstr>关于浮点数</vt:lpstr>
      <vt:lpstr>关于字符</vt:lpstr>
      <vt:lpstr>转义序列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73</cp:revision>
  <dcterms:created xsi:type="dcterms:W3CDTF">2021-10-07T04:52:51Z</dcterms:created>
  <dcterms:modified xsi:type="dcterms:W3CDTF">2025-09-10T02:31:49Z</dcterms:modified>
</cp:coreProperties>
</file>