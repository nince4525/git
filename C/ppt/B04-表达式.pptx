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5"/>
  </p:notesMasterIdLst>
  <p:sldIdLst>
    <p:sldId id="256" r:id="rId2"/>
    <p:sldId id="288" r:id="rId3"/>
    <p:sldId id="269" r:id="rId4"/>
    <p:sldId id="270" r:id="rId5"/>
    <p:sldId id="285" r:id="rId6"/>
    <p:sldId id="287" r:id="rId7"/>
    <p:sldId id="271" r:id="rId8"/>
    <p:sldId id="272" r:id="rId9"/>
    <p:sldId id="276" r:id="rId10"/>
    <p:sldId id="277" r:id="rId11"/>
    <p:sldId id="274" r:id="rId12"/>
    <p:sldId id="273" r:id="rId13"/>
    <p:sldId id="275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6" r:id="rId22"/>
    <p:sldId id="289" r:id="rId23"/>
    <p:sldId id="29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3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E6F38-CE0C-4D08-A2F9-7C5C72D1B8A7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C0248-1C6B-4F64-A51C-E50C24A02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25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2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5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5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614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36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45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9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5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44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77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58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9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5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1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表达式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049A3-B34A-91D0-598A-453F5ABB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运算符和操作数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13E23-FB3D-EF37-8A17-D76E776B6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运算符</a:t>
            </a:r>
            <a:r>
              <a:rPr lang="en-US" altLang="zh-CN" b="1" dirty="0">
                <a:solidFill>
                  <a:srgbClr val="C00000"/>
                </a:solidFill>
              </a:rPr>
              <a:t>(operator)</a:t>
            </a:r>
          </a:p>
          <a:p>
            <a:pPr lvl="1"/>
            <a:r>
              <a:rPr lang="zh-CN" altLang="en-US" dirty="0"/>
              <a:t>用于表式某种运算的符号，例如：</a:t>
            </a:r>
            <a:r>
              <a:rPr lang="en-US" altLang="zh-CN" dirty="0"/>
              <a:t>+ - * / 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/>
              <a:t>运算符根据其连接的操作数数量，分为</a:t>
            </a:r>
            <a:r>
              <a:rPr lang="zh-CN" altLang="en-US" b="1" dirty="0">
                <a:solidFill>
                  <a:srgbClr val="C00000"/>
                </a:solidFill>
              </a:rPr>
              <a:t>一元、二元、三元</a:t>
            </a:r>
            <a:r>
              <a:rPr lang="zh-CN" altLang="en-US" dirty="0"/>
              <a:t>运算符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操作数</a:t>
            </a:r>
            <a:r>
              <a:rPr lang="en-US" altLang="zh-CN" b="1" dirty="0">
                <a:solidFill>
                  <a:srgbClr val="C00000"/>
                </a:solidFill>
              </a:rPr>
              <a:t>(operand)</a:t>
            </a:r>
          </a:p>
          <a:p>
            <a:pPr lvl="1"/>
            <a:r>
              <a:rPr lang="zh-CN" altLang="en-US" dirty="0"/>
              <a:t>参与运算的数，用运算符连接</a:t>
            </a:r>
            <a:endParaRPr lang="en-US" altLang="zh-CN" dirty="0"/>
          </a:p>
          <a:p>
            <a:pPr lvl="1"/>
            <a:r>
              <a:rPr lang="zh-CN" altLang="en-US" dirty="0"/>
              <a:t>对于二元运算符：</a:t>
            </a:r>
            <a:endParaRPr lang="en-US" altLang="zh-CN" dirty="0"/>
          </a:p>
          <a:p>
            <a:pPr lvl="2"/>
            <a:r>
              <a:rPr lang="zh-CN" altLang="en-US" dirty="0"/>
              <a:t>在其左边的操作数称为</a:t>
            </a:r>
            <a:r>
              <a:rPr lang="zh-CN" altLang="en-US" b="1" dirty="0">
                <a:solidFill>
                  <a:srgbClr val="C00000"/>
                </a:solidFill>
              </a:rPr>
              <a:t>左操作数</a:t>
            </a:r>
            <a:r>
              <a:rPr lang="en-US" altLang="zh-CN" b="1" dirty="0">
                <a:solidFill>
                  <a:srgbClr val="C00000"/>
                </a:solidFill>
              </a:rPr>
              <a:t>(left hand side,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</a:rPr>
              <a:t>lhs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</a:p>
          <a:p>
            <a:pPr lvl="2"/>
            <a:r>
              <a:rPr lang="zh-CN" altLang="en-US" dirty="0"/>
              <a:t>在其左边的操作数称为</a:t>
            </a:r>
            <a:r>
              <a:rPr lang="zh-CN" altLang="en-US" b="1" dirty="0">
                <a:solidFill>
                  <a:srgbClr val="C00000"/>
                </a:solidFill>
              </a:rPr>
              <a:t>右操作数</a:t>
            </a:r>
            <a:r>
              <a:rPr lang="en-US" altLang="zh-CN" b="1" dirty="0">
                <a:solidFill>
                  <a:srgbClr val="C00000"/>
                </a:solidFill>
              </a:rPr>
              <a:t>(right hand side,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</a:rPr>
              <a:t>rhs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endParaRPr lang="zh-CN" altLang="en-US" b="1" dirty="0">
              <a:solidFill>
                <a:srgbClr val="C00000"/>
              </a:solidFill>
            </a:endParaRP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334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EF935-DA90-B9EF-8476-E0861137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语言的运算符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6D793-B4AC-6B1D-1AE4-AAC75175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正负号运算符：</a:t>
            </a:r>
            <a:r>
              <a:rPr lang="en-US" altLang="zh-CN" dirty="0">
                <a:solidFill>
                  <a:srgbClr val="C00000"/>
                </a:solidFill>
              </a:rPr>
              <a:t>+ -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算数运算符：</a:t>
            </a:r>
            <a:r>
              <a:rPr lang="en-US" altLang="zh-CN" dirty="0"/>
              <a:t>+ - * / % </a:t>
            </a:r>
            <a:r>
              <a:rPr lang="en-US" altLang="zh-CN" dirty="0">
                <a:solidFill>
                  <a:srgbClr val="C00000"/>
                </a:solidFill>
              </a:rPr>
              <a:t>++ --</a:t>
            </a:r>
            <a:endParaRPr lang="zh-CN" altLang="en-US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dirty="0"/>
              <a:t>赋值运算符：</a:t>
            </a:r>
            <a:r>
              <a:rPr lang="en-US" altLang="zh-CN" dirty="0"/>
              <a:t>= @=</a:t>
            </a:r>
            <a:r>
              <a:rPr lang="zh-CN" altLang="en-US" dirty="0"/>
              <a:t>（复合赋值运算符，</a:t>
            </a:r>
            <a:r>
              <a:rPr lang="en-US" altLang="zh-CN" dirty="0"/>
              <a:t>@</a:t>
            </a:r>
            <a:r>
              <a:rPr lang="zh-CN" altLang="en-US" dirty="0"/>
              <a:t>是二元运算符）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比较运算符：</a:t>
            </a:r>
            <a:r>
              <a:rPr lang="en-US" altLang="zh-CN" dirty="0"/>
              <a:t>&gt; &lt; &gt;= &lt;= !=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逻辑运算符：</a:t>
            </a:r>
            <a:r>
              <a:rPr lang="en-US" altLang="zh-CN" dirty="0"/>
              <a:t>&amp;&amp;</a:t>
            </a:r>
            <a:r>
              <a:rPr lang="zh-CN" altLang="en-US" dirty="0"/>
              <a:t>逻辑与</a:t>
            </a:r>
            <a:r>
              <a:rPr lang="en-US" altLang="zh-CN" dirty="0"/>
              <a:t> ||</a:t>
            </a:r>
            <a:r>
              <a:rPr lang="zh-CN" altLang="en-US" dirty="0"/>
              <a:t>逻辑或 </a:t>
            </a:r>
            <a:r>
              <a:rPr lang="en-US" altLang="zh-CN" dirty="0">
                <a:solidFill>
                  <a:srgbClr val="C00000"/>
                </a:solidFill>
              </a:rPr>
              <a:t>!</a:t>
            </a:r>
            <a:r>
              <a:rPr lang="zh-CN" altLang="en-US" dirty="0">
                <a:solidFill>
                  <a:srgbClr val="C00000"/>
                </a:solidFill>
              </a:rPr>
              <a:t>逻辑非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dirty="0"/>
              <a:t>条件运算符：表达式 </a:t>
            </a:r>
            <a:r>
              <a:rPr lang="en-US" altLang="zh-CN" dirty="0"/>
              <a:t>? </a:t>
            </a:r>
            <a:r>
              <a:rPr lang="zh-CN" altLang="en-US" dirty="0"/>
              <a:t>表达式</a:t>
            </a:r>
            <a:r>
              <a:rPr lang="en-US" altLang="zh-CN" dirty="0"/>
              <a:t>1 : </a:t>
            </a:r>
            <a:r>
              <a:rPr lang="zh-CN" altLang="en-US" dirty="0"/>
              <a:t>表达式</a:t>
            </a:r>
            <a:r>
              <a:rPr lang="en-US" altLang="zh-CN" dirty="0"/>
              <a:t>2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逗号运算符：</a:t>
            </a:r>
            <a:r>
              <a:rPr lang="en-US" altLang="zh-CN" dirty="0"/>
              <a:t>,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位运算符：</a:t>
            </a:r>
            <a:r>
              <a:rPr lang="en-US" altLang="zh-CN" dirty="0"/>
              <a:t>&amp;</a:t>
            </a:r>
            <a:r>
              <a:rPr lang="zh-CN" altLang="en-US" dirty="0"/>
              <a:t>按位与 </a:t>
            </a:r>
            <a:r>
              <a:rPr lang="en-US" altLang="zh-CN" dirty="0"/>
              <a:t>|</a:t>
            </a:r>
            <a:r>
              <a:rPr lang="zh-CN" altLang="en-US" dirty="0"/>
              <a:t>按位或 </a:t>
            </a:r>
            <a:r>
              <a:rPr lang="en-US" altLang="zh-CN" dirty="0">
                <a:solidFill>
                  <a:srgbClr val="C00000"/>
                </a:solidFill>
              </a:rPr>
              <a:t>~</a:t>
            </a:r>
            <a:r>
              <a:rPr lang="zh-CN" altLang="en-US" dirty="0">
                <a:solidFill>
                  <a:srgbClr val="C00000"/>
                </a:solidFill>
              </a:rPr>
              <a:t>按位反</a:t>
            </a:r>
            <a:r>
              <a:rPr lang="zh-CN" altLang="en-US" dirty="0"/>
              <a:t> </a:t>
            </a:r>
            <a:r>
              <a:rPr lang="en-US" altLang="zh-CN" dirty="0"/>
              <a:t>^</a:t>
            </a:r>
            <a:r>
              <a:rPr lang="zh-CN" altLang="en-US" dirty="0"/>
              <a:t>按位异或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地址和指针运算符：</a:t>
            </a:r>
            <a:r>
              <a:rPr lang="en-US" altLang="zh-CN" dirty="0">
                <a:solidFill>
                  <a:srgbClr val="C00000"/>
                </a:solidFill>
              </a:rPr>
              <a:t>&amp; *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成员选择运算符：</a:t>
            </a:r>
            <a:r>
              <a:rPr lang="en-US" altLang="zh-CN" dirty="0"/>
              <a:t>. -&gt;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下标运算符：</a:t>
            </a:r>
            <a:r>
              <a:rPr lang="en-US" altLang="zh-CN" dirty="0"/>
              <a:t>[]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函数调用运算符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求字节数运算符：</a:t>
            </a:r>
            <a:r>
              <a:rPr lang="en-US" altLang="zh-CN" dirty="0" err="1"/>
              <a:t>sizeof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类型强制转换运算符：</a:t>
            </a:r>
            <a:r>
              <a:rPr lang="en-US" altLang="zh-CN" dirty="0"/>
              <a:t>(type)</a:t>
            </a: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F82C9243-BBEB-2B23-2618-C7666810B95C}"/>
              </a:ext>
            </a:extLst>
          </p:cNvPr>
          <p:cNvSpPr/>
          <p:nvPr/>
        </p:nvSpPr>
        <p:spPr>
          <a:xfrm>
            <a:off x="7637172" y="2266683"/>
            <a:ext cx="3000778" cy="1964027"/>
          </a:xfrm>
          <a:prstGeom prst="wedgeRectCallout">
            <a:avLst>
              <a:gd name="adj1" fmla="val -77184"/>
              <a:gd name="adj2" fmla="val -3787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标红的是</a:t>
            </a:r>
            <a:r>
              <a:rPr lang="zh-CN" altLang="en-US" sz="2002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一元运算符</a:t>
            </a:r>
            <a:endParaRPr lang="en-US" altLang="zh-CN" sz="2002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/>
            <a:endParaRPr lang="en-US" altLang="zh-CN" sz="2002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条件运算符是</a:t>
            </a:r>
            <a:r>
              <a:rPr lang="zh-CN" altLang="en-US" sz="2002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三元运算符</a:t>
            </a:r>
            <a:endParaRPr lang="en-US" altLang="zh-CN" sz="2002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/>
            <a:endParaRPr lang="en-US" altLang="zh-CN" sz="2002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其余的都是</a:t>
            </a:r>
            <a:r>
              <a:rPr lang="zh-CN" altLang="en-US" sz="2002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二元运算符</a:t>
            </a:r>
          </a:p>
        </p:txBody>
      </p:sp>
    </p:spTree>
    <p:extLst>
      <p:ext uri="{BB962C8B-B14F-4D97-AF65-F5344CB8AC3E}">
        <p14:creationId xmlns:p14="http://schemas.microsoft.com/office/powerpoint/2010/main" val="635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80E4E-5FDA-E288-A46E-6E4443D8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</a:t>
            </a:r>
            <a:r>
              <a:rPr lang="en-US" altLang="zh-CN" dirty="0"/>
              <a:t>(expression)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127858-C502-2B77-DFB0-2AA8FD463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表达式是</a:t>
            </a:r>
            <a:r>
              <a:rPr lang="zh-CN" altLang="en-US" b="1" dirty="0">
                <a:solidFill>
                  <a:srgbClr val="C00000"/>
                </a:solidFill>
              </a:rPr>
              <a:t>用运算符连接（多个）操作数形成的语法单元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操作数还可以是一个表达式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表达式是</a:t>
            </a:r>
            <a:r>
              <a:rPr lang="zh-CN" altLang="en-US" b="1" dirty="0">
                <a:solidFill>
                  <a:srgbClr val="C00000"/>
                </a:solidFill>
              </a:rPr>
              <a:t>估值计算</a:t>
            </a:r>
            <a:r>
              <a:rPr lang="en-US" altLang="zh-CN" b="1" dirty="0">
                <a:solidFill>
                  <a:srgbClr val="C00000"/>
                </a:solidFill>
              </a:rPr>
              <a:t>(evaluation)</a:t>
            </a:r>
            <a:r>
              <a:rPr lang="zh-CN" altLang="en-US" dirty="0"/>
              <a:t>的最小单位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任何一个</a:t>
            </a:r>
            <a:r>
              <a:rPr lang="en-US" altLang="zh-CN" b="1" dirty="0">
                <a:solidFill>
                  <a:srgbClr val="C00000"/>
                </a:solidFill>
              </a:rPr>
              <a:t>C</a:t>
            </a:r>
            <a:r>
              <a:rPr lang="zh-CN" altLang="en-US" b="1" dirty="0">
                <a:solidFill>
                  <a:srgbClr val="C00000"/>
                </a:solidFill>
              </a:rPr>
              <a:t>表达式都会估值计算出一个结果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1800" dirty="0"/>
              <a:t>表达式估值可能有</a:t>
            </a:r>
            <a:r>
              <a:rPr lang="zh-CN" altLang="en-US" sz="1800" b="1" dirty="0">
                <a:solidFill>
                  <a:srgbClr val="C00000"/>
                </a:solidFill>
              </a:rPr>
              <a:t>副作用</a:t>
            </a:r>
            <a:r>
              <a:rPr lang="en-US" altLang="zh-CN" sz="1800" b="1" dirty="0">
                <a:solidFill>
                  <a:srgbClr val="C00000"/>
                </a:solidFill>
              </a:rPr>
              <a:t>(side </a:t>
            </a:r>
            <a:r>
              <a:rPr lang="en-US" altLang="zh-CN" sz="1800" b="1">
                <a:solidFill>
                  <a:srgbClr val="C00000"/>
                </a:solidFill>
              </a:rPr>
              <a:t>effect)</a:t>
            </a:r>
            <a:endParaRPr lang="en-US" altLang="zh-CN" sz="1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60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0175B-7A79-37A0-79E8-AC011C9A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表达式的值</a:t>
            </a:r>
            <a:r>
              <a:rPr lang="en-US" altLang="zh-CN" dirty="0"/>
              <a:t>(value)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F0A0D-7EFB-19D7-C595-D984F8C92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定位值</a:t>
            </a:r>
            <a:r>
              <a:rPr lang="en-US" altLang="zh-CN" dirty="0"/>
              <a:t>-</a:t>
            </a:r>
            <a:r>
              <a:rPr lang="zh-CN" altLang="en-US" b="1" dirty="0">
                <a:solidFill>
                  <a:srgbClr val="C00000"/>
                </a:solidFill>
              </a:rPr>
              <a:t>左值</a:t>
            </a:r>
            <a:r>
              <a:rPr lang="en-US" altLang="zh-CN" dirty="0"/>
              <a:t>(locator value, </a:t>
            </a:r>
            <a:r>
              <a:rPr lang="en-US" altLang="zh-CN" b="1" dirty="0" err="1">
                <a:solidFill>
                  <a:srgbClr val="C00000"/>
                </a:solidFill>
              </a:rPr>
              <a:t>lvalue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可以取其地址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可以出现在</a:t>
            </a:r>
            <a:r>
              <a:rPr lang="zh-CN" altLang="en-US" b="1" dirty="0">
                <a:solidFill>
                  <a:srgbClr val="C00000"/>
                </a:solidFill>
              </a:rPr>
              <a:t>赋值类运算符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C00000"/>
                </a:solidFill>
              </a:rPr>
              <a:t>左边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r>
              <a:rPr lang="zh-CN" altLang="en-US" dirty="0"/>
              <a:t>只读值</a:t>
            </a:r>
            <a:r>
              <a:rPr lang="en-US" altLang="zh-CN" dirty="0"/>
              <a:t>-</a:t>
            </a:r>
            <a:r>
              <a:rPr lang="zh-CN" altLang="en-US" b="1" dirty="0">
                <a:solidFill>
                  <a:srgbClr val="C00000"/>
                </a:solidFill>
              </a:rPr>
              <a:t>右值</a:t>
            </a:r>
            <a:r>
              <a:rPr lang="en-US" altLang="zh-CN" dirty="0"/>
              <a:t>(read value, </a:t>
            </a:r>
            <a:r>
              <a:rPr lang="en-US" altLang="zh-CN" b="1" dirty="0" err="1">
                <a:solidFill>
                  <a:srgbClr val="C00000"/>
                </a:solidFill>
              </a:rPr>
              <a:t>rvalue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不可以取其地址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原则上</a:t>
            </a:r>
            <a:r>
              <a:rPr lang="zh-CN" altLang="en-US" b="1" dirty="0">
                <a:solidFill>
                  <a:srgbClr val="C00000"/>
                </a:solidFill>
              </a:rPr>
              <a:t>只能</a:t>
            </a:r>
            <a:r>
              <a:rPr lang="zh-CN" altLang="en-US" dirty="0"/>
              <a:t>出现在</a:t>
            </a:r>
            <a:r>
              <a:rPr lang="zh-CN" altLang="en-US" b="1" dirty="0">
                <a:solidFill>
                  <a:srgbClr val="C00000"/>
                </a:solidFill>
              </a:rPr>
              <a:t>赋值类运算符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C00000"/>
                </a:solidFill>
              </a:rPr>
              <a:t>右边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3A779C1A-8EE9-BCEC-9A9D-88FD766249C2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</a:t>
            </a:r>
            <a:r>
              <a:rPr lang="en-US" altLang="zh-CN" sz="1400" dirty="0" err="1">
                <a:latin typeface="Consolas" panose="020B0609020204030204" pitchFamily="49" charset="0"/>
              </a:rPr>
              <a:t>lvalue-rvalue.c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65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DA2EE-AC38-FC23-AFA6-34D8752C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表达式的值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EBBC2-9030-B0F8-22DC-056D03230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常见的左值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int a = 1, *p = &amp;a, b[10]; </a:t>
            </a:r>
          </a:p>
          <a:p>
            <a:pPr marL="457200" lvl="1" indent="0">
              <a:buNone/>
            </a:pPr>
            <a:r>
              <a:rPr lang="en-US" altLang="zh-CN" dirty="0"/>
              <a:t>struct { long id; } s, *q = &amp;s;</a:t>
            </a:r>
          </a:p>
          <a:p>
            <a:pPr marL="457200" lvl="1" indent="0">
              <a:buNone/>
            </a:pPr>
            <a:r>
              <a:rPr lang="en-US" altLang="zh-CN" dirty="0"/>
              <a:t>int* </a:t>
            </a:r>
            <a:r>
              <a:rPr lang="en-US" altLang="zh-CN" dirty="0" err="1"/>
              <a:t>get_x</a:t>
            </a:r>
            <a:r>
              <a:rPr lang="en-US" altLang="zh-CN" dirty="0"/>
              <a:t>() { static int x = 2; return &amp;x; }</a:t>
            </a:r>
          </a:p>
          <a:p>
            <a:pPr marL="457200" lvl="1" indent="0">
              <a:buNone/>
            </a:pPr>
            <a:r>
              <a:rPr lang="zh-CN" altLang="en-US" dirty="0"/>
              <a:t>以下不是用</a:t>
            </a:r>
            <a:r>
              <a:rPr lang="en-US" altLang="zh-CN" dirty="0"/>
              <a:t>const</a:t>
            </a:r>
            <a:r>
              <a:rPr lang="zh-CN" altLang="en-US" dirty="0"/>
              <a:t>约束的都是左值</a:t>
            </a:r>
            <a:endParaRPr lang="en-US" altLang="zh-CN" dirty="0"/>
          </a:p>
          <a:p>
            <a:pPr lvl="1"/>
            <a:r>
              <a:rPr lang="zh-CN" altLang="en-US" dirty="0"/>
              <a:t>对象名 </a:t>
            </a:r>
            <a:r>
              <a:rPr lang="en-US" altLang="zh-CN" dirty="0"/>
              <a:t>a</a:t>
            </a:r>
          </a:p>
          <a:p>
            <a:pPr lvl="1"/>
            <a:r>
              <a:rPr lang="en-US" altLang="zh-CN" dirty="0"/>
              <a:t>(</a:t>
            </a:r>
            <a:r>
              <a:rPr lang="zh-CN" altLang="en-US" dirty="0"/>
              <a:t>对象名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(a)</a:t>
            </a:r>
          </a:p>
          <a:p>
            <a:pPr lvl="1"/>
            <a:r>
              <a:rPr lang="zh-CN" altLang="en-US" dirty="0"/>
              <a:t>数组元素 </a:t>
            </a:r>
            <a:r>
              <a:rPr lang="en-US" altLang="zh-CN" dirty="0"/>
              <a:t>b[a]</a:t>
            </a:r>
          </a:p>
          <a:p>
            <a:pPr lvl="1"/>
            <a:r>
              <a:rPr lang="zh-CN" altLang="en-US" dirty="0"/>
              <a:t>用指针取值 </a:t>
            </a:r>
            <a:r>
              <a:rPr lang="en-US" altLang="zh-CN" dirty="0"/>
              <a:t>*p</a:t>
            </a:r>
            <a:r>
              <a:rPr lang="zh-CN" altLang="en-US" dirty="0"/>
              <a:t>，</a:t>
            </a:r>
            <a:r>
              <a:rPr lang="en-US" altLang="zh-CN" dirty="0"/>
              <a:t>*</a:t>
            </a:r>
            <a:r>
              <a:rPr lang="en-US" altLang="zh-CN" dirty="0" err="1"/>
              <a:t>get_x</a:t>
            </a:r>
            <a:r>
              <a:rPr lang="en-US" altLang="zh-CN" dirty="0"/>
              <a:t>()</a:t>
            </a:r>
          </a:p>
          <a:p>
            <a:pPr lvl="1"/>
            <a:r>
              <a:rPr lang="zh-CN" altLang="en-US" dirty="0"/>
              <a:t>结构变量的成员 </a:t>
            </a:r>
            <a:r>
              <a:rPr lang="en-US" altLang="zh-CN" dirty="0"/>
              <a:t>s.id</a:t>
            </a:r>
            <a:r>
              <a:rPr lang="zh-CN" altLang="en-US" dirty="0"/>
              <a:t>，</a:t>
            </a:r>
            <a:r>
              <a:rPr lang="en-US" altLang="zh-CN" dirty="0"/>
              <a:t>q-&gt;id</a:t>
            </a:r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5F3EA560-1479-B17A-BB82-CA255D422498}"/>
              </a:ext>
            </a:extLst>
          </p:cNvPr>
          <p:cNvSpPr/>
          <p:nvPr/>
        </p:nvSpPr>
        <p:spPr>
          <a:xfrm>
            <a:off x="7733763" y="3309870"/>
            <a:ext cx="3000778" cy="1165538"/>
          </a:xfrm>
          <a:prstGeom prst="wedgeRectCallout">
            <a:avLst>
              <a:gd name="adj1" fmla="val -77184"/>
              <a:gd name="adj2" fmla="val -3787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除这些外，几乎所有运算符连接的表达式（的结果）都是右值</a:t>
            </a:r>
            <a:endParaRPr lang="zh-CN" altLang="en-US" sz="2002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6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571A-1C7F-3607-B117-28C8B80E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A5788-94F1-BBA2-E42D-458CDF6F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元表达式</a:t>
            </a:r>
            <a:r>
              <a:rPr lang="en-US" altLang="zh-CN" dirty="0"/>
              <a:t>(primary expression)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2DCD8-B305-C56B-589C-FEF82F05D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674EA86-B6CE-0838-DBFB-B997DC443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332446"/>
              </p:ext>
            </p:extLst>
          </p:nvPr>
        </p:nvGraphicFramePr>
        <p:xfrm>
          <a:off x="1161960" y="1313646"/>
          <a:ext cx="9868079" cy="475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181">
                  <a:extLst>
                    <a:ext uri="{9D8B030D-6E8A-4147-A177-3AD203B41FA5}">
                      <a16:colId xmlns:a16="http://schemas.microsoft.com/office/drawing/2014/main" val="3331803782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3385621695"/>
                    </a:ext>
                  </a:extLst>
                </a:gridCol>
                <a:gridCol w="3515216">
                  <a:extLst>
                    <a:ext uri="{9D8B030D-6E8A-4147-A177-3AD203B41FA5}">
                      <a16:colId xmlns:a16="http://schemas.microsoft.com/office/drawing/2014/main" val="466813854"/>
                    </a:ext>
                  </a:extLst>
                </a:gridCol>
              </a:tblGrid>
              <a:tr h="6709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元表达式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表达式的估值结果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174143"/>
                  </a:ext>
                </a:extLst>
              </a:tr>
              <a:tr h="680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标识符（</a:t>
                      </a:r>
                      <a:r>
                        <a:rPr lang="zh-CN" altLang="en-US" sz="1800" dirty="0"/>
                        <a:t>对象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变量名、</a:t>
                      </a:r>
                      <a:r>
                        <a:rPr lang="zh-CN" altLang="en-US" dirty="0"/>
                        <a:t>函数名等</a:t>
                      </a:r>
                      <a:r>
                        <a:rPr lang="zh-CN" altLang="en-US" sz="1800" dirty="0"/>
                        <a:t>）</a:t>
                      </a:r>
                      <a:endParaRPr lang="en-US" altLang="zh-C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a</a:t>
                      </a:r>
                      <a:r>
                        <a:rPr lang="zh-CN" altLang="en-US" dirty="0"/>
                        <a:t>的值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106205"/>
                  </a:ext>
                </a:extLst>
              </a:tr>
              <a:tr h="680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字面常量</a:t>
                      </a:r>
                      <a:endParaRPr lang="en-US" alt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42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740363"/>
                  </a:ext>
                </a:extLst>
              </a:tr>
              <a:tr h="680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字符串字面量</a:t>
                      </a:r>
                      <a:endParaRPr lang="en-US" altLang="zh-C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“string”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字符串的首地址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997312"/>
                  </a:ext>
                </a:extLst>
              </a:tr>
              <a:tr h="680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函数调用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 err="1"/>
                        <a:t>printf</a:t>
                      </a:r>
                      <a:r>
                        <a:rPr lang="en-US" altLang="zh-CN" dirty="0"/>
                        <a:t>(…)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函数的返回值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1640"/>
                  </a:ext>
                </a:extLst>
              </a:tr>
              <a:tr h="680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</a:t>
                      </a:r>
                      <a:r>
                        <a:rPr lang="en-US" altLang="zh-CN" dirty="0"/>
                        <a:t>()</a:t>
                      </a:r>
                      <a:r>
                        <a:rPr lang="zh-CN" altLang="en-US" dirty="0"/>
                        <a:t>括起来的表达式</a:t>
                      </a:r>
                      <a:endParaRPr lang="en-US" altLang="zh-C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(</a:t>
                      </a:r>
                      <a:r>
                        <a:rPr lang="en-US" altLang="zh-CN" sz="1800" dirty="0" err="1"/>
                        <a:t>x+y</a:t>
                      </a:r>
                      <a:r>
                        <a:rPr lang="en-US" altLang="zh-CN" sz="18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 err="1"/>
                        <a:t>x+y</a:t>
                      </a:r>
                      <a:r>
                        <a:rPr lang="zh-CN" altLang="en-US" dirty="0"/>
                        <a:t>的值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609848"/>
                  </a:ext>
                </a:extLst>
              </a:tr>
              <a:tr h="680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泛型选择</a:t>
                      </a:r>
                      <a:endParaRPr lang="en-US" altLang="zh-CN" sz="1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</a:t>
                      </a:r>
                      <a:endParaRPr lang="zh-CN" alt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861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99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9A8DB-595F-B7EC-5917-FE9ECE8C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赋值表达式</a:t>
            </a:r>
            <a:r>
              <a:rPr lang="en-US" altLang="zh-CN" dirty="0"/>
              <a:t>(assignment)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1CB6C41-F65C-71B4-2DA3-230F7C90B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316562"/>
              </p:ext>
            </p:extLst>
          </p:nvPr>
        </p:nvGraphicFramePr>
        <p:xfrm>
          <a:off x="1161961" y="2041303"/>
          <a:ext cx="9868078" cy="3141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420">
                  <a:extLst>
                    <a:ext uri="{9D8B030D-6E8A-4147-A177-3AD203B41FA5}">
                      <a16:colId xmlns:a16="http://schemas.microsoft.com/office/drawing/2014/main" val="3331803782"/>
                    </a:ext>
                  </a:extLst>
                </a:gridCol>
                <a:gridCol w="1539025">
                  <a:extLst>
                    <a:ext uri="{9D8B030D-6E8A-4147-A177-3AD203B41FA5}">
                      <a16:colId xmlns:a16="http://schemas.microsoft.com/office/drawing/2014/main" val="3385621695"/>
                    </a:ext>
                  </a:extLst>
                </a:gridCol>
                <a:gridCol w="2562895">
                  <a:extLst>
                    <a:ext uri="{9D8B030D-6E8A-4147-A177-3AD203B41FA5}">
                      <a16:colId xmlns:a16="http://schemas.microsoft.com/office/drawing/2014/main" val="466813854"/>
                    </a:ext>
                  </a:extLst>
                </a:gridCol>
                <a:gridCol w="4416738">
                  <a:extLst>
                    <a:ext uri="{9D8B030D-6E8A-4147-A177-3AD203B41FA5}">
                      <a16:colId xmlns:a16="http://schemas.microsoft.com/office/drawing/2014/main" val="2645027095"/>
                    </a:ext>
                  </a:extLst>
                </a:gridCol>
              </a:tblGrid>
              <a:tr h="9868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表达式的估值结果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副作用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174143"/>
                  </a:ext>
                </a:extLst>
              </a:tr>
              <a:tr h="10005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简单赋值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a 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2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即</a:t>
                      </a:r>
                      <a:r>
                        <a:rPr lang="en-US" altLang="zh-C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的值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a</a:t>
                      </a:r>
                      <a:r>
                        <a:rPr lang="zh-CN" altLang="en-US" sz="2000" dirty="0"/>
                        <a:t>原来的值被</a:t>
                      </a:r>
                      <a:r>
                        <a:rPr lang="en-US" altLang="zh-CN" sz="2000" dirty="0"/>
                        <a:t>b</a:t>
                      </a:r>
                      <a:r>
                        <a:rPr lang="zh-CN" altLang="en-US" sz="2000" dirty="0"/>
                        <a:t>的值替换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</a:t>
                      </a:r>
                      <a:r>
                        <a:rPr lang="zh-CN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等于</a:t>
                      </a:r>
                      <a:r>
                        <a:rPr lang="en-US" altLang="zh-CN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，</a:t>
                      </a:r>
                      <a:r>
                        <a:rPr lang="en-US" altLang="zh-CN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等于</a:t>
                      </a:r>
                      <a:r>
                        <a:rPr lang="en-US" altLang="zh-CN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不变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106205"/>
                  </a:ext>
                </a:extLst>
              </a:tr>
              <a:tr h="10005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复合赋值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a +=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//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等价于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 = a + b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3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即</a:t>
                      </a:r>
                      <a:r>
                        <a:rPr lang="en-US" altLang="zh-CN" sz="14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14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的值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a</a:t>
                      </a:r>
                      <a:r>
                        <a:rPr lang="zh-CN" altLang="en-US" sz="2000" dirty="0"/>
                        <a:t>的值在原来的基础上加上</a:t>
                      </a:r>
                      <a:r>
                        <a:rPr lang="en-US" altLang="zh-CN" sz="2000" dirty="0"/>
                        <a:t>b</a:t>
                      </a:r>
                      <a:r>
                        <a:rPr lang="zh-CN" altLang="en-US" sz="2000" dirty="0"/>
                        <a:t>的值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14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等于</a:t>
                      </a:r>
                      <a:r>
                        <a:rPr lang="en-US" altLang="zh-CN" sz="14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4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4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zh-CN" altLang="en-US" sz="14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等于</a:t>
                      </a:r>
                      <a:r>
                        <a:rPr lang="en-US" altLang="zh-CN" sz="14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不变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74036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9151985-2978-69E9-55B6-1B015C1E87E2}"/>
              </a:ext>
            </a:extLst>
          </p:cNvPr>
          <p:cNvSpPr txBox="1"/>
          <p:nvPr/>
        </p:nvSpPr>
        <p:spPr>
          <a:xfrm>
            <a:off x="1161961" y="1493950"/>
            <a:ext cx="4934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int a</a:t>
            </a:r>
            <a:r>
              <a:rPr lang="zh-CN" altLang="en-US" sz="2400" dirty="0">
                <a:latin typeface="+mj-lt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+mj-lt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1, b = 2;</a:t>
            </a:r>
            <a:endParaRPr lang="zh-CN" altLang="en-US" sz="2400" dirty="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69FFD22C-46AC-BCF2-0644-C9E548724E37}"/>
              </a:ext>
            </a:extLst>
          </p:cNvPr>
          <p:cNvSpPr/>
          <p:nvPr/>
        </p:nvSpPr>
        <p:spPr>
          <a:xfrm>
            <a:off x="4868214" y="1201944"/>
            <a:ext cx="3000778" cy="584011"/>
          </a:xfrm>
          <a:prstGeom prst="wedgeRectCallout">
            <a:avLst>
              <a:gd name="adj1" fmla="val -74823"/>
              <a:gd name="adj2" fmla="val 40318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这是</a:t>
            </a:r>
            <a:r>
              <a:rPr lang="zh-CN" altLang="en-US" sz="2002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初始化</a:t>
            </a:r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，不是赋值！</a:t>
            </a:r>
            <a:endParaRPr lang="zh-CN" altLang="en-US" sz="2002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36663ED8-B35A-E6F5-170E-8343EB6F24DB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B04-exp/value-of-</a:t>
            </a:r>
            <a:r>
              <a:rPr lang="en-US" altLang="zh-CN" sz="1400" dirty="0" err="1">
                <a:latin typeface="Consolas" panose="020B0609020204030204" pitchFamily="49" charset="0"/>
              </a:rPr>
              <a:t>expr.c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4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764AD-FEAA-2223-5E09-A3559A3D5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赋值表达式</a:t>
            </a:r>
            <a:r>
              <a:rPr lang="en-US" altLang="zh-CN" dirty="0"/>
              <a:t>-</a:t>
            </a:r>
            <a:r>
              <a:rPr lang="zh-CN" altLang="en-US" dirty="0"/>
              <a:t>运算符的级联</a:t>
            </a:r>
            <a:r>
              <a:rPr lang="en-US" altLang="zh-CN" dirty="0"/>
              <a:t>(cascading)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F6927-6E36-DAC3-9E1D-E6F666AC4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int a = 9, b = 7, c = 5;</a:t>
            </a:r>
          </a:p>
          <a:p>
            <a:pPr marL="0" indent="0">
              <a:buNone/>
            </a:pPr>
            <a:r>
              <a:rPr lang="en-US" altLang="zh-CN" dirty="0"/>
              <a:t>a = b = c 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//c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赋给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再赋给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？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/>
              <a:t>赋值运算符的结合性：</a:t>
            </a:r>
            <a:r>
              <a:rPr lang="zh-CN" altLang="en-US" b="1" dirty="0">
                <a:solidFill>
                  <a:srgbClr val="C00000"/>
                </a:solidFill>
              </a:rPr>
              <a:t>从右到左</a:t>
            </a:r>
            <a:r>
              <a:rPr lang="zh-CN" altLang="en-US" dirty="0"/>
              <a:t>结合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= (b = c) //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赋给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b=c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这个表达式的结果赋给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，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abc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都等于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5</a:t>
            </a:r>
          </a:p>
          <a:p>
            <a:pPr marL="0" indent="0">
              <a:buNone/>
            </a:pPr>
            <a:r>
              <a:rPr lang="zh-CN" altLang="en-US" dirty="0"/>
              <a:t>虽然结果相同，但过程不一样！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7898A20F-9588-B2E3-4EA5-72C390A519AF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B04-exp/operator-</a:t>
            </a:r>
            <a:r>
              <a:rPr lang="en-US" altLang="zh-CN" sz="1400" dirty="0" err="1">
                <a:latin typeface="Consolas" panose="020B0609020204030204" pitchFamily="49" charset="0"/>
              </a:rPr>
              <a:t>cascading.c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01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C691F-0717-F5C8-4778-10A6FEDF3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ED5DC-AD0C-E4D0-573B-EFE53D57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赋值表达式</a:t>
            </a:r>
            <a:r>
              <a:rPr lang="en-US" altLang="zh-CN" dirty="0"/>
              <a:t>-</a:t>
            </a:r>
            <a:r>
              <a:rPr lang="zh-CN" altLang="en-US" dirty="0"/>
              <a:t>运算符的级联</a:t>
            </a:r>
            <a:r>
              <a:rPr lang="en-US" altLang="zh-CN" dirty="0"/>
              <a:t>(cascading)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56CF08-26A1-7BDF-4BD7-8A857D759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int a = 9, b = 7, c = 5;</a:t>
            </a:r>
          </a:p>
          <a:p>
            <a:pPr marL="0" indent="0">
              <a:buNone/>
            </a:pPr>
            <a:r>
              <a:rPr lang="en-US" altLang="zh-CN" dirty="0"/>
              <a:t>a += b += c 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赋值后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各等于几？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/>
              <a:t>复合赋值运算符的结合性：</a:t>
            </a:r>
            <a:r>
              <a:rPr lang="zh-CN" altLang="en-US" b="1" dirty="0">
                <a:solidFill>
                  <a:srgbClr val="C00000"/>
                </a:solidFill>
              </a:rPr>
              <a:t>从右到左</a:t>
            </a:r>
            <a:r>
              <a:rPr lang="zh-CN" altLang="en-US" dirty="0"/>
              <a:t>结合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+= (b += c) //c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等于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等于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12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等于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21</a:t>
            </a:r>
          </a:p>
          <a:p>
            <a:pPr marL="0" indent="0">
              <a:buNone/>
            </a:pP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/>
              <a:t>a += a += c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 //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赋值后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各等于几？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zh-CN" altLang="en-US" dirty="0"/>
              <a:t>等于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等于</a:t>
            </a:r>
            <a:r>
              <a:rPr lang="en-US" altLang="zh-CN" dirty="0"/>
              <a:t>28</a:t>
            </a:r>
          </a:p>
          <a:p>
            <a:pPr marL="0" indent="0">
              <a:buNone/>
            </a:pP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F785C3DA-03D7-8624-6D37-937C50C9921C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B04-exp/operator-</a:t>
            </a:r>
            <a:r>
              <a:rPr lang="en-US" altLang="zh-CN" sz="1400" dirty="0" err="1">
                <a:latin typeface="Consolas" panose="020B0609020204030204" pitchFamily="49" charset="0"/>
              </a:rPr>
              <a:t>cascading.c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84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C822B-1E24-C492-861E-A7AF92EC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AB825-5D90-FC0D-5BC0-AD5754E2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算数表达式</a:t>
            </a:r>
            <a:r>
              <a:rPr lang="en-US" altLang="zh-CN" dirty="0"/>
              <a:t>(arithmetic)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EFF3300-D25F-E315-E067-96A3A3A01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234768"/>
              </p:ext>
            </p:extLst>
          </p:nvPr>
        </p:nvGraphicFramePr>
        <p:xfrm>
          <a:off x="1161961" y="2041302"/>
          <a:ext cx="9868078" cy="3351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420">
                  <a:extLst>
                    <a:ext uri="{9D8B030D-6E8A-4147-A177-3AD203B41FA5}">
                      <a16:colId xmlns:a16="http://schemas.microsoft.com/office/drawing/2014/main" val="3331803782"/>
                    </a:ext>
                  </a:extLst>
                </a:gridCol>
                <a:gridCol w="1539025">
                  <a:extLst>
                    <a:ext uri="{9D8B030D-6E8A-4147-A177-3AD203B41FA5}">
                      <a16:colId xmlns:a16="http://schemas.microsoft.com/office/drawing/2014/main" val="3385621695"/>
                    </a:ext>
                  </a:extLst>
                </a:gridCol>
                <a:gridCol w="2562895">
                  <a:extLst>
                    <a:ext uri="{9D8B030D-6E8A-4147-A177-3AD203B41FA5}">
                      <a16:colId xmlns:a16="http://schemas.microsoft.com/office/drawing/2014/main" val="466813854"/>
                    </a:ext>
                  </a:extLst>
                </a:gridCol>
                <a:gridCol w="4416738">
                  <a:extLst>
                    <a:ext uri="{9D8B030D-6E8A-4147-A177-3AD203B41FA5}">
                      <a16:colId xmlns:a16="http://schemas.microsoft.com/office/drawing/2014/main" val="2645027095"/>
                    </a:ext>
                  </a:extLst>
                </a:gridCol>
              </a:tblGrid>
              <a:tr h="10698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表达式的估值结果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174143"/>
                  </a:ext>
                </a:extLst>
              </a:tr>
              <a:tr h="1196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除法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a /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c /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如果两个操作数都是整数，那么除法是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整除，</a:t>
                      </a:r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即结果要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向下取整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106205"/>
                  </a:ext>
                </a:extLst>
              </a:tr>
              <a:tr h="10847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模（取余）</a:t>
                      </a:r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c %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如果两个操作数中有一个是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负数</a:t>
                      </a:r>
                      <a:r>
                        <a:rPr lang="zh-CN" altLang="en-US" sz="2000" dirty="0"/>
                        <a:t>，那么结果依赖于编译器的实现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74036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58B2E94-6E7F-7400-546E-38DA12C48A83}"/>
              </a:ext>
            </a:extLst>
          </p:cNvPr>
          <p:cNvSpPr txBox="1"/>
          <p:nvPr/>
        </p:nvSpPr>
        <p:spPr>
          <a:xfrm>
            <a:off x="1161961" y="1493950"/>
            <a:ext cx="4934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int a</a:t>
            </a:r>
            <a:r>
              <a:rPr lang="zh-CN" altLang="en-US" sz="2400" dirty="0">
                <a:latin typeface="+mj-lt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+mj-lt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1, b = 2, c = 5;</a:t>
            </a:r>
            <a:endParaRPr lang="zh-CN" altLang="en-US" sz="2400" dirty="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71D9D543-EC63-7770-C08C-75039986DCB3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B04-exp/value-of-</a:t>
            </a:r>
            <a:r>
              <a:rPr lang="en-US" altLang="zh-CN" sz="1400" dirty="0" err="1">
                <a:latin typeface="Consolas" panose="020B0609020204030204" pitchFamily="49" charset="0"/>
              </a:rPr>
              <a:t>expr.c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256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8203E-3927-5078-90F9-B4DE279E4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77774-4F25-0294-B1A8-97D01DE2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算数表达式</a:t>
            </a:r>
            <a:r>
              <a:rPr lang="en-US" altLang="zh-CN" dirty="0"/>
              <a:t>—</a:t>
            </a:r>
            <a:r>
              <a:rPr lang="zh-CN" altLang="en-US" dirty="0"/>
              <a:t>以自加</a:t>
            </a:r>
            <a:r>
              <a:rPr lang="en-US" altLang="zh-CN" dirty="0"/>
              <a:t>(</a:t>
            </a:r>
            <a:r>
              <a:rPr lang="en-US" altLang="zh-CN" dirty="0" err="1"/>
              <a:t>increasment</a:t>
            </a:r>
            <a:r>
              <a:rPr lang="en-US" altLang="zh-CN" dirty="0"/>
              <a:t>)</a:t>
            </a:r>
            <a:r>
              <a:rPr lang="zh-CN" altLang="en-US" dirty="0"/>
              <a:t>为例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AA98762-FA76-7376-B3AC-5FCD7D46E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236079"/>
              </p:ext>
            </p:extLst>
          </p:nvPr>
        </p:nvGraphicFramePr>
        <p:xfrm>
          <a:off x="1161961" y="2041302"/>
          <a:ext cx="9868078" cy="3659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420">
                  <a:extLst>
                    <a:ext uri="{9D8B030D-6E8A-4147-A177-3AD203B41FA5}">
                      <a16:colId xmlns:a16="http://schemas.microsoft.com/office/drawing/2014/main" val="3331803782"/>
                    </a:ext>
                  </a:extLst>
                </a:gridCol>
                <a:gridCol w="1539025">
                  <a:extLst>
                    <a:ext uri="{9D8B030D-6E8A-4147-A177-3AD203B41FA5}">
                      <a16:colId xmlns:a16="http://schemas.microsoft.com/office/drawing/2014/main" val="3385621695"/>
                    </a:ext>
                  </a:extLst>
                </a:gridCol>
                <a:gridCol w="2562895">
                  <a:extLst>
                    <a:ext uri="{9D8B030D-6E8A-4147-A177-3AD203B41FA5}">
                      <a16:colId xmlns:a16="http://schemas.microsoft.com/office/drawing/2014/main" val="466813854"/>
                    </a:ext>
                  </a:extLst>
                </a:gridCol>
                <a:gridCol w="4416738">
                  <a:extLst>
                    <a:ext uri="{9D8B030D-6E8A-4147-A177-3AD203B41FA5}">
                      <a16:colId xmlns:a16="http://schemas.microsoft.com/office/drawing/2014/main" val="2645027095"/>
                    </a:ext>
                  </a:extLst>
                </a:gridCol>
              </a:tblGrid>
              <a:tr h="10974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表达式的估值结果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副作用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174143"/>
                  </a:ext>
                </a:extLst>
              </a:tr>
              <a:tr h="1112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前缀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++a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等价于：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a += 1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隐含的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赋值运算</a:t>
                      </a:r>
                      <a:endParaRPr lang="en-US" altLang="zh-CN" sz="1800" b="1" dirty="0">
                        <a:solidFill>
                          <a:srgbClr val="C00000"/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表达式的估值和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一样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106205"/>
                  </a:ext>
                </a:extLst>
              </a:tr>
              <a:tr h="1112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++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后缀</a:t>
                      </a:r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a++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1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此时</a:t>
                      </a:r>
                      <a:r>
                        <a:rPr lang="en-US" altLang="zh-CN" sz="14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14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等于</a:t>
                      </a:r>
                      <a:r>
                        <a:rPr lang="en-US" altLang="zh-CN" sz="14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等价于：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t = a; ++a; t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即表达式的结果等于</a:t>
                      </a:r>
                      <a:r>
                        <a:rPr lang="en-US" altLang="zh-CN" sz="1800" dirty="0"/>
                        <a:t>t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表达式的估值和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不一样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74036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546C1A9-9865-D505-2CBE-F83BAAF1D121}"/>
              </a:ext>
            </a:extLst>
          </p:cNvPr>
          <p:cNvSpPr txBox="1"/>
          <p:nvPr/>
        </p:nvSpPr>
        <p:spPr>
          <a:xfrm>
            <a:off x="1161961" y="1493950"/>
            <a:ext cx="4934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int a</a:t>
            </a:r>
            <a:r>
              <a:rPr lang="zh-CN" altLang="en-US" sz="2400" dirty="0">
                <a:latin typeface="+mj-lt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+mj-lt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1;</a:t>
            </a:r>
            <a:endParaRPr lang="zh-CN" altLang="en-US" sz="2400" dirty="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E226DCBE-8937-F6EC-8616-A23BEADA56AF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B04-exp/value-of-</a:t>
            </a:r>
            <a:r>
              <a:rPr lang="en-US" altLang="zh-CN" sz="1400" dirty="0" err="1">
                <a:latin typeface="Consolas" panose="020B0609020204030204" pitchFamily="49" charset="0"/>
              </a:rPr>
              <a:t>expr.c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981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401E1-5935-2C54-252B-B123C04E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算数表达式</a:t>
            </a:r>
            <a:r>
              <a:rPr lang="en-US" altLang="zh-CN" dirty="0"/>
              <a:t>—</a:t>
            </a:r>
            <a:r>
              <a:rPr lang="zh-CN" altLang="en-US" dirty="0"/>
              <a:t>运算符的级联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2D68A-CDB2-4696-B6ED-675E528E1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运算符的优先级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rgbClr val="C00000"/>
                </a:solidFill>
              </a:rPr>
              <a:t>结合性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int 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9, b = 7, c = 5;</a:t>
            </a:r>
          </a:p>
          <a:p>
            <a:pPr lvl="1"/>
            <a:r>
              <a:rPr lang="zh-CN" altLang="en-US" dirty="0"/>
              <a:t>同级运算符：</a:t>
            </a:r>
            <a:r>
              <a:rPr lang="zh-CN" altLang="en-US" b="1" dirty="0">
                <a:solidFill>
                  <a:srgbClr val="C00000"/>
                </a:solidFill>
              </a:rPr>
              <a:t>从左到右</a:t>
            </a:r>
            <a:r>
              <a:rPr lang="zh-CN" altLang="en-US" dirty="0"/>
              <a:t>结合</a:t>
            </a:r>
          </a:p>
          <a:p>
            <a:pPr marL="457200" lvl="1" indent="0">
              <a:buNone/>
            </a:pPr>
            <a:r>
              <a:rPr lang="en-US" altLang="zh-CN" dirty="0"/>
              <a:t>a + b – c   </a:t>
            </a:r>
            <a:r>
              <a:rPr lang="en-US" altLang="zh-CN" dirty="0">
                <a:sym typeface="Wingdings" panose="05000000000000000000" pitchFamily="2" charset="2"/>
              </a:rPr>
              <a:t>   </a:t>
            </a: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(a + b)</a:t>
            </a:r>
            <a:r>
              <a:rPr lang="en-US" altLang="zh-CN" dirty="0">
                <a:sym typeface="Wingdings" panose="05000000000000000000" pitchFamily="2" charset="2"/>
              </a:rPr>
              <a:t> – c      11</a:t>
            </a: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不同级运算符：</a:t>
            </a:r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优先级高</a:t>
            </a:r>
            <a:r>
              <a:rPr lang="zh-CN" altLang="en-US" dirty="0">
                <a:sym typeface="Wingdings" panose="05000000000000000000" pitchFamily="2" charset="2"/>
              </a:rPr>
              <a:t>的运算先进行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a + b * c      a + </a:t>
            </a: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(b * c) </a:t>
            </a:r>
            <a:r>
              <a:rPr lang="en-US" altLang="zh-CN" dirty="0">
                <a:sym typeface="Wingdings" panose="05000000000000000000" pitchFamily="2" charset="2"/>
              </a:rPr>
              <a:t>     44</a:t>
            </a:r>
          </a:p>
          <a:p>
            <a:pPr marL="457200" lvl="1" indent="0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2 / 4 * 6 </a:t>
            </a:r>
            <a:r>
              <a:rPr lang="zh-CN" altLang="en-US" dirty="0">
                <a:sym typeface="Wingdings" panose="05000000000000000000" pitchFamily="2" charset="2"/>
              </a:rPr>
              <a:t>等于几？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0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637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1D69-2FB4-B767-9DD9-C566084C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77E1C-B793-1506-39B3-BAF77C87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算数表达式</a:t>
            </a:r>
            <a:r>
              <a:rPr lang="en-US" altLang="zh-CN" dirty="0"/>
              <a:t>—</a:t>
            </a:r>
            <a:r>
              <a:rPr lang="zh-CN" altLang="en-US" dirty="0"/>
              <a:t>混合运算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30BBEC-9D17-9290-3BA3-71137ADD0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Wingdings" panose="05000000000000000000" pitchFamily="2" charset="2"/>
              </a:rPr>
              <a:t>类型</a:t>
            </a:r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提升</a:t>
            </a: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(promotion)</a:t>
            </a:r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int a = 9; double b = 3.14;      a * b</a:t>
            </a:r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  </a:t>
            </a: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(double)a</a:t>
            </a:r>
            <a:r>
              <a:rPr lang="en-US" altLang="zh-CN" dirty="0">
                <a:sym typeface="Wingdings" panose="05000000000000000000" pitchFamily="2" charset="2"/>
              </a:rPr>
              <a:t> * b</a:t>
            </a:r>
          </a:p>
          <a:p>
            <a:pPr marL="0" indent="0">
              <a:buNone/>
            </a:pPr>
            <a:r>
              <a:rPr lang="zh-CN" altLang="en-US" dirty="0">
                <a:sym typeface="Wingdings" panose="05000000000000000000" pitchFamily="2" charset="2"/>
              </a:rPr>
              <a:t>类型提升在</a:t>
            </a:r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临时单元</a:t>
            </a:r>
            <a:r>
              <a:rPr lang="zh-CN" altLang="en-US" dirty="0">
                <a:sym typeface="Wingdings" panose="05000000000000000000" pitchFamily="2" charset="2"/>
              </a:rPr>
              <a:t>中发生，对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无影响</a:t>
            </a:r>
            <a:endParaRPr lang="en-US" altLang="zh-CN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2 / 4.0 * 6 </a:t>
            </a:r>
            <a:r>
              <a:rPr lang="zh-CN" altLang="en-US" dirty="0">
                <a:sym typeface="Wingdings" panose="05000000000000000000" pitchFamily="2" charset="2"/>
              </a:rPr>
              <a:t>等于几？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3.0</a:t>
            </a:r>
          </a:p>
          <a:p>
            <a:pPr marL="0" indent="0">
              <a:buNone/>
            </a:pPr>
            <a:endParaRPr lang="en-US" altLang="zh-CN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6394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F69B0-AAF8-9EFD-C0E7-AA571D197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比较运算符</a:t>
            </a:r>
            <a:r>
              <a:rPr lang="en-US" altLang="zh-CN" dirty="0"/>
              <a:t>(comparison)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E4CF4-1A1C-30B1-A04B-B98D853A1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比较运算的结果是个</a:t>
            </a:r>
            <a:r>
              <a:rPr lang="zh-CN" altLang="en-US" b="1" dirty="0">
                <a:solidFill>
                  <a:srgbClr val="C00000"/>
                </a:solidFill>
              </a:rPr>
              <a:t>布尔值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2400" dirty="0"/>
              <a:t>如果没有</a:t>
            </a:r>
            <a:r>
              <a:rPr lang="en-US" altLang="zh-CN" sz="2400" dirty="0"/>
              <a:t>bool</a:t>
            </a:r>
            <a:r>
              <a:rPr lang="zh-CN" altLang="en-US" sz="2400" dirty="0"/>
              <a:t>类型，那么</a:t>
            </a:r>
            <a:r>
              <a:rPr lang="zh-CN" altLang="en-US" sz="2400" b="1" dirty="0">
                <a:solidFill>
                  <a:srgbClr val="C00000"/>
                </a:solidFill>
              </a:rPr>
              <a:t>真估值结果用</a:t>
            </a:r>
            <a:r>
              <a:rPr lang="en-US" altLang="zh-CN" sz="2400" b="1" dirty="0">
                <a:solidFill>
                  <a:srgbClr val="C00000"/>
                </a:solidFill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</a:rPr>
              <a:t>表示，假估值结果用</a:t>
            </a:r>
            <a:r>
              <a:rPr lang="en-US" altLang="zh-CN" sz="2400" b="1" dirty="0">
                <a:solidFill>
                  <a:srgbClr val="C00000"/>
                </a:solidFill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</a:rPr>
              <a:t>表示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2400" dirty="0"/>
              <a:t>如果有</a:t>
            </a:r>
            <a:r>
              <a:rPr lang="en-US" altLang="zh-CN" sz="2400" dirty="0"/>
              <a:t>bool</a:t>
            </a:r>
            <a:r>
              <a:rPr lang="zh-CN" altLang="en-US" sz="2400" dirty="0"/>
              <a:t>类型，那么</a:t>
            </a:r>
            <a:r>
              <a:rPr lang="zh-CN" altLang="en-US" sz="2400" b="1" dirty="0">
                <a:solidFill>
                  <a:srgbClr val="C00000"/>
                </a:solidFill>
              </a:rPr>
              <a:t>真估值结果是</a:t>
            </a:r>
            <a:r>
              <a:rPr lang="en-US" altLang="zh-CN" sz="2400" b="1" dirty="0">
                <a:solidFill>
                  <a:srgbClr val="C00000"/>
                </a:solidFill>
              </a:rPr>
              <a:t>true</a:t>
            </a:r>
            <a:r>
              <a:rPr lang="zh-CN" altLang="en-US" sz="2400" b="1" dirty="0">
                <a:solidFill>
                  <a:srgbClr val="C00000"/>
                </a:solidFill>
              </a:rPr>
              <a:t>，假估值结果是</a:t>
            </a:r>
            <a:r>
              <a:rPr lang="en-US" altLang="zh-CN" sz="2400" b="1" dirty="0">
                <a:solidFill>
                  <a:srgbClr val="C00000"/>
                </a:solidFill>
              </a:rPr>
              <a:t>false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984BAEF6-A280-619B-B3CF-DA2AAE0B1BE0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B04-exp/value-of-</a:t>
            </a:r>
            <a:r>
              <a:rPr lang="en-US" altLang="zh-CN" sz="1400" dirty="0" err="1">
                <a:latin typeface="Consolas" panose="020B0609020204030204" pitchFamily="49" charset="0"/>
              </a:rPr>
              <a:t>expr.c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698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6F2E-F855-7C8F-C2A0-CF0CC9E4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C12E5-E754-96CD-B479-34529A7D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比较运算符</a:t>
            </a:r>
            <a:r>
              <a:rPr lang="en-US" altLang="zh-CN" dirty="0"/>
              <a:t>—</a:t>
            </a:r>
            <a:r>
              <a:rPr lang="zh-CN" altLang="en-US" dirty="0"/>
              <a:t>运算符的级联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F08C54-E41D-1601-4417-BECF47FD5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int 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9, b = 7, c = 5;</a:t>
            </a:r>
          </a:p>
          <a:p>
            <a:pPr marL="0" indent="0">
              <a:buNone/>
            </a:pPr>
            <a:r>
              <a:rPr lang="en-US" altLang="zh-CN" dirty="0"/>
              <a:t>a &gt; b &gt; c </a:t>
            </a:r>
            <a:r>
              <a:rPr lang="zh-CN" altLang="en-US" dirty="0"/>
              <a:t>等于？</a:t>
            </a:r>
            <a:r>
              <a:rPr lang="en-US" altLang="zh-CN" dirty="0"/>
              <a:t>//</a:t>
            </a:r>
            <a:r>
              <a:rPr lang="zh-CN" altLang="en-US" dirty="0"/>
              <a:t>数学上，</a:t>
            </a:r>
            <a:r>
              <a:rPr lang="en-US" altLang="zh-CN" dirty="0"/>
              <a:t>a &gt; b &gt; c </a:t>
            </a:r>
            <a:r>
              <a:rPr lang="zh-CN" altLang="en-US" dirty="0"/>
              <a:t>成立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比较运算符的结合性：</a:t>
            </a:r>
            <a:r>
              <a:rPr lang="zh-CN" altLang="en-US" b="1" dirty="0">
                <a:solidFill>
                  <a:srgbClr val="C00000"/>
                </a:solidFill>
              </a:rPr>
              <a:t>从左到右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(a &gt; b) &gt; c  </a:t>
            </a:r>
            <a:r>
              <a:rPr lang="en-US" altLang="zh-CN" dirty="0">
                <a:sym typeface="Wingdings" panose="05000000000000000000" pitchFamily="2" charset="2"/>
              </a:rPr>
              <a:t>   1 &gt; c     </a:t>
            </a:r>
            <a:r>
              <a:rPr lang="zh-CN" altLang="en-US" dirty="0">
                <a:sym typeface="Wingdings" panose="05000000000000000000" pitchFamily="2" charset="2"/>
              </a:rPr>
              <a:t>假（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zh-CN" altLang="en-US" dirty="0">
                <a:sym typeface="Wingdings" panose="05000000000000000000" pitchFamily="2" charset="2"/>
              </a:rPr>
              <a:t>或</a:t>
            </a:r>
            <a:r>
              <a:rPr lang="en-US" altLang="zh-CN" dirty="0">
                <a:sym typeface="Wingdings" panose="05000000000000000000" pitchFamily="2" charset="2"/>
              </a:rPr>
              <a:t>false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zh-CN" altLang="en-US" dirty="0">
                <a:sym typeface="Wingdings" panose="05000000000000000000" pitchFamily="2" charset="2"/>
              </a:rPr>
              <a:t>改写为：</a:t>
            </a:r>
            <a:r>
              <a:rPr lang="en-US" altLang="zh-CN" dirty="0">
                <a:sym typeface="Wingdings" panose="05000000000000000000" pitchFamily="2" charset="2"/>
              </a:rPr>
              <a:t>a &gt; b </a:t>
            </a:r>
            <a:r>
              <a:rPr lang="zh-CN" altLang="en-US" dirty="0">
                <a:sym typeface="Wingdings" panose="05000000000000000000" pitchFamily="2" charset="2"/>
              </a:rPr>
              <a:t>并且 </a:t>
            </a:r>
            <a:r>
              <a:rPr lang="en-US" altLang="zh-CN" dirty="0">
                <a:sym typeface="Wingdings" panose="05000000000000000000" pitchFamily="2" charset="2"/>
              </a:rPr>
              <a:t>b &gt; c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97A25C95-FE58-D4C5-75C5-33033934C186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</a:t>
            </a:r>
            <a:r>
              <a:rPr lang="en-US" altLang="zh-CN" sz="1400" dirty="0" err="1">
                <a:latin typeface="Consolas" panose="020B0609020204030204" pitchFamily="49" charset="0"/>
              </a:rPr>
              <a:t>cmp-cascading.c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7DF1C47-4AB4-7954-8566-ACA0E941EE97}"/>
              </a:ext>
            </a:extLst>
          </p:cNvPr>
          <p:cNvSpPr/>
          <p:nvPr/>
        </p:nvSpPr>
        <p:spPr>
          <a:xfrm>
            <a:off x="3226158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B04-exp/operator-</a:t>
            </a:r>
            <a:r>
              <a:rPr lang="en-US" altLang="zh-CN" sz="1400" dirty="0" err="1">
                <a:latin typeface="Consolas" panose="020B0609020204030204" pitchFamily="49" charset="0"/>
              </a:rPr>
              <a:t>cascading.c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40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9A7EE1-C83A-ED85-FF8E-F2BE122D2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逻辑运算符</a:t>
            </a:r>
            <a:r>
              <a:rPr lang="en-US" altLang="zh-CN" dirty="0"/>
              <a:t>(logic)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E16C8-8E9B-4063-4EA9-D9CFD6E20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逻辑运算的结果都是布尔值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int 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9, b = 7, c = 5;</a:t>
            </a:r>
          </a:p>
          <a:p>
            <a:pPr marL="457200" lvl="1" indent="0">
              <a:buNone/>
            </a:pPr>
            <a:r>
              <a:rPr lang="en-US" altLang="zh-CN" dirty="0"/>
              <a:t>a &gt; b &amp;&amp; b &gt; c  //</a:t>
            </a:r>
            <a:r>
              <a:rPr lang="zh-CN" altLang="en-US" dirty="0"/>
              <a:t>数学式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&gt;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&gt;</a:t>
            </a:r>
            <a:r>
              <a:rPr lang="zh-CN" altLang="en-US" dirty="0"/>
              <a:t> </a:t>
            </a:r>
            <a:r>
              <a:rPr lang="en-US" altLang="zh-CN" dirty="0"/>
              <a:t>c </a:t>
            </a:r>
            <a:r>
              <a:rPr lang="zh-CN" altLang="en-US" dirty="0"/>
              <a:t>的</a:t>
            </a:r>
            <a:r>
              <a:rPr lang="en-US" altLang="zh-CN" dirty="0"/>
              <a:t>C</a:t>
            </a:r>
            <a:r>
              <a:rPr lang="zh-CN" altLang="en-US" dirty="0"/>
              <a:t>语言形式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能估值的表达式强制作为逻辑值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0</a:t>
            </a:r>
            <a:r>
              <a:rPr lang="zh-CN" altLang="en-US" b="1" dirty="0">
                <a:solidFill>
                  <a:srgbClr val="C00000"/>
                </a:solidFill>
              </a:rPr>
              <a:t>值为假，其他任何非</a:t>
            </a:r>
            <a:r>
              <a:rPr lang="en-US" altLang="zh-CN" b="1" dirty="0">
                <a:solidFill>
                  <a:srgbClr val="C00000"/>
                </a:solidFill>
              </a:rPr>
              <a:t>0</a:t>
            </a:r>
            <a:r>
              <a:rPr lang="zh-CN" altLang="en-US" b="1" dirty="0">
                <a:solidFill>
                  <a:srgbClr val="C00000"/>
                </a:solidFill>
              </a:rPr>
              <a:t>值都是真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a &amp;&amp; b   </a:t>
            </a:r>
            <a:r>
              <a:rPr lang="en-US" altLang="zh-CN" dirty="0">
                <a:sym typeface="Wingdings" panose="05000000000000000000" pitchFamily="2" charset="2"/>
              </a:rPr>
              <a:t>   9 &amp;&amp; 7     true &amp;&amp; true      true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(b – 7) || (a &lt;= b)    0 || false    false || false    false</a:t>
            </a: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C308D3F-529E-E033-9E4D-34B68E1B8720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</a:t>
            </a:r>
            <a:r>
              <a:rPr lang="en-US" altLang="zh-CN" sz="1400" dirty="0" err="1">
                <a:latin typeface="Consolas" panose="020B0609020204030204" pitchFamily="49" charset="0"/>
              </a:rPr>
              <a:t>logic.c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00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818E-2775-9371-3972-BAA9643F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288D6-9673-D058-0CBE-BA8C183B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逻辑运算符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ECDA4-0C0B-363E-D2D9-1FEE4B4ED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值进行比较的简写形式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int a = 9;</a:t>
            </a:r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a != 0  </a:t>
            </a:r>
            <a:r>
              <a:rPr lang="zh-CN" altLang="en-US" dirty="0">
                <a:sym typeface="Wingdings" panose="05000000000000000000" pitchFamily="2" charset="2"/>
              </a:rPr>
              <a:t>可以简写为</a:t>
            </a:r>
            <a:r>
              <a:rPr lang="en-US" altLang="zh-CN" dirty="0">
                <a:sym typeface="Wingdings" panose="05000000000000000000" pitchFamily="2" charset="2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a</a:t>
            </a:r>
          </a:p>
          <a:p>
            <a:pPr lvl="1"/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a != 0</a:t>
            </a:r>
            <a:r>
              <a:rPr lang="en-US" altLang="zh-CN" dirty="0">
                <a:sym typeface="Wingdings" panose="05000000000000000000" pitchFamily="2" charset="2"/>
              </a:rPr>
              <a:t>    9 != 0    </a:t>
            </a: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true</a:t>
            </a:r>
          </a:p>
          <a:p>
            <a:pPr lvl="1"/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a</a:t>
            </a:r>
            <a:r>
              <a:rPr lang="en-US" altLang="zh-CN" dirty="0">
                <a:sym typeface="Wingdings" panose="05000000000000000000" pitchFamily="2" charset="2"/>
              </a:rPr>
              <a:t>    9   </a:t>
            </a: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true</a:t>
            </a:r>
          </a:p>
          <a:p>
            <a:pPr marL="0" indent="0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a == 0 </a:t>
            </a:r>
            <a:r>
              <a:rPr lang="zh-CN" altLang="en-US" dirty="0">
                <a:sym typeface="Wingdings" panose="05000000000000000000" pitchFamily="2" charset="2"/>
              </a:rPr>
              <a:t>可以简写为？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!a    !9    !true    false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A6D864DF-DE69-1B50-D320-8762A40717E9}"/>
              </a:ext>
            </a:extLst>
          </p:cNvPr>
          <p:cNvSpPr/>
          <p:nvPr/>
        </p:nvSpPr>
        <p:spPr>
          <a:xfrm>
            <a:off x="5995116" y="3226157"/>
            <a:ext cx="2427667" cy="759854"/>
          </a:xfrm>
          <a:prstGeom prst="wedgeRectCallout">
            <a:avLst>
              <a:gd name="adj1" fmla="val -65856"/>
              <a:gd name="adj2" fmla="val 13348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二者估值结果相同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6083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F32CF9-19A7-3B7F-671B-A66418ED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条件运算符</a:t>
            </a:r>
            <a:r>
              <a:rPr lang="en-US" altLang="zh-CN" dirty="0"/>
              <a:t>(condition)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B147E4-60D9-52D3-A1F7-8BC53DD77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e1 ? e2 : e3</a:t>
            </a:r>
          </a:p>
          <a:p>
            <a:pPr marL="0" indent="0">
              <a:buNone/>
            </a:pPr>
            <a:r>
              <a:rPr lang="zh-CN" altLang="en-US" dirty="0"/>
              <a:t>如果</a:t>
            </a:r>
            <a:r>
              <a:rPr lang="en-US" altLang="zh-CN" dirty="0"/>
              <a:t>e1</a:t>
            </a:r>
            <a:r>
              <a:rPr lang="zh-CN" altLang="en-US" dirty="0"/>
              <a:t>的估值为</a:t>
            </a:r>
            <a:r>
              <a:rPr lang="en-US" altLang="zh-CN" dirty="0"/>
              <a:t>true</a:t>
            </a:r>
            <a:r>
              <a:rPr lang="zh-CN" altLang="en-US" dirty="0"/>
              <a:t>，表达式的值为</a:t>
            </a:r>
            <a:r>
              <a:rPr lang="en-US" altLang="zh-CN" dirty="0"/>
              <a:t>e2</a:t>
            </a:r>
            <a:r>
              <a:rPr lang="zh-CN" altLang="en-US" dirty="0"/>
              <a:t>，否则为</a:t>
            </a:r>
            <a:r>
              <a:rPr lang="en-US" altLang="zh-CN" dirty="0"/>
              <a:t>e3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9, b = 7;</a:t>
            </a:r>
          </a:p>
          <a:p>
            <a:pPr marL="0" indent="0">
              <a:buNone/>
            </a:pPr>
            <a:r>
              <a:rPr lang="en-US" altLang="zh-CN" dirty="0"/>
              <a:t>a &gt; b ? a : b  </a:t>
            </a:r>
            <a:r>
              <a:rPr lang="en-US" altLang="zh-CN" dirty="0">
                <a:sym typeface="Wingdings" panose="05000000000000000000" pitchFamily="2" charset="2"/>
              </a:rPr>
              <a:t>  true ? a : b    a    9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3BA9B3BE-9534-5FB8-39F8-93E0360954D0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B04-exp/value-of-</a:t>
            </a:r>
            <a:r>
              <a:rPr lang="en-US" altLang="zh-CN" sz="1400" dirty="0" err="1">
                <a:latin typeface="Consolas" panose="020B0609020204030204" pitchFamily="49" charset="0"/>
              </a:rPr>
              <a:t>expr.c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729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90450-EAF4-65D5-557E-5133739FA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逗号运算符</a:t>
            </a:r>
            <a:r>
              <a:rPr lang="en-US" altLang="zh-CN" dirty="0"/>
              <a:t>(comma)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BBA6F-A4C2-A6C5-6578-0866CCEDE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逗号运算符具有</a:t>
            </a:r>
            <a:r>
              <a:rPr lang="zh-CN" altLang="en-US" b="1" dirty="0">
                <a:solidFill>
                  <a:srgbClr val="C00000"/>
                </a:solidFill>
              </a:rPr>
              <a:t>最低优先级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int 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9, b = 7, c = 5;</a:t>
            </a:r>
          </a:p>
          <a:p>
            <a:pPr marL="0" indent="0">
              <a:buNone/>
            </a:pPr>
            <a:r>
              <a:rPr lang="en-US" altLang="zh-CN" dirty="0"/>
              <a:t>int d;</a:t>
            </a:r>
          </a:p>
          <a:p>
            <a:pPr marL="0" indent="0">
              <a:buNone/>
            </a:pPr>
            <a:r>
              <a:rPr lang="en-US" altLang="zh-CN" dirty="0"/>
              <a:t>d = (a, b, c)  </a:t>
            </a:r>
            <a:r>
              <a:rPr lang="en-US" altLang="zh-CN" sz="2000" dirty="0"/>
              <a:t>//</a:t>
            </a:r>
            <a:r>
              <a:rPr lang="zh-CN" altLang="en-US" sz="2000" dirty="0"/>
              <a:t>从左到右依次估值</a:t>
            </a:r>
            <a:r>
              <a:rPr lang="en-US" altLang="zh-CN" sz="2000" dirty="0"/>
              <a:t>,</a:t>
            </a:r>
            <a:r>
              <a:rPr lang="zh-CN" altLang="en-US" sz="2000" dirty="0"/>
              <a:t>间的表达式，估值结果是</a:t>
            </a:r>
            <a:r>
              <a:rPr lang="zh-CN" altLang="en-US" sz="2000" b="1" dirty="0">
                <a:solidFill>
                  <a:srgbClr val="C00000"/>
                </a:solidFill>
              </a:rPr>
              <a:t>最右表达式</a:t>
            </a:r>
            <a:r>
              <a:rPr lang="zh-CN" altLang="en-US" sz="2000" dirty="0"/>
              <a:t>的值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估值</a:t>
            </a:r>
            <a:r>
              <a:rPr lang="en-US" altLang="zh-CN" dirty="0"/>
              <a:t>a</a:t>
            </a:r>
            <a:r>
              <a:rPr lang="zh-CN" altLang="en-US" dirty="0"/>
              <a:t>，结果被抛弃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估值</a:t>
            </a:r>
            <a:r>
              <a:rPr lang="en-US" altLang="zh-CN" dirty="0"/>
              <a:t>b</a:t>
            </a:r>
            <a:r>
              <a:rPr lang="zh-CN" altLang="en-US" dirty="0"/>
              <a:t>，结果被抛弃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估值</a:t>
            </a:r>
            <a:r>
              <a:rPr lang="en-US" altLang="zh-CN" dirty="0"/>
              <a:t>c</a:t>
            </a:r>
            <a:r>
              <a:rPr lang="zh-CN" altLang="en-US" dirty="0"/>
              <a:t>，结果赋给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94C5CD14-4139-3D78-6C3A-0584694D589D}"/>
              </a:ext>
            </a:extLst>
          </p:cNvPr>
          <p:cNvSpPr/>
          <p:nvPr/>
        </p:nvSpPr>
        <p:spPr>
          <a:xfrm>
            <a:off x="2678807" y="1725768"/>
            <a:ext cx="3625401" cy="759854"/>
          </a:xfrm>
          <a:prstGeom prst="wedgeRectCallout">
            <a:avLst>
              <a:gd name="adj1" fmla="val -51700"/>
              <a:gd name="adj2" fmla="val 89619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逗号运算符具有最低优先级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09AA251-7852-AF82-7A28-881B247B71E1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B04-exp/value-of-</a:t>
            </a:r>
            <a:r>
              <a:rPr lang="en-US" altLang="zh-CN" sz="1400" dirty="0" err="1">
                <a:latin typeface="Consolas" panose="020B0609020204030204" pitchFamily="49" charset="0"/>
              </a:rPr>
              <a:t>expr.c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07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28E73-6B8A-D609-55AA-3F2E036F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类型转换</a:t>
            </a:r>
            <a:r>
              <a:rPr lang="en-US" altLang="zh-CN" dirty="0"/>
              <a:t>(type casting)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D7025-D0B2-29D8-CA97-5D126DADE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int a = 1; double b = 3.14;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隐式转换</a:t>
            </a:r>
            <a:endParaRPr lang="en-US" altLang="zh-CN" dirty="0"/>
          </a:p>
          <a:p>
            <a:pPr lvl="1"/>
            <a:r>
              <a:rPr lang="zh-CN" altLang="en-US" dirty="0"/>
              <a:t>发生在混合运算中：类型提升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 * b //a</a:t>
            </a:r>
            <a:r>
              <a:rPr lang="zh-CN" altLang="en-US" dirty="0"/>
              <a:t>隐式转换成</a:t>
            </a:r>
            <a:r>
              <a:rPr lang="en-US" altLang="zh-CN" dirty="0"/>
              <a:t>double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 = b //b</a:t>
            </a:r>
            <a:r>
              <a:rPr lang="zh-CN" altLang="en-US" dirty="0"/>
              <a:t>隐式转换成</a:t>
            </a:r>
            <a:r>
              <a:rPr lang="en-US" altLang="zh-CN" dirty="0"/>
              <a:t>int</a:t>
            </a:r>
            <a:r>
              <a:rPr lang="zh-CN" altLang="en-US" dirty="0"/>
              <a:t>类型。可能引起编译警告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强制转换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 = </a:t>
            </a:r>
            <a:r>
              <a:rPr lang="en-US" altLang="zh-CN" b="1" dirty="0">
                <a:solidFill>
                  <a:srgbClr val="C00000"/>
                </a:solidFill>
              </a:rPr>
              <a:t>(int)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AADA7668-4739-52D0-CC82-AFBC51B2AE9A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B04-exp/type-</a:t>
            </a:r>
            <a:r>
              <a:rPr lang="en-US" altLang="zh-CN" sz="1400" dirty="0" err="1">
                <a:latin typeface="Consolas" panose="020B0609020204030204" pitchFamily="49" charset="0"/>
              </a:rPr>
              <a:t>casting.c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922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95F4-19E0-4713-F3AF-712A9ACC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60FF1-FEA7-7971-4E59-2DF557F8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表达式语句</a:t>
            </a:r>
            <a:r>
              <a:rPr lang="en-US" altLang="zh-CN" dirty="0"/>
              <a:t>(statement)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F341A0-BEB3-BDDD-9F07-65008D1D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表达式后跟上</a:t>
            </a:r>
            <a:r>
              <a:rPr lang="zh-CN" altLang="en-US" b="1" dirty="0">
                <a:solidFill>
                  <a:srgbClr val="C00000"/>
                </a:solidFill>
              </a:rPr>
              <a:t>分号</a:t>
            </a:r>
            <a:r>
              <a:rPr lang="zh-CN" altLang="en-US" dirty="0"/>
              <a:t>就形成</a:t>
            </a:r>
            <a:r>
              <a:rPr lang="zh-CN" altLang="en-US" b="1" dirty="0">
                <a:solidFill>
                  <a:srgbClr val="C00000"/>
                </a:solidFill>
              </a:rPr>
              <a:t>表达式语句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a = b</a:t>
            </a:r>
            <a:r>
              <a:rPr lang="en-US" altLang="zh-CN" b="1" dirty="0">
                <a:solidFill>
                  <a:srgbClr val="C00000"/>
                </a:solidFill>
              </a:rPr>
              <a:t>;</a:t>
            </a:r>
            <a:r>
              <a:rPr lang="en-US" altLang="zh-CN" dirty="0"/>
              <a:t> //</a:t>
            </a:r>
            <a:r>
              <a:rPr lang="zh-CN" altLang="en-US" dirty="0"/>
              <a:t>赋值（表达式）语句。语句利用了赋值表达式的副作用完成操作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 + b</a:t>
            </a:r>
            <a:r>
              <a:rPr lang="en-US" altLang="zh-CN" b="1" dirty="0">
                <a:solidFill>
                  <a:srgbClr val="C00000"/>
                </a:solidFill>
              </a:rPr>
              <a:t>;</a:t>
            </a:r>
            <a:r>
              <a:rPr lang="en-US" altLang="zh-CN" dirty="0"/>
              <a:t> //</a:t>
            </a:r>
            <a:r>
              <a:rPr lang="zh-CN" altLang="en-US" dirty="0"/>
              <a:t>算数表达式语句。表达式</a:t>
            </a:r>
            <a:r>
              <a:rPr lang="en-US" altLang="zh-CN" dirty="0" err="1"/>
              <a:t>a+b</a:t>
            </a:r>
            <a:r>
              <a:rPr lang="zh-CN" altLang="en-US" dirty="0"/>
              <a:t>被估值，但结果被丢弃了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语句中的</a:t>
            </a:r>
            <a:r>
              <a:rPr lang="zh-CN" altLang="en-US" b="1" dirty="0">
                <a:solidFill>
                  <a:srgbClr val="C00000"/>
                </a:solidFill>
              </a:rPr>
              <a:t>所有子表达式都会被估值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a = 7 + b, b++, 7 + a</a:t>
            </a:r>
            <a:r>
              <a:rPr lang="en-US" altLang="zh-CN" b="1" dirty="0">
                <a:solidFill>
                  <a:srgbClr val="C00000"/>
                </a:solidFill>
              </a:rPr>
              <a:t>; </a:t>
            </a:r>
            <a:r>
              <a:rPr lang="en-US" altLang="zh-CN" dirty="0"/>
              <a:t>//</a:t>
            </a:r>
            <a:r>
              <a:rPr lang="zh-CN" altLang="en-US" dirty="0"/>
              <a:t>逗号表达式语句。三个表达式</a:t>
            </a:r>
            <a:r>
              <a:rPr lang="en-US" altLang="zh-CN" dirty="0"/>
              <a:t>a=7+b/b++/7+a</a:t>
            </a:r>
            <a:r>
              <a:rPr lang="zh-CN" altLang="en-US" dirty="0"/>
              <a:t>被分别估值，整个表达式的值是</a:t>
            </a:r>
            <a:r>
              <a:rPr lang="en-US" altLang="zh-CN" dirty="0"/>
              <a:t>7+a</a:t>
            </a:r>
            <a:r>
              <a:rPr lang="zh-CN" altLang="en-US" dirty="0"/>
              <a:t>的值。但结果被丢弃了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2A3F01C5-E624-B464-BEEB-C2F2F764BE89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B04-exp/eval-all-</a:t>
            </a:r>
            <a:r>
              <a:rPr lang="en-US" altLang="zh-CN" sz="1400" dirty="0" err="1">
                <a:latin typeface="Consolas" panose="020B0609020204030204" pitchFamily="49" charset="0"/>
              </a:rPr>
              <a:t>subexpr.c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03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AA011-1283-3B9C-0BB1-9928E820A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CC39B-3C70-888A-1A59-96B5DC59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表达式语句</a:t>
            </a:r>
            <a:r>
              <a:rPr lang="en-US" altLang="zh-CN" dirty="0"/>
              <a:t>(statement)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9426C-DCBA-4A69-0B73-F7F2E9CF7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语句中表达式的</a:t>
            </a:r>
            <a:r>
              <a:rPr lang="zh-CN" altLang="en-US" b="1" dirty="0">
                <a:solidFill>
                  <a:srgbClr val="C00000"/>
                </a:solidFill>
              </a:rPr>
              <a:t>估值顺序可能是不确定的</a:t>
            </a:r>
            <a:r>
              <a:rPr lang="zh-CN" altLang="en-US" dirty="0"/>
              <a:t>，依赖于编译器的实现</a:t>
            </a:r>
            <a:endParaRPr lang="en-US" altLang="zh-CN" dirty="0"/>
          </a:p>
          <a:p>
            <a:pPr lvl="1"/>
            <a:r>
              <a:rPr lang="zh-CN" altLang="en-US" dirty="0"/>
              <a:t>子表达式不总是从左到右依次估值的</a:t>
            </a:r>
            <a:endParaRPr lang="en-US" altLang="zh-CN" dirty="0"/>
          </a:p>
          <a:p>
            <a:pPr lvl="1"/>
            <a:r>
              <a:rPr lang="zh-CN" altLang="en-US" dirty="0"/>
              <a:t>估值顺序不定可能导致</a:t>
            </a:r>
            <a:r>
              <a:rPr lang="zh-CN" altLang="en-US" b="1" dirty="0">
                <a:solidFill>
                  <a:srgbClr val="C00000"/>
                </a:solidFill>
              </a:rPr>
              <a:t>未定义行为</a:t>
            </a:r>
            <a:r>
              <a:rPr lang="en-US" altLang="zh-CN" b="1" dirty="0">
                <a:solidFill>
                  <a:srgbClr val="C00000"/>
                </a:solidFill>
              </a:rPr>
              <a:t>(undefined behavior, UB)</a:t>
            </a:r>
          </a:p>
          <a:p>
            <a:pPr marL="457200" lvl="1" indent="0">
              <a:buNone/>
            </a:pPr>
            <a:r>
              <a:rPr lang="zh-CN" altLang="en-US" dirty="0"/>
              <a:t>执行如下语句</a:t>
            </a:r>
            <a:r>
              <a:rPr lang="en-US" altLang="zh-CN" dirty="0"/>
              <a:t>1</a:t>
            </a:r>
            <a:r>
              <a:rPr lang="zh-CN" altLang="en-US" dirty="0"/>
              <a:t>后，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的值是什么？</a:t>
            </a:r>
            <a:endParaRPr lang="en-US" altLang="zh-CN" dirty="0"/>
          </a:p>
          <a:p>
            <a:pPr marL="457200" lvl="1" indent="0">
              <a:buNone/>
            </a:pPr>
            <a:r>
              <a:rPr lang="pt-BR" altLang="zh-CN" dirty="0"/>
              <a:t>a = 0; </a:t>
            </a:r>
          </a:p>
          <a:p>
            <a:pPr marL="457200" lvl="1" indent="0">
              <a:buNone/>
            </a:pPr>
            <a:r>
              <a:rPr lang="pt-BR" altLang="zh-CN" dirty="0"/>
              <a:t>b = ++a + a++ + --a;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AF99856-BA85-52A2-B5EB-AE0013888242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B04-exp/undefined-</a:t>
            </a:r>
            <a:r>
              <a:rPr lang="en-US" altLang="zh-CN" sz="1400" dirty="0" err="1">
                <a:latin typeface="Consolas" panose="020B0609020204030204" pitchFamily="49" charset="0"/>
              </a:rPr>
              <a:t>behavior.c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36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409</TotalTime>
  <Words>1825</Words>
  <Application>Microsoft Office PowerPoint</Application>
  <PresentationFormat>宽屏</PresentationFormat>
  <Paragraphs>256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Arial</vt:lpstr>
      <vt:lpstr>Consolas</vt:lpstr>
      <vt:lpstr>Wingdings</vt:lpstr>
      <vt:lpstr>Office 主题​​</vt:lpstr>
      <vt:lpstr>表达式</vt:lpstr>
      <vt:lpstr>运算符和操作数</vt:lpstr>
      <vt:lpstr>C语言的运算符</vt:lpstr>
      <vt:lpstr>表达式(expression)</vt:lpstr>
      <vt:lpstr>表达式的值(value)</vt:lpstr>
      <vt:lpstr>表达式的值</vt:lpstr>
      <vt:lpstr>元表达式(primary expression)</vt:lpstr>
      <vt:lpstr>赋值表达式(assignment)</vt:lpstr>
      <vt:lpstr>赋值表达式-运算符的级联(cascading)</vt:lpstr>
      <vt:lpstr>赋值表达式-运算符的级联(cascading)</vt:lpstr>
      <vt:lpstr>算数表达式(arithmetic)</vt:lpstr>
      <vt:lpstr>算数表达式—以自加(increasment)为例</vt:lpstr>
      <vt:lpstr>算数表达式—运算符的级联</vt:lpstr>
      <vt:lpstr>算数表达式—混合运算</vt:lpstr>
      <vt:lpstr>比较运算符(comparison)</vt:lpstr>
      <vt:lpstr>比较运算符—运算符的级联</vt:lpstr>
      <vt:lpstr>逻辑运算符(logic)</vt:lpstr>
      <vt:lpstr>逻辑运算符</vt:lpstr>
      <vt:lpstr>条件运算符(condition)</vt:lpstr>
      <vt:lpstr>逗号运算符(comma)</vt:lpstr>
      <vt:lpstr>类型转换(type casting)</vt:lpstr>
      <vt:lpstr>表达式语句(statement)</vt:lpstr>
      <vt:lpstr>表达式语句(statement)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424</cp:revision>
  <dcterms:created xsi:type="dcterms:W3CDTF">2021-10-07T04:52:51Z</dcterms:created>
  <dcterms:modified xsi:type="dcterms:W3CDTF">2025-09-10T02:58:44Z</dcterms:modified>
</cp:coreProperties>
</file>