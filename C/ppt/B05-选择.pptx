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0"/>
  </p:notesMasterIdLst>
  <p:sldIdLst>
    <p:sldId id="256" r:id="rId2"/>
    <p:sldId id="259" r:id="rId3"/>
    <p:sldId id="258" r:id="rId4"/>
    <p:sldId id="272" r:id="rId5"/>
    <p:sldId id="263" r:id="rId6"/>
    <p:sldId id="261" r:id="rId7"/>
    <p:sldId id="257" r:id="rId8"/>
    <p:sldId id="265" r:id="rId9"/>
    <p:sldId id="260" r:id="rId10"/>
    <p:sldId id="262" r:id="rId11"/>
    <p:sldId id="264" r:id="rId12"/>
    <p:sldId id="273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E6F38-CE0C-4D08-A2F9-7C5C72D1B8A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C0248-1C6B-4F64-A51C-E50C24A02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5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2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14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3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5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4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7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58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9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5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3.tmp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image" Target="../media/image3.tmp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选择结构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D5543-25F5-6001-0B8E-04DC8FDD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程序的控制结构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1438F8D-A025-6EF4-D849-868402450339}"/>
              </a:ext>
            </a:extLst>
          </p:cNvPr>
          <p:cNvGrpSpPr/>
          <p:nvPr/>
        </p:nvGrpSpPr>
        <p:grpSpPr>
          <a:xfrm>
            <a:off x="1532583" y="2466304"/>
            <a:ext cx="1281449" cy="2820472"/>
            <a:chOff x="1513265" y="2118575"/>
            <a:chExt cx="1281449" cy="2820472"/>
          </a:xfrm>
        </p:grpSpPr>
        <p:sp>
          <p:nvSpPr>
            <p:cNvPr id="4" name="流程图: 过程 3">
              <a:extLst>
                <a:ext uri="{FF2B5EF4-FFF2-40B4-BE49-F238E27FC236}">
                  <a16:creationId xmlns:a16="http://schemas.microsoft.com/office/drawing/2014/main" id="{4838361D-0BEF-01B4-8472-6FEF92FB6455}"/>
                </a:ext>
              </a:extLst>
            </p:cNvPr>
            <p:cNvSpPr/>
            <p:nvPr/>
          </p:nvSpPr>
          <p:spPr>
            <a:xfrm>
              <a:off x="1513267" y="2582214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D76F6405-3592-ADE2-5540-6AADE543DEF9}"/>
                </a:ext>
              </a:extLst>
            </p:cNvPr>
            <p:cNvSpPr/>
            <p:nvPr/>
          </p:nvSpPr>
          <p:spPr>
            <a:xfrm>
              <a:off x="1513266" y="3339921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0A05DDE6-844F-24EB-674F-132DD717E345}"/>
                </a:ext>
              </a:extLst>
            </p:cNvPr>
            <p:cNvSpPr/>
            <p:nvPr/>
          </p:nvSpPr>
          <p:spPr>
            <a:xfrm>
              <a:off x="1513265" y="4097628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122F00CD-2B7F-AB15-B953-14EABE1124B5}"/>
                </a:ext>
              </a:extLst>
            </p:cNvPr>
            <p:cNvCxnSpPr>
              <a:endCxn id="4" idx="0"/>
            </p:cNvCxnSpPr>
            <p:nvPr/>
          </p:nvCxnSpPr>
          <p:spPr>
            <a:xfrm>
              <a:off x="2153988" y="2118575"/>
              <a:ext cx="3" cy="4636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63BD06B-B09C-38E8-8F94-F4540997C439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2153990" y="2962141"/>
              <a:ext cx="1" cy="3777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3452B71-8588-DE9F-1B31-1D88DDE1C2DD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2153989" y="3719848"/>
              <a:ext cx="1" cy="3777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314CB5B-05D0-FDE6-C6EF-402DFC569AA6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2153989" y="4477555"/>
              <a:ext cx="2" cy="46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B1E2324-3E8E-D87D-C4F9-BF82A73A05FC}"/>
              </a:ext>
            </a:extLst>
          </p:cNvPr>
          <p:cNvGrpSpPr/>
          <p:nvPr/>
        </p:nvGrpSpPr>
        <p:grpSpPr>
          <a:xfrm>
            <a:off x="4208168" y="2364260"/>
            <a:ext cx="3316309" cy="2922513"/>
            <a:chOff x="4305835" y="2016532"/>
            <a:chExt cx="3316309" cy="2922513"/>
          </a:xfrm>
        </p:grpSpPr>
        <p:sp>
          <p:nvSpPr>
            <p:cNvPr id="17" name="流程图: 决策 16">
              <a:extLst>
                <a:ext uri="{FF2B5EF4-FFF2-40B4-BE49-F238E27FC236}">
                  <a16:creationId xmlns:a16="http://schemas.microsoft.com/office/drawing/2014/main" id="{4B6DFBF7-6571-B6F3-E693-E432BEB89117}"/>
                </a:ext>
              </a:extLst>
            </p:cNvPr>
            <p:cNvSpPr/>
            <p:nvPr/>
          </p:nvSpPr>
          <p:spPr>
            <a:xfrm>
              <a:off x="5306096" y="2480171"/>
              <a:ext cx="1345840" cy="584011"/>
            </a:xfrm>
            <a:prstGeom prst="flowChartDecision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F829794-6781-AE73-73E8-65FB23DC4745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5979013" y="2016532"/>
              <a:ext cx="3" cy="4636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流程图: 过程 19">
              <a:extLst>
                <a:ext uri="{FF2B5EF4-FFF2-40B4-BE49-F238E27FC236}">
                  <a16:creationId xmlns:a16="http://schemas.microsoft.com/office/drawing/2014/main" id="{A0CE283A-81AD-C11A-3750-64A80754D748}"/>
                </a:ext>
              </a:extLst>
            </p:cNvPr>
            <p:cNvSpPr/>
            <p:nvPr/>
          </p:nvSpPr>
          <p:spPr>
            <a:xfrm>
              <a:off x="4305835" y="4097627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流程图: 过程 20">
              <a:extLst>
                <a:ext uri="{FF2B5EF4-FFF2-40B4-BE49-F238E27FC236}">
                  <a16:creationId xmlns:a16="http://schemas.microsoft.com/office/drawing/2014/main" id="{D0E745DF-3C94-535C-AC84-0A11C917EBC4}"/>
                </a:ext>
              </a:extLst>
            </p:cNvPr>
            <p:cNvSpPr/>
            <p:nvPr/>
          </p:nvSpPr>
          <p:spPr>
            <a:xfrm>
              <a:off x="6340697" y="4097626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57561415-6483-CFE5-6EDF-2CB9D44FD153}"/>
                </a:ext>
              </a:extLst>
            </p:cNvPr>
            <p:cNvCxnSpPr>
              <a:stCxn id="17" idx="1"/>
              <a:endCxn id="20" idx="0"/>
            </p:cNvCxnSpPr>
            <p:nvPr/>
          </p:nvCxnSpPr>
          <p:spPr>
            <a:xfrm rot="10800000" flipV="1">
              <a:off x="4946560" y="2772177"/>
              <a:ext cx="359537" cy="132545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243E9C8C-2CE9-D599-30E1-CCC8CF93DC2E}"/>
                </a:ext>
              </a:extLst>
            </p:cNvPr>
            <p:cNvCxnSpPr>
              <a:cxnSpLocks/>
              <a:stCxn id="17" idx="3"/>
              <a:endCxn id="21" idx="0"/>
            </p:cNvCxnSpPr>
            <p:nvPr/>
          </p:nvCxnSpPr>
          <p:spPr>
            <a:xfrm>
              <a:off x="6651936" y="2772177"/>
              <a:ext cx="329485" cy="132544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3E5AC24-7B3F-8DBD-9642-59EFC0AFB10F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946559" y="4477554"/>
              <a:ext cx="0" cy="4614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EE8CE4E-F29D-501F-9CD7-0747EF8BBB69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6981420" y="4477553"/>
              <a:ext cx="1" cy="46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6B08790-7598-7C7F-FAF4-5B6A0F472F09}"/>
                </a:ext>
              </a:extLst>
            </p:cNvPr>
            <p:cNvSpPr txBox="1"/>
            <p:nvPr/>
          </p:nvSpPr>
          <p:spPr>
            <a:xfrm>
              <a:off x="4931800" y="3356188"/>
              <a:ext cx="6326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pitchFamily="34" charset="-122"/>
                </a:rPr>
                <a:t>true</a:t>
              </a:r>
              <a:endPara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B8E1878-2FC7-A3A8-7E3D-7A6A35BA28F1}"/>
                </a:ext>
              </a:extLst>
            </p:cNvPr>
            <p:cNvSpPr txBox="1"/>
            <p:nvPr/>
          </p:nvSpPr>
          <p:spPr>
            <a:xfrm>
              <a:off x="6205201" y="3356188"/>
              <a:ext cx="767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pitchFamily="34" charset="-122"/>
                </a:rPr>
                <a:t>false</a:t>
              </a:r>
              <a:endPara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F2A0EEB-2877-92E1-6B03-DB37A7BB342E}"/>
              </a:ext>
            </a:extLst>
          </p:cNvPr>
          <p:cNvGrpSpPr/>
          <p:nvPr/>
        </p:nvGrpSpPr>
        <p:grpSpPr>
          <a:xfrm>
            <a:off x="8739117" y="2364260"/>
            <a:ext cx="1978252" cy="2922513"/>
            <a:chOff x="8719799" y="2016531"/>
            <a:chExt cx="1978252" cy="2922513"/>
          </a:xfrm>
        </p:grpSpPr>
        <p:sp>
          <p:nvSpPr>
            <p:cNvPr id="32" name="流程图: 决策 31">
              <a:extLst>
                <a:ext uri="{FF2B5EF4-FFF2-40B4-BE49-F238E27FC236}">
                  <a16:creationId xmlns:a16="http://schemas.microsoft.com/office/drawing/2014/main" id="{EB2260C9-4B85-F46C-370D-C69A23D3ACBF}"/>
                </a:ext>
              </a:extLst>
            </p:cNvPr>
            <p:cNvSpPr/>
            <p:nvPr/>
          </p:nvSpPr>
          <p:spPr>
            <a:xfrm>
              <a:off x="9131119" y="2480170"/>
              <a:ext cx="1345840" cy="584011"/>
            </a:xfrm>
            <a:prstGeom prst="flowChartDecision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A3A0258-412D-44E9-6592-608F0FDDFA8E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9804036" y="2016531"/>
              <a:ext cx="3" cy="4636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流程图: 过程 34">
              <a:extLst>
                <a:ext uri="{FF2B5EF4-FFF2-40B4-BE49-F238E27FC236}">
                  <a16:creationId xmlns:a16="http://schemas.microsoft.com/office/drawing/2014/main" id="{0D56A666-C9CA-204A-8000-6D1A7CCDB679}"/>
                </a:ext>
              </a:extLst>
            </p:cNvPr>
            <p:cNvSpPr/>
            <p:nvPr/>
          </p:nvSpPr>
          <p:spPr>
            <a:xfrm>
              <a:off x="9163316" y="4082341"/>
              <a:ext cx="1281447" cy="379927"/>
            </a:xfrm>
            <a:prstGeom prst="flowChartProcess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18033119-D032-1748-A8FE-70D365EADFFF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rot="10800000" flipV="1">
              <a:off x="8786607" y="2772176"/>
              <a:ext cx="344513" cy="216686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2A5B3E21-F531-9E05-0F92-F0E7D29EEE0A}"/>
                </a:ext>
              </a:extLst>
            </p:cNvPr>
            <p:cNvCxnSpPr>
              <a:cxnSpLocks/>
              <a:stCxn id="35" idx="3"/>
              <a:endCxn id="32" idx="3"/>
            </p:cNvCxnSpPr>
            <p:nvPr/>
          </p:nvCxnSpPr>
          <p:spPr>
            <a:xfrm flipV="1">
              <a:off x="10444763" y="2772176"/>
              <a:ext cx="32196" cy="1500129"/>
            </a:xfrm>
            <a:prstGeom prst="bentConnector3">
              <a:avLst>
                <a:gd name="adj1" fmla="val 8100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2197DC10-5749-7071-CF09-78FAC9490E52}"/>
                </a:ext>
              </a:extLst>
            </p:cNvPr>
            <p:cNvCxnSpPr>
              <a:cxnSpLocks/>
              <a:stCxn id="32" idx="2"/>
              <a:endCxn id="35" idx="0"/>
            </p:cNvCxnSpPr>
            <p:nvPr/>
          </p:nvCxnSpPr>
          <p:spPr>
            <a:xfrm>
              <a:off x="9804039" y="3064181"/>
              <a:ext cx="1" cy="10181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13E4EBB-89AE-43F6-53D8-0032054F5CC2}"/>
                </a:ext>
              </a:extLst>
            </p:cNvPr>
            <p:cNvSpPr txBox="1"/>
            <p:nvPr/>
          </p:nvSpPr>
          <p:spPr>
            <a:xfrm>
              <a:off x="8719799" y="3403984"/>
              <a:ext cx="767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pitchFamily="34" charset="-122"/>
                </a:rPr>
                <a:t>false</a:t>
              </a:r>
              <a:endPara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3E4A6B8-98CB-1FAC-7304-81760C822EDB}"/>
                </a:ext>
              </a:extLst>
            </p:cNvPr>
            <p:cNvSpPr txBox="1"/>
            <p:nvPr/>
          </p:nvSpPr>
          <p:spPr>
            <a:xfrm>
              <a:off x="10065374" y="3388252"/>
              <a:ext cx="6326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pitchFamily="34" charset="-122"/>
                </a:rPr>
                <a:t>true</a:t>
              </a:r>
              <a:endPara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B87A109A-17EB-70B5-42F9-9A3C2D943F6D}"/>
              </a:ext>
            </a:extLst>
          </p:cNvPr>
          <p:cNvSpPr txBox="1"/>
          <p:nvPr/>
        </p:nvSpPr>
        <p:spPr>
          <a:xfrm>
            <a:off x="1623940" y="1604702"/>
            <a:ext cx="10987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顺序</a:t>
            </a:r>
            <a:endParaRPr lang="en-US" altLang="zh-CN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sequence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A42745D-5426-02AD-77C5-4815901AF3C4}"/>
              </a:ext>
            </a:extLst>
          </p:cNvPr>
          <p:cNvSpPr txBox="1"/>
          <p:nvPr/>
        </p:nvSpPr>
        <p:spPr>
          <a:xfrm>
            <a:off x="5331980" y="1604702"/>
            <a:ext cx="10987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选择</a:t>
            </a:r>
            <a:endParaRPr lang="en-US" altLang="zh-CN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selection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73E8E37-8B5C-872A-3098-72A63E58D3B6}"/>
              </a:ext>
            </a:extLst>
          </p:cNvPr>
          <p:cNvSpPr txBox="1"/>
          <p:nvPr/>
        </p:nvSpPr>
        <p:spPr>
          <a:xfrm>
            <a:off x="9273988" y="1602060"/>
            <a:ext cx="10987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循环</a:t>
            </a:r>
            <a:endParaRPr lang="en-US" altLang="zh-CN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iteration</a:t>
            </a:r>
            <a:endParaRPr lang="zh-CN" altLang="en-US" sz="140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08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1C9D3-4B09-3C98-F43E-8F22B1B4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语言的语句</a:t>
            </a:r>
            <a:r>
              <a:rPr lang="en-US" altLang="zh-CN" dirty="0"/>
              <a:t>(statement)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4F7A0-90A0-9B19-D497-2A3F021F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表达式语句</a:t>
            </a:r>
            <a:endParaRPr lang="en-US" altLang="zh-CN" dirty="0"/>
          </a:p>
          <a:p>
            <a:pPr lvl="1"/>
            <a:r>
              <a:rPr lang="zh-CN" altLang="en-US" dirty="0"/>
              <a:t>任何一个</a:t>
            </a:r>
            <a:r>
              <a:rPr lang="en-US" altLang="zh-CN" dirty="0"/>
              <a:t>C</a:t>
            </a:r>
            <a:r>
              <a:rPr lang="zh-CN" altLang="en-US" dirty="0"/>
              <a:t>表达式后跟上一个分号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流程控制语句</a:t>
            </a:r>
            <a:endParaRPr lang="en-US" altLang="zh-CN" dirty="0"/>
          </a:p>
          <a:p>
            <a:pPr lvl="1"/>
            <a:r>
              <a:rPr lang="zh-CN" altLang="en-US" dirty="0"/>
              <a:t>选择、循环（迭代）、跳转 </a:t>
            </a:r>
            <a:r>
              <a:rPr lang="en-US" altLang="zh-CN" dirty="0"/>
              <a:t>jump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复合语句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b="1" dirty="0">
                <a:solidFill>
                  <a:srgbClr val="C00000"/>
                </a:solidFill>
              </a:rPr>
              <a:t>{}</a:t>
            </a:r>
            <a:r>
              <a:rPr lang="zh-CN" altLang="en-US" dirty="0"/>
              <a:t>括起来的语句序列，视为</a:t>
            </a:r>
            <a:r>
              <a:rPr lang="zh-CN" altLang="en-US" b="1" dirty="0">
                <a:solidFill>
                  <a:srgbClr val="C00000"/>
                </a:solidFill>
              </a:rPr>
              <a:t>一条</a:t>
            </a:r>
            <a:r>
              <a:rPr lang="zh-CN" altLang="en-US" dirty="0"/>
              <a:t>语句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其他类型语句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96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2049CF5-7091-72C4-D480-9D153D1C539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高级程序设计语言的控制结构有哪些？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E81A96-C93A-F943-FF92-CFF834D983A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顺序结构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3FAA71-48B8-51CF-6DEA-8D163CC36F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递归结构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EE7950-9C10-A659-4D03-4239D142248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循环结构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C7AF02-CD04-1A23-2502-E1E67BCC27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选择结构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634C93-2F0C-D43C-2E58-03C1352F756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21CFDC-A59D-6A4C-9AB3-2D6D9787397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C46644-560E-321B-8769-5E55196CC2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ED9CA9-B4D2-10F5-C87A-205483875D2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E4E66E-ED45-C1B9-6321-6753C8EDF07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504A90A-7FA6-D1F7-F011-FE8E6E282FF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BEEB4FE-3016-6701-7ACD-3CB0AD88712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EB1971F9-8729-5D10-5BA5-C72844BBD4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C15A58F-C8C0-46AD-BBC9-DD57584EDED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F47DD2D-8A73-1A60-BB6D-3DD80CC40CD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AB30793-6E27-63E9-D98A-5E9F4D7CCCC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784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9228-E527-DF7C-22E3-AB973FE9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F0D76-1ACB-CAB7-497B-F5CBC100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D729E-99CC-D6A9-69AF-AF7C14A6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输入两个整数，交换它们的值，然后输出。</a:t>
            </a:r>
          </a:p>
        </p:txBody>
      </p:sp>
    </p:spTree>
    <p:extLst>
      <p:ext uri="{BB962C8B-B14F-4D97-AF65-F5344CB8AC3E}">
        <p14:creationId xmlns:p14="http://schemas.microsoft.com/office/powerpoint/2010/main" val="89602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2601E-AA04-8F70-07FE-3B77A2C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F2925-52B0-FD20-2396-33244D9C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输入三个整数，输出其中的最大值。</a:t>
            </a:r>
            <a:endParaRPr lang="en-US" altLang="zh-CN" dirty="0"/>
          </a:p>
          <a:p>
            <a:pPr lvl="1"/>
            <a:r>
              <a:rPr lang="zh-CN" altLang="en-US" dirty="0"/>
              <a:t>提示：条件运算符</a:t>
            </a:r>
          </a:p>
        </p:txBody>
      </p:sp>
    </p:spTree>
    <p:extLst>
      <p:ext uri="{BB962C8B-B14F-4D97-AF65-F5344CB8AC3E}">
        <p14:creationId xmlns:p14="http://schemas.microsoft.com/office/powerpoint/2010/main" val="55551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863BD-C3DC-1438-B998-BF429298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F8B934-7197-F188-C684-A707B5E8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if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dirty="0"/>
              <a:t>条件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en-US" altLang="zh-CN" dirty="0"/>
              <a:t> 		//</a:t>
            </a:r>
            <a:r>
              <a:rPr lang="zh-CN" altLang="en-US" dirty="0"/>
              <a:t>条件往往是一个逻辑表达式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>
                <a:solidFill>
                  <a:srgbClr val="C00000"/>
                </a:solidFill>
              </a:rPr>
              <a:t>一条</a:t>
            </a:r>
            <a:r>
              <a:rPr lang="zh-CN" altLang="en-US" dirty="0"/>
              <a:t>语句</a:t>
            </a:r>
            <a:r>
              <a:rPr lang="en-US" altLang="zh-CN" dirty="0"/>
              <a:t>	//</a:t>
            </a:r>
            <a:r>
              <a:rPr lang="zh-CN" altLang="en-US" dirty="0"/>
              <a:t>条件为真时</a:t>
            </a:r>
            <a:r>
              <a:rPr lang="en-US" altLang="zh-CN" dirty="0"/>
              <a:t>	</a:t>
            </a:r>
            <a:r>
              <a:rPr lang="zh-CN" altLang="en-US" dirty="0"/>
              <a:t>真分支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b="1" i="1" dirty="0">
                <a:solidFill>
                  <a:srgbClr val="C00000"/>
                </a:solidFill>
              </a:rPr>
              <a:t>else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>
                <a:solidFill>
                  <a:srgbClr val="C00000"/>
                </a:solidFill>
              </a:rPr>
              <a:t>一条</a:t>
            </a:r>
            <a:r>
              <a:rPr lang="zh-CN" altLang="en-US" dirty="0"/>
              <a:t>语句</a:t>
            </a:r>
            <a:r>
              <a:rPr lang="en-US" altLang="zh-CN" dirty="0"/>
              <a:t>	//</a:t>
            </a:r>
            <a:r>
              <a:rPr lang="zh-CN" altLang="en-US" dirty="0"/>
              <a:t>条件为假时</a:t>
            </a:r>
            <a:r>
              <a:rPr lang="en-US" altLang="zh-CN" dirty="0"/>
              <a:t>	</a:t>
            </a:r>
            <a:r>
              <a:rPr lang="zh-CN" altLang="en-US" dirty="0"/>
              <a:t>假分支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84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2D1FB-CD1B-B5C5-7082-3D49D271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语句的嵌套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392096-88C5-F30C-DAD9-CB2A4768C4DA}"/>
              </a:ext>
            </a:extLst>
          </p:cNvPr>
          <p:cNvSpPr txBox="1"/>
          <p:nvPr/>
        </p:nvSpPr>
        <p:spPr>
          <a:xfrm>
            <a:off x="1416677" y="2633008"/>
            <a:ext cx="2575774" cy="16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if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(…)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   if (…)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else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…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07EFA9-5FCA-C599-839A-DBF95FD7C6E4}"/>
              </a:ext>
            </a:extLst>
          </p:cNvPr>
          <p:cNvSpPr txBox="1"/>
          <p:nvPr/>
        </p:nvSpPr>
        <p:spPr>
          <a:xfrm>
            <a:off x="1416677" y="1952431"/>
            <a:ext cx="109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期望的</a:t>
            </a:r>
            <a:endParaRPr lang="zh-CN" altLang="en-US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EA8FD8-FCAD-D8FF-AF95-CD08D33E1E02}"/>
              </a:ext>
            </a:extLst>
          </p:cNvPr>
          <p:cNvSpPr txBox="1"/>
          <p:nvPr/>
        </p:nvSpPr>
        <p:spPr>
          <a:xfrm>
            <a:off x="5097888" y="2633008"/>
            <a:ext cx="2575774" cy="16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if (…)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if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(…)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else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…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60FA45-B63F-B135-7CEE-A2872A4D53FC}"/>
              </a:ext>
            </a:extLst>
          </p:cNvPr>
          <p:cNvSpPr txBox="1"/>
          <p:nvPr/>
        </p:nvSpPr>
        <p:spPr>
          <a:xfrm>
            <a:off x="5097888" y="1952431"/>
            <a:ext cx="109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实际上</a:t>
            </a:r>
            <a:endParaRPr lang="zh-CN" altLang="en-US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2DECF1AD-06D7-4BEF-FF74-FA3CA068D92C}"/>
              </a:ext>
            </a:extLst>
          </p:cNvPr>
          <p:cNvSpPr/>
          <p:nvPr/>
        </p:nvSpPr>
        <p:spPr>
          <a:xfrm>
            <a:off x="5139744" y="4861775"/>
            <a:ext cx="1912512" cy="444321"/>
          </a:xfrm>
          <a:prstGeom prst="wedgeRectCallout">
            <a:avLst>
              <a:gd name="adj1" fmla="val -23527"/>
              <a:gd name="adj2" fmla="val -146196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2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就近匹配原则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DB22CB-7CF1-B824-AAD6-3E719AC8DB03}"/>
              </a:ext>
            </a:extLst>
          </p:cNvPr>
          <p:cNvSpPr txBox="1"/>
          <p:nvPr/>
        </p:nvSpPr>
        <p:spPr>
          <a:xfrm>
            <a:off x="8778026" y="2633008"/>
            <a:ext cx="2575774" cy="16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if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(…) 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if (…)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else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 …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6DC0F3-31C8-4BCF-0D88-D9733DC47816}"/>
              </a:ext>
            </a:extLst>
          </p:cNvPr>
          <p:cNvSpPr txBox="1"/>
          <p:nvPr/>
        </p:nvSpPr>
        <p:spPr>
          <a:xfrm>
            <a:off x="8778026" y="1952431"/>
            <a:ext cx="109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正确的</a:t>
            </a:r>
            <a:endParaRPr lang="zh-CN" altLang="en-US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121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62B0B-6F80-EE44-56F2-62B50A7A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62296-6292-DB26-8C05-3DF6C320C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输入一个年份，判断该年是否是闰年。如果是，输出</a:t>
            </a:r>
            <a:r>
              <a:rPr lang="en-US" altLang="zh-CN" dirty="0"/>
              <a:t>yes</a:t>
            </a:r>
            <a:r>
              <a:rPr lang="zh-CN" altLang="en-US" dirty="0"/>
              <a:t>；否则输出</a:t>
            </a:r>
            <a:r>
              <a:rPr lang="en-US" altLang="zh-CN" dirty="0"/>
              <a:t>no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提示：闰年的定义</a:t>
            </a:r>
          </a:p>
        </p:txBody>
      </p:sp>
    </p:spTree>
    <p:extLst>
      <p:ext uri="{BB962C8B-B14F-4D97-AF65-F5344CB8AC3E}">
        <p14:creationId xmlns:p14="http://schemas.microsoft.com/office/powerpoint/2010/main" val="2163760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8C38E-0910-0954-5A6D-E3D3D917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398C1-1366-C59D-CB41-183118EA4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输入三个整数，输出它们的中位值。例如：输入</a:t>
            </a:r>
            <a:r>
              <a:rPr lang="en-US" altLang="zh-CN" dirty="0"/>
              <a:t>3 1 2</a:t>
            </a:r>
            <a:r>
              <a:rPr lang="zh-CN" altLang="en-US" dirty="0"/>
              <a:t>，输出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0937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61B1-B747-F363-7C7B-65C762E2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AB3B1-6E22-70EE-1601-DAB07013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if…else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699CC-AB5C-8274-444A-816FEE0D8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语法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if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dirty="0"/>
              <a:t>条件</a:t>
            </a:r>
            <a:r>
              <a:rPr lang="en-US" altLang="zh-CN" dirty="0"/>
              <a:t>1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一条语句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else if 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dirty="0"/>
              <a:t>条件</a:t>
            </a:r>
            <a:r>
              <a:rPr lang="en-US" altLang="zh-CN" dirty="0"/>
              <a:t>2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en-US" altLang="zh-CN" dirty="0"/>
              <a:t> </a:t>
            </a:r>
            <a:endParaRPr lang="en-US" altLang="zh-CN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一条语句</a:t>
            </a:r>
            <a:r>
              <a:rPr lang="en-US" altLang="zh-CN" dirty="0"/>
              <a:t>2</a:t>
            </a:r>
          </a:p>
          <a:p>
            <a:pPr marL="0" indent="0">
              <a:buNone/>
            </a:pPr>
            <a:r>
              <a:rPr lang="en-US" altLang="zh-CN" dirty="0"/>
              <a:t>[else if (…) …]</a:t>
            </a:r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b="1" i="1" dirty="0">
                <a:solidFill>
                  <a:srgbClr val="C00000"/>
                </a:solidFill>
              </a:rPr>
              <a:t>else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一条语句</a:t>
            </a:r>
            <a:r>
              <a:rPr lang="en-US" altLang="zh-CN" dirty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433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89B9084-E2B0-3DFB-B05F-60FC966CF7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if…else if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语句的嵌套形式吗？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3227C9-6DC0-F4D1-B128-9492E888BD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82F347-F838-FC77-247F-7A70FBBE004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5CB2CD4-C0F4-44F8-87E9-A052CBB91B1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074E287-ECA1-71C4-D322-4AFA767903B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AA37762-370B-464A-A71C-0AC96A57E25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A61AA9-36D7-2DA5-F5D3-6698D4BFC68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1CE6B3A-8EC3-9E83-36B1-AF8FCE0D25F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846D3C9-AB14-65D4-D47F-50DAD4EBE3C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2" dirty="0">
                <a:solidFill>
                  <a:srgbClr val="7EC234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159B8500-E879-0FA2-B2C3-652AB45C23F5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88A362E-F0A4-F5FB-8A49-CB62B8B73057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D263A85-71C6-8A9E-0B98-8B3A8EEF79CD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241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E6F7-E36B-7E65-BDF6-A7EF5F83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DBE36-1421-2DE8-AC40-BF5943DF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19C71-0A6C-DC5E-CA1A-AE93F43D2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输入一个字符，判断它是否是字母或者数字字符。如果是字母，输出</a:t>
            </a:r>
            <a:r>
              <a:rPr lang="en-US" altLang="zh-CN" dirty="0"/>
              <a:t>alpha</a:t>
            </a:r>
            <a:r>
              <a:rPr lang="zh-CN" altLang="en-US" dirty="0"/>
              <a:t>；如果是数字，输出</a:t>
            </a:r>
            <a:r>
              <a:rPr lang="en-US" altLang="zh-CN" dirty="0"/>
              <a:t>digit</a:t>
            </a:r>
            <a:r>
              <a:rPr lang="zh-CN" altLang="en-US" dirty="0"/>
              <a:t>；否则输出</a:t>
            </a:r>
            <a:r>
              <a:rPr lang="en-US" altLang="zh-CN" dirty="0"/>
              <a:t>other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提示：字符的存储是其</a:t>
            </a:r>
            <a:r>
              <a:rPr lang="en-US" altLang="zh-CN" dirty="0"/>
              <a:t>ASCII</a:t>
            </a:r>
            <a:r>
              <a:rPr lang="zh-CN" altLang="en-US" dirty="0"/>
              <a:t>码，而</a:t>
            </a:r>
            <a:r>
              <a:rPr lang="en-US" altLang="zh-CN" dirty="0"/>
              <a:t>ASCII</a:t>
            </a:r>
            <a:r>
              <a:rPr lang="zh-CN" altLang="en-US" dirty="0"/>
              <a:t>码是有序的。</a:t>
            </a:r>
          </a:p>
        </p:txBody>
      </p:sp>
    </p:spTree>
    <p:extLst>
      <p:ext uri="{BB962C8B-B14F-4D97-AF65-F5344CB8AC3E}">
        <p14:creationId xmlns:p14="http://schemas.microsoft.com/office/powerpoint/2010/main" val="2003653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FF33-F3BC-A27B-2052-8F7DCCE3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8527D-6A60-24A1-D9DC-319D59D3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743EA-C536-F098-B724-0D1772EC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输入一个小写字母，判断它是否是元音（</a:t>
            </a:r>
            <a:r>
              <a:rPr lang="en-US" altLang="zh-CN" dirty="0"/>
              <a:t>vowel</a:t>
            </a:r>
            <a:r>
              <a:rPr lang="zh-CN" altLang="en-US" dirty="0"/>
              <a:t>）。如果是，输出</a:t>
            </a:r>
            <a:r>
              <a:rPr lang="en-US" altLang="zh-CN" dirty="0"/>
              <a:t>yes</a:t>
            </a:r>
            <a:r>
              <a:rPr lang="zh-CN" altLang="en-US" dirty="0"/>
              <a:t>；否则输出</a:t>
            </a:r>
            <a:r>
              <a:rPr lang="en-US" altLang="zh-CN" dirty="0"/>
              <a:t>no</a:t>
            </a:r>
            <a:r>
              <a:rPr lang="zh-CN" altLang="en-US" dirty="0"/>
              <a:t>。请使用</a:t>
            </a:r>
            <a:r>
              <a:rPr lang="en-US" altLang="zh-CN" dirty="0"/>
              <a:t>if…else if</a:t>
            </a:r>
            <a:r>
              <a:rPr lang="zh-CN" altLang="en-US" dirty="0"/>
              <a:t>语句实现。</a:t>
            </a:r>
            <a:endParaRPr lang="en-US" altLang="zh-CN" dirty="0"/>
          </a:p>
          <a:p>
            <a:pPr lvl="1"/>
            <a:r>
              <a:rPr lang="zh-CN" altLang="en-US" dirty="0"/>
              <a:t>提示：小写元音字母有</a:t>
            </a:r>
            <a:r>
              <a:rPr lang="en-US" altLang="zh-CN" dirty="0"/>
              <a:t>5</a:t>
            </a:r>
            <a:r>
              <a:rPr lang="zh-CN" altLang="en-US" dirty="0"/>
              <a:t>个：</a:t>
            </a:r>
            <a:r>
              <a:rPr lang="en-US" altLang="zh-CN" dirty="0"/>
              <a:t>a e </a:t>
            </a:r>
            <a:r>
              <a:rPr lang="en-US" altLang="zh-CN" dirty="0" err="1"/>
              <a:t>i</a:t>
            </a:r>
            <a:r>
              <a:rPr lang="en-US" altLang="zh-CN" dirty="0"/>
              <a:t> o 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074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23806-45B0-DD64-D3EE-9281CFCB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switch…case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AECBD-707D-C5BA-E989-D1D76DDD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switch (</a:t>
            </a:r>
            <a:r>
              <a:rPr lang="zh-CN" altLang="en-US" b="1" dirty="0">
                <a:solidFill>
                  <a:srgbClr val="C00000"/>
                </a:solidFill>
              </a:rPr>
              <a:t>整型表达式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case </a:t>
            </a:r>
            <a:r>
              <a:rPr lang="zh-CN" altLang="en-US" b="1" dirty="0">
                <a:solidFill>
                  <a:srgbClr val="C00000"/>
                </a:solidFill>
              </a:rPr>
              <a:t>整型常量表达式</a:t>
            </a:r>
            <a:r>
              <a:rPr lang="en-US" altLang="zh-CN" dirty="0"/>
              <a:t>1:</a:t>
            </a:r>
            <a:r>
              <a:rPr lang="zh-CN" altLang="en-US" dirty="0"/>
              <a:t> 语句序列</a:t>
            </a:r>
            <a:r>
              <a:rPr lang="en-US" altLang="zh-CN" dirty="0"/>
              <a:t>1;</a:t>
            </a:r>
          </a:p>
          <a:p>
            <a:pPr marL="0" indent="0">
              <a:buNone/>
            </a:pPr>
            <a:r>
              <a:rPr lang="en-US" altLang="zh-CN" dirty="0"/>
              <a:t>  case </a:t>
            </a:r>
            <a:r>
              <a:rPr lang="zh-CN" altLang="en-US" b="1" dirty="0">
                <a:solidFill>
                  <a:srgbClr val="C00000"/>
                </a:solidFill>
              </a:rPr>
              <a:t>整型常量表达式</a:t>
            </a:r>
            <a:r>
              <a:rPr lang="en-US" altLang="zh-CN" dirty="0"/>
              <a:t>2:</a:t>
            </a:r>
            <a:r>
              <a:rPr lang="zh-CN" altLang="en-US" dirty="0"/>
              <a:t> 语句序列</a:t>
            </a:r>
            <a:r>
              <a:rPr lang="en-US" altLang="zh-CN" dirty="0"/>
              <a:t>2;</a:t>
            </a:r>
          </a:p>
          <a:p>
            <a:pPr marL="0" indent="0">
              <a:buNone/>
            </a:pPr>
            <a:r>
              <a:rPr lang="en-US" altLang="zh-CN" dirty="0"/>
              <a:t>  …</a:t>
            </a:r>
          </a:p>
          <a:p>
            <a:pPr marL="0" indent="0">
              <a:buNone/>
            </a:pPr>
            <a:r>
              <a:rPr lang="en-US" altLang="zh-CN" dirty="0"/>
              <a:t>  [default: </a:t>
            </a:r>
            <a:r>
              <a:rPr lang="zh-CN" altLang="en-US" dirty="0"/>
              <a:t>语句</a:t>
            </a:r>
            <a:r>
              <a:rPr lang="en-US" altLang="zh-CN" dirty="0"/>
              <a:t>n]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EF03C1-0AA7-1765-1659-8B852830EBC3}"/>
              </a:ext>
            </a:extLst>
          </p:cNvPr>
          <p:cNvSpPr/>
          <p:nvPr/>
        </p:nvSpPr>
        <p:spPr>
          <a:xfrm>
            <a:off x="1139780" y="2607971"/>
            <a:ext cx="3573888" cy="54091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EC0FB0-0506-9884-2200-B3769A683D7A}"/>
              </a:ext>
            </a:extLst>
          </p:cNvPr>
          <p:cNvSpPr/>
          <p:nvPr/>
        </p:nvSpPr>
        <p:spPr>
          <a:xfrm>
            <a:off x="1139780" y="3258346"/>
            <a:ext cx="3573888" cy="54091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28533-8CD7-512B-1D35-D215919FBF32}"/>
              </a:ext>
            </a:extLst>
          </p:cNvPr>
          <p:cNvSpPr/>
          <p:nvPr/>
        </p:nvSpPr>
        <p:spPr>
          <a:xfrm>
            <a:off x="1403797" y="4635683"/>
            <a:ext cx="1416676" cy="54091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7C70CFC3-A2B2-9F94-EF3F-6FEB5067FEF8}"/>
              </a:ext>
            </a:extLst>
          </p:cNvPr>
          <p:cNvSpPr/>
          <p:nvPr/>
        </p:nvSpPr>
        <p:spPr>
          <a:xfrm>
            <a:off x="7018980" y="1551904"/>
            <a:ext cx="3986013" cy="495837"/>
          </a:xfrm>
          <a:prstGeom prst="wedgeRectCallout">
            <a:avLst>
              <a:gd name="adj1" fmla="val -57768"/>
              <a:gd name="adj2" fmla="val 4302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蓝色框中的语法单元称为</a:t>
            </a:r>
            <a:r>
              <a:rPr lang="zh-CN" altLang="en-US" sz="2002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标号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3A6811D4-BB7C-CF99-B030-9BB01DD11A25}"/>
              </a:ext>
            </a:extLst>
          </p:cNvPr>
          <p:cNvSpPr/>
          <p:nvPr/>
        </p:nvSpPr>
        <p:spPr>
          <a:xfrm>
            <a:off x="7018979" y="2653047"/>
            <a:ext cx="3986013" cy="895083"/>
          </a:xfrm>
          <a:prstGeom prst="wedgeRectCallout">
            <a:avLst>
              <a:gd name="adj1" fmla="val -59060"/>
              <a:gd name="adj2" fmla="val 26473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case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default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标号只能出现在</a:t>
            </a:r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switch…case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语句中</a:t>
            </a:r>
            <a:endParaRPr lang="zh-CN" altLang="en-US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A5B01C39-DA63-F786-2412-D2B09BC9A828}"/>
              </a:ext>
            </a:extLst>
          </p:cNvPr>
          <p:cNvSpPr/>
          <p:nvPr/>
        </p:nvSpPr>
        <p:spPr>
          <a:xfrm>
            <a:off x="7018978" y="4281513"/>
            <a:ext cx="3986013" cy="895083"/>
          </a:xfrm>
          <a:prstGeom prst="wedgeRectCallout">
            <a:avLst>
              <a:gd name="adj1" fmla="val -59060"/>
              <a:gd name="adj2" fmla="val 26473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default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标号只能有一条，且是最后一条</a:t>
            </a:r>
            <a:endParaRPr lang="zh-CN" altLang="en-US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0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FEED-EDE4-79F8-B70E-09649496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A63E7-AF36-838B-37B1-4D63514C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8A775-FBD3-F14D-116E-B78BB7FE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switch…case</a:t>
            </a:r>
            <a:r>
              <a:rPr lang="zh-CN" altLang="en-US" dirty="0"/>
              <a:t>语句重写练习</a:t>
            </a:r>
            <a:r>
              <a:rPr lang="en-US" altLang="zh-CN" dirty="0"/>
              <a:t>6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5456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1170-B832-32CC-6B35-EA7BE898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switch…case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94C7EE-C509-11CB-2EE4-46084BFB4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case</a:t>
            </a:r>
            <a:r>
              <a:rPr lang="zh-CN" altLang="en-US" b="1" dirty="0">
                <a:solidFill>
                  <a:srgbClr val="C00000"/>
                </a:solidFill>
              </a:rPr>
              <a:t>下落</a:t>
            </a:r>
            <a:r>
              <a:rPr lang="en-US" altLang="zh-CN" b="1" dirty="0">
                <a:solidFill>
                  <a:srgbClr val="C00000"/>
                </a:solidFill>
              </a:rPr>
              <a:t>(fall through)</a:t>
            </a:r>
          </a:p>
          <a:p>
            <a:pPr lvl="1"/>
            <a:r>
              <a:rPr lang="zh-CN" altLang="en-US" dirty="0"/>
              <a:t>一条</a:t>
            </a:r>
            <a:r>
              <a:rPr lang="en-US" altLang="zh-CN" dirty="0"/>
              <a:t>case</a:t>
            </a:r>
            <a:r>
              <a:rPr lang="zh-CN" altLang="en-US" dirty="0"/>
              <a:t>标号后的语序序列执行完后，整条</a:t>
            </a:r>
            <a:r>
              <a:rPr lang="en-US" altLang="zh-CN" dirty="0"/>
              <a:t>switch…case</a:t>
            </a:r>
            <a:r>
              <a:rPr lang="zh-CN" altLang="en-US" dirty="0"/>
              <a:t>语句不会终止，而是会下落到下一条</a:t>
            </a:r>
            <a:r>
              <a:rPr lang="en-US" altLang="zh-CN" dirty="0"/>
              <a:t>case</a:t>
            </a:r>
            <a:r>
              <a:rPr lang="zh-CN" altLang="en-US" dirty="0"/>
              <a:t>标号继续执行，直到</a:t>
            </a:r>
            <a:r>
              <a:rPr lang="en-US" altLang="zh-CN" dirty="0"/>
              <a:t>switch…case</a:t>
            </a:r>
            <a:r>
              <a:rPr lang="zh-CN" altLang="en-US" dirty="0"/>
              <a:t>的</a:t>
            </a:r>
            <a:r>
              <a:rPr lang="en-US" altLang="zh-CN" dirty="0"/>
              <a:t>}</a:t>
            </a:r>
            <a:r>
              <a:rPr lang="zh-CN" altLang="en-US" dirty="0"/>
              <a:t>，或者被强行终止。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终止下落</a:t>
            </a:r>
            <a:endParaRPr lang="en-US" altLang="zh-CN" dirty="0"/>
          </a:p>
          <a:p>
            <a:pPr lvl="1"/>
            <a:r>
              <a:rPr lang="en-US" altLang="zh-CN" dirty="0"/>
              <a:t>break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利用</a:t>
            </a:r>
            <a:r>
              <a:rPr lang="en-US" altLang="zh-CN" dirty="0"/>
              <a:t>case</a:t>
            </a:r>
            <a:r>
              <a:rPr lang="zh-CN" altLang="en-US" dirty="0"/>
              <a:t>下落的副作用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4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D450-7182-0310-9898-25E13868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E8EB4-DDB8-0DB3-4907-822BA836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C49C1-F878-9690-DC76-2DB04A2E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充分利用</a:t>
            </a:r>
            <a:r>
              <a:rPr lang="en-US" altLang="zh-CN" dirty="0"/>
              <a:t>case</a:t>
            </a:r>
            <a:r>
              <a:rPr lang="zh-CN" altLang="en-US" dirty="0"/>
              <a:t>下落的副作用改写练习</a:t>
            </a:r>
            <a:r>
              <a:rPr lang="en-US" altLang="zh-CN" dirty="0"/>
              <a:t>7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6955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210</TotalTime>
  <Words>573</Words>
  <Application>Microsoft Office PowerPoint</Application>
  <PresentationFormat>宽屏</PresentationFormat>
  <Paragraphs>113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Microsoft Yahei</vt:lpstr>
      <vt:lpstr>Arial</vt:lpstr>
      <vt:lpstr>Consolas</vt:lpstr>
      <vt:lpstr>Office 主题​​</vt:lpstr>
      <vt:lpstr>选择结构</vt:lpstr>
      <vt:lpstr>程序的控制结构</vt:lpstr>
      <vt:lpstr>C语言的语句(statement)</vt:lpstr>
      <vt:lpstr>PowerPoint 演示文稿</vt:lpstr>
      <vt:lpstr>练习1</vt:lpstr>
      <vt:lpstr>练习2</vt:lpstr>
      <vt:lpstr>if语句</vt:lpstr>
      <vt:lpstr>if语句的嵌套</vt:lpstr>
      <vt:lpstr>练习3</vt:lpstr>
      <vt:lpstr>练习4</vt:lpstr>
      <vt:lpstr>if…else if语句</vt:lpstr>
      <vt:lpstr>PowerPoint 演示文稿</vt:lpstr>
      <vt:lpstr>练习5</vt:lpstr>
      <vt:lpstr>练习6</vt:lpstr>
      <vt:lpstr>switch…case语句</vt:lpstr>
      <vt:lpstr>练习7</vt:lpstr>
      <vt:lpstr>switch…case语句</vt:lpstr>
      <vt:lpstr>练习8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155</cp:revision>
  <dcterms:created xsi:type="dcterms:W3CDTF">2021-10-07T04:52:51Z</dcterms:created>
  <dcterms:modified xsi:type="dcterms:W3CDTF">2025-09-15T02:31:06Z</dcterms:modified>
</cp:coreProperties>
</file>