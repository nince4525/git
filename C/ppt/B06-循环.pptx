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4" r:id="rId11"/>
    <p:sldId id="266" r:id="rId12"/>
    <p:sldId id="283" r:id="rId13"/>
    <p:sldId id="265" r:id="rId14"/>
    <p:sldId id="282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0" r:id="rId23"/>
    <p:sldId id="279" r:id="rId24"/>
    <p:sldId id="274" r:id="rId25"/>
    <p:sldId id="275" r:id="rId26"/>
    <p:sldId id="276" r:id="rId27"/>
    <p:sldId id="277" r:id="rId28"/>
    <p:sldId id="281" r:id="rId29"/>
    <p:sldId id="27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7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33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74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9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9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3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13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9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9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0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循环结构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128587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计算思维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计算思维是人而非计算机的思维</a:t>
            </a:r>
            <a:endParaRPr lang="en-US" altLang="zh-CN" dirty="0"/>
          </a:p>
          <a:p>
            <a:r>
              <a:rPr lang="zh-CN" altLang="en-US" dirty="0"/>
              <a:t>要点</a:t>
            </a:r>
            <a:endParaRPr lang="en-US" altLang="zh-CN" dirty="0"/>
          </a:p>
          <a:p>
            <a:pPr lvl="1"/>
            <a:r>
              <a:rPr lang="zh-CN" altLang="en-US" dirty="0"/>
              <a:t>抽象化</a:t>
            </a:r>
            <a:endParaRPr lang="en-US" altLang="zh-CN" dirty="0"/>
          </a:p>
          <a:p>
            <a:pPr lvl="1"/>
            <a:r>
              <a:rPr lang="zh-CN" altLang="en-US" dirty="0"/>
              <a:t>自动化</a:t>
            </a:r>
          </a:p>
        </p:txBody>
      </p:sp>
    </p:spTree>
    <p:extLst>
      <p:ext uri="{BB962C8B-B14F-4D97-AF65-F5344CB8AC3E}">
        <p14:creationId xmlns:p14="http://schemas.microsoft.com/office/powerpoint/2010/main" val="166572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计算思维在计算机中的实现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抽象化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建模</a:t>
            </a:r>
            <a:r>
              <a:rPr lang="en-US" altLang="zh-CN" dirty="0">
                <a:sym typeface="Wingdings" panose="05000000000000000000" pitchFamily="2" charset="2"/>
              </a:rPr>
              <a:t>(modeling)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自动化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迭代</a:t>
            </a:r>
            <a:r>
              <a:rPr lang="en-US" altLang="zh-CN" dirty="0">
                <a:sym typeface="Wingdings" panose="05000000000000000000" pitchFamily="2" charset="2"/>
              </a:rPr>
              <a:t>(iteration)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18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 </a:t>
            </a:r>
            <a:r>
              <a:rPr lang="en-US" altLang="zh-CN" dirty="0"/>
              <a:t>1 + 2 + 3 + … + n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是自然数</a:t>
            </a:r>
            <a:endParaRPr lang="en-US" altLang="zh-CN" dirty="0"/>
          </a:p>
          <a:p>
            <a:r>
              <a:rPr lang="zh-CN" altLang="en-US" dirty="0"/>
              <a:t>解题思路</a:t>
            </a:r>
            <a:endParaRPr lang="en-US" altLang="zh-CN" dirty="0"/>
          </a:p>
          <a:p>
            <a:pPr marL="914400" lvl="1" indent="-457200">
              <a:buAutoNum type="arabicPeriod"/>
            </a:pPr>
            <a:r>
              <a:rPr lang="zh-CN" altLang="en-US" dirty="0"/>
              <a:t>令 </a:t>
            </a:r>
            <a:r>
              <a:rPr lang="en-US" altLang="zh-CN" dirty="0"/>
              <a:t>s = 0</a:t>
            </a:r>
          </a:p>
          <a:p>
            <a:pPr marL="914400" lvl="1" indent="-457200">
              <a:buAutoNum type="arabicPeriod"/>
            </a:pPr>
            <a:r>
              <a:rPr lang="en-US" altLang="zh-CN" dirty="0"/>
              <a:t>s += 1</a:t>
            </a:r>
          </a:p>
          <a:p>
            <a:pPr marL="914400" lvl="1" indent="-457200">
              <a:buAutoNum type="arabicPeriod"/>
            </a:pPr>
            <a:r>
              <a:rPr lang="en-US" altLang="zh-CN" dirty="0"/>
              <a:t>s += 2</a:t>
            </a:r>
          </a:p>
          <a:p>
            <a:pPr marL="914400" lvl="1" indent="-457200">
              <a:buAutoNum type="arabicPeriod"/>
            </a:pPr>
            <a:r>
              <a:rPr lang="en-US" altLang="zh-CN" dirty="0"/>
              <a:t>…</a:t>
            </a:r>
          </a:p>
          <a:p>
            <a:pPr marL="914400" lvl="1" indent="-457200">
              <a:buAutoNum type="arabicPeriod"/>
            </a:pPr>
            <a:r>
              <a:rPr lang="en-US" altLang="zh-CN" dirty="0"/>
              <a:t>s += n</a:t>
            </a:r>
          </a:p>
          <a:p>
            <a:r>
              <a:rPr lang="zh-CN" altLang="en-US" dirty="0"/>
              <a:t>问题：如何自动化？</a:t>
            </a:r>
          </a:p>
        </p:txBody>
      </p:sp>
    </p:spTree>
    <p:extLst>
      <p:ext uri="{BB962C8B-B14F-4D97-AF65-F5344CB8AC3E}">
        <p14:creationId xmlns:p14="http://schemas.microsoft.com/office/powerpoint/2010/main" val="196754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案例：续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建模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用递推关系解决自动化问题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递推关系实际上是一种迭代</a:t>
                </a:r>
                <a:endParaRPr lang="en-US" altLang="zh-CN"/>
              </a:p>
              <a:p>
                <a:pPr lvl="1"/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1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案例：续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模型转换为算法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令迭代变量 </a:t>
            </a:r>
            <a:r>
              <a:rPr lang="en-US" altLang="zh-CN" dirty="0"/>
              <a:t>s = 0</a:t>
            </a:r>
            <a:r>
              <a:rPr lang="zh-CN" altLang="en-US" dirty="0"/>
              <a:t>，自变量 </a:t>
            </a:r>
            <a:r>
              <a:rPr lang="en-US" altLang="zh-CN" dirty="0"/>
              <a:t>x =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s += 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++x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转到</a:t>
            </a:r>
            <a:r>
              <a:rPr lang="en-US" altLang="zh-CN" dirty="0"/>
              <a:t>2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这个算法有什么问题？</a:t>
            </a:r>
          </a:p>
        </p:txBody>
      </p:sp>
    </p:spTree>
    <p:extLst>
      <p:ext uri="{BB962C8B-B14F-4D97-AF65-F5344CB8AC3E}">
        <p14:creationId xmlns:p14="http://schemas.microsoft.com/office/powerpoint/2010/main" val="304894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案例：续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完整的算法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令迭代变量 </a:t>
            </a:r>
            <a:r>
              <a:rPr lang="en-US" altLang="zh-CN" dirty="0"/>
              <a:t>s = 0</a:t>
            </a:r>
            <a:r>
              <a:rPr lang="zh-CN" altLang="en-US" dirty="0"/>
              <a:t>，自变量 </a:t>
            </a:r>
            <a:r>
              <a:rPr lang="en-US" altLang="zh-CN" dirty="0"/>
              <a:t>x =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/>
              <a:t>if x </a:t>
            </a:r>
            <a:r>
              <a:rPr lang="en-US" altLang="zh-CN" dirty="0"/>
              <a:t>&lt;= n then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en-US" altLang="zh-CN" dirty="0"/>
              <a:t>s += x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en-US" altLang="zh-CN" dirty="0"/>
              <a:t>++x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转到</a:t>
            </a: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else </a:t>
            </a:r>
            <a:r>
              <a:rPr lang="zh-CN" altLang="en-US" dirty="0"/>
              <a:t>结束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811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案例：续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算法转换为实现代码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04575" y="2110551"/>
            <a:ext cx="4876800" cy="254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cs typeface="Fira Code" pitchFamily="1" charset="0"/>
              </a:rPr>
              <a:t>令迭代变量 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s = 0</a:t>
            </a:r>
            <a:r>
              <a:rPr lang="zh-CN" altLang="en-US" dirty="0">
                <a:latin typeface="Consolas" panose="020B0609020204030204" pitchFamily="49" charset="0"/>
                <a:cs typeface="Fira Code" pitchFamily="1" charset="0"/>
              </a:rPr>
              <a:t>，自变量 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x = 0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if x &lt;= n then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s += x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++x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Consolas" panose="020B0609020204030204" pitchFamily="49" charset="0"/>
                <a:cs typeface="Fira Code" pitchFamily="1" charset="0"/>
              </a:rPr>
              <a:t>转到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2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else </a:t>
            </a:r>
            <a:r>
              <a:rPr lang="zh-CN" altLang="en-US" dirty="0">
                <a:latin typeface="Consolas" panose="020B0609020204030204" pitchFamily="49" charset="0"/>
                <a:cs typeface="Fira Code" pitchFamily="1" charset="0"/>
              </a:rPr>
              <a:t>结束</a:t>
            </a:r>
            <a:endParaRPr lang="en-US" altLang="zh-CN" dirty="0">
              <a:latin typeface="Consolas" panose="020B0609020204030204" pitchFamily="49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77000" y="2127912"/>
            <a:ext cx="4876800" cy="213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s = 0, x = 0;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while ( x &lt;= n 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s += x;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++x;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777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的三种循环语句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00999" y="2172126"/>
            <a:ext cx="3294400" cy="212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s = 0, x = 0;</a:t>
            </a:r>
          </a:p>
          <a:p>
            <a:pPr>
              <a:lnSpc>
                <a:spcPct val="150000"/>
              </a:lnSpc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while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( x &lt;= n 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s += x;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++x;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95399" y="2172125"/>
            <a:ext cx="3294400" cy="212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s = 0, x = 0;</a:t>
            </a:r>
          </a:p>
          <a:p>
            <a:pPr>
              <a:lnSpc>
                <a:spcPct val="150000"/>
              </a:lnSpc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do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s += x;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++x;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} </a:t>
            </a: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while 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( x &lt;= n 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89799" y="2172125"/>
            <a:ext cx="4071658" cy="337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s = 0, x;</a:t>
            </a:r>
          </a:p>
          <a:p>
            <a:pPr>
              <a:lnSpc>
                <a:spcPct val="150000"/>
              </a:lnSpc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for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(x = 0; x &lt;= n; ++x)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s += x;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  <a:ea typeface="Fira Code" pitchFamily="1" charset="0"/>
              <a:cs typeface="Fira Code" pitchFamily="1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int s = 0;</a:t>
            </a:r>
          </a:p>
          <a:p>
            <a:pPr>
              <a:lnSpc>
                <a:spcPct val="150000"/>
              </a:lnSpc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for</a:t>
            </a: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(int x = 0; x &lt;= n; ++x)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s += x;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3675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2DEF9-370C-0540-6251-0DBB07D8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C8C10-87E2-9036-934B-277A54D5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68EE6-C165-00C5-FCDB-47FC86B5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int s = 0, x;        </a:t>
            </a:r>
            <a:r>
              <a:rPr lang="en-US" altLang="zh-CN" sz="1800" b="1" i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for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 (x = 0; x &lt;= n; ++x) s += x;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zh-CN" sz="1800" dirty="0"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int s = 0;           for (</a:t>
            </a:r>
            <a:r>
              <a:rPr lang="en-US" altLang="zh-CN" sz="1800" b="1" i="1" dirty="0">
                <a:solidFill>
                  <a:srgbClr val="00B050"/>
                </a:solidFill>
                <a:ea typeface="Fira Code" pitchFamily="1" charset="0"/>
                <a:cs typeface="Fira Code" pitchFamily="1" charset="0"/>
              </a:rPr>
              <a:t>int x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 = 0; x &lt;= n; ++x) s += x;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zh-CN" sz="1800" dirty="0"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int s = 0, x = 0;    for (</a:t>
            </a:r>
            <a:r>
              <a:rPr lang="en-US" altLang="zh-CN" sz="1800" b="1" i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;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 x &lt;= n; ++x) s += x;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zh-CN" sz="1800" dirty="0"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int s = 0, x = 0;    for (; x &lt;= n; </a:t>
            </a:r>
            <a:r>
              <a:rPr lang="en-US" altLang="zh-CN" sz="1800" b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)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 s += </a:t>
            </a:r>
            <a:r>
              <a:rPr lang="en-US" altLang="zh-CN" sz="1800" b="1" i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++x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;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zh-CN" sz="1800" dirty="0"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int s = 0, x = 0;    for </a:t>
            </a:r>
            <a:r>
              <a:rPr lang="en-US" altLang="zh-CN" sz="1800" b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(;;)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 { if (x &gt; n) </a:t>
            </a:r>
            <a:r>
              <a:rPr lang="en-US" altLang="zh-CN" sz="1800" b="1" i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break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; s += </a:t>
            </a:r>
            <a:r>
              <a:rPr lang="en-US" altLang="zh-CN" sz="1800" b="1" i="1" dirty="0">
                <a:solidFill>
                  <a:srgbClr val="FF0000"/>
                </a:solidFill>
                <a:ea typeface="Fira Code" pitchFamily="1" charset="0"/>
                <a:cs typeface="Fira Code" pitchFamily="1" charset="0"/>
              </a:rPr>
              <a:t>++x</a:t>
            </a:r>
            <a:r>
              <a:rPr lang="en-US" altLang="zh-CN" sz="1800" dirty="0">
                <a:ea typeface="Fira Code" pitchFamily="1" charset="0"/>
                <a:cs typeface="Fira Code" pitchFamily="1" charset="0"/>
              </a:rPr>
              <a:t>; }</a:t>
            </a:r>
          </a:p>
          <a:p>
            <a:pPr marL="0" indent="0">
              <a:lnSpc>
                <a:spcPct val="125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5833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计算型迭代的通用模型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@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S = C</a:t>
                </a:r>
                <a:r>
                  <a:rPr lang="en-US" altLang="zh-CN" baseline="-25000" dirty="0"/>
                  <a:t>s</a:t>
                </a:r>
                <a:r>
                  <a:rPr lang="en-US" altLang="zh-CN" dirty="0"/>
                  <a:t>, A = a</a:t>
                </a:r>
                <a:r>
                  <a:rPr lang="en-US" altLang="zh-CN" baseline="-25000" dirty="0"/>
                  <a:t>0</a:t>
                </a:r>
                <a:r>
                  <a:rPr lang="en-US" altLang="zh-CN" dirty="0"/>
                  <a:t>;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While !</a:t>
                </a:r>
                <a:r>
                  <a:rPr lang="zh-CN" altLang="en-US" dirty="0"/>
                  <a:t>结束条件</a:t>
                </a:r>
                <a:r>
                  <a:rPr lang="en-US" altLang="zh-CN" dirty="0"/>
                  <a:t> do: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S @= A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A = f(A) // a</a:t>
                </a:r>
                <a:r>
                  <a:rPr lang="en-US" altLang="zh-CN" baseline="-25000" dirty="0"/>
                  <a:t>i</a:t>
                </a:r>
                <a:r>
                  <a:rPr lang="en-US" altLang="zh-CN" dirty="0"/>
                  <a:t>=f(a</a:t>
                </a:r>
                <a:r>
                  <a:rPr lang="en-US" altLang="zh-CN" baseline="-25000" dirty="0"/>
                  <a:t>i-1</a:t>
                </a:r>
                <a:r>
                  <a:rPr lang="en-US" altLang="zh-CN" dirty="0"/>
                  <a:t>)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标注 12"/>
          <p:cNvSpPr/>
          <p:nvPr/>
        </p:nvSpPr>
        <p:spPr>
          <a:xfrm>
            <a:off x="6096000" y="4033599"/>
            <a:ext cx="1619395" cy="725936"/>
          </a:xfrm>
          <a:prstGeom prst="wedgeRoundRectCallout">
            <a:avLst>
              <a:gd name="adj1" fmla="val 69684"/>
              <a:gd name="adj2" fmla="val 240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迭代法</a:t>
            </a:r>
          </a:p>
        </p:txBody>
      </p:sp>
    </p:spTree>
    <p:extLst>
      <p:ext uri="{BB962C8B-B14F-4D97-AF65-F5344CB8AC3E}">
        <p14:creationId xmlns:p14="http://schemas.microsoft.com/office/powerpoint/2010/main" val="213328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4289-FBDD-E316-A059-D5D5F936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231DD-044C-54F4-40CE-BC3180DB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FCBC1-1215-4A86-E283-82A0ABC3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从键盘输入一个正整数</a:t>
            </a:r>
            <a:r>
              <a:rPr lang="en-US" altLang="zh-CN" dirty="0"/>
              <a:t>n</a:t>
            </a:r>
            <a:r>
              <a:rPr lang="zh-CN" altLang="en-US" dirty="0"/>
              <a:t>，求</a:t>
            </a:r>
            <a:r>
              <a:rPr lang="en-US" altLang="zh-CN" dirty="0"/>
              <a:t>n!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0989F696-965F-A0E3-2691-80F483D73FA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fact.c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28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从键盘输入一个正整数</a:t>
            </a:r>
            <a:r>
              <a:rPr lang="en-US" altLang="zh-CN" dirty="0"/>
              <a:t>n</a:t>
            </a:r>
            <a:r>
              <a:rPr lang="zh-CN" altLang="en-US" dirty="0"/>
              <a:t>，求</a:t>
            </a:r>
            <a:r>
              <a:rPr lang="en-US" altLang="zh-CN" dirty="0"/>
              <a:t>1/1! + 1/2! + 1/3! + … + 1/n!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422408C0-EFAC-D988-593B-B46A3433CB77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sum.c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203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DBB9-8861-92E8-FD67-5519CB11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BEE39-E811-DB5B-EEA4-A9CA6B1E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8E5C6-DEC4-A65F-275F-006CB2A80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挑战：求</a:t>
            </a:r>
            <a:r>
              <a:rPr lang="en-US" altLang="zh-CN" dirty="0"/>
              <a:t>Fibonacci</a:t>
            </a:r>
            <a:r>
              <a:rPr lang="zh-CN" altLang="en-US" dirty="0"/>
              <a:t>数列的第</a:t>
            </a:r>
            <a:r>
              <a:rPr lang="en-US" altLang="zh-CN" dirty="0"/>
              <a:t>n</a:t>
            </a:r>
            <a:r>
              <a:rPr lang="zh-CN" altLang="en-US" dirty="0"/>
              <a:t>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Fibonacci</a:t>
            </a:r>
            <a:r>
              <a:rPr lang="zh-CN" altLang="en-US" sz="2000" dirty="0">
                <a:solidFill>
                  <a:srgbClr val="FF0000"/>
                </a:solidFill>
              </a:rPr>
              <a:t>数列的定义为：第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项为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；从第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项起，每项是前两项之和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</a:t>
            </a:r>
            <a:r>
              <a:rPr lang="zh-CN" altLang="en-US" sz="2000" dirty="0">
                <a:solidFill>
                  <a:srgbClr val="FF0000"/>
                </a:solidFill>
              </a:rPr>
              <a:t>提示：两项递推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8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3</a:t>
            </a:r>
            <a:r>
              <a:rPr lang="zh-CN" altLang="en-US" dirty="0"/>
              <a:t>解析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f1 = f2 = 1;</a:t>
            </a:r>
          </a:p>
          <a:p>
            <a:pPr marL="0" indent="0">
              <a:buNone/>
            </a:pPr>
            <a:r>
              <a:rPr lang="en-US" altLang="zh-CN" dirty="0"/>
              <a:t>loop(condition) {</a:t>
            </a:r>
          </a:p>
          <a:p>
            <a:pPr marL="0" indent="0">
              <a:buNone/>
            </a:pPr>
            <a:r>
              <a:rPr lang="en-US" altLang="zh-CN" dirty="0"/>
              <a:t>	f3 = f2 + f1;</a:t>
            </a:r>
          </a:p>
          <a:p>
            <a:pPr marL="0" indent="0">
              <a:buNone/>
            </a:pPr>
            <a:r>
              <a:rPr lang="en-US" altLang="zh-CN" dirty="0"/>
              <a:t>	f1 = f2;</a:t>
            </a:r>
          </a:p>
          <a:p>
            <a:pPr marL="0" indent="0">
              <a:buNone/>
            </a:pPr>
            <a:r>
              <a:rPr lang="en-US" altLang="zh-CN" dirty="0"/>
              <a:t>	f2 = f3;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171496"/>
              </p:ext>
            </p:extLst>
          </p:nvPr>
        </p:nvGraphicFramePr>
        <p:xfrm>
          <a:off x="5842387" y="2724628"/>
          <a:ext cx="4495216" cy="5793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1902">
                  <a:extLst>
                    <a:ext uri="{9D8B030D-6E8A-4147-A177-3AD203B41FA5}">
                      <a16:colId xmlns:a16="http://schemas.microsoft.com/office/drawing/2014/main" val="177668637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2221895148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2530954036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3959169851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3246679426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1474641197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2121301653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1251463483"/>
                    </a:ext>
                  </a:extLst>
                </a:gridCol>
              </a:tblGrid>
              <a:tr h="579353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f1</a:t>
                      </a:r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cs typeface="Fira Code" pitchFamily="1" charset="0"/>
                        </a:rPr>
                        <a:t>f2</a:t>
                      </a:r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cs typeface="Fira Code" pitchFamily="1" charset="0"/>
                        </a:rPr>
                        <a:t>f3</a:t>
                      </a:r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45577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727933" y="2329577"/>
            <a:ext cx="1351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Fira Code" pitchFamily="1" charset="0"/>
              </a:rPr>
              <a:t>第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Fira Code" pitchFamily="1" charset="0"/>
              </a:rPr>
              <a:t>次迭代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727933" y="3779122"/>
            <a:ext cx="1842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Fira Code" pitchFamily="1" charset="0"/>
              </a:rPr>
              <a:t>第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i+1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Fira Code" pitchFamily="1" charset="0"/>
              </a:rPr>
              <a:t>次迭代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5185114-48AC-94BB-D206-DECCB5E6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69830"/>
              </p:ext>
            </p:extLst>
          </p:nvPr>
        </p:nvGraphicFramePr>
        <p:xfrm>
          <a:off x="5842387" y="4172635"/>
          <a:ext cx="4495216" cy="5793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1902">
                  <a:extLst>
                    <a:ext uri="{9D8B030D-6E8A-4147-A177-3AD203B41FA5}">
                      <a16:colId xmlns:a16="http://schemas.microsoft.com/office/drawing/2014/main" val="1338436841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177668637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2221895148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2530954036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3959169851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3246679426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1474641197"/>
                    </a:ext>
                  </a:extLst>
                </a:gridCol>
                <a:gridCol w="561902">
                  <a:extLst>
                    <a:ext uri="{9D8B030D-6E8A-4147-A177-3AD203B41FA5}">
                      <a16:colId xmlns:a16="http://schemas.microsoft.com/office/drawing/2014/main" val="2121301653"/>
                    </a:ext>
                  </a:extLst>
                </a:gridCol>
              </a:tblGrid>
              <a:tr h="579353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cs typeface="Fira Code" pitchFamily="1" charset="0"/>
                        </a:rPr>
                        <a:t>f1</a:t>
                      </a:r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cs typeface="Fira Code" pitchFamily="1" charset="0"/>
                        </a:rPr>
                        <a:t>f2</a:t>
                      </a:r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cs typeface="Fira Code" pitchFamily="1" charset="0"/>
                        </a:rPr>
                        <a:t>f3</a:t>
                      </a:r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455772"/>
                  </a:ext>
                </a:extLst>
              </a:tr>
            </a:tbl>
          </a:graphicData>
        </a:graphic>
      </p:graphicFrame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9BDEB198-4EBA-DB6E-A969-ADE0A3438E66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fibo.c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E8BF10-AB34-91CC-9DCA-57485C5F6DBC}"/>
              </a:ext>
            </a:extLst>
          </p:cNvPr>
          <p:cNvCxnSpPr/>
          <p:nvPr/>
        </p:nvCxnSpPr>
        <p:spPr>
          <a:xfrm>
            <a:off x="7825563" y="3374065"/>
            <a:ext cx="0" cy="743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3AEB204-803B-1EB0-3447-E9FCB93A7DD4}"/>
              </a:ext>
            </a:extLst>
          </p:cNvPr>
          <p:cNvCxnSpPr/>
          <p:nvPr/>
        </p:nvCxnSpPr>
        <p:spPr>
          <a:xfrm>
            <a:off x="8389088" y="3374064"/>
            <a:ext cx="0" cy="743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44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从键盘输入一串数字字符，以回车结束。程序代码将这个数字字符串转换为整数。</a:t>
            </a:r>
            <a:endParaRPr lang="en-US" altLang="zh-CN" dirty="0"/>
          </a:p>
          <a:p>
            <a:pPr lvl="1"/>
            <a:r>
              <a:rPr lang="zh-CN" altLang="en-US" dirty="0"/>
              <a:t>提示：只能读入字符，不能用</a:t>
            </a:r>
            <a:r>
              <a:rPr lang="en-US" altLang="zh-CN" dirty="0"/>
              <a:t>%d</a:t>
            </a:r>
            <a:r>
              <a:rPr lang="zh-CN" altLang="en-US" dirty="0"/>
              <a:t>格式读入。输入可能存在多个前导</a:t>
            </a:r>
            <a:r>
              <a:rPr lang="en-US" altLang="zh-CN" dirty="0"/>
              <a:t>’0’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141050F2-89C5-F781-83D5-133F5DF06BB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toint.c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39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已知：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+…,  −∞&lt;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现从键盘输入一个实数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，不用库函数，通过计算求出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𝑐𝑜𝑠𝑥</m:t>
                    </m:r>
                  </m:oMath>
                </a14:m>
                <a:r>
                  <a:rPr lang="zh-CN" altLang="en-US" dirty="0"/>
                  <a:t>的近似值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89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5</a:t>
            </a:r>
            <a:r>
              <a:rPr lang="zh-CN" altLang="en-US" dirty="0"/>
              <a:t>解析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解题的关键：复数的两种表示方法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模为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的复数可以表示为两种方式：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𝑐𝑜𝑠𝑥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𝑠𝑖𝑛𝑥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e>
                        <m:sup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是以弧度为单位的幅角。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7559506" y="1850050"/>
            <a:ext cx="3718317" cy="2926252"/>
            <a:chOff x="7559506" y="1850050"/>
            <a:chExt cx="3718317" cy="2926252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7559506" y="4224868"/>
              <a:ext cx="3336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8278462" y="2249487"/>
              <a:ext cx="0" cy="252681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8278462" y="3022406"/>
              <a:ext cx="1933501" cy="1202462"/>
            </a:xfrm>
            <a:prstGeom prst="line">
              <a:avLst/>
            </a:prstGeom>
            <a:ln>
              <a:tailEnd type="oval" w="lg" len="lg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弧形 14"/>
            <p:cNvSpPr/>
            <p:nvPr/>
          </p:nvSpPr>
          <p:spPr>
            <a:xfrm>
              <a:off x="8522897" y="3985405"/>
              <a:ext cx="276045" cy="443458"/>
            </a:xfrm>
            <a:prstGeom prst="arc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830946" y="3874864"/>
              <a:ext cx="39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983789" y="3307144"/>
              <a:ext cx="39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r</a:t>
              </a:r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881007" y="4059530"/>
              <a:ext cx="39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080054" y="1850050"/>
              <a:ext cx="39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Y</a:t>
              </a:r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937224" y="4178319"/>
              <a:ext cx="39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O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280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5</a:t>
            </a:r>
            <a:r>
              <a:rPr lang="zh-CN" altLang="en-US" dirty="0"/>
              <a:t>解析：续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取</a:t>
                </a:r>
                <a:r>
                  <a:rPr lang="en-US" altLang="zh-CN" dirty="0"/>
                  <a:t>r=1</a:t>
                </a:r>
                <a:r>
                  <a:rPr lang="zh-CN" altLang="en-US" dirty="0"/>
                  <a:t>，则有：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𝑐𝑜𝑠𝑥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𝑖𝑠𝑖𝑛𝑥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𝑖𝑥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展开右边，则有：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i="1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</a:rPr>
                        <m:t>𝑜𝑠𝑥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</a:rPr>
                        <m:t>𝑖𝑠𝑖𝑛𝑥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1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66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5</a:t>
            </a:r>
            <a:r>
              <a:rPr lang="zh-CN" altLang="en-US" dirty="0"/>
              <a:t>解析：续</a:t>
            </a:r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整理右边，同类项，则有：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i="1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</a:rPr>
                        <m:t>𝑜𝑠𝑥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buNone/>
                </a:pPr>
                <a:r>
                  <a:rPr lang="zh-CN" altLang="en-US" dirty="0"/>
                  <a:t>编程要求：累加到前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项即可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提示：编程实现时，如何处理交替的</a:t>
                </a:r>
                <a:r>
                  <a:rPr lang="en-US" altLang="zh-CN" dirty="0"/>
                  <a:t>+-</a:t>
                </a:r>
                <a:r>
                  <a:rPr lang="zh-CN" altLang="en-US" dirty="0"/>
                  <a:t>号？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5" t="-1205" b="-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93C1177-AA09-63A2-86C5-04E26D219C7F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cosx.c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7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从键盘输入一个正整数</a:t>
            </a:r>
            <a:r>
              <a:rPr lang="en-US" altLang="zh-CN" dirty="0"/>
              <a:t>n</a:t>
            </a:r>
            <a:r>
              <a:rPr lang="zh-CN" altLang="en-US" dirty="0"/>
              <a:t>，判定其是否为素数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提示：</a:t>
            </a:r>
            <a:endParaRPr lang="en-US" altLang="zh-CN" dirty="0"/>
          </a:p>
          <a:p>
            <a:pPr lvl="1"/>
            <a:r>
              <a:rPr lang="zh-CN" altLang="en-US" dirty="0"/>
              <a:t>素数的模型是什么？</a:t>
            </a:r>
            <a:endParaRPr lang="en-US" altLang="zh-CN" dirty="0"/>
          </a:p>
          <a:p>
            <a:pPr lvl="2"/>
            <a:r>
              <a:rPr lang="zh-CN" altLang="en-US" dirty="0"/>
              <a:t>素数的定义：除了</a:t>
            </a:r>
            <a:r>
              <a:rPr lang="en-US" altLang="zh-CN" dirty="0"/>
              <a:t>1</a:t>
            </a:r>
            <a:r>
              <a:rPr lang="zh-CN" altLang="en-US" dirty="0"/>
              <a:t>和它本身外，</a:t>
            </a:r>
            <a:r>
              <a:rPr lang="zh-CN" altLang="en-US" b="1" dirty="0">
                <a:solidFill>
                  <a:srgbClr val="FF0000"/>
                </a:solidFill>
              </a:rPr>
              <a:t>没有其他因子</a:t>
            </a:r>
            <a:r>
              <a:rPr lang="zh-CN" altLang="en-US" dirty="0"/>
              <a:t>的数为素数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0586633-720D-4778-662F-5372B9123A38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isprime.c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762386" y="4633748"/>
            <a:ext cx="3285415" cy="1075783"/>
          </a:xfrm>
          <a:prstGeom prst="wedgeRoundRectCallout">
            <a:avLst>
              <a:gd name="adj1" fmla="val -60851"/>
              <a:gd name="adj2" fmla="val -473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枚举（穷举）法：用所有可能解逐一去测试条件，如果满足则是可行解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91041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0963-0F95-E4DE-B1B4-B7138203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BBBE2-01F4-1DB3-016D-BF5FE759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循环是可以嵌套的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EFE5BB-579C-09DA-E8E0-DE050B0E7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for (int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10; ++</a:t>
            </a:r>
            <a:r>
              <a:rPr lang="en-US" altLang="zh-CN" dirty="0" err="1"/>
              <a:t>i</a:t>
            </a:r>
            <a:r>
              <a:rPr lang="en-US" altLang="zh-CN" dirty="0"/>
              <a:t>) {</a:t>
            </a:r>
          </a:p>
          <a:p>
            <a:pPr marL="0" indent="0">
              <a:buNone/>
            </a:pPr>
            <a:r>
              <a:rPr lang="en-US" altLang="zh-CN" dirty="0"/>
              <a:t>    for (int j = 0; j &lt; 5; ++j)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(“%4d”, </a:t>
            </a:r>
            <a:r>
              <a:rPr lang="en-US" altLang="zh-CN" dirty="0" err="1"/>
              <a:t>i</a:t>
            </a:r>
            <a:r>
              <a:rPr lang="en-US" altLang="zh-CN" dirty="0"/>
              <a:t> * 5 + j);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DA2EA226-BAE2-D88F-CFA1-682212CF18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70089" y="2206807"/>
            <a:ext cx="4681472" cy="1373520"/>
          </a:xfrm>
          <a:prstGeom prst="bentConnector3">
            <a:avLst>
              <a:gd name="adj1" fmla="val -21114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F05FD607-2888-BC70-B42E-2505C53DDC4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70090" y="1469252"/>
            <a:ext cx="3925911" cy="2691241"/>
          </a:xfrm>
          <a:prstGeom prst="bentConnector3">
            <a:avLst>
              <a:gd name="adj1" fmla="val -56780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圆角矩形标注 6">
            <a:extLst>
              <a:ext uri="{FF2B5EF4-FFF2-40B4-BE49-F238E27FC236}">
                <a16:creationId xmlns:a16="http://schemas.microsoft.com/office/drawing/2014/main" id="{B6BD7937-C7E9-A3F6-20E9-65AE28358C89}"/>
              </a:ext>
            </a:extLst>
          </p:cNvPr>
          <p:cNvSpPr/>
          <p:nvPr/>
        </p:nvSpPr>
        <p:spPr>
          <a:xfrm>
            <a:off x="8583769" y="2378546"/>
            <a:ext cx="2705278" cy="832337"/>
          </a:xfrm>
          <a:prstGeom prst="wedgeRoundRectCallout">
            <a:avLst>
              <a:gd name="adj1" fmla="val -73974"/>
              <a:gd name="adj2" fmla="val -234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内层循环完全嵌入到外层循环内部，不能交叉。</a:t>
            </a:r>
            <a:endParaRPr lang="en-US" altLang="zh-CN" sz="1400" dirty="0"/>
          </a:p>
        </p:txBody>
      </p:sp>
      <p:sp>
        <p:nvSpPr>
          <p:cNvPr id="16" name="圆角矩形标注 6">
            <a:extLst>
              <a:ext uri="{FF2B5EF4-FFF2-40B4-BE49-F238E27FC236}">
                <a16:creationId xmlns:a16="http://schemas.microsoft.com/office/drawing/2014/main" id="{097ECCBB-B2C0-1D1C-D4CC-3BD375AE3791}"/>
              </a:ext>
            </a:extLst>
          </p:cNvPr>
          <p:cNvSpPr/>
          <p:nvPr/>
        </p:nvSpPr>
        <p:spPr>
          <a:xfrm>
            <a:off x="3088067" y="4372377"/>
            <a:ext cx="5495702" cy="1644595"/>
          </a:xfrm>
          <a:prstGeom prst="wedgeRoundRectCallout">
            <a:avLst>
              <a:gd name="adj1" fmla="val -30327"/>
              <a:gd name="adj2" fmla="val -79039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eriod"/>
            </a:pP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在执行内层循环时，外层循环的循环控制变量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保持不变。例如，当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=0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时，内层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j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循环将打印出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0~4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。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342900" indent="-342900" algn="just">
              <a:buAutoNum type="arabicPeriod"/>
            </a:pP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当内层循环执行完后，控制将回到外层循环的增量表达式，即：执行一次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++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，然后再判断外层循环是否继续。例如，接续上一点中的例子，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自加为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，再次进入内层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j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循环，打印出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5~9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。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78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C180-AE45-23B9-9360-EB27F14E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07AE6-A1D2-BB31-7F92-A733CA8F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4AA1A-5B7A-B721-4DF5-8A43E7641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打印九九乘法表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54C3059-88A7-A64E-9AD9-F8B71CAA1CDF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99x.c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020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求解“百鸡问题”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今有鸡翁一，值钱伍；鸡母一，值钱三；鸡雏三，值钱一。凡百钱买鸡百只，问鸡翁、母、雏各几何？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992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8</a:t>
            </a:r>
            <a:r>
              <a:rPr lang="zh-CN" altLang="en-US" dirty="0"/>
              <a:t>解析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建模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令公鸡有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只，母鸡有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只，小鸡有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只，则有：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=100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=100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19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8</a:t>
            </a:r>
            <a:r>
              <a:rPr lang="zh-CN" altLang="en-US" dirty="0"/>
              <a:t>解析：续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优化模型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=100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+9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=300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≤20</m:t>
                              </m:r>
                            </m:e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6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8</a:t>
            </a:r>
            <a:r>
              <a:rPr lang="zh-CN" altLang="en-US" dirty="0"/>
              <a:t>解析：续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20227" y="2218075"/>
            <a:ext cx="487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for (x = 0; x &lt;= 20; ++x)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for (y = 0; y &lt;= 33; ++y)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	for (z = 0; z &lt;= 100; ++z)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		if (x + y + z == 100 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		&amp;&amp; 15*x + 9*y + z == 300)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				output x, y, z;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38874" y="2207516"/>
            <a:ext cx="487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for (x = 0; x &lt;= 20; ++x)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	for (y = 0; y &lt;= 33; ++y) {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		z = 100 – x – y;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		if (15*x + 9*y + z == 300)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			output x, y, z;</a:t>
            </a:r>
          </a:p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	}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89FD3F3D-731B-5D92-D39A-A0689FE3F54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100chickens.c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6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3E9B-8BE4-402B-690E-3929E4C2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32501-0E15-AFD8-B0D5-527C30BD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中止循环：</a:t>
            </a:r>
            <a:r>
              <a:rPr lang="en-US" altLang="zh-CN" dirty="0"/>
              <a:t>break</a:t>
            </a:r>
            <a:r>
              <a:rPr lang="zh-CN" altLang="en-US" dirty="0"/>
              <a:t>和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6DC35D-25C9-43FB-3A22-6099B515801F}"/>
              </a:ext>
            </a:extLst>
          </p:cNvPr>
          <p:cNvSpPr txBox="1"/>
          <p:nvPr/>
        </p:nvSpPr>
        <p:spPr>
          <a:xfrm>
            <a:off x="1204575" y="2643377"/>
            <a:ext cx="4876800" cy="213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cs typeface="Fira Code" pitchFamily="1" charset="0"/>
              </a:rPr>
              <a:t>while (…)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cs typeface="Fira Code" pitchFamily="1" charset="0"/>
              </a:rPr>
              <a:t>    s1;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cs typeface="Fira Code" pitchFamily="1" charset="0"/>
              </a:rPr>
              <a:t>    break;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cs typeface="Fira Code" pitchFamily="1" charset="0"/>
              </a:rPr>
              <a:t>   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cs typeface="Fira Code" pitchFamily="1" charset="0"/>
              </a:rPr>
              <a:t>s2;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0F4151-CFF6-2327-3212-38CDDB473CE3}"/>
              </a:ext>
            </a:extLst>
          </p:cNvPr>
          <p:cNvSpPr txBox="1"/>
          <p:nvPr/>
        </p:nvSpPr>
        <p:spPr>
          <a:xfrm>
            <a:off x="6477000" y="2660738"/>
            <a:ext cx="4876800" cy="213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while ( x &lt;= n 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   s1;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   continue;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   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s2;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Fira Code" pitchFamily="1" charset="0"/>
                <a:cs typeface="Fira Code" pitchFamily="1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9457B4-F272-E4E5-AD48-9937EF791BA5}"/>
              </a:ext>
            </a:extLst>
          </p:cNvPr>
          <p:cNvSpPr txBox="1"/>
          <p:nvPr/>
        </p:nvSpPr>
        <p:spPr>
          <a:xfrm>
            <a:off x="1154811" y="1754399"/>
            <a:ext cx="34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：中止直接包含它的循环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7D9FCD-15AD-DA5D-1451-E5D26C025A01}"/>
              </a:ext>
            </a:extLst>
          </p:cNvPr>
          <p:cNvSpPr txBox="1"/>
          <p:nvPr/>
        </p:nvSpPr>
        <p:spPr>
          <a:xfrm>
            <a:off x="6383065" y="1754399"/>
            <a:ext cx="4654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continue</a:t>
            </a:r>
            <a:r>
              <a:rPr lang="zh-CN" altLang="en-US" dirty="0">
                <a:latin typeface="Consolas" panose="020B0609020204030204" pitchFamily="49" charset="0"/>
              </a:rPr>
              <a:t>：中止本次循环，调到条件测试部分，以开始下一次循环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4D36DC06-F093-0564-936F-D49F258603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01772" y="3744395"/>
            <a:ext cx="1337388" cy="1194319"/>
          </a:xfrm>
          <a:prstGeom prst="bentConnector3">
            <a:avLst>
              <a:gd name="adj1" fmla="val -4814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2AB2324A-83DD-69AF-BFB1-5EA19E6837DF}"/>
              </a:ext>
            </a:extLst>
          </p:cNvPr>
          <p:cNvCxnSpPr>
            <a:cxnSpLocks/>
          </p:cNvCxnSpPr>
          <p:nvPr/>
        </p:nvCxnSpPr>
        <p:spPr>
          <a:xfrm flipV="1">
            <a:off x="8424612" y="2918637"/>
            <a:ext cx="889520" cy="881744"/>
          </a:xfrm>
          <a:prstGeom prst="bentConnector3">
            <a:avLst>
              <a:gd name="adj1" fmla="val 17867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3FED0B59-272F-D9FC-1444-D0A89A02FFD1}"/>
              </a:ext>
            </a:extLst>
          </p:cNvPr>
          <p:cNvSpPr/>
          <p:nvPr/>
        </p:nvSpPr>
        <p:spPr>
          <a:xfrm>
            <a:off x="2411001" y="5151869"/>
            <a:ext cx="7172130" cy="646331"/>
          </a:xfrm>
          <a:prstGeom prst="wedgeRoundRectCallout">
            <a:avLst>
              <a:gd name="adj1" fmla="val -49891"/>
              <a:gd name="adj2" fmla="val -47917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两种情况下，语句</a:t>
            </a:r>
            <a:r>
              <a:rPr lang="en-US" altLang="zh-CN" dirty="0">
                <a:latin typeface="Consolas" panose="020B0609020204030204" pitchFamily="49" charset="0"/>
                <a:ea typeface="Fira Code" panose="020B0809050000020004" pitchFamily="49" charset="0"/>
              </a:rPr>
              <a:t>s2</a:t>
            </a:r>
            <a:r>
              <a:rPr lang="zh-CN" altLang="en-US" dirty="0">
                <a:latin typeface="Consolas" panose="020B0609020204030204" pitchFamily="49" charset="0"/>
              </a:rPr>
              <a:t>都是不可到达的，也就是不可能被执行到的</a:t>
            </a:r>
          </a:p>
        </p:txBody>
      </p:sp>
    </p:spTree>
    <p:extLst>
      <p:ext uri="{BB962C8B-B14F-4D97-AF65-F5344CB8AC3E}">
        <p14:creationId xmlns:p14="http://schemas.microsoft.com/office/powerpoint/2010/main" val="140251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ACEA-ED32-191A-B735-038E019E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0D0B3-A957-9019-4F9E-02A5F1EE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13493-B2C8-2B9D-064D-0E1A37C0A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CN" altLang="en-US" dirty="0"/>
              <a:t>练习</a:t>
            </a:r>
            <a:r>
              <a:rPr lang="en-US" altLang="zh-CN" dirty="0"/>
              <a:t>5</a:t>
            </a:r>
            <a:r>
              <a:rPr lang="zh-CN" altLang="en-US" dirty="0"/>
              <a:t>的做法是累加到前</a:t>
            </a:r>
            <a:r>
              <a:rPr lang="en-US" altLang="zh-CN" dirty="0"/>
              <a:t>n</a:t>
            </a:r>
            <a:r>
              <a:rPr lang="zh-CN" altLang="en-US" dirty="0"/>
              <a:t>项即可。现在请改进一下程序，不是累加前</a:t>
            </a:r>
            <a:r>
              <a:rPr lang="en-US" altLang="zh-CN" dirty="0"/>
              <a:t>n</a:t>
            </a:r>
            <a:r>
              <a:rPr lang="zh-CN" altLang="en-US" dirty="0"/>
              <a:t>项，而是结果精度达到要求（相继两次的计算结果差值的绝对值小于某个指定的很小的常数）就不再计算。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基于练习</a:t>
            </a:r>
            <a:r>
              <a:rPr lang="en-US" altLang="zh-CN" dirty="0"/>
              <a:t>6</a:t>
            </a:r>
            <a:r>
              <a:rPr lang="zh-CN" altLang="en-US" dirty="0"/>
              <a:t>，找出区间</a:t>
            </a:r>
            <a:r>
              <a:rPr lang="en-US" altLang="zh-CN" dirty="0"/>
              <a:t>[</a:t>
            </a:r>
            <a:r>
              <a:rPr lang="en-US" altLang="zh-CN" dirty="0" err="1"/>
              <a:t>a,b</a:t>
            </a:r>
            <a:r>
              <a:rPr lang="en-US" altLang="zh-CN" dirty="0"/>
              <a:t>]</a:t>
            </a:r>
            <a:r>
              <a:rPr lang="zh-CN" altLang="en-US" dirty="0"/>
              <a:t>内所有的素数。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的值从键盘输入，且</a:t>
            </a:r>
            <a:r>
              <a:rPr lang="en-US" altLang="zh-CN" dirty="0"/>
              <a:t>a&lt;b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完成练习</a:t>
            </a:r>
            <a:r>
              <a:rPr lang="en-US" altLang="zh-CN"/>
              <a:t>8</a:t>
            </a:r>
            <a:r>
              <a:rPr lang="zh-CN" altLang="en-US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883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B588CDDD-9227-48DE-83D0-ADAF89D3895E}" vid="{E588AE0C-722F-4631-A4F1-8E7A05F34A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第一讲 人工智能简史与概述</Template>
  <TotalTime>433</TotalTime>
  <Words>1495</Words>
  <Application>Microsoft Office PowerPoint</Application>
  <PresentationFormat>宽屏</PresentationFormat>
  <Paragraphs>213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Arial</vt:lpstr>
      <vt:lpstr>Cambria Math</vt:lpstr>
      <vt:lpstr>Consolas</vt:lpstr>
      <vt:lpstr>Fira Code</vt:lpstr>
      <vt:lpstr>Wingdings</vt:lpstr>
      <vt:lpstr>Office 主题​​</vt:lpstr>
      <vt:lpstr>循环结构</vt:lpstr>
      <vt:lpstr>计算思维</vt:lpstr>
      <vt:lpstr>计算思维在计算机中的实现</vt:lpstr>
      <vt:lpstr>案例</vt:lpstr>
      <vt:lpstr>案例：续1</vt:lpstr>
      <vt:lpstr>案例：续2</vt:lpstr>
      <vt:lpstr>案例：续3</vt:lpstr>
      <vt:lpstr>案例：续4</vt:lpstr>
      <vt:lpstr>C的三种循环语句</vt:lpstr>
      <vt:lpstr>for语句</vt:lpstr>
      <vt:lpstr>小结</vt:lpstr>
      <vt:lpstr>课堂练习1</vt:lpstr>
      <vt:lpstr>课堂练习2</vt:lpstr>
      <vt:lpstr>课堂练习3</vt:lpstr>
      <vt:lpstr>练习3解析</vt:lpstr>
      <vt:lpstr>课堂练习4</vt:lpstr>
      <vt:lpstr>课堂练习5</vt:lpstr>
      <vt:lpstr>练习5解析</vt:lpstr>
      <vt:lpstr>练习5解析：续1</vt:lpstr>
      <vt:lpstr>练习5解析：续2</vt:lpstr>
      <vt:lpstr>课堂练习6</vt:lpstr>
      <vt:lpstr>循环是可以嵌套的</vt:lpstr>
      <vt:lpstr>课堂练习7</vt:lpstr>
      <vt:lpstr>课堂练习8</vt:lpstr>
      <vt:lpstr>练习8解析</vt:lpstr>
      <vt:lpstr>练习8解析：续1</vt:lpstr>
      <vt:lpstr>练习8解析：续2</vt:lpstr>
      <vt:lpstr>中止循环：break和continue</vt:lpstr>
      <vt:lpstr>课后练习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关于循环结构</dc:title>
  <dc:creator>Bai Zhongjian</dc:creator>
  <cp:lastModifiedBy>Zhongjian Bai</cp:lastModifiedBy>
  <cp:revision>254</cp:revision>
  <dcterms:created xsi:type="dcterms:W3CDTF">2021-09-26T02:25:47Z</dcterms:created>
  <dcterms:modified xsi:type="dcterms:W3CDTF">2025-09-21T12:12:15Z</dcterms:modified>
</cp:coreProperties>
</file>