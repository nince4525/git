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87" r:id="rId15"/>
    <p:sldId id="269" r:id="rId16"/>
    <p:sldId id="271" r:id="rId17"/>
    <p:sldId id="272" r:id="rId18"/>
    <p:sldId id="270" r:id="rId19"/>
    <p:sldId id="273" r:id="rId20"/>
    <p:sldId id="274" r:id="rId21"/>
    <p:sldId id="275" r:id="rId22"/>
    <p:sldId id="288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7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01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59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5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62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56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8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6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5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80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9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9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数组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93821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将一名学生的百分制成绩保存在变量中，并转换成等级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3728936" y="2064692"/>
            <a:ext cx="4734128" cy="313932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score;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char degree;</a:t>
            </a:r>
          </a:p>
          <a:p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scanf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("%d", &amp;score);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switch (score / 10) {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case 10: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case 9: degree = 'A'; break;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case 8: degree = 'B'; break;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("%c\n", degree);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83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但如果将</a:t>
            </a:r>
            <a:r>
              <a:rPr lang="en-US" altLang="zh-CN" dirty="0"/>
              <a:t>100</a:t>
            </a:r>
            <a:r>
              <a:rPr lang="zh-CN" altLang="en-US" dirty="0"/>
              <a:t>名学生呢？可以这样做吗？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3372684" y="1787693"/>
            <a:ext cx="5446631" cy="3693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score0, score1, score2, …, score99;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char degree;</a:t>
            </a:r>
          </a:p>
          <a:p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for 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= 0;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 100; ++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scanf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("%d", &amp;</a:t>
            </a:r>
            <a:r>
              <a:rPr lang="en-US" altLang="zh-CN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scorei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switch (</a:t>
            </a:r>
            <a:r>
              <a:rPr lang="en-US" altLang="zh-CN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scorei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/ 10) {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case 10: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case 9: degree = 'A'; break;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case 8: degree = 'B'; break;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...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("%c\n", degree);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5325816" y="2108528"/>
            <a:ext cx="2555131" cy="667966"/>
          </a:xfrm>
          <a:prstGeom prst="wedgeRectCallout">
            <a:avLst>
              <a:gd name="adj1" fmla="val -28447"/>
              <a:gd name="adj2" fmla="val 85801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很遗憾，这行不通</a:t>
            </a:r>
          </a:p>
        </p:txBody>
      </p:sp>
    </p:spTree>
    <p:extLst>
      <p:ext uri="{BB962C8B-B14F-4D97-AF65-F5344CB8AC3E}">
        <p14:creationId xmlns:p14="http://schemas.microsoft.com/office/powerpoint/2010/main" val="391711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思路：试图用相同的方法处理类型相同但值不同的变量</a:t>
            </a:r>
            <a:endParaRPr lang="en-US" altLang="zh-CN" dirty="0"/>
          </a:p>
          <a:p>
            <a:r>
              <a:rPr lang="zh-CN" altLang="en-US" dirty="0"/>
              <a:t>解决方案：数组</a:t>
            </a:r>
          </a:p>
        </p:txBody>
      </p:sp>
    </p:spTree>
    <p:extLst>
      <p:ext uri="{BB962C8B-B14F-4D97-AF65-F5344CB8AC3E}">
        <p14:creationId xmlns:p14="http://schemas.microsoft.com/office/powerpoint/2010/main" val="302862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数组是</a:t>
            </a:r>
            <a:r>
              <a:rPr lang="zh-CN" altLang="en-US" b="1" dirty="0">
                <a:solidFill>
                  <a:srgbClr val="FF0000"/>
                </a:solidFill>
              </a:rPr>
              <a:t>同类型</a:t>
            </a:r>
            <a:r>
              <a:rPr lang="zh-CN" altLang="en-US" dirty="0"/>
              <a:t>变量的聚合</a:t>
            </a:r>
            <a:endParaRPr lang="en-US" altLang="zh-CN" dirty="0"/>
          </a:p>
          <a:p>
            <a:r>
              <a:rPr lang="zh-CN" altLang="en-US" dirty="0"/>
              <a:t>根据聚合方式，数组有一维数组、二维数组、多维数组</a:t>
            </a:r>
          </a:p>
        </p:txBody>
      </p:sp>
    </p:spTree>
    <p:extLst>
      <p:ext uri="{BB962C8B-B14F-4D97-AF65-F5344CB8AC3E}">
        <p14:creationId xmlns:p14="http://schemas.microsoft.com/office/powerpoint/2010/main" val="259662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780377" y="2910143"/>
            <a:ext cx="25356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 err="1">
                <a:latin typeface="Consolas" panose="020B0609020204030204" pitchFamily="49" charset="0"/>
              </a:rPr>
              <a:t>int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6054" y="2910143"/>
            <a:ext cx="11196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a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4241" y="2910143"/>
            <a:ext cx="25356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[  ]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49918" y="2910143"/>
            <a:ext cx="11269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;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22250" y="2995220"/>
            <a:ext cx="19093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10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5200145" y="4749454"/>
            <a:ext cx="1395570" cy="739897"/>
          </a:xfrm>
          <a:prstGeom prst="wedgeRectCallout">
            <a:avLst>
              <a:gd name="adj1" fmla="val 6676"/>
              <a:gd name="adj2" fmla="val -13089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数组名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6435700" y="1947638"/>
            <a:ext cx="1618428" cy="739897"/>
          </a:xfrm>
          <a:prstGeom prst="wedgeRectCallout">
            <a:avLst>
              <a:gd name="adj1" fmla="val -42340"/>
              <a:gd name="adj2" fmla="val 10306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数组维度</a:t>
            </a:r>
          </a:p>
        </p:txBody>
      </p:sp>
      <p:sp>
        <p:nvSpPr>
          <p:cNvPr id="11" name="矩形标注 10"/>
          <p:cNvSpPr/>
          <p:nvPr/>
        </p:nvSpPr>
        <p:spPr>
          <a:xfrm>
            <a:off x="7131490" y="4749455"/>
            <a:ext cx="1618428" cy="739897"/>
          </a:xfrm>
          <a:prstGeom prst="wedgeRectCallout">
            <a:avLst>
              <a:gd name="adj1" fmla="val -19913"/>
              <a:gd name="adj2" fmla="val -133725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此维长度</a:t>
            </a:r>
          </a:p>
        </p:txBody>
      </p:sp>
      <p:sp>
        <p:nvSpPr>
          <p:cNvPr id="12" name="矩形标注 11"/>
          <p:cNvSpPr/>
          <p:nvPr/>
        </p:nvSpPr>
        <p:spPr>
          <a:xfrm>
            <a:off x="3420274" y="1947638"/>
            <a:ext cx="1794590" cy="739897"/>
          </a:xfrm>
          <a:prstGeom prst="wedgeRectCallout">
            <a:avLst>
              <a:gd name="adj1" fmla="val -23363"/>
              <a:gd name="adj2" fmla="val 11438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数组基类型</a:t>
            </a:r>
          </a:p>
        </p:txBody>
      </p:sp>
    </p:spTree>
    <p:extLst>
      <p:ext uri="{BB962C8B-B14F-4D97-AF65-F5344CB8AC3E}">
        <p14:creationId xmlns:p14="http://schemas.microsoft.com/office/powerpoint/2010/main" val="9676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一维数组的类型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在定义一维数组的同时，也定义了一种“一维数组类型”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792660" y="2592892"/>
            <a:ext cx="25356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 err="1">
                <a:latin typeface="Consolas" panose="020B0609020204030204" pitchFamily="49" charset="0"/>
              </a:rPr>
              <a:t>int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8337" y="2592892"/>
            <a:ext cx="11196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a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6524" y="2592892"/>
            <a:ext cx="25356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[  ]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62201" y="2592892"/>
            <a:ext cx="11269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;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34533" y="2677969"/>
            <a:ext cx="19093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onsolas" panose="020B0609020204030204" pitchFamily="49" charset="0"/>
              </a:rPr>
              <a:t>10</a:t>
            </a:r>
            <a:endParaRPr lang="zh-CN" altLang="en-US" sz="8800" dirty="0">
              <a:latin typeface="Consolas" panose="020B0609020204030204" pitchFamily="49" charset="0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3815607" y="4168209"/>
            <a:ext cx="5510093" cy="1655985"/>
          </a:xfrm>
          <a:prstGeom prst="wedgeRectCallout">
            <a:avLst>
              <a:gd name="adj1" fmla="val -12440"/>
              <a:gd name="adj2" fmla="val -6526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该类型的三个约束：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buAutoNum type="arabicPeriod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维度（方括号的对数）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buAutoNum type="arabicPeriod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每维的长度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buAutoNum type="arabicPeriod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基类型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三个约束全相同时，两种数组类型才是相同的</a:t>
            </a:r>
          </a:p>
        </p:txBody>
      </p:sp>
    </p:spTree>
    <p:extLst>
      <p:ext uri="{BB962C8B-B14F-4D97-AF65-F5344CB8AC3E}">
        <p14:creationId xmlns:p14="http://schemas.microsoft.com/office/powerpoint/2010/main" val="110923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0.07787 -4.81481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以下哪些数组的类型是相同的？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	a[10];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	b[15];</a:t>
            </a:r>
          </a:p>
          <a:p>
            <a:pPr marL="0" indent="0">
              <a:buNone/>
            </a:pPr>
            <a:r>
              <a:rPr lang="en-US" altLang="zh-CN" dirty="0"/>
              <a:t>char 	c[10];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	d[10];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	e[10][10];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869654" y="1720026"/>
            <a:ext cx="502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98771" y="3198167"/>
            <a:ext cx="502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63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一维数组的顺序存储结构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a[10];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89295"/>
              </p:ext>
            </p:extLst>
          </p:nvPr>
        </p:nvGraphicFramePr>
        <p:xfrm>
          <a:off x="1203300" y="2711978"/>
          <a:ext cx="9785400" cy="991181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978540">
                  <a:extLst>
                    <a:ext uri="{9D8B030D-6E8A-4147-A177-3AD203B41FA5}">
                      <a16:colId xmlns:a16="http://schemas.microsoft.com/office/drawing/2014/main" val="3022745723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1170523060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3129556380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2010725547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923211149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52647783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2736322489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1116430750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1134173636"/>
                    </a:ext>
                  </a:extLst>
                </a:gridCol>
                <a:gridCol w="978540">
                  <a:extLst>
                    <a:ext uri="{9D8B030D-6E8A-4147-A177-3AD203B41FA5}">
                      <a16:colId xmlns:a16="http://schemas.microsoft.com/office/drawing/2014/main" val="724477423"/>
                    </a:ext>
                  </a:extLst>
                </a:gridCol>
              </a:tblGrid>
              <a:tr h="99118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a[0]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a[1]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a[2]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a[3]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a[5]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a[6]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a[7]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a[8]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a[9]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37663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203300" y="3855558"/>
            <a:ext cx="962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1000</a:t>
            </a:r>
          </a:p>
          <a:p>
            <a:pPr algn="ctr"/>
            <a:r>
              <a:rPr lang="zh-CN" altLang="en-US" sz="1400" dirty="0">
                <a:solidFill>
                  <a:schemeClr val="tx1">
                    <a:lumMod val="65000"/>
                  </a:schemeClr>
                </a:solidFill>
                <a:latin typeface="Consolas" panose="020B0609020204030204" pitchFamily="49" charset="0"/>
              </a:rPr>
              <a:t>地址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33515" y="3855558"/>
            <a:ext cx="96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1016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3B74C6-A199-5A01-F79F-1AECFA219B92}"/>
              </a:ext>
            </a:extLst>
          </p:cNvPr>
          <p:cNvSpPr txBox="1"/>
          <p:nvPr/>
        </p:nvSpPr>
        <p:spPr>
          <a:xfrm>
            <a:off x="3914745" y="4302015"/>
            <a:ext cx="340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1000 + 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(int) * 4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7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一维数组的使用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a[10];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sz="4000" dirty="0"/>
              <a:t> a</a:t>
            </a:r>
            <a:r>
              <a:rPr lang="en-US" altLang="zh-CN" dirty="0"/>
              <a:t>		</a:t>
            </a:r>
            <a:r>
              <a:rPr lang="zh-CN" altLang="en-US" dirty="0"/>
              <a:t>数组，其类型为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i="1" dirty="0">
                <a:solidFill>
                  <a:srgbClr val="FF0000"/>
                </a:solidFill>
              </a:rPr>
              <a:t> [10]</a:t>
            </a:r>
          </a:p>
          <a:p>
            <a:r>
              <a:rPr lang="en-US" altLang="zh-CN" sz="4000" dirty="0"/>
              <a:t> a[</a:t>
            </a:r>
            <a:r>
              <a:rPr lang="en-US" altLang="zh-CN" sz="4000" dirty="0" err="1"/>
              <a:t>i</a:t>
            </a:r>
            <a:r>
              <a:rPr lang="en-US" altLang="zh-CN" sz="4000" dirty="0"/>
              <a:t>]</a:t>
            </a:r>
            <a:r>
              <a:rPr lang="en-US" altLang="zh-CN" dirty="0"/>
              <a:t>	</a:t>
            </a:r>
            <a:r>
              <a:rPr lang="zh-CN" altLang="en-US" dirty="0"/>
              <a:t>数组元素，其类型为数组的基类型，即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endParaRPr lang="en-US" altLang="zh-CN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4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定义一个长度为</a:t>
            </a:r>
            <a:r>
              <a:rPr lang="en-US" altLang="zh-CN" dirty="0"/>
              <a:t>5</a:t>
            </a:r>
            <a:r>
              <a:rPr lang="zh-CN" altLang="en-US" dirty="0"/>
              <a:t>的一维数组，从键盘读入每一个元素的值，然后将这些元素打印在一行。例如：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输入：</a:t>
            </a:r>
            <a:r>
              <a:rPr lang="en-US" altLang="zh-CN" dirty="0"/>
              <a:t>1 3 5 7 9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输出：</a:t>
            </a:r>
            <a:r>
              <a:rPr lang="en-US" altLang="zh-CN" dirty="0"/>
              <a:t>	1	3	5	7	9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提示：注意数组下标的陷阱！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C5664443-3441-DF74-CE7F-9B4B5C782A32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arr-io.c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069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a[5] = </a:t>
            </a:r>
            <a:r>
              <a:rPr lang="en-US" altLang="zh-CN" sz="2800" b="1" dirty="0">
                <a:solidFill>
                  <a:srgbClr val="FF0000"/>
                </a:solidFill>
              </a:rPr>
              <a:t>{1, 2, 3, 4, 5}</a:t>
            </a:r>
            <a:r>
              <a:rPr lang="en-US" altLang="zh-CN" sz="2800" dirty="0"/>
              <a:t>;</a:t>
            </a:r>
          </a:p>
          <a:p>
            <a:pPr marL="0" indent="0"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b[100] =  { [5] = 1, [50] = -3, [97] = 0 };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//C99</a:t>
            </a:r>
          </a:p>
          <a:p>
            <a:pPr marL="0" indent="0"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c[20] = {1, 1};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请问从下标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开始的元素的值？</a:t>
            </a:r>
            <a:endParaRPr lang="en-US" altLang="zh-CN" sz="2800" dirty="0">
              <a:solidFill>
                <a:schemeClr val="tx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d[ ] = {1, 2, 3, 4, 5};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请问数组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d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的长度是？</a:t>
            </a:r>
            <a:endParaRPr lang="en-US" altLang="zh-CN" sz="2800" dirty="0">
              <a:solidFill>
                <a:schemeClr val="tx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e[5] = {1, 2, 3, 4, 5, 6};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这个是正确的还是错的？</a:t>
            </a:r>
          </a:p>
        </p:txBody>
      </p:sp>
    </p:spTree>
    <p:extLst>
      <p:ext uri="{BB962C8B-B14F-4D97-AF65-F5344CB8AC3E}">
        <p14:creationId xmlns:p14="http://schemas.microsoft.com/office/powerpoint/2010/main" val="230063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设计一个算法，找出数组中的：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）最大值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）最大值的位置（下标）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C29F7E1D-732F-9352-CC74-FE7591FF94C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findmax.c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19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设计一个算法，对一个乱序的数组进行（升序）排序。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277C33E1-EBA0-ADF1-F458-BD89ACF8BE9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sort-*.c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39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挑战：课后练习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利用一维数组来完成两个</a:t>
            </a:r>
            <a:r>
              <a:rPr lang="en-US" altLang="zh-CN" dirty="0"/>
              <a:t>n</a:t>
            </a:r>
            <a:r>
              <a:rPr lang="zh-CN" altLang="en-US" dirty="0"/>
              <a:t>位十进制正整数的加法。左右操作数和结果都用数组表示。</a:t>
            </a:r>
            <a:endParaRPr lang="en-US" altLang="zh-CN" dirty="0"/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从键盘读入</a:t>
            </a:r>
            <a:r>
              <a:rPr lang="en-US" altLang="zh-CN" dirty="0"/>
              <a:t>n</a:t>
            </a:r>
            <a:r>
              <a:rPr lang="zh-CN" altLang="en-US" dirty="0"/>
              <a:t>位十进制整数到数组中，每个元素存一个位的数字。最高位存在</a:t>
            </a:r>
            <a:r>
              <a:rPr lang="en-US" altLang="zh-CN" dirty="0"/>
              <a:t>0</a:t>
            </a:r>
            <a:r>
              <a:rPr lang="zh-CN" altLang="en-US" dirty="0"/>
              <a:t>元素处。</a:t>
            </a:r>
            <a:endParaRPr lang="en-US" altLang="zh-CN" dirty="0"/>
          </a:p>
          <a:p>
            <a:pPr lvl="1"/>
            <a:r>
              <a:rPr lang="zh-CN" altLang="en-US" dirty="0"/>
              <a:t>输出时，最高位在左边。</a:t>
            </a:r>
            <a:endParaRPr lang="en-US" altLang="zh-CN" dirty="0"/>
          </a:p>
          <a:p>
            <a:pPr lvl="1"/>
            <a:r>
              <a:rPr lang="zh-CN" altLang="en-US" dirty="0"/>
              <a:t>如最高位有进位，则舍去。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7957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CN" sz="4800" dirty="0" err="1">
                <a:latin typeface="Consolas" panose="020B0609020204030204" pitchFamily="49" charset="0"/>
              </a:rPr>
              <a:t>int</a:t>
            </a:r>
            <a:r>
              <a:rPr lang="en-US" altLang="zh-CN" sz="4800" dirty="0">
                <a:latin typeface="Consolas" panose="020B0609020204030204" pitchFamily="49" charset="0"/>
              </a:rPr>
              <a:t> a[4][5];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行</a:t>
            </a:r>
            <a:r>
              <a:rPr lang="en-US" altLang="zh-CN" dirty="0"/>
              <a:t>5</a:t>
            </a:r>
            <a:r>
              <a:rPr lang="zh-CN" altLang="en-US" dirty="0"/>
              <a:t>列共</a:t>
            </a:r>
            <a:r>
              <a:rPr lang="en-US" altLang="zh-CN" dirty="0"/>
              <a:t>20</a:t>
            </a:r>
            <a:r>
              <a:rPr lang="zh-CN" altLang="en-US" dirty="0"/>
              <a:t>个元素。</a:t>
            </a:r>
            <a:endParaRPr lang="en-US" altLang="zh-CN" dirty="0"/>
          </a:p>
          <a:p>
            <a:r>
              <a:rPr lang="zh-CN" altLang="en-US" dirty="0"/>
              <a:t>按行序存储。例如：</a:t>
            </a:r>
            <a:r>
              <a:rPr lang="en-US" altLang="zh-CN" dirty="0"/>
              <a:t>a[1][0]</a:t>
            </a:r>
            <a:r>
              <a:rPr lang="zh-CN" altLang="en-US" dirty="0"/>
              <a:t>紧接在</a:t>
            </a:r>
            <a:r>
              <a:rPr lang="en-US" altLang="zh-CN" dirty="0"/>
              <a:t>a[0][4]</a:t>
            </a:r>
            <a:r>
              <a:rPr lang="zh-CN" altLang="en-US" dirty="0"/>
              <a:t>之后。</a:t>
            </a:r>
          </a:p>
        </p:txBody>
      </p:sp>
    </p:spTree>
    <p:extLst>
      <p:ext uri="{BB962C8B-B14F-4D97-AF65-F5344CB8AC3E}">
        <p14:creationId xmlns:p14="http://schemas.microsoft.com/office/powerpoint/2010/main" val="146215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二维数组的理解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视角一：类似矩阵的数阵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6000" dirty="0" err="1"/>
              <a:t>int</a:t>
            </a:r>
            <a:r>
              <a:rPr lang="en-US" altLang="zh-CN" sz="6000" dirty="0"/>
              <a:t>  [4][5]</a:t>
            </a:r>
            <a:endParaRPr lang="zh-CN" altLang="en-US" sz="5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535886"/>
              </p:ext>
            </p:extLst>
          </p:nvPr>
        </p:nvGraphicFramePr>
        <p:xfrm>
          <a:off x="6952033" y="2165604"/>
          <a:ext cx="4280170" cy="338522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56034">
                  <a:extLst>
                    <a:ext uri="{9D8B030D-6E8A-4147-A177-3AD203B41FA5}">
                      <a16:colId xmlns:a16="http://schemas.microsoft.com/office/drawing/2014/main" val="321939312"/>
                    </a:ext>
                  </a:extLst>
                </a:gridCol>
                <a:gridCol w="856034">
                  <a:extLst>
                    <a:ext uri="{9D8B030D-6E8A-4147-A177-3AD203B41FA5}">
                      <a16:colId xmlns:a16="http://schemas.microsoft.com/office/drawing/2014/main" val="1042071418"/>
                    </a:ext>
                  </a:extLst>
                </a:gridCol>
                <a:gridCol w="856034">
                  <a:extLst>
                    <a:ext uri="{9D8B030D-6E8A-4147-A177-3AD203B41FA5}">
                      <a16:colId xmlns:a16="http://schemas.microsoft.com/office/drawing/2014/main" val="93665220"/>
                    </a:ext>
                  </a:extLst>
                </a:gridCol>
                <a:gridCol w="856034">
                  <a:extLst>
                    <a:ext uri="{9D8B030D-6E8A-4147-A177-3AD203B41FA5}">
                      <a16:colId xmlns:a16="http://schemas.microsoft.com/office/drawing/2014/main" val="1159948943"/>
                    </a:ext>
                  </a:extLst>
                </a:gridCol>
                <a:gridCol w="856034">
                  <a:extLst>
                    <a:ext uri="{9D8B030D-6E8A-4147-A177-3AD203B41FA5}">
                      <a16:colId xmlns:a16="http://schemas.microsoft.com/office/drawing/2014/main" val="403440045"/>
                    </a:ext>
                  </a:extLst>
                </a:gridCol>
              </a:tblGrid>
              <a:tr h="8463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a[0][0]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latin typeface="Consolas" panose="020B0609020204030204" pitchFamily="49" charset="0"/>
                        </a:rPr>
                        <a:t>a[0][4]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07815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latin typeface="Consolas" panose="020B0609020204030204" pitchFamily="49" charset="0"/>
                        </a:rPr>
                        <a:t>a[1][0]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900270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algn="ctr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14356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algn="ctr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latin typeface="Consolas" panose="020B0609020204030204" pitchFamily="49" charset="0"/>
                        </a:rPr>
                        <a:t>a[3][4]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tint val="20000"/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1775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239968" y="2165604"/>
            <a:ext cx="8560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Consolas" panose="020B0609020204030204" pitchFamily="49" charset="0"/>
              </a:rPr>
              <a:t>;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70308" y="2121716"/>
            <a:ext cx="8560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Consolas" panose="020B0609020204030204" pitchFamily="49" charset="0"/>
              </a:rPr>
              <a:t>a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5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二维数组的理解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视角二：元素为一维数组的一维数组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6000" dirty="0" err="1"/>
              <a:t>int</a:t>
            </a:r>
            <a:r>
              <a:rPr lang="en-US" altLang="zh-CN" sz="6000" dirty="0"/>
              <a:t>     [5]</a:t>
            </a:r>
            <a:endParaRPr lang="zh-CN" altLang="en-US" sz="5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785315"/>
              </p:ext>
            </p:extLst>
          </p:nvPr>
        </p:nvGraphicFramePr>
        <p:xfrm>
          <a:off x="6952032" y="2165604"/>
          <a:ext cx="4167351" cy="338522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167351">
                  <a:extLst>
                    <a:ext uri="{9D8B030D-6E8A-4147-A177-3AD203B41FA5}">
                      <a16:colId xmlns:a16="http://schemas.microsoft.com/office/drawing/2014/main" val="321939312"/>
                    </a:ext>
                  </a:extLst>
                </a:gridCol>
              </a:tblGrid>
              <a:tr h="84630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a[0]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tint val="20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07815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>
                          <a:latin typeface="Consolas" panose="020B0609020204030204" pitchFamily="49" charset="0"/>
                        </a:rPr>
                        <a:t>a[1]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tint val="20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900270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>
                          <a:latin typeface="Consolas" panose="020B0609020204030204" pitchFamily="49" charset="0"/>
                        </a:rPr>
                        <a:t>a[2]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tint val="20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14356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>
                          <a:latin typeface="Consolas" panose="020B0609020204030204" pitchFamily="49" charset="0"/>
                        </a:rPr>
                        <a:t>a[3]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tint val="20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1775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25389" y="2100038"/>
            <a:ext cx="8560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Consolas" panose="020B0609020204030204" pitchFamily="49" charset="0"/>
              </a:rPr>
              <a:t>;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54594" y="2138948"/>
            <a:ext cx="17671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Consolas" panose="020B0609020204030204" pitchFamily="49" charset="0"/>
              </a:rPr>
              <a:t>a[4]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418543"/>
              </p:ext>
            </p:extLst>
          </p:nvPr>
        </p:nvGraphicFramePr>
        <p:xfrm>
          <a:off x="7001095" y="2180972"/>
          <a:ext cx="4046315" cy="79955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809263">
                  <a:extLst>
                    <a:ext uri="{9D8B030D-6E8A-4147-A177-3AD203B41FA5}">
                      <a16:colId xmlns:a16="http://schemas.microsoft.com/office/drawing/2014/main" val="325559271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117819740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4276427373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3688367716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2196749737"/>
                    </a:ext>
                  </a:extLst>
                </a:gridCol>
              </a:tblGrid>
              <a:tr h="79955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289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80984"/>
              </p:ext>
            </p:extLst>
          </p:nvPr>
        </p:nvGraphicFramePr>
        <p:xfrm>
          <a:off x="7001094" y="3030418"/>
          <a:ext cx="4046315" cy="79955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809263">
                  <a:extLst>
                    <a:ext uri="{9D8B030D-6E8A-4147-A177-3AD203B41FA5}">
                      <a16:colId xmlns:a16="http://schemas.microsoft.com/office/drawing/2014/main" val="325559271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117819740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4276427373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3688367716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2196749737"/>
                    </a:ext>
                  </a:extLst>
                </a:gridCol>
              </a:tblGrid>
              <a:tr h="79955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28901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256544"/>
              </p:ext>
            </p:extLst>
          </p:nvPr>
        </p:nvGraphicFramePr>
        <p:xfrm>
          <a:off x="7001092" y="3879864"/>
          <a:ext cx="4046315" cy="79955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809263">
                  <a:extLst>
                    <a:ext uri="{9D8B030D-6E8A-4147-A177-3AD203B41FA5}">
                      <a16:colId xmlns:a16="http://schemas.microsoft.com/office/drawing/2014/main" val="325559271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117819740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4276427373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3688367716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2196749737"/>
                    </a:ext>
                  </a:extLst>
                </a:gridCol>
              </a:tblGrid>
              <a:tr h="79955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2890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241493"/>
              </p:ext>
            </p:extLst>
          </p:nvPr>
        </p:nvGraphicFramePr>
        <p:xfrm>
          <a:off x="7001095" y="4729309"/>
          <a:ext cx="4046315" cy="79955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809263">
                  <a:extLst>
                    <a:ext uri="{9D8B030D-6E8A-4147-A177-3AD203B41FA5}">
                      <a16:colId xmlns:a16="http://schemas.microsoft.com/office/drawing/2014/main" val="325559271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1178197407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4276427373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3688367716"/>
                    </a:ext>
                  </a:extLst>
                </a:gridCol>
                <a:gridCol w="809263">
                  <a:extLst>
                    <a:ext uri="{9D8B030D-6E8A-4147-A177-3AD203B41FA5}">
                      <a16:colId xmlns:a16="http://schemas.microsoft.com/office/drawing/2014/main" val="2196749737"/>
                    </a:ext>
                  </a:extLst>
                </a:gridCol>
              </a:tblGrid>
              <a:tr h="79955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tint val="20000"/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28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91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二维数组的理解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如果有</a:t>
            </a: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a[4][5];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a</a:t>
            </a:r>
            <a:r>
              <a:rPr lang="zh-CN" altLang="en-US" sz="2800" dirty="0"/>
              <a:t>是一个</a:t>
            </a:r>
            <a:r>
              <a:rPr lang="zh-CN" altLang="en-US" sz="2800" b="1" dirty="0">
                <a:solidFill>
                  <a:srgbClr val="FF0000"/>
                </a:solidFill>
              </a:rPr>
              <a:t>二维数组</a:t>
            </a:r>
            <a:r>
              <a:rPr lang="zh-CN" altLang="en-US" sz="2800" dirty="0"/>
              <a:t>的名字，其类型为：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int</a:t>
            </a:r>
            <a:r>
              <a:rPr lang="en-US" altLang="zh-CN" sz="2800" b="1" i="1" dirty="0">
                <a:solidFill>
                  <a:srgbClr val="FF0000"/>
                </a:solidFill>
              </a:rPr>
              <a:t> [4][5]</a:t>
            </a:r>
          </a:p>
          <a:p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a[</a:t>
            </a:r>
            <a:r>
              <a:rPr lang="en-US" altLang="zh-CN" sz="2800" b="1" dirty="0" err="1">
                <a:solidFill>
                  <a:srgbClr val="FF0000"/>
                </a:solidFill>
              </a:rPr>
              <a:t>i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  <a:r>
              <a:rPr lang="zh-CN" altLang="en-US" sz="2800" dirty="0"/>
              <a:t>是一个</a:t>
            </a:r>
            <a:r>
              <a:rPr lang="zh-CN" altLang="en-US" sz="2800" b="1" dirty="0">
                <a:solidFill>
                  <a:srgbClr val="FF0000"/>
                </a:solidFill>
              </a:rPr>
              <a:t>一维数组</a:t>
            </a:r>
            <a:r>
              <a:rPr lang="zh-CN" altLang="en-US" sz="2800" dirty="0"/>
              <a:t>的名字，其类型为：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int</a:t>
            </a:r>
            <a:r>
              <a:rPr lang="en-US" altLang="zh-CN" sz="2800" b="1" i="1" dirty="0">
                <a:solidFill>
                  <a:srgbClr val="FF0000"/>
                </a:solidFill>
              </a:rPr>
              <a:t> [5]</a:t>
            </a:r>
          </a:p>
          <a:p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a[</a:t>
            </a:r>
            <a:r>
              <a:rPr lang="en-US" altLang="zh-CN" sz="2800" b="1" dirty="0" err="1">
                <a:solidFill>
                  <a:srgbClr val="FF0000"/>
                </a:solidFill>
              </a:rPr>
              <a:t>i</a:t>
            </a:r>
            <a:r>
              <a:rPr lang="en-US" altLang="zh-CN" sz="2800" b="1" dirty="0">
                <a:solidFill>
                  <a:srgbClr val="FF0000"/>
                </a:solidFill>
              </a:rPr>
              <a:t>][j]</a:t>
            </a:r>
            <a:r>
              <a:rPr lang="zh-CN" altLang="en-US" sz="2800" dirty="0"/>
              <a:t>是一个</a:t>
            </a:r>
            <a:r>
              <a:rPr lang="zh-CN" altLang="en-US" sz="2800" b="1" dirty="0">
                <a:solidFill>
                  <a:srgbClr val="FF0000"/>
                </a:solidFill>
              </a:rPr>
              <a:t>整型变量</a:t>
            </a:r>
            <a:r>
              <a:rPr lang="zh-CN" altLang="en-US" sz="2800" dirty="0"/>
              <a:t>的名字，其类型为：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int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89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利用二维数组，计算生成杨辉三角并输出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/>
              <a:t>1  1</a:t>
            </a:r>
          </a:p>
          <a:p>
            <a:pPr marL="0" indent="0">
              <a:buNone/>
            </a:pPr>
            <a:r>
              <a:rPr lang="en-US" altLang="zh-CN" dirty="0"/>
              <a:t>1  2  1</a:t>
            </a:r>
          </a:p>
          <a:p>
            <a:pPr marL="0" indent="0">
              <a:buNone/>
            </a:pPr>
            <a:r>
              <a:rPr lang="en-US" altLang="zh-CN" dirty="0"/>
              <a:t>1  3  3  1</a:t>
            </a:r>
          </a:p>
          <a:p>
            <a:pPr marL="0" indent="0">
              <a:buNone/>
            </a:pPr>
            <a:r>
              <a:rPr lang="en-US" altLang="zh-CN" dirty="0"/>
              <a:t>1  4  6  4  1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483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4</a:t>
            </a:r>
            <a:r>
              <a:rPr lang="zh-CN" altLang="en-US" dirty="0"/>
              <a:t>提示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696992" y="1337644"/>
            <a:ext cx="51513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latin typeface="Consolas" panose="020B0609020204030204" pitchFamily="49" charset="0"/>
              </a:rPr>
              <a:t>1</a:t>
            </a:r>
          </a:p>
          <a:p>
            <a:r>
              <a:rPr lang="en-US" altLang="zh-CN" sz="5400" dirty="0">
                <a:latin typeface="Consolas" panose="020B0609020204030204" pitchFamily="49" charset="0"/>
              </a:rPr>
              <a:t>1  1</a:t>
            </a:r>
          </a:p>
          <a:p>
            <a:r>
              <a:rPr lang="en-US" altLang="zh-CN" sz="5400" dirty="0">
                <a:latin typeface="Consolas" panose="020B0609020204030204" pitchFamily="49" charset="0"/>
              </a:rPr>
              <a:t>1  2  1</a:t>
            </a:r>
          </a:p>
          <a:p>
            <a:r>
              <a:rPr lang="en-US" altLang="zh-CN" sz="5400" dirty="0">
                <a:latin typeface="Consolas" panose="020B0609020204030204" pitchFamily="49" charset="0"/>
              </a:rPr>
              <a:t>1  3  3  1</a:t>
            </a:r>
          </a:p>
          <a:p>
            <a:r>
              <a:rPr lang="en-US" altLang="zh-CN" sz="5400" dirty="0">
                <a:latin typeface="Consolas" panose="020B0609020204030204" pitchFamily="49" charset="0"/>
              </a:rPr>
              <a:t>1  4  6  4  1</a:t>
            </a:r>
            <a:endParaRPr lang="zh-CN" altLang="en-US" sz="54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76052" y="1330664"/>
            <a:ext cx="51513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tx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0  0  0  0</a:t>
            </a:r>
          </a:p>
          <a:p>
            <a:r>
              <a:rPr lang="en-US" altLang="zh-CN" sz="5400" dirty="0">
                <a:solidFill>
                  <a:schemeClr val="tx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   0  0  0</a:t>
            </a:r>
          </a:p>
          <a:p>
            <a:r>
              <a:rPr lang="en-US" altLang="zh-CN" sz="5400" dirty="0">
                <a:solidFill>
                  <a:schemeClr val="tx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      0  0</a:t>
            </a:r>
          </a:p>
          <a:p>
            <a:r>
              <a:rPr lang="en-US" altLang="zh-CN" sz="5400" dirty="0">
                <a:solidFill>
                  <a:schemeClr val="tx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         0</a:t>
            </a:r>
          </a:p>
        </p:txBody>
      </p:sp>
      <p:sp>
        <p:nvSpPr>
          <p:cNvPr id="6" name="矩形 5"/>
          <p:cNvSpPr/>
          <p:nvPr/>
        </p:nvSpPr>
        <p:spPr>
          <a:xfrm>
            <a:off x="3641151" y="1428386"/>
            <a:ext cx="663115" cy="4083389"/>
          </a:xfrm>
          <a:prstGeom prst="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760885" y="3948222"/>
            <a:ext cx="691035" cy="670094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766703" y="3123402"/>
            <a:ext cx="691035" cy="670094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634753" y="3122240"/>
            <a:ext cx="691035" cy="670094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885270" y="3122240"/>
            <a:ext cx="691035" cy="670094"/>
          </a:xfrm>
          <a:prstGeom prst="ellipse">
            <a:avLst/>
          </a:prstGeom>
          <a:noFill/>
          <a:ln w="3810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B96C8D5F-30FA-4F9F-49A3-9A6DF75054F0}"/>
              </a:ext>
            </a:extLst>
          </p:cNvPr>
          <p:cNvSpPr/>
          <p:nvPr/>
        </p:nvSpPr>
        <p:spPr>
          <a:xfrm>
            <a:off x="0" y="6127498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yh.c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69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FF33-B8CB-D598-1FE2-DFF10E3E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1CFD1-A927-C2A3-E7EE-6D41856A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6C71C-C858-28D0-2FC4-4656BE43F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一个右上角全是</a:t>
            </a:r>
            <a:r>
              <a:rPr lang="en-US" altLang="zh-CN" dirty="0"/>
              <a:t>0</a:t>
            </a:r>
            <a:r>
              <a:rPr lang="zh-CN" altLang="en-US" dirty="0"/>
              <a:t>值的下三角方阵可以压缩到一个一维数组中存储，例如：</a:t>
            </a:r>
          </a:p>
          <a:p>
            <a:pPr marL="0" indent="0">
              <a:buNone/>
            </a:pPr>
            <a:r>
              <a:rPr lang="en-US" altLang="zh-CN" sz="2000" dirty="0"/>
              <a:t>1  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0  0  0</a:t>
            </a:r>
          </a:p>
          <a:p>
            <a:pPr marL="0" indent="0">
              <a:buNone/>
            </a:pPr>
            <a:r>
              <a:rPr lang="en-US" altLang="zh-CN" sz="2000" dirty="0"/>
              <a:t>2  3  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0  0		</a:t>
            </a:r>
            <a:r>
              <a:rPr lang="en-US" altLang="zh-CN" sz="2000" dirty="0"/>
              <a:t>==&gt;   [1,2,3,4,5,6,7,8,9,10]</a:t>
            </a:r>
          </a:p>
          <a:p>
            <a:pPr marL="0" indent="0">
              <a:buNone/>
            </a:pPr>
            <a:r>
              <a:rPr lang="en-US" altLang="zh-CN" sz="2000" dirty="0"/>
              <a:t>4  5  6  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0</a:t>
            </a:r>
          </a:p>
          <a:p>
            <a:pPr marL="0" indent="0">
              <a:buNone/>
            </a:pPr>
            <a:r>
              <a:rPr lang="en-US" altLang="zh-CN" sz="2000"/>
              <a:t>7  8  </a:t>
            </a:r>
            <a:r>
              <a:rPr lang="en-US" altLang="zh-CN" sz="2000" dirty="0"/>
              <a:t>9  10</a:t>
            </a:r>
          </a:p>
          <a:p>
            <a:pPr marL="0" indent="0">
              <a:buNone/>
            </a:pPr>
            <a:r>
              <a:rPr lang="zh-CN" altLang="en-US" sz="2000" dirty="0"/>
              <a:t>现给出压缩的一维数组，请还原二维数组并输出它。</a:t>
            </a:r>
            <a:endParaRPr lang="en-US" altLang="zh-CN" sz="2000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86E9C59F-CDA0-45C4-5412-1F368FF56AF9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arr-restore.c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14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挑战：课后练习</a:t>
            </a:r>
            <a:r>
              <a:rPr lang="en-US" altLang="zh-CN" dirty="0"/>
              <a:t>1</a:t>
            </a:r>
            <a:r>
              <a:rPr lang="zh-CN" altLang="en-US" dirty="0"/>
              <a:t>：填充方阵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生成</a:t>
            </a:r>
            <a:r>
              <a:rPr lang="zh-CN" altLang="en-US" dirty="0"/>
              <a:t>此方阵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286698"/>
              </p:ext>
            </p:extLst>
          </p:nvPr>
        </p:nvGraphicFramePr>
        <p:xfrm>
          <a:off x="3654673" y="1765754"/>
          <a:ext cx="4879475" cy="45091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75895">
                  <a:extLst>
                    <a:ext uri="{9D8B030D-6E8A-4147-A177-3AD203B41FA5}">
                      <a16:colId xmlns:a16="http://schemas.microsoft.com/office/drawing/2014/main" val="3443667707"/>
                    </a:ext>
                  </a:extLst>
                </a:gridCol>
                <a:gridCol w="975895">
                  <a:extLst>
                    <a:ext uri="{9D8B030D-6E8A-4147-A177-3AD203B41FA5}">
                      <a16:colId xmlns:a16="http://schemas.microsoft.com/office/drawing/2014/main" val="3164456161"/>
                    </a:ext>
                  </a:extLst>
                </a:gridCol>
                <a:gridCol w="975895">
                  <a:extLst>
                    <a:ext uri="{9D8B030D-6E8A-4147-A177-3AD203B41FA5}">
                      <a16:colId xmlns:a16="http://schemas.microsoft.com/office/drawing/2014/main" val="3195453816"/>
                    </a:ext>
                  </a:extLst>
                </a:gridCol>
                <a:gridCol w="975895">
                  <a:extLst>
                    <a:ext uri="{9D8B030D-6E8A-4147-A177-3AD203B41FA5}">
                      <a16:colId xmlns:a16="http://schemas.microsoft.com/office/drawing/2014/main" val="3757745962"/>
                    </a:ext>
                  </a:extLst>
                </a:gridCol>
                <a:gridCol w="975895">
                  <a:extLst>
                    <a:ext uri="{9D8B030D-6E8A-4147-A177-3AD203B41FA5}">
                      <a16:colId xmlns:a16="http://schemas.microsoft.com/office/drawing/2014/main" val="1212639903"/>
                    </a:ext>
                  </a:extLst>
                </a:gridCol>
              </a:tblGrid>
              <a:tr h="9018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427251"/>
                  </a:ext>
                </a:extLst>
              </a:tr>
              <a:tr h="9018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16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17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18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19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245774"/>
                  </a:ext>
                </a:extLst>
              </a:tr>
              <a:tr h="9018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15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24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25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20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525088"/>
                  </a:ext>
                </a:extLst>
              </a:tr>
              <a:tr h="9018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14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23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22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21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465396"/>
                  </a:ext>
                </a:extLst>
              </a:tr>
              <a:tr h="9018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13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12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11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10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effectLst/>
                          <a:latin typeface="Consolas" panose="020B0609020204030204" pitchFamily="49" charset="0"/>
                        </a:rPr>
                        <a:t>9</a:t>
                      </a:r>
                      <a:endParaRPr lang="zh-CN" altLang="en-US" sz="2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425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91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观察数组中数的走向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015591"/>
              </p:ext>
            </p:extLst>
          </p:nvPr>
        </p:nvGraphicFramePr>
        <p:xfrm>
          <a:off x="3794258" y="1731371"/>
          <a:ext cx="4691820" cy="3983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970">
                  <a:extLst>
                    <a:ext uri="{9D8B030D-6E8A-4147-A177-3AD203B41FA5}">
                      <a16:colId xmlns:a16="http://schemas.microsoft.com/office/drawing/2014/main" val="2315454680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24932443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767823622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4075926231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89598989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605369777"/>
                    </a:ext>
                  </a:extLst>
                </a:gridCol>
              </a:tblGrid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6580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62815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2965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91251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09021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42309"/>
                  </a:ext>
                </a:extLst>
              </a:tr>
            </a:tbl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450053" y="1567326"/>
            <a:ext cx="3028773" cy="1781532"/>
            <a:chOff x="33818" y="1850860"/>
            <a:chExt cx="3028773" cy="1781532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913795" y="2750289"/>
              <a:ext cx="12546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V="1">
              <a:off x="1548204" y="2176130"/>
              <a:ext cx="0" cy="11483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1034297" y="1850860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North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26603" y="3307122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South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034777" y="2587653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East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3818" y="2584903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West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>
          <a:xfrm>
            <a:off x="3794258" y="1567326"/>
            <a:ext cx="46034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794257" y="1235365"/>
            <a:ext cx="2888099" cy="325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1. Steps Towards East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8688365" y="2410047"/>
            <a:ext cx="0" cy="3304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801510" y="2410047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2. Diverts Towards South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620073" y="1717756"/>
            <a:ext cx="2410316" cy="325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Meets boundary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8486078" y="1934347"/>
            <a:ext cx="315432" cy="14963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3794257" y="5890438"/>
            <a:ext cx="38379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301417" y="5767186"/>
            <a:ext cx="3589165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3. Diverts Towards West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3591826" y="2464004"/>
            <a:ext cx="0" cy="2462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356212" y="4204200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4. Diverts Towards North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991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观察数组中数的走向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450266"/>
              </p:ext>
            </p:extLst>
          </p:nvPr>
        </p:nvGraphicFramePr>
        <p:xfrm>
          <a:off x="3675735" y="1752636"/>
          <a:ext cx="4691820" cy="3983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970">
                  <a:extLst>
                    <a:ext uri="{9D8B030D-6E8A-4147-A177-3AD203B41FA5}">
                      <a16:colId xmlns:a16="http://schemas.microsoft.com/office/drawing/2014/main" val="2315454680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24932443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767823622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4075926231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89598989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605369777"/>
                    </a:ext>
                  </a:extLst>
                </a:gridCol>
              </a:tblGrid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86580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62815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2965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91251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09021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042309"/>
                  </a:ext>
                </a:extLst>
              </a:tr>
            </a:tbl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331530" y="1588591"/>
            <a:ext cx="3028773" cy="1781532"/>
            <a:chOff x="33818" y="1850860"/>
            <a:chExt cx="3028773" cy="1781532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913795" y="2750289"/>
              <a:ext cx="12546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V="1">
              <a:off x="1548204" y="2176130"/>
              <a:ext cx="0" cy="11483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1034297" y="1850860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North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26603" y="3307122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South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034777" y="2587653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East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3818" y="2584903"/>
              <a:ext cx="1027814" cy="325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West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>
          <a:xfrm>
            <a:off x="4465675" y="1588591"/>
            <a:ext cx="35512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285334" y="1261912"/>
            <a:ext cx="3192899" cy="325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5. Diverts Towards East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8569842" y="3153531"/>
            <a:ext cx="0" cy="1815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576721" y="3044853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6. Diverts Towards South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486002" y="2382488"/>
            <a:ext cx="2410316" cy="325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Grid is taken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8156811" y="2614824"/>
            <a:ext cx="689478" cy="9293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24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策略：做一圈边界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703437"/>
              </p:ext>
            </p:extLst>
          </p:nvPr>
        </p:nvGraphicFramePr>
        <p:xfrm>
          <a:off x="2877876" y="1353884"/>
          <a:ext cx="6436248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531">
                  <a:extLst>
                    <a:ext uri="{9D8B030D-6E8A-4147-A177-3AD203B41FA5}">
                      <a16:colId xmlns:a16="http://schemas.microsoft.com/office/drawing/2014/main" val="10564941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3699373530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2394811561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50963931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27398905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115260296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4017620515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81090080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57999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5458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79548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867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74624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457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5345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44660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9469856" y="2548666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所有的转向条件都归结为格子已被占</a:t>
            </a:r>
          </a:p>
        </p:txBody>
      </p:sp>
    </p:spTree>
    <p:extLst>
      <p:ext uri="{BB962C8B-B14F-4D97-AF65-F5344CB8AC3E}">
        <p14:creationId xmlns:p14="http://schemas.microsoft.com/office/powerpoint/2010/main" val="220114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在格子中填数：正常情况下的下标变化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112273"/>
              </p:ext>
            </p:extLst>
          </p:nvPr>
        </p:nvGraphicFramePr>
        <p:xfrm>
          <a:off x="2872551" y="1339709"/>
          <a:ext cx="6436248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531">
                  <a:extLst>
                    <a:ext uri="{9D8B030D-6E8A-4147-A177-3AD203B41FA5}">
                      <a16:colId xmlns:a16="http://schemas.microsoft.com/office/drawing/2014/main" val="10564941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3699373530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2394811561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50963931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27398905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115260296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4017620515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81090080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57999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5458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79548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867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74624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457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5345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44660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87728" y="1826052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当前格子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, j)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接箭头连接符 4"/>
          <p:cNvCxnSpPr>
            <a:stCxn id="6" idx="3"/>
          </p:cNvCxnSpPr>
          <p:nvPr/>
        </p:nvCxnSpPr>
        <p:spPr>
          <a:xfrm flipV="1">
            <a:off x="2716607" y="2187161"/>
            <a:ext cx="273435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370828" y="1826051"/>
            <a:ext cx="2296632" cy="888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下一个格子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, ++j)</a:t>
            </a:r>
          </a:p>
          <a:p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6684335" y="2187161"/>
            <a:ext cx="26864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49757" y="1284387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当前方向：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East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75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在格子中填数：格子被占后的下标变化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53520"/>
              </p:ext>
            </p:extLst>
          </p:nvPr>
        </p:nvGraphicFramePr>
        <p:xfrm>
          <a:off x="2872551" y="1318443"/>
          <a:ext cx="6436248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531">
                  <a:extLst>
                    <a:ext uri="{9D8B030D-6E8A-4147-A177-3AD203B41FA5}">
                      <a16:colId xmlns:a16="http://schemas.microsoft.com/office/drawing/2014/main" val="10564941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3699373530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2394811561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50963931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273989057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115260296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4017620515"/>
                    </a:ext>
                  </a:extLst>
                </a:gridCol>
                <a:gridCol w="804531">
                  <a:extLst>
                    <a:ext uri="{9D8B030D-6E8A-4147-A177-3AD203B41FA5}">
                      <a16:colId xmlns:a16="http://schemas.microsoft.com/office/drawing/2014/main" val="181090080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57999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5458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79548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867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74624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457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5345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44660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8822947" y="1225909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当前格子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, j)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279219" y="1638207"/>
            <a:ext cx="1226289" cy="566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505508" y="2830733"/>
            <a:ext cx="2296632" cy="904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下一个格子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(++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, --j)</a:t>
            </a:r>
          </a:p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当前方向：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South</a:t>
            </a:r>
          </a:p>
          <a:p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279220" y="2830734"/>
            <a:ext cx="1339345" cy="3048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49757" y="1263121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当前方向：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East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28038" y="1715197"/>
            <a:ext cx="260350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步进后的格子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, ++j)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9058940" y="2108512"/>
            <a:ext cx="446568" cy="637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AB906F26-0E30-9598-158B-DB883ECBA2DE}"/>
              </a:ext>
            </a:extLst>
          </p:cNvPr>
          <p:cNvSpPr/>
          <p:nvPr/>
        </p:nvSpPr>
        <p:spPr>
          <a:xfrm>
            <a:off x="0" y="6141675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spiral*.c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32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挑战：课后练习：填充奇阶幻方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601733"/>
              </p:ext>
            </p:extLst>
          </p:nvPr>
        </p:nvGraphicFramePr>
        <p:xfrm>
          <a:off x="4135750" y="2099966"/>
          <a:ext cx="3909850" cy="3319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970">
                  <a:extLst>
                    <a:ext uri="{9D8B030D-6E8A-4147-A177-3AD203B41FA5}">
                      <a16:colId xmlns:a16="http://schemas.microsoft.com/office/drawing/2014/main" val="2315454680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24932443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767823622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4075926231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895989894"/>
                    </a:ext>
                  </a:extLst>
                </a:gridCol>
              </a:tblGrid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86580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62815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62965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91251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9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09021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045600" y="2099966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Sum of row = 65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23173" y="5442926"/>
            <a:ext cx="2569236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Sum of column = 65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45600" y="5442926"/>
            <a:ext cx="2672020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Sum of diagonal = 65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260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574716"/>
              </p:ext>
            </p:extLst>
          </p:nvPr>
        </p:nvGraphicFramePr>
        <p:xfrm>
          <a:off x="4121573" y="2362237"/>
          <a:ext cx="3909850" cy="3319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970">
                  <a:extLst>
                    <a:ext uri="{9D8B030D-6E8A-4147-A177-3AD203B41FA5}">
                      <a16:colId xmlns:a16="http://schemas.microsoft.com/office/drawing/2014/main" val="2315454680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24932443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767823622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4075926231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895989894"/>
                    </a:ext>
                  </a:extLst>
                </a:gridCol>
              </a:tblGrid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86580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62815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62965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91251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09021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49509" y="1557995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从这里开始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5422605" y="2094796"/>
            <a:ext cx="531627" cy="556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493579" y="1720234"/>
            <a:ext cx="758456" cy="6114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28275" y="1214101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2.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然后往右上走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这个格子超上界了</a:t>
            </a: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6273209" y="2094796"/>
            <a:ext cx="599598" cy="556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曲线连接符 14"/>
          <p:cNvCxnSpPr>
            <a:stCxn id="10" idx="3"/>
          </p:cNvCxnSpPr>
          <p:nvPr/>
        </p:nvCxnSpPr>
        <p:spPr>
          <a:xfrm>
            <a:off x="7252035" y="2025938"/>
            <a:ext cx="12700" cy="3290343"/>
          </a:xfrm>
          <a:prstGeom prst="curvedConnector4">
            <a:avLst>
              <a:gd name="adj1" fmla="val 14162787"/>
              <a:gd name="adj2" fmla="val 9708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8789879" y="3597563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就卷绕到这里</a:t>
            </a:r>
            <a:endParaRPr lang="en-US" altLang="zh-CN" dirty="0">
              <a:latin typeface="Consolas" panose="020B0609020204030204" pitchFamily="49" charset="0"/>
            </a:endParaRPr>
          </a:p>
          <a:p>
            <a:pPr algn="ctr"/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+= N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08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6174017"/>
              </p:ext>
            </p:extLst>
          </p:nvPr>
        </p:nvGraphicFramePr>
        <p:xfrm>
          <a:off x="4121573" y="1936938"/>
          <a:ext cx="3909850" cy="3319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970">
                  <a:extLst>
                    <a:ext uri="{9D8B030D-6E8A-4147-A177-3AD203B41FA5}">
                      <a16:colId xmlns:a16="http://schemas.microsoft.com/office/drawing/2014/main" val="2315454680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24932443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767823622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4075926231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895989894"/>
                    </a:ext>
                  </a:extLst>
                </a:gridCol>
              </a:tblGrid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86580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62815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62965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91251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090216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8031423" y="3291069"/>
            <a:ext cx="758456" cy="6114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789879" y="3235662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这个格子超右界了</a:t>
            </a:r>
          </a:p>
        </p:txBody>
      </p:sp>
      <p:cxnSp>
        <p:nvCxnSpPr>
          <p:cNvPr id="15" name="曲线连接符 14"/>
          <p:cNvCxnSpPr>
            <a:stCxn id="10" idx="2"/>
          </p:cNvCxnSpPr>
          <p:nvPr/>
        </p:nvCxnSpPr>
        <p:spPr>
          <a:xfrm rot="5400000" flipH="1">
            <a:off x="6244843" y="1736669"/>
            <a:ext cx="251959" cy="4079656"/>
          </a:xfrm>
          <a:prstGeom prst="curvedConnector4">
            <a:avLst>
              <a:gd name="adj1" fmla="val -715282"/>
              <a:gd name="adj2" fmla="val 1238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425060" y="4348935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就卷绕到这里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j -= N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7790121" y="3650517"/>
            <a:ext cx="524539" cy="503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096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589761"/>
              </p:ext>
            </p:extLst>
          </p:nvPr>
        </p:nvGraphicFramePr>
        <p:xfrm>
          <a:off x="4121573" y="2192118"/>
          <a:ext cx="3909850" cy="3319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970">
                  <a:extLst>
                    <a:ext uri="{9D8B030D-6E8A-4147-A177-3AD203B41FA5}">
                      <a16:colId xmlns:a16="http://schemas.microsoft.com/office/drawing/2014/main" val="2315454680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249324434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767823622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4075926231"/>
                    </a:ext>
                  </a:extLst>
                </a:gridCol>
                <a:gridCol w="781970">
                  <a:extLst>
                    <a:ext uri="{9D8B030D-6E8A-4147-A177-3AD203B41FA5}">
                      <a16:colId xmlns:a16="http://schemas.microsoft.com/office/drawing/2014/main" val="3895989894"/>
                    </a:ext>
                  </a:extLst>
                </a:gridCol>
              </a:tblGrid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86580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628156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62965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912512"/>
                  </a:ext>
                </a:extLst>
              </a:tr>
              <a:tr h="663934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090216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5139367" y="1469899"/>
            <a:ext cx="2228879" cy="722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这个格子被占了</a:t>
            </a:r>
          </a:p>
        </p:txBody>
      </p:sp>
      <p:cxnSp>
        <p:nvCxnSpPr>
          <p:cNvPr id="15" name="曲线连接符 14"/>
          <p:cNvCxnSpPr/>
          <p:nvPr/>
        </p:nvCxnSpPr>
        <p:spPr>
          <a:xfrm rot="5400000">
            <a:off x="5474796" y="3152773"/>
            <a:ext cx="937611" cy="460742"/>
          </a:xfrm>
          <a:prstGeom prst="curvedConnector3">
            <a:avLst>
              <a:gd name="adj1" fmla="val 10292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237769" y="2838393"/>
            <a:ext cx="3119156" cy="1302273"/>
          </a:xfrm>
          <a:prstGeom prst="rect">
            <a:avLst/>
          </a:prstGeom>
          <a:solidFill>
            <a:schemeClr val="tx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就卷绕到这里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 += 2; --j</a:t>
            </a:r>
          </a:p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注意：如果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&gt;=N,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 -= N</a:t>
            </a:r>
          </a:p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如果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j &lt; 0, j += N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450958" y="2551566"/>
            <a:ext cx="524539" cy="503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182764E4-5631-D388-E6D6-E7B945B2C4EB}"/>
              </a:ext>
            </a:extLst>
          </p:cNvPr>
          <p:cNvSpPr/>
          <p:nvPr/>
        </p:nvSpPr>
        <p:spPr>
          <a:xfrm>
            <a:off x="0" y="6134586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magic-</a:t>
            </a:r>
            <a:r>
              <a:rPr lang="en-US" altLang="zh-CN" sz="1400" dirty="0" err="1">
                <a:latin typeface="Consolas" panose="020B0609020204030204" pitchFamily="49" charset="0"/>
              </a:rPr>
              <a:t>square.c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636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B588CDDD-9227-48DE-83D0-ADAF89D3895E}" vid="{E588AE0C-722F-4631-A4F1-8E7A05F34A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B06-循环</Template>
  <TotalTime>380</TotalTime>
  <Words>1710</Words>
  <Application>Microsoft Office PowerPoint</Application>
  <PresentationFormat>宽屏</PresentationFormat>
  <Paragraphs>556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等线</vt:lpstr>
      <vt:lpstr>Arial</vt:lpstr>
      <vt:lpstr>Consolas</vt:lpstr>
      <vt:lpstr>Office 主题​​</vt:lpstr>
      <vt:lpstr>数组</vt:lpstr>
      <vt:lpstr>回顾</vt:lpstr>
      <vt:lpstr>问题</vt:lpstr>
      <vt:lpstr>问题</vt:lpstr>
      <vt:lpstr>数组</vt:lpstr>
      <vt:lpstr>一维数组</vt:lpstr>
      <vt:lpstr>一维数组的类型</vt:lpstr>
      <vt:lpstr>一维数组的类型</vt:lpstr>
      <vt:lpstr>一维数组的顺序存储结构</vt:lpstr>
      <vt:lpstr>一维数组的使用</vt:lpstr>
      <vt:lpstr>课堂练习1</vt:lpstr>
      <vt:lpstr>一维数组的初始化</vt:lpstr>
      <vt:lpstr>课堂练习2</vt:lpstr>
      <vt:lpstr>课堂练习3</vt:lpstr>
      <vt:lpstr>挑战：课后练习</vt:lpstr>
      <vt:lpstr>二维数组</vt:lpstr>
      <vt:lpstr>二维数组的理解</vt:lpstr>
      <vt:lpstr>二维数组的理解</vt:lpstr>
      <vt:lpstr>二维数组的理解</vt:lpstr>
      <vt:lpstr>课堂练习4</vt:lpstr>
      <vt:lpstr>课堂练习4提示</vt:lpstr>
      <vt:lpstr>课堂练习5</vt:lpstr>
      <vt:lpstr>挑战：课后练习1：填充方阵</vt:lpstr>
      <vt:lpstr>观察数组中数的走向</vt:lpstr>
      <vt:lpstr>观察数组中数的走向</vt:lpstr>
      <vt:lpstr>策略：做一圈边界</vt:lpstr>
      <vt:lpstr>在格子中填数：正常情况下的下标变化</vt:lpstr>
      <vt:lpstr>在格子中填数：格子被占后的下标变化</vt:lpstr>
      <vt:lpstr>挑战：课后练习：填充奇阶幻方</vt:lpstr>
      <vt:lpstr>策略</vt:lpstr>
      <vt:lpstr>策略</vt:lpstr>
      <vt:lpstr>策略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关于数组</dc:title>
  <dc:creator>Bai Zhongjian</dc:creator>
  <cp:lastModifiedBy>Zhongjian Bai</cp:lastModifiedBy>
  <cp:revision>200</cp:revision>
  <dcterms:created xsi:type="dcterms:W3CDTF">2021-10-06T09:52:34Z</dcterms:created>
  <dcterms:modified xsi:type="dcterms:W3CDTF">2025-01-04T01:56:29Z</dcterms:modified>
</cp:coreProperties>
</file>