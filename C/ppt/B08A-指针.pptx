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93" r:id="rId6"/>
    <p:sldId id="260" r:id="rId7"/>
    <p:sldId id="261" r:id="rId8"/>
    <p:sldId id="264" r:id="rId9"/>
    <p:sldId id="292" r:id="rId10"/>
    <p:sldId id="294" r:id="rId11"/>
    <p:sldId id="295" r:id="rId12"/>
    <p:sldId id="296" r:id="rId13"/>
    <p:sldId id="262" r:id="rId14"/>
    <p:sldId id="263" r:id="rId15"/>
    <p:sldId id="271" r:id="rId16"/>
    <p:sldId id="272" r:id="rId17"/>
    <p:sldId id="273" r:id="rId18"/>
    <p:sldId id="274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6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5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5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4426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31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9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0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0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49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379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6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56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2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7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指针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背景知识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线性内存</a:t>
            </a:r>
            <a:endParaRPr lang="en-US" altLang="zh-CN" dirty="0"/>
          </a:p>
          <a:p>
            <a:r>
              <a:rPr lang="zh-CN" altLang="en-US" dirty="0"/>
              <a:t>内存的最小单元是字节</a:t>
            </a:r>
            <a:r>
              <a:rPr lang="en-US" altLang="zh-CN" dirty="0"/>
              <a:t>byte</a:t>
            </a:r>
          </a:p>
          <a:p>
            <a:r>
              <a:rPr lang="zh-CN" altLang="en-US" dirty="0"/>
              <a:t>内存单元的地址</a:t>
            </a: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75974"/>
              </p:ext>
            </p:extLst>
          </p:nvPr>
        </p:nvGraphicFramePr>
        <p:xfrm>
          <a:off x="7019047" y="2526589"/>
          <a:ext cx="218331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3319">
                  <a:extLst>
                    <a:ext uri="{9D8B030D-6E8A-4147-A177-3AD203B41FA5}">
                      <a16:colId xmlns:a16="http://schemas.microsoft.com/office/drawing/2014/main" val="186633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01010011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64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01110101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71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01110011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01100001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53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84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01000011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12474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141367"/>
              </p:ext>
            </p:extLst>
          </p:nvPr>
        </p:nvGraphicFramePr>
        <p:xfrm>
          <a:off x="6096000" y="2526589"/>
          <a:ext cx="923047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047">
                  <a:extLst>
                    <a:ext uri="{9D8B030D-6E8A-4147-A177-3AD203B41FA5}">
                      <a16:colId xmlns:a16="http://schemas.microsoft.com/office/drawing/2014/main" val="186633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64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71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53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84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n-1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12474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160851" y="1956081"/>
            <a:ext cx="304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地址         内容</a:t>
            </a:r>
          </a:p>
        </p:txBody>
      </p:sp>
    </p:spTree>
    <p:extLst>
      <p:ext uri="{BB962C8B-B14F-4D97-AF65-F5344CB8AC3E}">
        <p14:creationId xmlns:p14="http://schemas.microsoft.com/office/powerpoint/2010/main" val="423180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背景知识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代码和数据都存在内存中</a:t>
            </a:r>
            <a:endParaRPr lang="en-US" altLang="zh-CN" dirty="0"/>
          </a:p>
          <a:p>
            <a:pPr lvl="1"/>
            <a:r>
              <a:rPr lang="zh-CN" altLang="en-US" dirty="0"/>
              <a:t>数据单元存储的不一定是变量哦！</a:t>
            </a:r>
            <a:endParaRPr lang="en-US" altLang="zh-CN" dirty="0"/>
          </a:p>
          <a:p>
            <a:pPr lvl="1"/>
            <a:r>
              <a:rPr lang="zh-CN" altLang="en-US" dirty="0"/>
              <a:t>以后称有效的内存单元为“对象”</a:t>
            </a:r>
            <a:endParaRPr lang="en-US" altLang="zh-CN" dirty="0"/>
          </a:p>
          <a:p>
            <a:r>
              <a:rPr lang="zh-CN" altLang="en-US" dirty="0"/>
              <a:t>如果对象占据多个字节，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则把第一个字节的地址称为是对象的地址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573788"/>
              </p:ext>
            </p:extLst>
          </p:nvPr>
        </p:nvGraphicFramePr>
        <p:xfrm>
          <a:off x="8321229" y="2468634"/>
          <a:ext cx="2183319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3319">
                  <a:extLst>
                    <a:ext uri="{9D8B030D-6E8A-4147-A177-3AD203B41FA5}">
                      <a16:colId xmlns:a16="http://schemas.microsoft.com/office/drawing/2014/main" val="186633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64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01110101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71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01110011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60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01100001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53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01000011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84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124741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758805"/>
              </p:ext>
            </p:extLst>
          </p:nvPr>
        </p:nvGraphicFramePr>
        <p:xfrm>
          <a:off x="7398182" y="2468634"/>
          <a:ext cx="923047" cy="2225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3047">
                  <a:extLst>
                    <a:ext uri="{9D8B030D-6E8A-4147-A177-3AD203B41FA5}">
                      <a16:colId xmlns:a16="http://schemas.microsoft.com/office/drawing/2014/main" val="1866331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648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2000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711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2001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60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2002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53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2003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384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</a:rPr>
                        <a:t>…</a:t>
                      </a:r>
                      <a:endParaRPr lang="zh-CN" alt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12474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463033" y="1898126"/>
            <a:ext cx="3041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地址         内容</a:t>
            </a:r>
          </a:p>
        </p:txBody>
      </p:sp>
    </p:spTree>
    <p:extLst>
      <p:ext uri="{BB962C8B-B14F-4D97-AF65-F5344CB8AC3E}">
        <p14:creationId xmlns:p14="http://schemas.microsoft.com/office/powerpoint/2010/main" val="1429121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简单理解：</a:t>
            </a:r>
            <a:r>
              <a:rPr lang="zh-CN" altLang="en-US" b="1" dirty="0">
                <a:solidFill>
                  <a:srgbClr val="FF0000"/>
                </a:solidFill>
              </a:rPr>
              <a:t>指针就是地址</a:t>
            </a:r>
            <a:r>
              <a:rPr lang="zh-CN" altLang="en-US" dirty="0"/>
              <a:t>；指针变量就是存储其它对象地址的变量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</a:t>
            </a:r>
          </a:p>
          <a:p>
            <a:pPr marL="0" indent="0">
              <a:buNone/>
            </a:pP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i="1" dirty="0">
                <a:solidFill>
                  <a:srgbClr val="FF0000"/>
                </a:solidFill>
              </a:rPr>
              <a:t> *p; 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000" dirty="0">
                <a:solidFill>
                  <a:schemeClr val="tx1">
                    <a:lumMod val="75000"/>
                  </a:schemeClr>
                </a:solidFill>
              </a:rPr>
              <a:t>目前还是个野指针</a:t>
            </a:r>
            <a:endParaRPr lang="en-US" altLang="zh-CN" sz="2000" dirty="0">
              <a:solidFill>
                <a:schemeClr val="tx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p = &amp;</a:t>
            </a:r>
            <a:r>
              <a:rPr lang="en-US" altLang="zh-CN" b="1" i="1" dirty="0" err="1">
                <a:solidFill>
                  <a:srgbClr val="FF0000"/>
                </a:solidFill>
              </a:rPr>
              <a:t>i</a:t>
            </a:r>
            <a:r>
              <a:rPr lang="en-US" altLang="zh-CN" dirty="0"/>
              <a:t>;</a:t>
            </a:r>
            <a:endParaRPr lang="zh-CN" altLang="en-US" dirty="0"/>
          </a:p>
        </p:txBody>
      </p:sp>
      <p:grpSp>
        <p:nvGrpSpPr>
          <p:cNvPr id="14" name="组合 13"/>
          <p:cNvGrpSpPr/>
          <p:nvPr/>
        </p:nvGrpSpPr>
        <p:grpSpPr>
          <a:xfrm>
            <a:off x="4178388" y="4039607"/>
            <a:ext cx="927370" cy="855715"/>
            <a:chOff x="4153711" y="4263956"/>
            <a:chExt cx="927370" cy="855715"/>
          </a:xfrm>
        </p:grpSpPr>
        <p:sp>
          <p:nvSpPr>
            <p:cNvPr id="5" name="矩形 4"/>
            <p:cNvSpPr/>
            <p:nvPr/>
          </p:nvSpPr>
          <p:spPr>
            <a:xfrm>
              <a:off x="4153711" y="4263956"/>
              <a:ext cx="927370" cy="486383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?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440676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p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318489" y="3611750"/>
            <a:ext cx="927370" cy="1283572"/>
            <a:chOff x="6293812" y="3836099"/>
            <a:chExt cx="927370" cy="1283572"/>
          </a:xfrm>
        </p:grpSpPr>
        <p:sp>
          <p:nvSpPr>
            <p:cNvPr id="4" name="矩形 3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i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354612" y="3836099"/>
              <a:ext cx="805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2000</a:t>
              </a:r>
            </a:p>
          </p:txBody>
        </p:sp>
      </p:grpSp>
      <p:sp>
        <p:nvSpPr>
          <p:cNvPr id="13" name="矩形 12"/>
          <p:cNvSpPr/>
          <p:nvPr/>
        </p:nvSpPr>
        <p:spPr>
          <a:xfrm>
            <a:off x="4178388" y="4039607"/>
            <a:ext cx="927370" cy="4863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2000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10" name="直接箭头连接符 9"/>
          <p:cNvCxnSpPr>
            <a:endCxn id="4" idx="1"/>
          </p:cNvCxnSpPr>
          <p:nvPr/>
        </p:nvCxnSpPr>
        <p:spPr>
          <a:xfrm>
            <a:off x="4966328" y="4282798"/>
            <a:ext cx="1352161" cy="1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24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64AA6-A821-21C0-8428-9F4CD8920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E7962A-DBC1-C281-1AE1-49CFD3720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700" dirty="0"/>
              <a:t>请运行如下代码</a:t>
            </a:r>
            <a:endParaRPr lang="en-US" altLang="zh-CN" sz="2700" dirty="0"/>
          </a:p>
          <a:p>
            <a:pPr marL="0" indent="0">
              <a:buNone/>
            </a:pPr>
            <a:endParaRPr lang="nn-NO" altLang="zh-CN" sz="2700" b="0" dirty="0"/>
          </a:p>
          <a:p>
            <a:pPr marL="0" indent="0">
              <a:buNone/>
            </a:pPr>
            <a:r>
              <a:rPr lang="nn-NO" altLang="zh-CN" sz="2700" b="0" dirty="0"/>
              <a:t>int i = 0;</a:t>
            </a:r>
          </a:p>
          <a:p>
            <a:pPr marL="0" indent="0">
              <a:buNone/>
            </a:pPr>
            <a:r>
              <a:rPr lang="nn-NO" altLang="zh-CN" sz="2700" b="0" dirty="0"/>
              <a:t>int *p = &amp;i;</a:t>
            </a:r>
          </a:p>
          <a:p>
            <a:pPr marL="0" indent="0">
              <a:buNone/>
            </a:pPr>
            <a:endParaRPr lang="nn-NO" altLang="zh-CN" sz="2700" b="0" dirty="0"/>
          </a:p>
          <a:p>
            <a:pPr marL="0" indent="0">
              <a:buNone/>
            </a:pPr>
            <a:r>
              <a:rPr lang="nn-NO" altLang="zh-CN" sz="2700" b="0" dirty="0"/>
              <a:t>printf("i=%d,*p=%d\n&amp;i=%p\n p=%p\n", i, *p, &amp;i, p);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07CE10F9-4B95-D4DE-ED0B-269E2479F3C7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address.c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619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指针变量的类型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783244" y="3099189"/>
            <a:ext cx="1598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 err="1">
                <a:latin typeface="Consolas" panose="020B0609020204030204" pitchFamily="49" charset="0"/>
              </a:rPr>
              <a:t>int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282814" y="3099189"/>
            <a:ext cx="1194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Consolas" panose="020B0609020204030204" pitchFamily="49" charset="0"/>
              </a:rPr>
              <a:t>*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83884" y="3099189"/>
            <a:ext cx="1194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latin typeface="Consolas" panose="020B0609020204030204" pitchFamily="49" charset="0"/>
              </a:rPr>
              <a:t>p;</a:t>
            </a:r>
            <a:endParaRPr lang="zh-CN" altLang="en-US" sz="6000" dirty="0">
              <a:latin typeface="Consolas" panose="020B0609020204030204" pitchFamily="49" charset="0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6114613" y="4480039"/>
            <a:ext cx="3378395" cy="882938"/>
          </a:xfrm>
          <a:prstGeom prst="wedgeRectCallout">
            <a:avLst>
              <a:gd name="adj1" fmla="val -56252"/>
              <a:gd name="adj2" fmla="val -117749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说明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是一个指针，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即它要存储其它单元的地址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3056142" y="4480039"/>
            <a:ext cx="2526815" cy="882938"/>
          </a:xfrm>
          <a:prstGeom prst="wedgeRectCallout">
            <a:avLst>
              <a:gd name="adj1" fmla="val 17646"/>
              <a:gd name="adj2" fmla="val -109052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指针的基类型，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即指向单元的类型</a:t>
            </a:r>
          </a:p>
        </p:txBody>
      </p:sp>
      <p:sp>
        <p:nvSpPr>
          <p:cNvPr id="9" name="矩形 8"/>
          <p:cNvSpPr/>
          <p:nvPr/>
        </p:nvSpPr>
        <p:spPr>
          <a:xfrm>
            <a:off x="3783243" y="3099188"/>
            <a:ext cx="2500641" cy="1015663"/>
          </a:xfrm>
          <a:prstGeom prst="rect">
            <a:avLst/>
          </a:prstGeom>
          <a:noFill/>
          <a:ln w="5715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标注 9"/>
          <p:cNvSpPr/>
          <p:nvPr/>
        </p:nvSpPr>
        <p:spPr>
          <a:xfrm>
            <a:off x="5033563" y="1903200"/>
            <a:ext cx="2526815" cy="882938"/>
          </a:xfrm>
          <a:prstGeom prst="wedgeRectCallout">
            <a:avLst>
              <a:gd name="adj1" fmla="val -36221"/>
              <a:gd name="adj2" fmla="val 82263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指针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的类型，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pPr algn="ctr"/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它只能指向整型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8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取地址和间接访问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*p; //</a:t>
            </a:r>
            <a:r>
              <a:rPr lang="zh-CN" altLang="en-US" dirty="0"/>
              <a:t>未初始化的指针是野指针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 = &amp;</a:t>
            </a:r>
            <a:r>
              <a:rPr lang="en-US" altLang="zh-CN" dirty="0" err="1"/>
              <a:t>i</a:t>
            </a:r>
            <a:r>
              <a:rPr lang="en-US" altLang="zh-CN" dirty="0"/>
              <a:t>; //</a:t>
            </a:r>
            <a:r>
              <a:rPr lang="zh-CN" altLang="en-US" dirty="0"/>
              <a:t>获取</a:t>
            </a:r>
            <a:r>
              <a:rPr lang="en-US" altLang="zh-CN" dirty="0" err="1"/>
              <a:t>i</a:t>
            </a:r>
            <a:r>
              <a:rPr lang="zh-CN" altLang="en-US" dirty="0"/>
              <a:t>的地址。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//</a:t>
            </a:r>
            <a:r>
              <a:rPr lang="zh-CN" altLang="en-US" dirty="0"/>
              <a:t>此时，</a:t>
            </a:r>
            <a:r>
              <a:rPr lang="en-US" altLang="zh-CN" dirty="0"/>
              <a:t>*p ===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en-US" altLang="zh-CN" dirty="0" err="1">
                <a:sym typeface="Wingdings" panose="05000000000000000000" pitchFamily="2" charset="2"/>
              </a:rPr>
              <a:t>i</a:t>
            </a:r>
            <a:r>
              <a:rPr lang="zh-CN" altLang="en-US" dirty="0">
                <a:sym typeface="Wingdings" panose="05000000000000000000" pitchFamily="2" charset="2"/>
              </a:rPr>
              <a:t>，都是左值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*p = 1; //</a:t>
            </a:r>
            <a:r>
              <a:rPr lang="zh-CN" altLang="en-US" dirty="0"/>
              <a:t>等价于 </a:t>
            </a:r>
            <a:r>
              <a:rPr lang="en-US" altLang="zh-CN" dirty="0" err="1"/>
              <a:t>i</a:t>
            </a:r>
            <a:r>
              <a:rPr lang="en-US" altLang="zh-CN" dirty="0"/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995434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常见的指针使用错误之一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使用野指针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sz="4000" dirty="0" err="1"/>
              <a:t>int</a:t>
            </a:r>
            <a:r>
              <a:rPr lang="en-US" altLang="zh-CN" sz="4000" dirty="0"/>
              <a:t> *p;</a:t>
            </a:r>
          </a:p>
          <a:p>
            <a:pPr marL="0" indent="0" algn="just">
              <a:buNone/>
            </a:pPr>
            <a:r>
              <a:rPr lang="en-US" altLang="zh-CN" sz="4000" b="1" i="1" dirty="0">
                <a:solidFill>
                  <a:srgbClr val="FF0000"/>
                </a:solidFill>
              </a:rPr>
              <a:t>*p = 1</a:t>
            </a:r>
            <a:r>
              <a:rPr lang="en-US" altLang="zh-CN" sz="4000" dirty="0"/>
              <a:t>;</a:t>
            </a:r>
          </a:p>
          <a:p>
            <a:pPr marL="0" indent="0" algn="just">
              <a:buNone/>
            </a:pPr>
            <a:r>
              <a:rPr lang="en-US" altLang="zh-CN" sz="4000" dirty="0" err="1"/>
              <a:t>printf</a:t>
            </a:r>
            <a:r>
              <a:rPr lang="en-US" altLang="zh-CN" sz="4000" dirty="0"/>
              <a:t>(“%d\n”, *p); //</a:t>
            </a:r>
            <a:r>
              <a:rPr lang="zh-CN" altLang="en-US" sz="4000" dirty="0"/>
              <a:t>结果是？</a:t>
            </a:r>
            <a:endParaRPr lang="en-US" altLang="zh-CN" sz="4000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1EB65A34-363C-7F25-27F0-415C8F5887C6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wild-</a:t>
            </a:r>
            <a:r>
              <a:rPr lang="en-US" altLang="zh-CN" sz="1400" dirty="0" err="1">
                <a:latin typeface="Consolas" panose="020B0609020204030204" pitchFamily="49" charset="0"/>
              </a:rPr>
              <a:t>pointer.c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02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8074E-5BBB-3BA6-341E-3FD2F1A3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原则上指针需要初始化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7DBC1-DEF4-DA55-4107-40A1DEC76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将指针初始化为空指针</a:t>
            </a:r>
            <a:r>
              <a:rPr lang="en-US" altLang="zh-CN" dirty="0"/>
              <a:t>NULL</a:t>
            </a:r>
          </a:p>
          <a:p>
            <a:pPr marL="0" indent="0" algn="just">
              <a:buNone/>
            </a:pPr>
            <a:r>
              <a:rPr lang="en-US" altLang="zh-CN" sz="4000" dirty="0"/>
              <a:t>int *p = </a:t>
            </a:r>
            <a:r>
              <a:rPr lang="en-US" altLang="zh-CN" sz="4000" b="1" i="1" dirty="0">
                <a:solidFill>
                  <a:srgbClr val="FF0000"/>
                </a:solidFill>
              </a:rPr>
              <a:t>NULL</a:t>
            </a:r>
            <a:r>
              <a:rPr lang="en-US" altLang="zh-CN" sz="4000" dirty="0"/>
              <a:t>; //</a:t>
            </a:r>
            <a:r>
              <a:rPr lang="zh-CN" altLang="en-US" sz="4000" dirty="0"/>
              <a:t>空指针</a:t>
            </a:r>
            <a:endParaRPr lang="en-US" altLang="zh-CN" sz="4000" dirty="0"/>
          </a:p>
          <a:p>
            <a:pPr marL="0" indent="0" algn="just">
              <a:buNone/>
            </a:pPr>
            <a:r>
              <a:rPr lang="en-US" altLang="zh-CN" sz="4000" b="1" i="1" dirty="0">
                <a:solidFill>
                  <a:srgbClr val="FF0000"/>
                </a:solidFill>
              </a:rPr>
              <a:t>if (p != NULL) *p = 1</a:t>
            </a:r>
            <a:r>
              <a:rPr lang="en-US" altLang="zh-CN" sz="4000" dirty="0"/>
              <a:t>;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标注 9">
            <a:extLst>
              <a:ext uri="{FF2B5EF4-FFF2-40B4-BE49-F238E27FC236}">
                <a16:creationId xmlns:a16="http://schemas.microsoft.com/office/drawing/2014/main" id="{FFB9F8A1-8D88-DE73-9D4D-7F479F7A5E1C}"/>
              </a:ext>
            </a:extLst>
          </p:cNvPr>
          <p:cNvSpPr/>
          <p:nvPr/>
        </p:nvSpPr>
        <p:spPr>
          <a:xfrm>
            <a:off x="4557044" y="3192884"/>
            <a:ext cx="2526815" cy="882938"/>
          </a:xfrm>
          <a:prstGeom prst="wedgeRectCallout">
            <a:avLst>
              <a:gd name="adj1" fmla="val -72154"/>
              <a:gd name="adj2" fmla="val -672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(void*)0</a:t>
            </a:r>
          </a:p>
        </p:txBody>
      </p:sp>
    </p:spTree>
    <p:extLst>
      <p:ext uri="{BB962C8B-B14F-4D97-AF65-F5344CB8AC3E}">
        <p14:creationId xmlns:p14="http://schemas.microsoft.com/office/powerpoint/2010/main" val="61064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6318E-F87B-5B89-ACF6-247BE67A3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</a:t>
            </a:r>
            <a:r>
              <a:rPr lang="zh-CN" altLang="en-US" dirty="0"/>
              <a:t>修饰的指针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C64215-F443-9522-DAE9-7BAE7B887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变量指针指向常量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int a = 0, b = 1;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const int *</a:t>
            </a:r>
            <a:r>
              <a:rPr lang="en-US" altLang="zh-CN" dirty="0"/>
              <a:t>p; // </a:t>
            </a:r>
            <a:r>
              <a:rPr lang="zh-CN" altLang="en-US" dirty="0"/>
              <a:t>等价于：</a:t>
            </a:r>
            <a:r>
              <a:rPr lang="en-US" altLang="zh-CN" b="1" dirty="0">
                <a:solidFill>
                  <a:srgbClr val="FF0000"/>
                </a:solidFill>
              </a:rPr>
              <a:t>int const *</a:t>
            </a:r>
            <a:r>
              <a:rPr lang="en-US" altLang="zh-CN" dirty="0"/>
              <a:t>p;</a:t>
            </a:r>
          </a:p>
          <a:p>
            <a:pPr marL="0" indent="0">
              <a:buNone/>
            </a:pPr>
            <a:r>
              <a:rPr lang="en-US" altLang="zh-CN" dirty="0"/>
              <a:t>p = &amp;a; // OK</a:t>
            </a:r>
          </a:p>
          <a:p>
            <a:pPr marL="0" indent="0">
              <a:buNone/>
            </a:pPr>
            <a:r>
              <a:rPr lang="en-US" altLang="zh-CN" dirty="0"/>
              <a:t>*p = 1; // error</a:t>
            </a:r>
            <a:r>
              <a:rPr lang="zh-CN" altLang="en-US" dirty="0"/>
              <a:t>！通过</a:t>
            </a:r>
            <a:r>
              <a:rPr lang="en-US" altLang="zh-CN" dirty="0"/>
              <a:t>p</a:t>
            </a:r>
            <a:r>
              <a:rPr lang="zh-CN" altLang="en-US" dirty="0"/>
              <a:t>的视角，它指向的单元是常量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p = &amp;b; // OK</a:t>
            </a:r>
            <a:r>
              <a:rPr lang="zh-CN" altLang="en-US" dirty="0"/>
              <a:t>。</a:t>
            </a:r>
            <a:r>
              <a:rPr lang="en-US" altLang="zh-CN" dirty="0"/>
              <a:t>p</a:t>
            </a:r>
            <a:r>
              <a:rPr lang="zh-CN" altLang="en-US" dirty="0"/>
              <a:t>是变量，因此可以改变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C2481B0-5930-05A7-8212-A68DE76D78C1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ptr-const.c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91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9B91-543D-F25E-7506-295640650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CC7D1-43E9-9737-F75D-DE520BBB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</a:t>
            </a:r>
            <a:r>
              <a:rPr lang="zh-CN" altLang="en-US" dirty="0"/>
              <a:t>修饰的指针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9C8F8D-DE20-A760-91E7-6B51984F5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常量指针指向变量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int * const </a:t>
            </a:r>
            <a:r>
              <a:rPr lang="en-US" altLang="zh-CN" dirty="0"/>
              <a:t>p = &amp;b;  // </a:t>
            </a:r>
            <a:r>
              <a:rPr lang="zh-CN" altLang="en-US" dirty="0"/>
              <a:t>指针</a:t>
            </a:r>
            <a:r>
              <a:rPr lang="en-US" altLang="zh-CN" dirty="0"/>
              <a:t>p</a:t>
            </a:r>
            <a:r>
              <a:rPr lang="zh-CN" altLang="en-US" dirty="0"/>
              <a:t>是常量，因此必须被初始化。它指向的却是变量</a:t>
            </a:r>
          </a:p>
          <a:p>
            <a:pPr marL="0" indent="0">
              <a:buNone/>
            </a:pPr>
            <a:r>
              <a:rPr lang="en-US" altLang="zh-CN" dirty="0"/>
              <a:t>++ *p; // OK</a:t>
            </a:r>
          </a:p>
          <a:p>
            <a:pPr marL="0" indent="0">
              <a:buNone/>
            </a:pPr>
            <a:r>
              <a:rPr lang="en-US" altLang="zh-CN" dirty="0"/>
              <a:t>p = &amp;b; // error! p</a:t>
            </a:r>
            <a:r>
              <a:rPr lang="zh-CN" altLang="en-US" dirty="0"/>
              <a:t>是常量，不能被改变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1BBC455-17D1-CB39-E2D9-D5DBC5212B61}"/>
              </a:ext>
            </a:extLst>
          </p:cNvPr>
          <p:cNvSpPr/>
          <p:nvPr/>
        </p:nvSpPr>
        <p:spPr>
          <a:xfrm>
            <a:off x="0" y="6143777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ptr-const.c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94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B621C-77CE-5B54-F17C-C95FDD4D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083B30-9A0B-3239-F89C-9186723E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</a:t>
            </a:r>
            <a:r>
              <a:rPr lang="zh-CN" altLang="en-US" dirty="0"/>
              <a:t>修饰的指针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3B0966-967D-B983-A1D6-72B06A1AF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常量指针指向常量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const int c = 3;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const int * const </a:t>
            </a:r>
            <a:r>
              <a:rPr lang="en-US" altLang="zh-CN" dirty="0"/>
              <a:t>p = &amp;c; // </a:t>
            </a:r>
            <a:r>
              <a:rPr lang="zh-CN" altLang="en-US" dirty="0"/>
              <a:t>常量指针必须被初始化</a:t>
            </a:r>
          </a:p>
          <a:p>
            <a:pPr marL="0" indent="0">
              <a:buNone/>
            </a:pPr>
            <a:r>
              <a:rPr lang="en-US" altLang="zh-CN" dirty="0"/>
              <a:t>p = &amp;a; // error! p</a:t>
            </a:r>
            <a:r>
              <a:rPr lang="zh-CN" altLang="en-US" dirty="0"/>
              <a:t>是常量，不能被改变</a:t>
            </a:r>
          </a:p>
          <a:p>
            <a:pPr marL="0" indent="0">
              <a:buNone/>
            </a:pPr>
            <a:r>
              <a:rPr lang="en-US" altLang="zh-CN" dirty="0"/>
              <a:t>*p = 4; // error</a:t>
            </a:r>
            <a:r>
              <a:rPr lang="zh-CN" altLang="en-US" dirty="0"/>
              <a:t>！通过</a:t>
            </a:r>
            <a:r>
              <a:rPr lang="en-US" altLang="zh-CN" dirty="0"/>
              <a:t>p</a:t>
            </a:r>
            <a:r>
              <a:rPr lang="zh-CN" altLang="en-US" dirty="0"/>
              <a:t>的视角，它指向的单元是常量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D5DD20F2-CC45-F70B-8165-A63DBB54F4E9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ptr-const.c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10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指针间的赋值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0, *p = &amp;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j = 1, *q = &amp;j;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q = p;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101174" y="2826044"/>
            <a:ext cx="927370" cy="855715"/>
            <a:chOff x="4153711" y="4263956"/>
            <a:chExt cx="927370" cy="855715"/>
          </a:xfrm>
        </p:grpSpPr>
        <p:sp>
          <p:nvSpPr>
            <p:cNvPr id="5" name="矩形 4"/>
            <p:cNvSpPr/>
            <p:nvPr/>
          </p:nvSpPr>
          <p:spPr>
            <a:xfrm>
              <a:off x="4153711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2000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440676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p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241275" y="2398187"/>
            <a:ext cx="927370" cy="1283572"/>
            <a:chOff x="6293812" y="3836099"/>
            <a:chExt cx="927370" cy="1283572"/>
          </a:xfrm>
        </p:grpSpPr>
        <p:sp>
          <p:nvSpPr>
            <p:cNvPr id="8" name="矩形 7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0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i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354612" y="3836099"/>
              <a:ext cx="805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2000</a:t>
              </a:r>
            </a:p>
          </p:txBody>
        </p:sp>
      </p:grpSp>
      <p:cxnSp>
        <p:nvCxnSpPr>
          <p:cNvPr id="11" name="直接箭头连接符 10"/>
          <p:cNvCxnSpPr>
            <a:endCxn id="8" idx="1"/>
          </p:cNvCxnSpPr>
          <p:nvPr/>
        </p:nvCxnSpPr>
        <p:spPr>
          <a:xfrm>
            <a:off x="6889114" y="3069235"/>
            <a:ext cx="1352161" cy="1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6101174" y="4478366"/>
            <a:ext cx="927370" cy="855715"/>
            <a:chOff x="4153711" y="4263956"/>
            <a:chExt cx="927370" cy="855715"/>
          </a:xfrm>
        </p:grpSpPr>
        <p:sp>
          <p:nvSpPr>
            <p:cNvPr id="14" name="矩形 13"/>
            <p:cNvSpPr/>
            <p:nvPr/>
          </p:nvSpPr>
          <p:spPr>
            <a:xfrm>
              <a:off x="4153711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2040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40676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q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241275" y="4050509"/>
            <a:ext cx="927370" cy="1283572"/>
            <a:chOff x="6293812" y="3836099"/>
            <a:chExt cx="927370" cy="1283572"/>
          </a:xfrm>
        </p:grpSpPr>
        <p:sp>
          <p:nvSpPr>
            <p:cNvPr id="17" name="矩形 16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1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j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354612" y="3836099"/>
              <a:ext cx="805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2040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6100372" y="4478366"/>
            <a:ext cx="927370" cy="4863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2040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cxnSp>
        <p:nvCxnSpPr>
          <p:cNvPr id="20" name="直接箭头连接符 19"/>
          <p:cNvCxnSpPr>
            <a:endCxn id="17" idx="1"/>
          </p:cNvCxnSpPr>
          <p:nvPr/>
        </p:nvCxnSpPr>
        <p:spPr>
          <a:xfrm>
            <a:off x="6889114" y="4721557"/>
            <a:ext cx="1352161" cy="1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8" idx="1"/>
          </p:cNvCxnSpPr>
          <p:nvPr/>
        </p:nvCxnSpPr>
        <p:spPr>
          <a:xfrm flipV="1">
            <a:off x="6889114" y="3069236"/>
            <a:ext cx="1352161" cy="1652320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箭头: 五边形 21">
            <a:extLst>
              <a:ext uri="{FF2B5EF4-FFF2-40B4-BE49-F238E27FC236}">
                <a16:creationId xmlns:a16="http://schemas.microsoft.com/office/drawing/2014/main" id="{7236D536-3749-0448-0396-298771386009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ptr-calc.c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123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指针指向对象的赋值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0, *p = &amp;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j = 1, *q = &amp;j;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*</a:t>
            </a:r>
            <a:r>
              <a:rPr lang="en-US" altLang="zh-CN" dirty="0"/>
              <a:t>q = </a:t>
            </a:r>
            <a:r>
              <a:rPr lang="zh-CN" altLang="en-US" dirty="0"/>
              <a:t>*</a:t>
            </a:r>
            <a:r>
              <a:rPr lang="en-US" altLang="zh-CN" dirty="0"/>
              <a:t>p;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101174" y="2826044"/>
            <a:ext cx="927370" cy="855715"/>
            <a:chOff x="4153711" y="4263956"/>
            <a:chExt cx="927370" cy="855715"/>
          </a:xfrm>
        </p:grpSpPr>
        <p:sp>
          <p:nvSpPr>
            <p:cNvPr id="5" name="矩形 4"/>
            <p:cNvSpPr/>
            <p:nvPr/>
          </p:nvSpPr>
          <p:spPr>
            <a:xfrm>
              <a:off x="4153711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2000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440676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p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241275" y="2398187"/>
            <a:ext cx="927370" cy="1283572"/>
            <a:chOff x="6293812" y="3836099"/>
            <a:chExt cx="927370" cy="1283572"/>
          </a:xfrm>
        </p:grpSpPr>
        <p:sp>
          <p:nvSpPr>
            <p:cNvPr id="8" name="矩形 7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0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i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354612" y="3836099"/>
              <a:ext cx="805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2000</a:t>
              </a:r>
            </a:p>
          </p:txBody>
        </p:sp>
      </p:grpSp>
      <p:cxnSp>
        <p:nvCxnSpPr>
          <p:cNvPr id="11" name="直接箭头连接符 10"/>
          <p:cNvCxnSpPr>
            <a:endCxn id="8" idx="1"/>
          </p:cNvCxnSpPr>
          <p:nvPr/>
        </p:nvCxnSpPr>
        <p:spPr>
          <a:xfrm>
            <a:off x="6889114" y="3069235"/>
            <a:ext cx="1352161" cy="1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3" name="组合 12"/>
          <p:cNvGrpSpPr/>
          <p:nvPr/>
        </p:nvGrpSpPr>
        <p:grpSpPr>
          <a:xfrm>
            <a:off x="6101174" y="4478366"/>
            <a:ext cx="927370" cy="855715"/>
            <a:chOff x="4153711" y="4263956"/>
            <a:chExt cx="927370" cy="855715"/>
          </a:xfrm>
        </p:grpSpPr>
        <p:sp>
          <p:nvSpPr>
            <p:cNvPr id="14" name="矩形 13"/>
            <p:cNvSpPr/>
            <p:nvPr/>
          </p:nvSpPr>
          <p:spPr>
            <a:xfrm>
              <a:off x="4153711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2040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440676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q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241275" y="4050509"/>
            <a:ext cx="927370" cy="1283572"/>
            <a:chOff x="6293812" y="3836099"/>
            <a:chExt cx="927370" cy="1283572"/>
          </a:xfrm>
        </p:grpSpPr>
        <p:sp>
          <p:nvSpPr>
            <p:cNvPr id="17" name="矩形 16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1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j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354612" y="3836099"/>
              <a:ext cx="805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2040</a:t>
              </a:r>
            </a:p>
          </p:txBody>
        </p:sp>
      </p:grpSp>
      <p:sp>
        <p:nvSpPr>
          <p:cNvPr id="12" name="矩形 11"/>
          <p:cNvSpPr/>
          <p:nvPr/>
        </p:nvSpPr>
        <p:spPr>
          <a:xfrm>
            <a:off x="8241273" y="4478365"/>
            <a:ext cx="927370" cy="4863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0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  <p:cxnSp>
        <p:nvCxnSpPr>
          <p:cNvPr id="20" name="直接箭头连接符 19"/>
          <p:cNvCxnSpPr>
            <a:endCxn id="17" idx="1"/>
          </p:cNvCxnSpPr>
          <p:nvPr/>
        </p:nvCxnSpPr>
        <p:spPr>
          <a:xfrm>
            <a:off x="6889114" y="4721557"/>
            <a:ext cx="1352161" cy="1"/>
          </a:xfrm>
          <a:prstGeom prst="straightConnector1">
            <a:avLst/>
          </a:prstGeom>
          <a:ln>
            <a:headEnd type="oval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箭头: 五边形 20">
            <a:extLst>
              <a:ext uri="{FF2B5EF4-FFF2-40B4-BE49-F238E27FC236}">
                <a16:creationId xmlns:a16="http://schemas.microsoft.com/office/drawing/2014/main" id="{DDE21972-3BB3-75CC-23A8-FE6A5CA23DD9}"/>
              </a:ext>
            </a:extLst>
          </p:cNvPr>
          <p:cNvSpPr/>
          <p:nvPr/>
        </p:nvSpPr>
        <p:spPr>
          <a:xfrm>
            <a:off x="0" y="6143777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ptr-calc.c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10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指针的算术运算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如果有：</a:t>
            </a:r>
            <a:r>
              <a:rPr lang="en-US" altLang="zh-CN" dirty="0"/>
              <a:t>T a, *p = &amp;a; </a:t>
            </a:r>
            <a:r>
              <a:rPr lang="zh-CN" altLang="en-US" dirty="0"/>
              <a:t>和整数</a:t>
            </a:r>
            <a:r>
              <a:rPr lang="en-US" altLang="zh-CN" dirty="0"/>
              <a:t>n</a:t>
            </a:r>
            <a:r>
              <a:rPr lang="zh-CN" altLang="en-US" dirty="0"/>
              <a:t>，则运算 </a:t>
            </a:r>
            <a:r>
              <a:rPr lang="en-US" altLang="zh-CN" b="1" i="1" dirty="0">
                <a:solidFill>
                  <a:srgbClr val="FF0000"/>
                </a:solidFill>
              </a:rPr>
              <a:t>p + n </a:t>
            </a:r>
            <a:r>
              <a:rPr lang="zh-CN" altLang="en-US" dirty="0"/>
              <a:t>的结果是一个新的指针值，其值等于：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address(a) + </a:t>
            </a:r>
            <a:r>
              <a:rPr lang="en-US" altLang="zh-CN" dirty="0" err="1"/>
              <a:t>sizeof</a:t>
            </a:r>
            <a:r>
              <a:rPr lang="en-US" altLang="zh-CN" dirty="0"/>
              <a:t>(T) * n</a:t>
            </a:r>
          </a:p>
          <a:p>
            <a:pPr marL="0" indent="0">
              <a:buNone/>
            </a:pPr>
            <a:r>
              <a:rPr lang="zh-CN" altLang="en-US" dirty="0"/>
              <a:t>而不是：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address(a) + 1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8DAF8C19-48C6-7655-6B79-F66179BEFA9F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ptr-calc.c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546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指针的算术运算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a, *p = &amp;a;</a:t>
            </a:r>
          </a:p>
          <a:p>
            <a:pPr marL="0" indent="0">
              <a:buNone/>
            </a:pPr>
            <a:r>
              <a:rPr lang="en-US" altLang="zh-CN" dirty="0"/>
              <a:t>++p;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580424" y="2552430"/>
            <a:ext cx="1752018" cy="10819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580424" y="3634353"/>
            <a:ext cx="1752018" cy="1081923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882409" y="2880397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a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908793" y="2552429"/>
            <a:ext cx="1660270" cy="10819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569063" y="2880397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p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82409" y="3990648"/>
            <a:ext cx="642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?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11" name="直接箭头连接符 10"/>
          <p:cNvCxnSpPr>
            <a:stCxn id="7" idx="1"/>
            <a:endCxn id="4" idx="3"/>
          </p:cNvCxnSpPr>
          <p:nvPr/>
        </p:nvCxnSpPr>
        <p:spPr>
          <a:xfrm flipH="1">
            <a:off x="5332442" y="3093391"/>
            <a:ext cx="1576351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7" idx="1"/>
            <a:endCxn id="5" idx="3"/>
          </p:cNvCxnSpPr>
          <p:nvPr/>
        </p:nvCxnSpPr>
        <p:spPr>
          <a:xfrm flipH="1">
            <a:off x="5332442" y="3093391"/>
            <a:ext cx="1576351" cy="10819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矩形标注 18"/>
          <p:cNvSpPr/>
          <p:nvPr/>
        </p:nvSpPr>
        <p:spPr>
          <a:xfrm>
            <a:off x="6019913" y="4161228"/>
            <a:ext cx="2549150" cy="733932"/>
          </a:xfrm>
          <a:prstGeom prst="wedgeRectCallout">
            <a:avLst>
              <a:gd name="adj1" fmla="val -75106"/>
              <a:gd name="adj2" fmla="val -3558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这个单元不一定有效！</a:t>
            </a:r>
          </a:p>
        </p:txBody>
      </p:sp>
    </p:spTree>
    <p:extLst>
      <p:ext uri="{BB962C8B-B14F-4D97-AF65-F5344CB8AC3E}">
        <p14:creationId xmlns:p14="http://schemas.microsoft.com/office/powerpoint/2010/main" val="266426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 animBg="1"/>
      <p:bldP spid="8" grpId="0"/>
      <p:bldP spid="9" grpId="0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指针的算术运算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两个指针的</a:t>
            </a:r>
            <a:r>
              <a:rPr lang="zh-CN" altLang="en-US" b="1" dirty="0">
                <a:solidFill>
                  <a:srgbClr val="FF0000"/>
                </a:solidFill>
              </a:rPr>
              <a:t>加法、乘法和除法</a:t>
            </a:r>
            <a:r>
              <a:rPr lang="zh-CN" altLang="en-US" dirty="0"/>
              <a:t>是</a:t>
            </a:r>
            <a:r>
              <a:rPr lang="zh-CN" altLang="en-US" b="1" dirty="0">
                <a:solidFill>
                  <a:srgbClr val="FF0000"/>
                </a:solidFill>
              </a:rPr>
              <a:t>无意义</a:t>
            </a:r>
            <a:r>
              <a:rPr lang="zh-CN" altLang="en-US" dirty="0"/>
              <a:t>的！</a:t>
            </a:r>
            <a:endParaRPr lang="en-US" altLang="zh-CN" dirty="0"/>
          </a:p>
          <a:p>
            <a:r>
              <a:rPr lang="zh-CN" altLang="en-US" dirty="0"/>
              <a:t>两个指针的</a:t>
            </a:r>
            <a:r>
              <a:rPr lang="zh-CN" altLang="en-US" b="1" dirty="0">
                <a:solidFill>
                  <a:srgbClr val="FF0000"/>
                </a:solidFill>
              </a:rPr>
              <a:t>减法</a:t>
            </a:r>
            <a:r>
              <a:rPr lang="zh-CN" altLang="en-US" dirty="0"/>
              <a:t>是</a:t>
            </a:r>
            <a:r>
              <a:rPr lang="zh-CN" altLang="en-US" b="1" dirty="0">
                <a:solidFill>
                  <a:srgbClr val="FF0000"/>
                </a:solidFill>
              </a:rPr>
              <a:t>有意义</a:t>
            </a:r>
            <a:r>
              <a:rPr lang="zh-CN" altLang="en-US" dirty="0"/>
              <a:t>的，能得到一个整数值，表示两个指针之间的距离（以单元而不是字节计）。</a:t>
            </a:r>
            <a:endParaRPr lang="en-US" altLang="zh-CN" dirty="0"/>
          </a:p>
          <a:p>
            <a:r>
              <a:rPr lang="zh-CN" altLang="en-US" dirty="0"/>
              <a:t>问题：两个指针</a:t>
            </a:r>
            <a:r>
              <a:rPr lang="en-US" altLang="zh-CN" dirty="0"/>
              <a:t>p</a:t>
            </a:r>
            <a:r>
              <a:rPr lang="zh-CN" altLang="en-US" dirty="0"/>
              <a:t>和</a:t>
            </a:r>
            <a:r>
              <a:rPr lang="en-US" altLang="zh-CN" dirty="0"/>
              <a:t>q</a:t>
            </a:r>
            <a:r>
              <a:rPr lang="zh-CN" altLang="en-US" dirty="0"/>
              <a:t>分别指向一个区段的首尾单元，求中间单元的地址</a:t>
            </a:r>
            <a:endParaRPr lang="en-US" altLang="zh-CN" dirty="0"/>
          </a:p>
          <a:p>
            <a:pPr marL="0" indent="0" algn="ctr">
              <a:buNone/>
            </a:pPr>
            <a:r>
              <a:rPr lang="en-US" altLang="zh-CN" sz="2800" b="1" dirty="0"/>
              <a:t>(p + q) / 2</a:t>
            </a:r>
          </a:p>
          <a:p>
            <a:pPr marL="0" indent="0" algn="ctr"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p + (q - p) / 2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05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指针的条件运算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*p, *q;</a:t>
            </a:r>
          </a:p>
          <a:p>
            <a:r>
              <a:rPr lang="en-US" altLang="zh-CN" dirty="0"/>
              <a:t>p &gt; q</a:t>
            </a:r>
            <a:r>
              <a:rPr lang="zh-CN" altLang="en-US" dirty="0"/>
              <a:t>：比较地址</a:t>
            </a:r>
            <a:r>
              <a:rPr lang="en-US" altLang="zh-CN" dirty="0"/>
              <a:t>p</a:t>
            </a:r>
            <a:r>
              <a:rPr lang="zh-CN" altLang="en-US" dirty="0"/>
              <a:t>是否大于地址</a:t>
            </a:r>
            <a:r>
              <a:rPr lang="en-US" altLang="zh-CN" dirty="0"/>
              <a:t>q</a:t>
            </a:r>
            <a:r>
              <a:rPr lang="zh-CN" altLang="en-US" dirty="0"/>
              <a:t>，即</a:t>
            </a:r>
            <a:r>
              <a:rPr lang="en-US" altLang="zh-CN" dirty="0"/>
              <a:t>p</a:t>
            </a:r>
            <a:r>
              <a:rPr lang="zh-CN" altLang="en-US" dirty="0"/>
              <a:t>指向的对象在内存中是否在</a:t>
            </a:r>
            <a:r>
              <a:rPr lang="en-US" altLang="zh-CN" dirty="0"/>
              <a:t>q</a:t>
            </a:r>
            <a:r>
              <a:rPr lang="zh-CN" altLang="en-US" dirty="0"/>
              <a:t>指向的对象之后</a:t>
            </a:r>
            <a:endParaRPr lang="en-US" altLang="zh-CN" dirty="0"/>
          </a:p>
          <a:p>
            <a:r>
              <a:rPr lang="en-US" altLang="zh-CN" dirty="0"/>
              <a:t>p == q</a:t>
            </a:r>
            <a:r>
              <a:rPr lang="zh-CN" altLang="en-US" dirty="0"/>
              <a:t>：比较两个地址是否相等，即两个指针是否指向了同一个对象</a:t>
            </a:r>
          </a:p>
        </p:txBody>
      </p:sp>
    </p:spTree>
    <p:extLst>
      <p:ext uri="{BB962C8B-B14F-4D97-AF65-F5344CB8AC3E}">
        <p14:creationId xmlns:p14="http://schemas.microsoft.com/office/powerpoint/2010/main" val="3840239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</a:t>
            </a:r>
            <a:r>
              <a:rPr lang="zh-CN" altLang="en-US" dirty="0"/>
              <a:t>和</a:t>
            </a:r>
            <a:r>
              <a:rPr lang="en-US" altLang="zh-CN" dirty="0"/>
              <a:t>++</a:t>
            </a:r>
            <a:r>
              <a:rPr lang="zh-CN" altLang="en-US" dirty="0"/>
              <a:t>运算符的组合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int a = 0, *p = &amp;a;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++*p </a:t>
            </a:r>
            <a:r>
              <a:rPr lang="en-US" altLang="zh-CN" dirty="0">
                <a:sym typeface="Wingdings" panose="05000000000000000000" pitchFamily="2" charset="2"/>
              </a:rPr>
              <a:t> ++(*p)</a:t>
            </a:r>
            <a:r>
              <a:rPr lang="zh-CN" altLang="en-US" dirty="0">
                <a:sym typeface="Wingdings" panose="05000000000000000000" pitchFamily="2" charset="2"/>
              </a:rPr>
              <a:t>，表达式的结果为自增</a:t>
            </a:r>
            <a:r>
              <a:rPr lang="en-US" altLang="zh-CN" dirty="0">
                <a:sym typeface="Wingdings" panose="05000000000000000000" pitchFamily="2" charset="2"/>
              </a:rPr>
              <a:t>p</a:t>
            </a:r>
            <a:r>
              <a:rPr lang="zh-CN" altLang="en-US" dirty="0">
                <a:sym typeface="Wingdings" panose="05000000000000000000" pitchFamily="2" charset="2"/>
              </a:rPr>
              <a:t>指向的对象的值，</a:t>
            </a:r>
            <a:r>
              <a:rPr lang="en-US" altLang="zh-CN" dirty="0">
                <a:sym typeface="Wingdings" panose="05000000000000000000" pitchFamily="2" charset="2"/>
              </a:rPr>
              <a:t>p</a:t>
            </a:r>
            <a:r>
              <a:rPr lang="zh-CN" altLang="en-US" dirty="0">
                <a:sym typeface="Wingdings" panose="05000000000000000000" pitchFamily="2" charset="2"/>
              </a:rPr>
              <a:t>不变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zh-CN" altLang="en-US" dirty="0">
                <a:sym typeface="Wingdings" panose="05000000000000000000" pitchFamily="2" charset="2"/>
              </a:rPr>
              <a:t>的值自增为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</a:p>
          <a:p>
            <a:pPr marL="0" indent="0">
              <a:buNone/>
            </a:pPr>
            <a:r>
              <a:rPr lang="en-US" altLang="zh-CN" dirty="0">
                <a:sym typeface="Wingdings" panose="05000000000000000000" pitchFamily="2" charset="2"/>
              </a:rPr>
              <a:t>*p++  t = p, ++p, *t</a:t>
            </a:r>
            <a:r>
              <a:rPr lang="zh-CN" altLang="en-US" dirty="0">
                <a:sym typeface="Wingdings" panose="05000000000000000000" pitchFamily="2" charset="2"/>
              </a:rPr>
              <a:t>。表达式的结果为</a:t>
            </a:r>
            <a:r>
              <a:rPr lang="en-US" altLang="zh-CN" dirty="0">
                <a:sym typeface="Wingdings" panose="05000000000000000000" pitchFamily="2" charset="2"/>
              </a:rPr>
              <a:t>p</a:t>
            </a:r>
            <a:r>
              <a:rPr lang="zh-CN" altLang="en-US" dirty="0">
                <a:sym typeface="Wingdings" panose="05000000000000000000" pitchFamily="2" charset="2"/>
              </a:rPr>
              <a:t>自增前指向对象的值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整个表达式的值为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zh-CN" altLang="en-US" dirty="0">
                <a:sym typeface="Wingdings" panose="05000000000000000000" pitchFamily="2" charset="2"/>
              </a:rPr>
              <a:t>的值（即</a:t>
            </a:r>
            <a:r>
              <a:rPr lang="en-US" altLang="zh-CN" dirty="0">
                <a:sym typeface="Wingdings" panose="05000000000000000000" pitchFamily="2" charset="2"/>
              </a:rPr>
              <a:t>0</a:t>
            </a:r>
            <a:r>
              <a:rPr lang="zh-CN" altLang="en-US" dirty="0">
                <a:sym typeface="Wingdings" panose="05000000000000000000" pitchFamily="2" charset="2"/>
              </a:rPr>
              <a:t>），</a:t>
            </a:r>
            <a:r>
              <a:rPr lang="en-US" altLang="zh-CN" dirty="0">
                <a:sym typeface="Wingdings" panose="05000000000000000000" pitchFamily="2" charset="2"/>
              </a:rPr>
              <a:t>p</a:t>
            </a:r>
            <a:r>
              <a:rPr lang="zh-CN" altLang="en-US" dirty="0">
                <a:sym typeface="Wingdings" panose="05000000000000000000" pitchFamily="2" charset="2"/>
              </a:rPr>
              <a:t>自增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90243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877</TotalTime>
  <Words>965</Words>
  <Application>Microsoft Office PowerPoint</Application>
  <PresentationFormat>宽屏</PresentationFormat>
  <Paragraphs>169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3" baseType="lpstr">
      <vt:lpstr>Arial</vt:lpstr>
      <vt:lpstr>Consolas</vt:lpstr>
      <vt:lpstr>Wingdings</vt:lpstr>
      <vt:lpstr>Office 主题​​</vt:lpstr>
      <vt:lpstr>指针</vt:lpstr>
      <vt:lpstr>背景知识</vt:lpstr>
      <vt:lpstr>背景知识</vt:lpstr>
      <vt:lpstr>指针变量</vt:lpstr>
      <vt:lpstr>课堂练习1</vt:lpstr>
      <vt:lpstr>指针变量的类型</vt:lpstr>
      <vt:lpstr>取地址和间接访问</vt:lpstr>
      <vt:lpstr>常见的指针使用错误之一</vt:lpstr>
      <vt:lpstr>原则上指针需要初始化</vt:lpstr>
      <vt:lpstr>Const修饰的指针</vt:lpstr>
      <vt:lpstr>Const修饰的指针</vt:lpstr>
      <vt:lpstr>Const修饰的指针</vt:lpstr>
      <vt:lpstr>指针运算</vt:lpstr>
      <vt:lpstr>指针运算</vt:lpstr>
      <vt:lpstr>指针的算术运算</vt:lpstr>
      <vt:lpstr>指针的算术运算</vt:lpstr>
      <vt:lpstr>指针的算术运算</vt:lpstr>
      <vt:lpstr>指针的条件运算</vt:lpstr>
      <vt:lpstr>*和++运算符的组合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448</cp:revision>
  <dcterms:created xsi:type="dcterms:W3CDTF">2021-10-07T04:52:51Z</dcterms:created>
  <dcterms:modified xsi:type="dcterms:W3CDTF">2025-10-12T11:20:20Z</dcterms:modified>
</cp:coreProperties>
</file>