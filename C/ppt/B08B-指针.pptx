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75" r:id="rId3"/>
    <p:sldId id="277" r:id="rId4"/>
    <p:sldId id="280" r:id="rId5"/>
    <p:sldId id="278" r:id="rId6"/>
    <p:sldId id="281" r:id="rId7"/>
    <p:sldId id="297" r:id="rId8"/>
    <p:sldId id="298" r:id="rId9"/>
    <p:sldId id="299" r:id="rId10"/>
    <p:sldId id="282" r:id="rId11"/>
    <p:sldId id="283" r:id="rId12"/>
    <p:sldId id="284" r:id="rId13"/>
    <p:sldId id="290" r:id="rId14"/>
    <p:sldId id="285" r:id="rId15"/>
    <p:sldId id="291" r:id="rId16"/>
    <p:sldId id="286" r:id="rId17"/>
    <p:sldId id="287" r:id="rId18"/>
    <p:sldId id="288" r:id="rId19"/>
    <p:sldId id="28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6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5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5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4426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31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0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49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37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6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6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2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7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指针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指针指向数组元素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a[10];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*p;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 = &amp;a[0];</a:t>
            </a:r>
          </a:p>
          <a:p>
            <a:pPr marL="0" indent="0">
              <a:buNone/>
            </a:pPr>
            <a:r>
              <a:rPr lang="en-US" altLang="zh-CN" dirty="0"/>
              <a:t>++p;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639431"/>
              </p:ext>
            </p:extLst>
          </p:nvPr>
        </p:nvGraphicFramePr>
        <p:xfrm>
          <a:off x="5361015" y="2551663"/>
          <a:ext cx="218331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3319">
                  <a:extLst>
                    <a:ext uri="{9D8B030D-6E8A-4147-A177-3AD203B41FA5}">
                      <a16:colId xmlns:a16="http://schemas.microsoft.com/office/drawing/2014/main" val="186633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64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71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53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84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12474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045403"/>
              </p:ext>
            </p:extLst>
          </p:nvPr>
        </p:nvGraphicFramePr>
        <p:xfrm>
          <a:off x="4437968" y="2551663"/>
          <a:ext cx="923047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047">
                  <a:extLst>
                    <a:ext uri="{9D8B030D-6E8A-4147-A177-3AD203B41FA5}">
                      <a16:colId xmlns:a16="http://schemas.microsoft.com/office/drawing/2014/main" val="186633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64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71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53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84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12474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502819" y="1981155"/>
            <a:ext cx="304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下标         内容</a:t>
            </a:r>
          </a:p>
        </p:txBody>
      </p:sp>
      <p:sp>
        <p:nvSpPr>
          <p:cNvPr id="7" name="矩形 6"/>
          <p:cNvSpPr/>
          <p:nvPr/>
        </p:nvSpPr>
        <p:spPr>
          <a:xfrm>
            <a:off x="8450856" y="2634074"/>
            <a:ext cx="842803" cy="3279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357378" y="2604517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p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9" name="直接箭头连接符 8"/>
          <p:cNvCxnSpPr>
            <a:stCxn id="7" idx="1"/>
          </p:cNvCxnSpPr>
          <p:nvPr/>
        </p:nvCxnSpPr>
        <p:spPr>
          <a:xfrm flipH="1" flipV="1">
            <a:off x="7544334" y="2780308"/>
            <a:ext cx="906522" cy="17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1"/>
          </p:cNvCxnSpPr>
          <p:nvPr/>
        </p:nvCxnSpPr>
        <p:spPr>
          <a:xfrm flipH="1">
            <a:off x="7544334" y="2798058"/>
            <a:ext cx="906522" cy="3102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矩形标注 16"/>
          <p:cNvSpPr/>
          <p:nvPr/>
        </p:nvSpPr>
        <p:spPr>
          <a:xfrm>
            <a:off x="8201265" y="3637864"/>
            <a:ext cx="2184788" cy="991406"/>
          </a:xfrm>
          <a:prstGeom prst="wedgeRectCallout">
            <a:avLst>
              <a:gd name="adj1" fmla="val -57255"/>
              <a:gd name="adj2" fmla="val -909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数组在存储上的连续性可以支持这个操作</a:t>
            </a:r>
          </a:p>
        </p:txBody>
      </p:sp>
    </p:spTree>
    <p:extLst>
      <p:ext uri="{BB962C8B-B14F-4D97-AF65-F5344CB8AC3E}">
        <p14:creationId xmlns:p14="http://schemas.microsoft.com/office/powerpoint/2010/main" val="106039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数组名和指针的关系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a[10];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数组名</a:t>
            </a:r>
            <a:r>
              <a:rPr lang="en-US" altLang="zh-CN" dirty="0"/>
              <a:t>a</a:t>
            </a:r>
            <a:r>
              <a:rPr lang="zh-CN" altLang="en-US" dirty="0"/>
              <a:t>被视为是一个</a:t>
            </a:r>
            <a:r>
              <a:rPr lang="zh-CN" altLang="en-US" b="1" dirty="0">
                <a:solidFill>
                  <a:srgbClr val="FF0000"/>
                </a:solidFill>
              </a:rPr>
              <a:t>常量</a:t>
            </a:r>
            <a:r>
              <a:rPr lang="zh-CN" altLang="en-US" dirty="0"/>
              <a:t>指针，其值恒等于</a:t>
            </a:r>
            <a:r>
              <a:rPr lang="en-US" altLang="zh-CN" dirty="0"/>
              <a:t>&amp;a[0]</a:t>
            </a:r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*a = 7; //</a:t>
            </a:r>
            <a:r>
              <a:rPr lang="zh-CN" altLang="en-US" dirty="0"/>
              <a:t>将</a:t>
            </a:r>
            <a:r>
              <a:rPr lang="en-US" altLang="zh-CN" dirty="0"/>
              <a:t>7</a:t>
            </a:r>
            <a:r>
              <a:rPr lang="zh-CN" altLang="en-US" dirty="0"/>
              <a:t>赋给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0</a:t>
            </a:r>
            <a:r>
              <a:rPr lang="zh-CN" altLang="en-US" dirty="0"/>
              <a:t>号单元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*(a+1) = 12; //a+1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r>
              <a:rPr lang="zh-CN" altLang="en-US" dirty="0"/>
              <a:t>号单元的地址</a:t>
            </a:r>
          </a:p>
        </p:txBody>
      </p:sp>
    </p:spTree>
    <p:extLst>
      <p:ext uri="{BB962C8B-B14F-4D97-AF65-F5344CB8AC3E}">
        <p14:creationId xmlns:p14="http://schemas.microsoft.com/office/powerpoint/2010/main" val="1507322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</a:t>
            </a:r>
            <a:r>
              <a:rPr lang="zh-CN" altLang="en-US" b="1" dirty="0">
                <a:solidFill>
                  <a:srgbClr val="FF0000"/>
                </a:solidFill>
              </a:rPr>
              <a:t>一维数组元素</a:t>
            </a:r>
            <a:r>
              <a:rPr lang="zh-CN" altLang="en-US" dirty="0"/>
              <a:t>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指向数组元素的指针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a[10], *p = a;</a:t>
            </a:r>
          </a:p>
          <a:p>
            <a:r>
              <a:rPr lang="en-US" altLang="zh-CN" dirty="0"/>
              <a:t>p</a:t>
            </a:r>
            <a:r>
              <a:rPr lang="zh-CN" altLang="en-US" dirty="0"/>
              <a:t>的类型是 </a:t>
            </a:r>
            <a:r>
              <a:rPr lang="en-US" altLang="zh-CN" b="1" i="1" dirty="0">
                <a:solidFill>
                  <a:srgbClr val="FF0000"/>
                </a:solidFill>
              </a:rPr>
              <a:t>int*</a:t>
            </a:r>
            <a:r>
              <a:rPr lang="zh-CN" altLang="en-US" dirty="0"/>
              <a:t>，其基类型是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因此，在</a:t>
            </a:r>
            <a:r>
              <a:rPr lang="en-US" altLang="zh-CN" dirty="0"/>
              <a:t>p</a:t>
            </a:r>
            <a:r>
              <a:rPr lang="zh-CN" altLang="en-US" dirty="0"/>
              <a:t>“眼中”，它指向的是</a:t>
            </a:r>
            <a:r>
              <a:rPr lang="zh-CN" altLang="en-US" b="1" dirty="0">
                <a:solidFill>
                  <a:srgbClr val="FF0000"/>
                </a:solidFill>
              </a:rPr>
              <a:t>单个</a:t>
            </a:r>
            <a:r>
              <a:rPr lang="zh-CN" altLang="en-US" dirty="0"/>
              <a:t>整数单元；它并不“知道”数组有多长。</a:t>
            </a:r>
            <a:endParaRPr lang="en-US" altLang="zh-CN" dirty="0"/>
          </a:p>
          <a:p>
            <a:r>
              <a:rPr lang="en-US" altLang="zh-CN" dirty="0"/>
              <a:t>++p</a:t>
            </a:r>
            <a:r>
              <a:rPr lang="zh-CN" altLang="en-US" dirty="0"/>
              <a:t>将使</a:t>
            </a:r>
            <a:r>
              <a:rPr lang="en-US" altLang="zh-CN" dirty="0"/>
              <a:t>p</a:t>
            </a:r>
            <a:r>
              <a:rPr lang="zh-CN" altLang="en-US" dirty="0"/>
              <a:t>跳过</a:t>
            </a:r>
            <a:r>
              <a:rPr lang="zh-CN" altLang="en-US" b="1" dirty="0">
                <a:solidFill>
                  <a:srgbClr val="FF0000"/>
                </a:solidFill>
              </a:rPr>
              <a:t>一个</a:t>
            </a:r>
            <a:r>
              <a:rPr lang="en-US" altLang="zh-CN" dirty="0" err="1"/>
              <a:t>int</a:t>
            </a:r>
            <a:r>
              <a:rPr lang="zh-CN" altLang="en-US" dirty="0"/>
              <a:t>单元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185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</a:t>
            </a:r>
            <a:r>
              <a:rPr lang="zh-CN" altLang="en-US" b="1" dirty="0">
                <a:solidFill>
                  <a:srgbClr val="FF0000"/>
                </a:solidFill>
              </a:rPr>
              <a:t>一维数组元素</a:t>
            </a:r>
            <a:r>
              <a:rPr lang="zh-CN" altLang="en-US" dirty="0"/>
              <a:t>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a[10], *p = a; //</a:t>
            </a:r>
            <a:r>
              <a:rPr lang="zh-CN" altLang="en-US" sz="2000" dirty="0"/>
              <a:t>等价于 </a:t>
            </a:r>
            <a:r>
              <a:rPr lang="en-US" altLang="zh-CN" sz="2000" dirty="0"/>
              <a:t>p = &amp;a[0]</a:t>
            </a:r>
            <a:r>
              <a:rPr lang="zh-CN" altLang="en-US" sz="2000" dirty="0"/>
              <a:t>，因为</a:t>
            </a:r>
            <a:r>
              <a:rPr lang="en-US" altLang="zh-CN" sz="2000" dirty="0"/>
              <a:t>a</a:t>
            </a:r>
            <a:r>
              <a:rPr lang="zh-CN" altLang="en-US" sz="2000" dirty="0"/>
              <a:t>代表了</a:t>
            </a:r>
            <a:r>
              <a:rPr lang="en-US" altLang="zh-CN" sz="2000" dirty="0"/>
              <a:t>a[0]</a:t>
            </a:r>
            <a:r>
              <a:rPr lang="zh-CN" altLang="en-US" sz="2000" dirty="0"/>
              <a:t>的地址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/>
              <a:t>p </a:t>
            </a:r>
            <a:r>
              <a:rPr lang="en-US" altLang="zh-CN" sz="2000" dirty="0">
                <a:sym typeface="Wingdings" panose="05000000000000000000" pitchFamily="2" charset="2"/>
              </a:rPr>
              <a:t>=== a === &amp;a[0]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ym typeface="Wingdings" panose="05000000000000000000" pitchFamily="2" charset="2"/>
              </a:rPr>
              <a:t>*p === *a === a[0]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ym typeface="Wingdings" panose="05000000000000000000" pitchFamily="2" charset="2"/>
              </a:rPr>
              <a:t>p[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] === a[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]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ym typeface="Wingdings" panose="05000000000000000000" pitchFamily="2" charset="2"/>
              </a:rPr>
              <a:t>p +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 === a +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  ===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 + p ===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 + a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ym typeface="Wingdings" panose="05000000000000000000" pitchFamily="2" charset="2"/>
              </a:rPr>
              <a:t>*(p +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) === *(a +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) === a[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]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[a] === a[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dirty="0">
                <a:sym typeface="Wingdings" panose="05000000000000000000" pitchFamily="2" charset="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1685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</a:t>
            </a:r>
            <a:r>
              <a:rPr lang="zh-CN" altLang="en-US" b="1" dirty="0">
                <a:solidFill>
                  <a:srgbClr val="FF0000"/>
                </a:solidFill>
              </a:rPr>
              <a:t>一维数组</a:t>
            </a:r>
            <a:r>
              <a:rPr lang="zh-CN" altLang="en-US" dirty="0"/>
              <a:t>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如果将数组作为</a:t>
            </a:r>
            <a:r>
              <a:rPr lang="zh-CN" altLang="en-US" b="1" dirty="0">
                <a:solidFill>
                  <a:srgbClr val="FF0000"/>
                </a:solidFill>
              </a:rPr>
              <a:t>整体</a:t>
            </a:r>
            <a:r>
              <a:rPr lang="zh-CN" altLang="en-US" dirty="0"/>
              <a:t>看待，并且用一个指针指向，那么这个指针就是“</a:t>
            </a:r>
            <a:r>
              <a:rPr lang="zh-CN" altLang="en-US" b="1" dirty="0">
                <a:solidFill>
                  <a:srgbClr val="FF0000"/>
                </a:solidFill>
              </a:rPr>
              <a:t>指向数组的指针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数组的类型。如果有：</a:t>
            </a:r>
            <a:r>
              <a:rPr lang="en-US" altLang="zh-CN" dirty="0" err="1"/>
              <a:t>int</a:t>
            </a:r>
            <a:r>
              <a:rPr lang="en-US" altLang="zh-CN" dirty="0"/>
              <a:t> a[10]; </a:t>
            </a:r>
            <a:r>
              <a:rPr lang="zh-CN" altLang="en-US" dirty="0"/>
              <a:t>那么</a:t>
            </a:r>
            <a:r>
              <a:rPr lang="en-US" altLang="zh-CN" dirty="0"/>
              <a:t>a</a:t>
            </a:r>
            <a:r>
              <a:rPr lang="zh-CN" altLang="en-US" dirty="0"/>
              <a:t>的类型是：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sz="3600" b="1" i="1" dirty="0" err="1">
                <a:solidFill>
                  <a:srgbClr val="FF0000"/>
                </a:solidFill>
              </a:rPr>
              <a:t>int</a:t>
            </a:r>
            <a:r>
              <a:rPr lang="en-US" altLang="zh-CN" sz="3600" b="1" i="1" dirty="0">
                <a:solidFill>
                  <a:srgbClr val="FF0000"/>
                </a:solidFill>
              </a:rPr>
              <a:t> [10]</a:t>
            </a:r>
          </a:p>
          <a:p>
            <a:r>
              <a:rPr lang="zh-CN" altLang="en-US" dirty="0"/>
              <a:t>如果</a:t>
            </a:r>
            <a:r>
              <a:rPr lang="en-US" altLang="zh-CN" dirty="0"/>
              <a:t>p</a:t>
            </a:r>
            <a:r>
              <a:rPr lang="zh-CN" altLang="en-US" dirty="0"/>
              <a:t>是一个指向数组（整体）的指针，那么它的基类型就应该这个</a:t>
            </a:r>
          </a:p>
        </p:txBody>
      </p:sp>
    </p:spTree>
    <p:extLst>
      <p:ext uri="{BB962C8B-B14F-4D97-AF65-F5344CB8AC3E}">
        <p14:creationId xmlns:p14="http://schemas.microsoft.com/office/powerpoint/2010/main" val="17783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D86C8-A46E-43D2-5925-8D6937C9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07142-E51F-B755-2F87-6FAFC79F0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使用指针，将一个数组逆序，并存储在原数组中。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19CF7449-86AB-4841-0F8F-B6AD17DC8A5D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reverse-</a:t>
            </a:r>
            <a:r>
              <a:rPr lang="en-US" altLang="zh-CN" sz="1400" dirty="0" err="1">
                <a:latin typeface="Consolas" panose="020B0609020204030204" pitchFamily="49" charset="0"/>
              </a:rPr>
              <a:t>array.c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331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27204-40DA-CC3A-DC10-E4D8688C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3C786-CED4-A285-8612-1B40B227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87F007-36C8-286A-BF18-5FA00FD49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使用指针来遍历数组：从键盘输入一个键值，查找它在数组中是否存在。如果在，输出位置（下标）；否则输出“</a:t>
            </a:r>
            <a:r>
              <a:rPr lang="en-US" altLang="zh-CN" dirty="0"/>
              <a:t>not found</a:t>
            </a:r>
            <a:r>
              <a:rPr lang="zh-CN" altLang="en-US" dirty="0"/>
              <a:t>”。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A4AC82A-C2B0-E388-5C47-91F7B4744963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find-</a:t>
            </a:r>
            <a:r>
              <a:rPr lang="en-US" altLang="zh-CN" sz="1400" dirty="0" err="1">
                <a:latin typeface="Consolas" panose="020B0609020204030204" pitchFamily="49" charset="0"/>
              </a:rPr>
              <a:t>seq.c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740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51ED-D444-D94F-ABBC-04BEB53E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3E9E-4099-FBD3-F262-11C3DF8D8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9EE489-6B5E-868D-EFF2-D01365A7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使用指针来遍历数组：从键盘输入一个键值，查找它在有序数组中是否存在。如果在，输出位置（下标）；否则输出“</a:t>
            </a:r>
            <a:r>
              <a:rPr lang="en-US" altLang="zh-CN" dirty="0"/>
              <a:t>not found</a:t>
            </a:r>
            <a:r>
              <a:rPr lang="zh-CN" altLang="en-US" dirty="0"/>
              <a:t>”。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E177B4D-6CDA-26B7-31D9-42E64968464F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find-</a:t>
            </a:r>
            <a:r>
              <a:rPr lang="en-US" altLang="zh-CN" sz="1400" dirty="0" err="1">
                <a:latin typeface="Consolas" panose="020B0609020204030204" pitchFamily="49" charset="0"/>
              </a:rPr>
              <a:t>binary.c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14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</a:t>
            </a:r>
            <a:r>
              <a:rPr lang="zh-CN" altLang="en-US" b="1" dirty="0">
                <a:solidFill>
                  <a:srgbClr val="FF0000"/>
                </a:solidFill>
              </a:rPr>
              <a:t>一维数组</a:t>
            </a:r>
            <a:r>
              <a:rPr lang="zh-CN" altLang="en-US" dirty="0"/>
              <a:t>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因此，指向数组的指针的定义为：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sz="4400" b="1" i="1" dirty="0" err="1">
                <a:solidFill>
                  <a:srgbClr val="FF0000"/>
                </a:solidFill>
              </a:rPr>
              <a:t>int</a:t>
            </a:r>
            <a:r>
              <a:rPr lang="en-US" altLang="zh-CN" sz="4400" b="1" i="1" dirty="0">
                <a:solidFill>
                  <a:srgbClr val="FF0000"/>
                </a:solidFill>
              </a:rPr>
              <a:t> (*p)[10];</a:t>
            </a:r>
          </a:p>
          <a:p>
            <a:r>
              <a:rPr lang="zh-CN" altLang="en-US" dirty="0"/>
              <a:t>类型解读</a:t>
            </a:r>
            <a:endParaRPr lang="en-US" altLang="zh-CN" dirty="0"/>
          </a:p>
          <a:p>
            <a:pPr lvl="1"/>
            <a:r>
              <a:rPr lang="zh-CN" altLang="en-US" dirty="0"/>
              <a:t>定义中的新符号是</a:t>
            </a:r>
            <a:r>
              <a:rPr lang="en-US" altLang="zh-CN" dirty="0"/>
              <a:t>p</a:t>
            </a:r>
          </a:p>
          <a:p>
            <a:pPr lvl="1"/>
            <a:r>
              <a:rPr lang="en-US" altLang="zh-CN" dirty="0"/>
              <a:t>()</a:t>
            </a:r>
            <a:r>
              <a:rPr lang="zh-CN" altLang="en-US" dirty="0"/>
              <a:t>迫使</a:t>
            </a:r>
            <a:r>
              <a:rPr lang="en-US" altLang="zh-CN" dirty="0"/>
              <a:t>p</a:t>
            </a:r>
            <a:r>
              <a:rPr lang="zh-CN" altLang="en-US" dirty="0"/>
              <a:t>先与</a:t>
            </a:r>
            <a:r>
              <a:rPr lang="en-US" altLang="zh-CN" b="1" i="1" dirty="0">
                <a:solidFill>
                  <a:srgbClr val="FF0000"/>
                </a:solidFill>
              </a:rPr>
              <a:t>*</a:t>
            </a:r>
            <a:r>
              <a:rPr lang="zh-CN" altLang="en-US" dirty="0"/>
              <a:t>结合，因此</a:t>
            </a:r>
            <a:r>
              <a:rPr lang="en-US" altLang="zh-CN" dirty="0"/>
              <a:t>p</a:t>
            </a:r>
            <a:r>
              <a:rPr lang="zh-CN" altLang="en-US" dirty="0"/>
              <a:t>一定是个指针</a:t>
            </a:r>
            <a:endParaRPr lang="en-US" altLang="zh-CN" dirty="0"/>
          </a:p>
          <a:p>
            <a:pPr lvl="1"/>
            <a:r>
              <a:rPr lang="zh-CN" altLang="en-US" dirty="0"/>
              <a:t>剩下的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i="1" dirty="0">
                <a:solidFill>
                  <a:srgbClr val="FF0000"/>
                </a:solidFill>
              </a:rPr>
              <a:t>[10]</a:t>
            </a:r>
            <a:r>
              <a:rPr lang="zh-CN" altLang="en-US" dirty="0"/>
              <a:t>就是</a:t>
            </a:r>
            <a:r>
              <a:rPr lang="en-US" altLang="zh-CN" dirty="0"/>
              <a:t>p</a:t>
            </a:r>
            <a:r>
              <a:rPr lang="zh-CN" altLang="en-US" dirty="0"/>
              <a:t>的基类型。很明显，这是一个一维数组类型</a:t>
            </a:r>
            <a:endParaRPr lang="en-US" altLang="zh-CN" dirty="0"/>
          </a:p>
          <a:p>
            <a:pPr lvl="1"/>
            <a:r>
              <a:rPr lang="zh-CN" altLang="en-US" dirty="0"/>
              <a:t>因此，指针</a:t>
            </a:r>
            <a:r>
              <a:rPr lang="en-US" altLang="zh-CN" dirty="0"/>
              <a:t>p</a:t>
            </a:r>
            <a:r>
              <a:rPr lang="zh-CN" altLang="en-US" dirty="0"/>
              <a:t>指向了一个长度为</a:t>
            </a:r>
            <a:r>
              <a:rPr lang="en-US" altLang="zh-CN" dirty="0"/>
              <a:t>10</a:t>
            </a:r>
            <a:r>
              <a:rPr lang="zh-CN" altLang="en-US" dirty="0"/>
              <a:t>的一维整型数组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1289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</a:t>
            </a:r>
            <a:r>
              <a:rPr lang="zh-CN" altLang="en-US" b="1" dirty="0">
                <a:solidFill>
                  <a:srgbClr val="FF0000"/>
                </a:solidFill>
              </a:rPr>
              <a:t>一维数组</a:t>
            </a:r>
            <a:r>
              <a:rPr lang="zh-CN" altLang="en-US" dirty="0"/>
              <a:t>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zh-CN" altLang="en-US" dirty="0"/>
              <a:t>的初始化。对比定义：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 [10];</a:t>
            </a:r>
          </a:p>
          <a:p>
            <a:pPr marL="0" indent="0" algn="ctr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(*p)</a:t>
            </a:r>
            <a:r>
              <a:rPr lang="en-US" altLang="zh-CN" dirty="0"/>
              <a:t>[10];</a:t>
            </a:r>
          </a:p>
          <a:p>
            <a:r>
              <a:rPr lang="zh-CN" altLang="en-US" dirty="0"/>
              <a:t>如果要是</a:t>
            </a:r>
            <a:r>
              <a:rPr lang="en-US" altLang="zh-CN" dirty="0"/>
              <a:t>p</a:t>
            </a:r>
            <a:r>
              <a:rPr lang="zh-CN" altLang="en-US" dirty="0"/>
              <a:t>指向</a:t>
            </a:r>
            <a:r>
              <a:rPr lang="en-US" altLang="zh-CN" dirty="0"/>
              <a:t>a</a:t>
            </a:r>
            <a:r>
              <a:rPr lang="zh-CN" altLang="en-US" dirty="0"/>
              <a:t>，那么</a:t>
            </a:r>
            <a:r>
              <a:rPr lang="en-US" altLang="zh-CN" dirty="0"/>
              <a:t>*p</a:t>
            </a:r>
            <a:r>
              <a:rPr lang="zh-CN" altLang="en-US" dirty="0"/>
              <a:t>和</a:t>
            </a:r>
            <a:r>
              <a:rPr lang="en-US" altLang="zh-CN" dirty="0"/>
              <a:t>a</a:t>
            </a:r>
            <a:r>
              <a:rPr lang="zh-CN" altLang="en-US" dirty="0"/>
              <a:t>就是等价的，那么有：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sz="3200" b="1" i="1" dirty="0">
                <a:solidFill>
                  <a:srgbClr val="FF0000"/>
                </a:solidFill>
              </a:rPr>
              <a:t>p = &amp;a;</a:t>
            </a:r>
          </a:p>
          <a:p>
            <a:r>
              <a:rPr lang="en-US" altLang="zh-CN" dirty="0"/>
              <a:t>p</a:t>
            </a:r>
            <a:r>
              <a:rPr lang="zh-CN" altLang="en-US" dirty="0"/>
              <a:t>的使用形式为：</a:t>
            </a:r>
            <a:r>
              <a:rPr lang="en-US" altLang="zh-CN" b="1" i="1" dirty="0">
                <a:solidFill>
                  <a:srgbClr val="FF0000"/>
                </a:solidFill>
              </a:rPr>
              <a:t>(*p)[</a:t>
            </a:r>
            <a:r>
              <a:rPr lang="en-US" altLang="zh-CN" b="1" i="1" dirty="0" err="1">
                <a:solidFill>
                  <a:srgbClr val="FF0000"/>
                </a:solidFill>
              </a:rPr>
              <a:t>i</a:t>
            </a:r>
            <a:r>
              <a:rPr lang="en-US" altLang="zh-CN" b="1" i="1" dirty="0">
                <a:solidFill>
                  <a:srgbClr val="FF0000"/>
                </a:solidFill>
              </a:rPr>
              <a:t>]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55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指针和多维数组（以二维数组为例）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指向二维数组元素的指针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a[3][5];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*p;</a:t>
            </a:r>
          </a:p>
          <a:p>
            <a:pPr marL="0" indent="0">
              <a:buNone/>
            </a:pPr>
            <a:r>
              <a:rPr lang="en-US" altLang="zh-CN" dirty="0"/>
              <a:t>p = &amp;a[0][0];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通过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p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将二维数组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的每个元素置为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1</a:t>
            </a:r>
          </a:p>
          <a:p>
            <a:pPr marL="0" indent="0"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3 * 5; ++</a:t>
            </a:r>
            <a:r>
              <a:rPr lang="en-US" altLang="zh-CN" dirty="0" err="1"/>
              <a:t>i</a:t>
            </a:r>
            <a:r>
              <a:rPr lang="en-US" altLang="zh-CN" dirty="0"/>
              <a:t>, ++p) *p = 1;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7864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指针和多维数组（以二维数组为例）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二维数组 </a:t>
            </a:r>
            <a:r>
              <a:rPr lang="en-US" altLang="zh-CN" dirty="0"/>
              <a:t>int a[3][5] </a:t>
            </a:r>
            <a:r>
              <a:rPr lang="zh-CN" altLang="en-US" dirty="0"/>
              <a:t>的两种视角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视角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以</a:t>
            </a:r>
            <a:r>
              <a:rPr lang="zh-CN" altLang="en-US" b="1" dirty="0">
                <a:solidFill>
                  <a:srgbClr val="FF0000"/>
                </a:solidFill>
              </a:rPr>
              <a:t>元素</a:t>
            </a:r>
            <a:r>
              <a:rPr lang="zh-CN" altLang="en-US" dirty="0"/>
              <a:t>为单位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3</a:t>
            </a:r>
            <a:r>
              <a:rPr lang="zh-CN" altLang="en-US" dirty="0"/>
              <a:t>行</a:t>
            </a:r>
            <a:r>
              <a:rPr lang="en-US" altLang="zh-CN" dirty="0"/>
              <a:t>5</a:t>
            </a:r>
            <a:r>
              <a:rPr lang="zh-CN" altLang="en-US" dirty="0"/>
              <a:t>列的阵列，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它的</a:t>
            </a:r>
            <a:r>
              <a:rPr lang="en-US" altLang="zh-CN" dirty="0"/>
              <a:t>1</a:t>
            </a:r>
            <a:r>
              <a:rPr lang="zh-CN" altLang="en-US" dirty="0"/>
              <a:t>行</a:t>
            </a:r>
            <a:r>
              <a:rPr lang="en-US" altLang="zh-CN" dirty="0"/>
              <a:t>3</a:t>
            </a:r>
            <a:r>
              <a:rPr lang="zh-CN" altLang="en-US" dirty="0"/>
              <a:t>列的元素是</a:t>
            </a:r>
            <a:r>
              <a:rPr lang="en-US" altLang="zh-CN" dirty="0"/>
              <a:t>a[1][3]</a:t>
            </a:r>
            <a:r>
              <a:rPr lang="zh-CN" altLang="en-US" dirty="0"/>
              <a:t>       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B84E1E6-A69B-F240-1606-23455163F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20994"/>
              </p:ext>
            </p:extLst>
          </p:nvPr>
        </p:nvGraphicFramePr>
        <p:xfrm>
          <a:off x="6919532" y="2639394"/>
          <a:ext cx="2913485" cy="1579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97">
                  <a:extLst>
                    <a:ext uri="{9D8B030D-6E8A-4147-A177-3AD203B41FA5}">
                      <a16:colId xmlns:a16="http://schemas.microsoft.com/office/drawing/2014/main" val="3436184156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118342193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829159905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2626679332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1936508021"/>
                    </a:ext>
                  </a:extLst>
                </a:gridCol>
              </a:tblGrid>
              <a:tr h="5264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53913"/>
                  </a:ext>
                </a:extLst>
              </a:tr>
              <a:tr h="5264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77483"/>
                  </a:ext>
                </a:extLst>
              </a:tr>
              <a:tr h="5264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15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63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指针和多维数组（以二维数组为例）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/>
              <a:t>二维数组</a:t>
            </a:r>
            <a:r>
              <a:rPr lang="en-US" altLang="zh-CN" dirty="0" err="1"/>
              <a:t>int</a:t>
            </a:r>
            <a:r>
              <a:rPr lang="en-US" altLang="zh-CN" dirty="0"/>
              <a:t> a[3][5]</a:t>
            </a:r>
            <a:r>
              <a:rPr lang="zh-CN" altLang="en-US" dirty="0"/>
              <a:t>可以用以下视角</a:t>
            </a:r>
            <a:r>
              <a:rPr lang="en-US" altLang="zh-CN" dirty="0"/>
              <a:t>2</a:t>
            </a:r>
            <a:r>
              <a:rPr lang="zh-CN" altLang="en-US" dirty="0"/>
              <a:t>解读</a:t>
            </a:r>
            <a:endParaRPr lang="en-US" altLang="zh-CN" dirty="0"/>
          </a:p>
          <a:p>
            <a:r>
              <a:rPr lang="zh-CN" altLang="en-US" dirty="0"/>
              <a:t>是一个长度为</a:t>
            </a:r>
            <a:r>
              <a:rPr lang="en-US" altLang="zh-CN" dirty="0"/>
              <a:t>3</a:t>
            </a:r>
            <a:r>
              <a:rPr lang="zh-CN" altLang="en-US" dirty="0"/>
              <a:t>的一维数组：</a:t>
            </a:r>
            <a:r>
              <a:rPr lang="en-US" altLang="zh-CN" b="1" i="1" dirty="0">
                <a:solidFill>
                  <a:srgbClr val="FF0000"/>
                </a:solidFill>
              </a:rPr>
              <a:t>a[3]</a:t>
            </a:r>
          </a:p>
          <a:p>
            <a:r>
              <a:rPr lang="zh-CN" altLang="en-US" dirty="0"/>
              <a:t>其基类型是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i="1" dirty="0">
                <a:solidFill>
                  <a:srgbClr val="FF0000"/>
                </a:solidFill>
              </a:rPr>
              <a:t>[5]</a:t>
            </a:r>
            <a:r>
              <a:rPr lang="zh-CN" altLang="en-US" dirty="0"/>
              <a:t>，即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3</a:t>
            </a:r>
            <a:r>
              <a:rPr lang="zh-CN" altLang="en-US" dirty="0"/>
              <a:t>个元素（即</a:t>
            </a:r>
            <a:r>
              <a:rPr lang="en-US" altLang="zh-CN" dirty="0"/>
              <a:t>a</a:t>
            </a:r>
            <a:r>
              <a:rPr lang="zh-CN" altLang="en-US" dirty="0"/>
              <a:t>的每一行）都是一个长度为</a:t>
            </a:r>
            <a:r>
              <a:rPr lang="en-US" altLang="zh-CN" dirty="0"/>
              <a:t>5</a:t>
            </a:r>
            <a:r>
              <a:rPr lang="zh-CN" altLang="en-US" dirty="0"/>
              <a:t>的一维数组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那么：</a:t>
            </a:r>
            <a:endParaRPr lang="en-US" altLang="zh-CN" dirty="0"/>
          </a:p>
          <a:p>
            <a:r>
              <a:rPr lang="en-US" altLang="zh-CN" b="1" i="1" dirty="0">
                <a:solidFill>
                  <a:srgbClr val="FF0000"/>
                </a:solidFill>
              </a:rPr>
              <a:t>a[</a:t>
            </a:r>
            <a:r>
              <a:rPr lang="en-US" altLang="zh-CN" b="1" i="1" dirty="0" err="1">
                <a:solidFill>
                  <a:srgbClr val="FF0000"/>
                </a:solidFill>
              </a:rPr>
              <a:t>i</a:t>
            </a:r>
            <a:r>
              <a:rPr lang="en-US" altLang="zh-CN" b="1" i="1" dirty="0">
                <a:solidFill>
                  <a:srgbClr val="FF0000"/>
                </a:solidFill>
              </a:rPr>
              <a:t>]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的一行，是个数组，那么它就是个简单指针，指向了它的</a:t>
            </a:r>
            <a:r>
              <a:rPr lang="en-US" altLang="zh-CN" dirty="0"/>
              <a:t>0</a:t>
            </a:r>
            <a:r>
              <a:rPr lang="zh-CN" altLang="en-US" dirty="0"/>
              <a:t>号元素（即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][0]</a:t>
            </a:r>
            <a:r>
              <a:rPr lang="zh-CN" altLang="en-US" dirty="0"/>
              <a:t>，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=== &amp;a[</a:t>
            </a:r>
            <a:r>
              <a:rPr lang="en-US" altLang="zh-CN" dirty="0" err="1"/>
              <a:t>i</a:t>
            </a:r>
            <a:r>
              <a:rPr lang="en-US" altLang="zh-CN" dirty="0"/>
              <a:t>][0]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zh-CN" altLang="en-US" dirty="0"/>
              <a:t>是个指针（数组名就是指针），它指向了它的</a:t>
            </a:r>
            <a:r>
              <a:rPr lang="en-US" altLang="zh-CN" dirty="0"/>
              <a:t>0</a:t>
            </a:r>
            <a:r>
              <a:rPr lang="zh-CN" altLang="en-US" dirty="0"/>
              <a:t>号元素，而这个元素是个数组，因此</a:t>
            </a:r>
            <a:r>
              <a:rPr lang="en-US" altLang="zh-CN" dirty="0"/>
              <a:t>a</a:t>
            </a:r>
            <a:r>
              <a:rPr lang="zh-CN" altLang="en-US" dirty="0"/>
              <a:t>就是指向数组的指针，</a:t>
            </a:r>
            <a:r>
              <a:rPr lang="en-US" altLang="zh-CN" dirty="0"/>
              <a:t>a === &amp;a[0]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214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指针和多维数组（以二维数组为例）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视角</a:t>
            </a:r>
            <a:r>
              <a:rPr lang="en-US" altLang="zh-CN" dirty="0"/>
              <a:t>2</a:t>
            </a:r>
            <a:r>
              <a:rPr lang="zh-CN" altLang="en-US" dirty="0"/>
              <a:t>：以</a:t>
            </a:r>
            <a:r>
              <a:rPr lang="zh-CN" altLang="en-US" b="1" dirty="0">
                <a:solidFill>
                  <a:srgbClr val="FF0000"/>
                </a:solidFill>
              </a:rPr>
              <a:t>行</a:t>
            </a:r>
            <a:r>
              <a:rPr lang="zh-CN" altLang="en-US" dirty="0"/>
              <a:t>为单位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/>
              <a:t>长度为</a:t>
            </a:r>
            <a:r>
              <a:rPr lang="en-US" altLang="zh-CN" dirty="0"/>
              <a:t>3</a:t>
            </a:r>
            <a:r>
              <a:rPr lang="zh-CN" altLang="en-US" dirty="0"/>
              <a:t>的一维数组；每个一维数组又是一个长度为</a:t>
            </a:r>
            <a:r>
              <a:rPr lang="en-US" altLang="zh-CN" dirty="0"/>
              <a:t>5</a:t>
            </a:r>
            <a:r>
              <a:rPr lang="zh-CN" altLang="en-US" dirty="0"/>
              <a:t>的一维数组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B84E1E6-A69B-F240-1606-23455163F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261814"/>
              </p:ext>
            </p:extLst>
          </p:nvPr>
        </p:nvGraphicFramePr>
        <p:xfrm>
          <a:off x="6839954" y="2859510"/>
          <a:ext cx="2913485" cy="526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97">
                  <a:extLst>
                    <a:ext uri="{9D8B030D-6E8A-4147-A177-3AD203B41FA5}">
                      <a16:colId xmlns:a16="http://schemas.microsoft.com/office/drawing/2014/main" val="3436184156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118342193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829159905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2626679332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1936508021"/>
                    </a:ext>
                  </a:extLst>
                </a:gridCol>
              </a:tblGrid>
              <a:tr h="5264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5391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5BD58A5-B13E-32D9-4136-4118402E1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687528"/>
              </p:ext>
            </p:extLst>
          </p:nvPr>
        </p:nvGraphicFramePr>
        <p:xfrm>
          <a:off x="6839955" y="3387777"/>
          <a:ext cx="2913485" cy="526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97">
                  <a:extLst>
                    <a:ext uri="{9D8B030D-6E8A-4147-A177-3AD203B41FA5}">
                      <a16:colId xmlns:a16="http://schemas.microsoft.com/office/drawing/2014/main" val="3436184156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118342193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829159905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2626679332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1936508021"/>
                    </a:ext>
                  </a:extLst>
                </a:gridCol>
              </a:tblGrid>
              <a:tr h="5264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5391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3A90AE2-C826-3389-93B7-452667979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217741"/>
              </p:ext>
            </p:extLst>
          </p:nvPr>
        </p:nvGraphicFramePr>
        <p:xfrm>
          <a:off x="6839954" y="3914181"/>
          <a:ext cx="2913485" cy="526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97">
                  <a:extLst>
                    <a:ext uri="{9D8B030D-6E8A-4147-A177-3AD203B41FA5}">
                      <a16:colId xmlns:a16="http://schemas.microsoft.com/office/drawing/2014/main" val="3436184156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118342193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3829159905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2626679332"/>
                    </a:ext>
                  </a:extLst>
                </a:gridCol>
                <a:gridCol w="582697">
                  <a:extLst>
                    <a:ext uri="{9D8B030D-6E8A-4147-A177-3AD203B41FA5}">
                      <a16:colId xmlns:a16="http://schemas.microsoft.com/office/drawing/2014/main" val="1936508021"/>
                    </a:ext>
                  </a:extLst>
                </a:gridCol>
              </a:tblGrid>
              <a:tr h="5264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53913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EBDF6D5-4C51-1C82-D49A-6718B69C6CB6}"/>
              </a:ext>
            </a:extLst>
          </p:cNvPr>
          <p:cNvSpPr/>
          <p:nvPr/>
        </p:nvSpPr>
        <p:spPr>
          <a:xfrm>
            <a:off x="5767770" y="2808192"/>
            <a:ext cx="842803" cy="3279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a[0]</a:t>
            </a:r>
            <a:endParaRPr lang="zh-CN" alt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9D7206-449A-0847-58F7-EDAFFF157552}"/>
              </a:ext>
            </a:extLst>
          </p:cNvPr>
          <p:cNvSpPr/>
          <p:nvPr/>
        </p:nvSpPr>
        <p:spPr>
          <a:xfrm>
            <a:off x="5771481" y="3486995"/>
            <a:ext cx="842803" cy="3279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a[1]</a:t>
            </a:r>
            <a:endParaRPr lang="zh-CN" alt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F3038C-4049-0317-0351-4B914C936627}"/>
              </a:ext>
            </a:extLst>
          </p:cNvPr>
          <p:cNvSpPr/>
          <p:nvPr/>
        </p:nvSpPr>
        <p:spPr>
          <a:xfrm>
            <a:off x="5767770" y="4165798"/>
            <a:ext cx="842803" cy="3279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a[2]</a:t>
            </a:r>
            <a:endParaRPr lang="zh-CN" alt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标注 13">
            <a:extLst>
              <a:ext uri="{FF2B5EF4-FFF2-40B4-BE49-F238E27FC236}">
                <a16:creationId xmlns:a16="http://schemas.microsoft.com/office/drawing/2014/main" id="{0F549BC3-DBF8-B1B9-8B6C-780EB5652F40}"/>
              </a:ext>
            </a:extLst>
          </p:cNvPr>
          <p:cNvSpPr/>
          <p:nvPr/>
        </p:nvSpPr>
        <p:spPr>
          <a:xfrm>
            <a:off x="2316210" y="2829048"/>
            <a:ext cx="2757160" cy="698015"/>
          </a:xfrm>
          <a:prstGeom prst="wedgeRectCallout">
            <a:avLst>
              <a:gd name="adj1" fmla="val 68563"/>
              <a:gd name="adj2" fmla="val -200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a[0]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a[1]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a[2]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都是一维数组的名字</a:t>
            </a:r>
          </a:p>
        </p:txBody>
      </p:sp>
      <p:sp>
        <p:nvSpPr>
          <p:cNvPr id="11" name="矩形标注 13">
            <a:extLst>
              <a:ext uri="{FF2B5EF4-FFF2-40B4-BE49-F238E27FC236}">
                <a16:creationId xmlns:a16="http://schemas.microsoft.com/office/drawing/2014/main" id="{08307161-E4D4-478D-431A-F5B6FD2DAEFB}"/>
              </a:ext>
            </a:extLst>
          </p:cNvPr>
          <p:cNvSpPr/>
          <p:nvPr/>
        </p:nvSpPr>
        <p:spPr>
          <a:xfrm>
            <a:off x="2316210" y="3863765"/>
            <a:ext cx="2757160" cy="932034"/>
          </a:xfrm>
          <a:prstGeom prst="wedgeRectCallout">
            <a:avLst>
              <a:gd name="adj1" fmla="val 66695"/>
              <a:gd name="adj2" fmla="val -63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以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a[1]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为例，它的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号元素是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(a[1])[3]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，也就是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a[1][3]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3FE2C9-BA48-8E70-ABEF-15850254AD2F}"/>
              </a:ext>
            </a:extLst>
          </p:cNvPr>
          <p:cNvSpPr/>
          <p:nvPr/>
        </p:nvSpPr>
        <p:spPr>
          <a:xfrm>
            <a:off x="8590208" y="3387778"/>
            <a:ext cx="589114" cy="52640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58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07407E-6 L -0.00026 -0.02314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15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2.22222E-6 L -0.00026 0.02199 " pathEditMode="relative" rAng="0" ptsTypes="AA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指针和多维数组（以二维数组为例）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a[3][5];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(*p)[5];</a:t>
            </a:r>
          </a:p>
          <a:p>
            <a:pPr marL="0" indent="0">
              <a:buNone/>
            </a:pPr>
            <a:r>
              <a:rPr lang="en-US" altLang="zh-CN" dirty="0"/>
              <a:t>p = a;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056276"/>
              </p:ext>
            </p:extLst>
          </p:nvPr>
        </p:nvGraphicFramePr>
        <p:xfrm>
          <a:off x="6514992" y="2789870"/>
          <a:ext cx="3629675" cy="223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935">
                  <a:extLst>
                    <a:ext uri="{9D8B030D-6E8A-4147-A177-3AD203B41FA5}">
                      <a16:colId xmlns:a16="http://schemas.microsoft.com/office/drawing/2014/main" val="1053119970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886588607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2447855224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3483021166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58584686"/>
                    </a:ext>
                  </a:extLst>
                </a:gridCol>
              </a:tblGrid>
              <a:tr h="7466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7676"/>
                  </a:ext>
                </a:extLst>
              </a:tr>
              <a:tr h="7466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442101"/>
                  </a:ext>
                </a:extLst>
              </a:tr>
              <a:tr h="7466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3337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4711870" y="3003326"/>
            <a:ext cx="842803" cy="3279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11253" y="2961962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p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8" name="直接箭头连接符 7"/>
          <p:cNvCxnSpPr>
            <a:stCxn id="5" idx="3"/>
            <a:endCxn id="9" idx="1"/>
          </p:cNvCxnSpPr>
          <p:nvPr/>
        </p:nvCxnSpPr>
        <p:spPr>
          <a:xfrm>
            <a:off x="5554673" y="3167310"/>
            <a:ext cx="960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514992" y="2789870"/>
            <a:ext cx="3629675" cy="754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14992" y="2268139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a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3213377" y="3822224"/>
            <a:ext cx="2757160" cy="698015"/>
          </a:xfrm>
          <a:prstGeom prst="wedgeRectCallout">
            <a:avLst>
              <a:gd name="adj1" fmla="val 10175"/>
              <a:gd name="adj2" fmla="val -110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“眼里”，它“看到”的是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的一行</a:t>
            </a:r>
          </a:p>
        </p:txBody>
      </p:sp>
    </p:spTree>
    <p:extLst>
      <p:ext uri="{BB962C8B-B14F-4D97-AF65-F5344CB8AC3E}">
        <p14:creationId xmlns:p14="http://schemas.microsoft.com/office/powerpoint/2010/main" val="340863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两种指针的对比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a[3][5];</a:t>
            </a:r>
          </a:p>
          <a:p>
            <a:pPr marL="0" indent="0">
              <a:buNone/>
            </a:pPr>
            <a:r>
              <a:rPr lang="en-US" altLang="zh-CN" err="1"/>
              <a:t>int</a:t>
            </a:r>
            <a:r>
              <a:rPr lang="en-US" altLang="zh-CN"/>
              <a:t> *p </a:t>
            </a:r>
            <a:r>
              <a:rPr lang="en-US" altLang="zh-CN" dirty="0"/>
              <a:t>= a[0]; //p = &amp;a[0][0];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(*q)[5] = a;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++p; //</a:t>
            </a:r>
            <a:r>
              <a:rPr lang="zh-CN" altLang="en-US" dirty="0"/>
              <a:t>跳过一个元素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++q; //</a:t>
            </a:r>
            <a:r>
              <a:rPr lang="zh-CN" altLang="en-US" dirty="0"/>
              <a:t>跳过</a:t>
            </a:r>
            <a:r>
              <a:rPr lang="en-US" altLang="zh-CN" dirty="0"/>
              <a:t>a</a:t>
            </a:r>
            <a:r>
              <a:rPr lang="zh-CN" altLang="en-US" dirty="0"/>
              <a:t>的一行！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126739" y="3337222"/>
          <a:ext cx="3629675" cy="223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935">
                  <a:extLst>
                    <a:ext uri="{9D8B030D-6E8A-4147-A177-3AD203B41FA5}">
                      <a16:colId xmlns:a16="http://schemas.microsoft.com/office/drawing/2014/main" val="1053119970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886588607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2447855224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3483021166"/>
                    </a:ext>
                  </a:extLst>
                </a:gridCol>
                <a:gridCol w="725935">
                  <a:extLst>
                    <a:ext uri="{9D8B030D-6E8A-4147-A177-3AD203B41FA5}">
                      <a16:colId xmlns:a16="http://schemas.microsoft.com/office/drawing/2014/main" val="58584686"/>
                    </a:ext>
                  </a:extLst>
                </a:gridCol>
              </a:tblGrid>
              <a:tr h="7466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7676"/>
                  </a:ext>
                </a:extLst>
              </a:tr>
              <a:tr h="7466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442101"/>
                  </a:ext>
                </a:extLst>
              </a:tr>
              <a:tr h="7466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3337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321104" y="2184394"/>
            <a:ext cx="842803" cy="3279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39340" y="2143030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p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>
            <a:stCxn id="5" idx="2"/>
          </p:cNvCxnSpPr>
          <p:nvPr/>
        </p:nvCxnSpPr>
        <p:spPr>
          <a:xfrm flipH="1">
            <a:off x="7517624" y="2512362"/>
            <a:ext cx="224882" cy="9772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2"/>
          </p:cNvCxnSpPr>
          <p:nvPr/>
        </p:nvCxnSpPr>
        <p:spPr>
          <a:xfrm>
            <a:off x="7742506" y="2512362"/>
            <a:ext cx="453260" cy="9772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414359" y="4347078"/>
            <a:ext cx="842803" cy="3279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858120" y="4305714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q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17" name="直接箭头连接符 16"/>
          <p:cNvCxnSpPr>
            <a:stCxn id="15" idx="3"/>
            <a:endCxn id="4" idx="1"/>
          </p:cNvCxnSpPr>
          <p:nvPr/>
        </p:nvCxnSpPr>
        <p:spPr>
          <a:xfrm flipV="1">
            <a:off x="6257162" y="4457182"/>
            <a:ext cx="869577" cy="53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5" idx="3"/>
          </p:cNvCxnSpPr>
          <p:nvPr/>
        </p:nvCxnSpPr>
        <p:spPr>
          <a:xfrm flipV="1">
            <a:off x="6257162" y="3699482"/>
            <a:ext cx="869577" cy="811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126736" y="3341498"/>
            <a:ext cx="3629675" cy="724283"/>
          </a:xfrm>
          <a:prstGeom prst="rect">
            <a:avLst/>
          </a:prstGeom>
          <a:solidFill>
            <a:schemeClr val="accent1">
              <a:alpha val="5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126738" y="4079742"/>
            <a:ext cx="3629675" cy="754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126737" y="3333315"/>
            <a:ext cx="725934" cy="746427"/>
          </a:xfrm>
          <a:prstGeom prst="rect">
            <a:avLst/>
          </a:prstGeom>
          <a:solidFill>
            <a:schemeClr val="accent3">
              <a:alpha val="5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850473" y="3333785"/>
            <a:ext cx="725934" cy="745958"/>
          </a:xfrm>
          <a:prstGeom prst="rect">
            <a:avLst/>
          </a:prstGeom>
          <a:solidFill>
            <a:schemeClr val="accent3">
              <a:alpha val="5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611CA706-ECF3-6B39-C1CF-49B12ECDAC55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ptr2arr2d.c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5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 animBg="1"/>
      <p:bldP spid="16" grpId="0"/>
      <p:bldP spid="13" grpId="0" animBg="1"/>
      <p:bldP spid="13" grpId="1" animBg="1"/>
      <p:bldP spid="14" grpId="0" animBg="1"/>
      <p:bldP spid="19" grpId="0" animBg="1"/>
      <p:bldP spid="19" grpId="1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顾名思义，是每个元素都是指针的数组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 a[10]; </a:t>
            </a:r>
            <a:r>
              <a:rPr lang="en-US" altLang="zh-CN" sz="2000" dirty="0"/>
              <a:t>//a</a:t>
            </a:r>
            <a:r>
              <a:rPr lang="zh-CN" altLang="en-US" sz="2000" dirty="0"/>
              <a:t>是一个一维数组；长度为</a:t>
            </a:r>
            <a:r>
              <a:rPr lang="en-US" altLang="zh-CN" sz="2000" dirty="0"/>
              <a:t>10</a:t>
            </a:r>
            <a:r>
              <a:rPr lang="zh-CN" altLang="en-US" sz="2000" dirty="0"/>
              <a:t>；每个元素都是整型指针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dirty="0"/>
              <a:t>对比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(*a)[10]; </a:t>
            </a:r>
            <a:r>
              <a:rPr lang="en-US" altLang="zh-CN" sz="2000" dirty="0"/>
              <a:t>//a</a:t>
            </a:r>
            <a:r>
              <a:rPr lang="zh-CN" altLang="en-US" sz="2000" dirty="0"/>
              <a:t>是一个指针，指向一个长度为</a:t>
            </a:r>
            <a:r>
              <a:rPr lang="en-US" altLang="zh-CN" sz="2000" dirty="0"/>
              <a:t>10</a:t>
            </a:r>
            <a:r>
              <a:rPr lang="zh-CN" altLang="en-US" sz="2000" dirty="0"/>
              <a:t>的一维整型数组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0567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06690"/>
              </p:ext>
            </p:extLst>
          </p:nvPr>
        </p:nvGraphicFramePr>
        <p:xfrm>
          <a:off x="2143191" y="3133470"/>
          <a:ext cx="2344556" cy="5646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139">
                  <a:extLst>
                    <a:ext uri="{9D8B030D-6E8A-4147-A177-3AD203B41FA5}">
                      <a16:colId xmlns:a16="http://schemas.microsoft.com/office/drawing/2014/main" val="669912882"/>
                    </a:ext>
                  </a:extLst>
                </a:gridCol>
                <a:gridCol w="586139">
                  <a:extLst>
                    <a:ext uri="{9D8B030D-6E8A-4147-A177-3AD203B41FA5}">
                      <a16:colId xmlns:a16="http://schemas.microsoft.com/office/drawing/2014/main" val="223519255"/>
                    </a:ext>
                  </a:extLst>
                </a:gridCol>
                <a:gridCol w="586139">
                  <a:extLst>
                    <a:ext uri="{9D8B030D-6E8A-4147-A177-3AD203B41FA5}">
                      <a16:colId xmlns:a16="http://schemas.microsoft.com/office/drawing/2014/main" val="1529461987"/>
                    </a:ext>
                  </a:extLst>
                </a:gridCol>
                <a:gridCol w="586139">
                  <a:extLst>
                    <a:ext uri="{9D8B030D-6E8A-4147-A177-3AD203B41FA5}">
                      <a16:colId xmlns:a16="http://schemas.microsoft.com/office/drawing/2014/main" val="3601459545"/>
                    </a:ext>
                  </a:extLst>
                </a:gridCol>
              </a:tblGrid>
              <a:tr h="56468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0856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670667" y="4285692"/>
            <a:ext cx="842803" cy="3279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5" idx="0"/>
          </p:cNvCxnSpPr>
          <p:nvPr/>
        </p:nvCxnSpPr>
        <p:spPr>
          <a:xfrm flipH="1" flipV="1">
            <a:off x="2540284" y="3698152"/>
            <a:ext cx="551785" cy="587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028493" y="4244328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p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40471" y="2167885"/>
            <a:ext cx="2549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数组指针</a:t>
            </a:r>
          </a:p>
        </p:txBody>
      </p:sp>
      <p:sp>
        <p:nvSpPr>
          <p:cNvPr id="11" name="矩形 10"/>
          <p:cNvSpPr/>
          <p:nvPr/>
        </p:nvSpPr>
        <p:spPr>
          <a:xfrm>
            <a:off x="2143192" y="3133470"/>
            <a:ext cx="2344556" cy="564682"/>
          </a:xfrm>
          <a:prstGeom prst="rect">
            <a:avLst/>
          </a:prstGeom>
          <a:solidFill>
            <a:schemeClr val="accent1">
              <a:alpha val="5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44652"/>
              </p:ext>
            </p:extLst>
          </p:nvPr>
        </p:nvGraphicFramePr>
        <p:xfrm>
          <a:off x="6944373" y="3133470"/>
          <a:ext cx="2344556" cy="5646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139">
                  <a:extLst>
                    <a:ext uri="{9D8B030D-6E8A-4147-A177-3AD203B41FA5}">
                      <a16:colId xmlns:a16="http://schemas.microsoft.com/office/drawing/2014/main" val="669912882"/>
                    </a:ext>
                  </a:extLst>
                </a:gridCol>
                <a:gridCol w="586139">
                  <a:extLst>
                    <a:ext uri="{9D8B030D-6E8A-4147-A177-3AD203B41FA5}">
                      <a16:colId xmlns:a16="http://schemas.microsoft.com/office/drawing/2014/main" val="223519255"/>
                    </a:ext>
                  </a:extLst>
                </a:gridCol>
                <a:gridCol w="586139">
                  <a:extLst>
                    <a:ext uri="{9D8B030D-6E8A-4147-A177-3AD203B41FA5}">
                      <a16:colId xmlns:a16="http://schemas.microsoft.com/office/drawing/2014/main" val="1529461987"/>
                    </a:ext>
                  </a:extLst>
                </a:gridCol>
                <a:gridCol w="586139">
                  <a:extLst>
                    <a:ext uri="{9D8B030D-6E8A-4147-A177-3AD203B41FA5}">
                      <a16:colId xmlns:a16="http://schemas.microsoft.com/office/drawing/2014/main" val="3601459545"/>
                    </a:ext>
                  </a:extLst>
                </a:gridCol>
              </a:tblGrid>
              <a:tr h="56468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08564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6101570" y="4244328"/>
            <a:ext cx="842803" cy="3279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endCxn id="13" idx="0"/>
          </p:cNvCxnSpPr>
          <p:nvPr/>
        </p:nvCxnSpPr>
        <p:spPr>
          <a:xfrm flipH="1">
            <a:off x="6522972" y="3446868"/>
            <a:ext cx="694259" cy="79746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841653" y="2167885"/>
            <a:ext cx="2549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指针数组</a:t>
            </a:r>
          </a:p>
        </p:txBody>
      </p:sp>
      <p:sp>
        <p:nvSpPr>
          <p:cNvPr id="20" name="矩形 19"/>
          <p:cNvSpPr/>
          <p:nvPr/>
        </p:nvSpPr>
        <p:spPr>
          <a:xfrm>
            <a:off x="7217231" y="4244328"/>
            <a:ext cx="842803" cy="3279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endCxn id="20" idx="0"/>
          </p:cNvCxnSpPr>
          <p:nvPr/>
        </p:nvCxnSpPr>
        <p:spPr>
          <a:xfrm flipH="1">
            <a:off x="7638633" y="3446868"/>
            <a:ext cx="178647" cy="79746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332892" y="4244328"/>
            <a:ext cx="842803" cy="3279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>
            <a:endCxn id="22" idx="0"/>
          </p:cNvCxnSpPr>
          <p:nvPr/>
        </p:nvCxnSpPr>
        <p:spPr>
          <a:xfrm>
            <a:off x="8452474" y="3446868"/>
            <a:ext cx="301820" cy="79746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9448552" y="4244328"/>
            <a:ext cx="842803" cy="3279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endCxn id="24" idx="0"/>
          </p:cNvCxnSpPr>
          <p:nvPr/>
        </p:nvCxnSpPr>
        <p:spPr>
          <a:xfrm>
            <a:off x="8989945" y="3446868"/>
            <a:ext cx="880009" cy="79746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3EE65D65-24BC-C6C6-5846-99C2BF55DF7E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ptr-array.c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28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0" grpId="0"/>
      <p:bldP spid="11" grpId="0" animBg="1"/>
      <p:bldP spid="13" grpId="0" animBg="1"/>
      <p:bldP spid="16" grpId="0"/>
      <p:bldP spid="20" grpId="0" animBg="1"/>
      <p:bldP spid="22" grpId="0" animBg="1"/>
      <p:bldP spid="2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871</TotalTime>
  <Words>1190</Words>
  <Application>Microsoft Office PowerPoint</Application>
  <PresentationFormat>宽屏</PresentationFormat>
  <Paragraphs>128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Consolas</vt:lpstr>
      <vt:lpstr>Wingdings</vt:lpstr>
      <vt:lpstr>Office 主题​​</vt:lpstr>
      <vt:lpstr>指针</vt:lpstr>
      <vt:lpstr>指针指向数组元素</vt:lpstr>
      <vt:lpstr>数组名和指针的关系</vt:lpstr>
      <vt:lpstr>指向一维数组元素的指针</vt:lpstr>
      <vt:lpstr>指向一维数组元素的指针</vt:lpstr>
      <vt:lpstr>指向一维数组的指针</vt:lpstr>
      <vt:lpstr>课堂练习1</vt:lpstr>
      <vt:lpstr>课堂练习2</vt:lpstr>
      <vt:lpstr>课堂练习3</vt:lpstr>
      <vt:lpstr>指向一维数组的指针</vt:lpstr>
      <vt:lpstr>指向一维数组的指针</vt:lpstr>
      <vt:lpstr>指针和多维数组（以二维数组为例）</vt:lpstr>
      <vt:lpstr>指针和多维数组（以二维数组为例）</vt:lpstr>
      <vt:lpstr>指针和多维数组（以二维数组为例）</vt:lpstr>
      <vt:lpstr>指针和多维数组（以二维数组为例）</vt:lpstr>
      <vt:lpstr>指针和多维数组（以二维数组为例）</vt:lpstr>
      <vt:lpstr>两种指针的对比</vt:lpstr>
      <vt:lpstr>指针数组</vt:lpstr>
      <vt:lpstr>指针数组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450</cp:revision>
  <dcterms:created xsi:type="dcterms:W3CDTF">2021-10-07T04:52:51Z</dcterms:created>
  <dcterms:modified xsi:type="dcterms:W3CDTF">2025-10-12T11:18:54Z</dcterms:modified>
</cp:coreProperties>
</file>