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75" r:id="rId12"/>
    <p:sldId id="301" r:id="rId13"/>
    <p:sldId id="295" r:id="rId14"/>
    <p:sldId id="296" r:id="rId15"/>
    <p:sldId id="297" r:id="rId16"/>
    <p:sldId id="298" r:id="rId17"/>
    <p:sldId id="267" r:id="rId18"/>
    <p:sldId id="303" r:id="rId19"/>
    <p:sldId id="268" r:id="rId20"/>
    <p:sldId id="299" r:id="rId21"/>
    <p:sldId id="300" r:id="rId22"/>
    <p:sldId id="304" r:id="rId23"/>
    <p:sldId id="305" r:id="rId24"/>
    <p:sldId id="302" r:id="rId25"/>
    <p:sldId id="266" r:id="rId26"/>
    <p:sldId id="276" r:id="rId27"/>
    <p:sldId id="306" r:id="rId28"/>
    <p:sldId id="269" r:id="rId29"/>
    <p:sldId id="272" r:id="rId30"/>
    <p:sldId id="270" r:id="rId31"/>
    <p:sldId id="271" r:id="rId32"/>
    <p:sldId id="274" r:id="rId33"/>
    <p:sldId id="279" r:id="rId34"/>
    <p:sldId id="277" r:id="rId35"/>
    <p:sldId id="278" r:id="rId36"/>
    <p:sldId id="290" r:id="rId37"/>
    <p:sldId id="280" r:id="rId38"/>
    <p:sldId id="281" r:id="rId39"/>
    <p:sldId id="282" r:id="rId40"/>
    <p:sldId id="28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 snapToGrid="0">
      <p:cViewPr varScale="1">
        <p:scale>
          <a:sx n="99" d="100"/>
          <a:sy n="99" d="100"/>
        </p:scale>
        <p:origin x="5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656905"/>
            <a:ext cx="9144000" cy="853057"/>
          </a:xfrm>
        </p:spPr>
        <p:txBody>
          <a:bodyPr anchor="b">
            <a:normAutofit/>
          </a:bodyPr>
          <a:lstStyle>
            <a:lvl1pPr algn="ctr">
              <a:defRPr sz="40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AA0CCDFD-2059-C6BC-5E3A-39AD78B84B52}"/>
              </a:ext>
            </a:extLst>
          </p:cNvPr>
          <p:cNvSpPr>
            <a:spLocks/>
          </p:cNvSpPr>
          <p:nvPr/>
        </p:nvSpPr>
        <p:spPr bwMode="auto">
          <a:xfrm>
            <a:off x="0" y="5118351"/>
            <a:ext cx="12191646" cy="1739649"/>
          </a:xfrm>
          <a:custGeom>
            <a:avLst/>
            <a:gdLst>
              <a:gd name="T0" fmla="*/ 1115 w 5702"/>
              <a:gd name="T1" fmla="*/ 0 h 1219"/>
              <a:gd name="T2" fmla="*/ 1277 w 5702"/>
              <a:gd name="T3" fmla="*/ 0 h 1219"/>
              <a:gd name="T4" fmla="*/ 1428 w 5702"/>
              <a:gd name="T5" fmla="*/ 2 h 1219"/>
              <a:gd name="T6" fmla="*/ 1569 w 5702"/>
              <a:gd name="T7" fmla="*/ 2 h 1219"/>
              <a:gd name="T8" fmla="*/ 1698 w 5702"/>
              <a:gd name="T9" fmla="*/ 4 h 1219"/>
              <a:gd name="T10" fmla="*/ 1816 w 5702"/>
              <a:gd name="T11" fmla="*/ 6 h 1219"/>
              <a:gd name="T12" fmla="*/ 1922 w 5702"/>
              <a:gd name="T13" fmla="*/ 7 h 1219"/>
              <a:gd name="T14" fmla="*/ 2018 w 5702"/>
              <a:gd name="T15" fmla="*/ 11 h 1219"/>
              <a:gd name="T16" fmla="*/ 2102 w 5702"/>
              <a:gd name="T17" fmla="*/ 14 h 1219"/>
              <a:gd name="T18" fmla="*/ 2201 w 5702"/>
              <a:gd name="T19" fmla="*/ 20 h 1219"/>
              <a:gd name="T20" fmla="*/ 2293 w 5702"/>
              <a:gd name="T21" fmla="*/ 32 h 1219"/>
              <a:gd name="T22" fmla="*/ 2375 w 5702"/>
              <a:gd name="T23" fmla="*/ 46 h 1219"/>
              <a:gd name="T24" fmla="*/ 2452 w 5702"/>
              <a:gd name="T25" fmla="*/ 63 h 1219"/>
              <a:gd name="T26" fmla="*/ 2518 w 5702"/>
              <a:gd name="T27" fmla="*/ 84 h 1219"/>
              <a:gd name="T28" fmla="*/ 2579 w 5702"/>
              <a:gd name="T29" fmla="*/ 107 h 1219"/>
              <a:gd name="T30" fmla="*/ 2633 w 5702"/>
              <a:gd name="T31" fmla="*/ 131 h 1219"/>
              <a:gd name="T32" fmla="*/ 2680 w 5702"/>
              <a:gd name="T33" fmla="*/ 157 h 1219"/>
              <a:gd name="T34" fmla="*/ 2722 w 5702"/>
              <a:gd name="T35" fmla="*/ 185 h 1219"/>
              <a:gd name="T36" fmla="*/ 2756 w 5702"/>
              <a:gd name="T37" fmla="*/ 213 h 1219"/>
              <a:gd name="T38" fmla="*/ 2788 w 5702"/>
              <a:gd name="T39" fmla="*/ 241 h 1219"/>
              <a:gd name="T40" fmla="*/ 2812 w 5702"/>
              <a:gd name="T41" fmla="*/ 269 h 1219"/>
              <a:gd name="T42" fmla="*/ 2835 w 5702"/>
              <a:gd name="T43" fmla="*/ 295 h 1219"/>
              <a:gd name="T44" fmla="*/ 2852 w 5702"/>
              <a:gd name="T45" fmla="*/ 319 h 1219"/>
              <a:gd name="T46" fmla="*/ 2868 w 5702"/>
              <a:gd name="T47" fmla="*/ 295 h 1219"/>
              <a:gd name="T48" fmla="*/ 2891 w 5702"/>
              <a:gd name="T49" fmla="*/ 269 h 1219"/>
              <a:gd name="T50" fmla="*/ 2915 w 5702"/>
              <a:gd name="T51" fmla="*/ 241 h 1219"/>
              <a:gd name="T52" fmla="*/ 2946 w 5702"/>
              <a:gd name="T53" fmla="*/ 213 h 1219"/>
              <a:gd name="T54" fmla="*/ 2981 w 5702"/>
              <a:gd name="T55" fmla="*/ 185 h 1219"/>
              <a:gd name="T56" fmla="*/ 3023 w 5702"/>
              <a:gd name="T57" fmla="*/ 157 h 1219"/>
              <a:gd name="T58" fmla="*/ 3070 w 5702"/>
              <a:gd name="T59" fmla="*/ 131 h 1219"/>
              <a:gd name="T60" fmla="*/ 3124 w 5702"/>
              <a:gd name="T61" fmla="*/ 107 h 1219"/>
              <a:gd name="T62" fmla="*/ 3185 w 5702"/>
              <a:gd name="T63" fmla="*/ 84 h 1219"/>
              <a:gd name="T64" fmla="*/ 3253 w 5702"/>
              <a:gd name="T65" fmla="*/ 63 h 1219"/>
              <a:gd name="T66" fmla="*/ 3328 w 5702"/>
              <a:gd name="T67" fmla="*/ 46 h 1219"/>
              <a:gd name="T68" fmla="*/ 3409 w 5702"/>
              <a:gd name="T69" fmla="*/ 32 h 1219"/>
              <a:gd name="T70" fmla="*/ 3502 w 5702"/>
              <a:gd name="T71" fmla="*/ 20 h 1219"/>
              <a:gd name="T72" fmla="*/ 3601 w 5702"/>
              <a:gd name="T73" fmla="*/ 14 h 1219"/>
              <a:gd name="T74" fmla="*/ 3684 w 5702"/>
              <a:gd name="T75" fmla="*/ 11 h 1219"/>
              <a:gd name="T76" fmla="*/ 3780 w 5702"/>
              <a:gd name="T77" fmla="*/ 7 h 1219"/>
              <a:gd name="T78" fmla="*/ 3886 w 5702"/>
              <a:gd name="T79" fmla="*/ 6 h 1219"/>
              <a:gd name="T80" fmla="*/ 4005 w 5702"/>
              <a:gd name="T81" fmla="*/ 4 h 1219"/>
              <a:gd name="T82" fmla="*/ 4134 w 5702"/>
              <a:gd name="T83" fmla="*/ 2 h 1219"/>
              <a:gd name="T84" fmla="*/ 4275 w 5702"/>
              <a:gd name="T85" fmla="*/ 2 h 1219"/>
              <a:gd name="T86" fmla="*/ 4426 w 5702"/>
              <a:gd name="T87" fmla="*/ 0 h 1219"/>
              <a:gd name="T88" fmla="*/ 4588 w 5702"/>
              <a:gd name="T89" fmla="*/ 0 h 1219"/>
              <a:gd name="T90" fmla="*/ 4799 w 5702"/>
              <a:gd name="T91" fmla="*/ 0 h 1219"/>
              <a:gd name="T92" fmla="*/ 4999 w 5702"/>
              <a:gd name="T93" fmla="*/ 2 h 1219"/>
              <a:gd name="T94" fmla="*/ 5189 w 5702"/>
              <a:gd name="T95" fmla="*/ 4 h 1219"/>
              <a:gd name="T96" fmla="*/ 5368 w 5702"/>
              <a:gd name="T97" fmla="*/ 6 h 1219"/>
              <a:gd name="T98" fmla="*/ 5541 w 5702"/>
              <a:gd name="T99" fmla="*/ 7 h 1219"/>
              <a:gd name="T100" fmla="*/ 5702 w 5702"/>
              <a:gd name="T101" fmla="*/ 9 h 1219"/>
              <a:gd name="T102" fmla="*/ 5702 w 5702"/>
              <a:gd name="T103" fmla="*/ 1219 h 1219"/>
              <a:gd name="T104" fmla="*/ 0 w 5702"/>
              <a:gd name="T105" fmla="*/ 1219 h 1219"/>
              <a:gd name="T106" fmla="*/ 0 w 5702"/>
              <a:gd name="T107" fmla="*/ 9 h 1219"/>
              <a:gd name="T108" fmla="*/ 164 w 5702"/>
              <a:gd name="T109" fmla="*/ 7 h 1219"/>
              <a:gd name="T110" fmla="*/ 335 w 5702"/>
              <a:gd name="T111" fmla="*/ 6 h 1219"/>
              <a:gd name="T112" fmla="*/ 514 w 5702"/>
              <a:gd name="T113" fmla="*/ 4 h 1219"/>
              <a:gd name="T114" fmla="*/ 704 w 5702"/>
              <a:gd name="T115" fmla="*/ 2 h 1219"/>
              <a:gd name="T116" fmla="*/ 904 w 5702"/>
              <a:gd name="T117" fmla="*/ 0 h 1219"/>
              <a:gd name="T118" fmla="*/ 1115 w 5702"/>
              <a:gd name="T119" fmla="*/ 0 h 1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5702" h="1219">
                <a:moveTo>
                  <a:pt x="1115" y="0"/>
                </a:moveTo>
                <a:lnTo>
                  <a:pt x="1277" y="0"/>
                </a:lnTo>
                <a:lnTo>
                  <a:pt x="1428" y="2"/>
                </a:lnTo>
                <a:lnTo>
                  <a:pt x="1569" y="2"/>
                </a:lnTo>
                <a:lnTo>
                  <a:pt x="1698" y="4"/>
                </a:lnTo>
                <a:lnTo>
                  <a:pt x="1816" y="6"/>
                </a:lnTo>
                <a:lnTo>
                  <a:pt x="1922" y="7"/>
                </a:lnTo>
                <a:lnTo>
                  <a:pt x="2018" y="11"/>
                </a:lnTo>
                <a:lnTo>
                  <a:pt x="2102" y="14"/>
                </a:lnTo>
                <a:lnTo>
                  <a:pt x="2201" y="20"/>
                </a:lnTo>
                <a:lnTo>
                  <a:pt x="2293" y="32"/>
                </a:lnTo>
                <a:lnTo>
                  <a:pt x="2375" y="46"/>
                </a:lnTo>
                <a:lnTo>
                  <a:pt x="2452" y="63"/>
                </a:lnTo>
                <a:lnTo>
                  <a:pt x="2518" y="84"/>
                </a:lnTo>
                <a:lnTo>
                  <a:pt x="2579" y="107"/>
                </a:lnTo>
                <a:lnTo>
                  <a:pt x="2633" y="131"/>
                </a:lnTo>
                <a:lnTo>
                  <a:pt x="2680" y="157"/>
                </a:lnTo>
                <a:lnTo>
                  <a:pt x="2722" y="185"/>
                </a:lnTo>
                <a:lnTo>
                  <a:pt x="2756" y="213"/>
                </a:lnTo>
                <a:lnTo>
                  <a:pt x="2788" y="241"/>
                </a:lnTo>
                <a:lnTo>
                  <a:pt x="2812" y="269"/>
                </a:lnTo>
                <a:lnTo>
                  <a:pt x="2835" y="295"/>
                </a:lnTo>
                <a:lnTo>
                  <a:pt x="2852" y="319"/>
                </a:lnTo>
                <a:lnTo>
                  <a:pt x="2868" y="295"/>
                </a:lnTo>
                <a:lnTo>
                  <a:pt x="2891" y="269"/>
                </a:lnTo>
                <a:lnTo>
                  <a:pt x="2915" y="241"/>
                </a:lnTo>
                <a:lnTo>
                  <a:pt x="2946" y="213"/>
                </a:lnTo>
                <a:lnTo>
                  <a:pt x="2981" y="185"/>
                </a:lnTo>
                <a:lnTo>
                  <a:pt x="3023" y="157"/>
                </a:lnTo>
                <a:lnTo>
                  <a:pt x="3070" y="131"/>
                </a:lnTo>
                <a:lnTo>
                  <a:pt x="3124" y="107"/>
                </a:lnTo>
                <a:lnTo>
                  <a:pt x="3185" y="84"/>
                </a:lnTo>
                <a:lnTo>
                  <a:pt x="3253" y="63"/>
                </a:lnTo>
                <a:lnTo>
                  <a:pt x="3328" y="46"/>
                </a:lnTo>
                <a:lnTo>
                  <a:pt x="3409" y="32"/>
                </a:lnTo>
                <a:lnTo>
                  <a:pt x="3502" y="20"/>
                </a:lnTo>
                <a:lnTo>
                  <a:pt x="3601" y="14"/>
                </a:lnTo>
                <a:lnTo>
                  <a:pt x="3684" y="11"/>
                </a:lnTo>
                <a:lnTo>
                  <a:pt x="3780" y="7"/>
                </a:lnTo>
                <a:lnTo>
                  <a:pt x="3886" y="6"/>
                </a:lnTo>
                <a:lnTo>
                  <a:pt x="4005" y="4"/>
                </a:lnTo>
                <a:lnTo>
                  <a:pt x="4134" y="2"/>
                </a:lnTo>
                <a:lnTo>
                  <a:pt x="4275" y="2"/>
                </a:lnTo>
                <a:lnTo>
                  <a:pt x="4426" y="0"/>
                </a:lnTo>
                <a:lnTo>
                  <a:pt x="4588" y="0"/>
                </a:lnTo>
                <a:lnTo>
                  <a:pt x="4799" y="0"/>
                </a:lnTo>
                <a:lnTo>
                  <a:pt x="4999" y="2"/>
                </a:lnTo>
                <a:lnTo>
                  <a:pt x="5189" y="4"/>
                </a:lnTo>
                <a:lnTo>
                  <a:pt x="5368" y="6"/>
                </a:lnTo>
                <a:lnTo>
                  <a:pt x="5541" y="7"/>
                </a:lnTo>
                <a:lnTo>
                  <a:pt x="5702" y="9"/>
                </a:lnTo>
                <a:lnTo>
                  <a:pt x="5702" y="1219"/>
                </a:lnTo>
                <a:lnTo>
                  <a:pt x="0" y="1219"/>
                </a:lnTo>
                <a:lnTo>
                  <a:pt x="0" y="9"/>
                </a:lnTo>
                <a:lnTo>
                  <a:pt x="164" y="7"/>
                </a:lnTo>
                <a:lnTo>
                  <a:pt x="335" y="6"/>
                </a:lnTo>
                <a:lnTo>
                  <a:pt x="514" y="4"/>
                </a:lnTo>
                <a:lnTo>
                  <a:pt x="704" y="2"/>
                </a:lnTo>
                <a:lnTo>
                  <a:pt x="904" y="0"/>
                </a:lnTo>
                <a:lnTo>
                  <a:pt x="1115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0D9D09DF-80F9-DFA3-51E5-2FF8AF1549DE}"/>
              </a:ext>
            </a:extLst>
          </p:cNvPr>
          <p:cNvSpPr>
            <a:spLocks/>
          </p:cNvSpPr>
          <p:nvPr/>
        </p:nvSpPr>
        <p:spPr bwMode="auto">
          <a:xfrm>
            <a:off x="354" y="4848934"/>
            <a:ext cx="12191646" cy="562283"/>
          </a:xfrm>
          <a:custGeom>
            <a:avLst/>
            <a:gdLst>
              <a:gd name="T0" fmla="*/ 1184 w 5702"/>
              <a:gd name="T1" fmla="*/ 0 h 394"/>
              <a:gd name="T2" fmla="*/ 1492 w 5702"/>
              <a:gd name="T3" fmla="*/ 2 h 394"/>
              <a:gd name="T4" fmla="*/ 1754 w 5702"/>
              <a:gd name="T5" fmla="*/ 5 h 394"/>
              <a:gd name="T6" fmla="*/ 1968 w 5702"/>
              <a:gd name="T7" fmla="*/ 11 h 394"/>
              <a:gd name="T8" fmla="*/ 2156 w 5702"/>
              <a:gd name="T9" fmla="*/ 19 h 394"/>
              <a:gd name="T10" fmla="*/ 2333 w 5702"/>
              <a:gd name="T11" fmla="*/ 42 h 394"/>
              <a:gd name="T12" fmla="*/ 2480 w 5702"/>
              <a:gd name="T13" fmla="*/ 78 h 394"/>
              <a:gd name="T14" fmla="*/ 2598 w 5702"/>
              <a:gd name="T15" fmla="*/ 122 h 394"/>
              <a:gd name="T16" fmla="*/ 2690 w 5702"/>
              <a:gd name="T17" fmla="*/ 172 h 394"/>
              <a:gd name="T18" fmla="*/ 2763 w 5702"/>
              <a:gd name="T19" fmla="*/ 225 h 394"/>
              <a:gd name="T20" fmla="*/ 2816 w 5702"/>
              <a:gd name="T21" fmla="*/ 277 h 394"/>
              <a:gd name="T22" fmla="*/ 2852 w 5702"/>
              <a:gd name="T23" fmla="*/ 326 h 394"/>
              <a:gd name="T24" fmla="*/ 2887 w 5702"/>
              <a:gd name="T25" fmla="*/ 277 h 394"/>
              <a:gd name="T26" fmla="*/ 2939 w 5702"/>
              <a:gd name="T27" fmla="*/ 225 h 394"/>
              <a:gd name="T28" fmla="*/ 3012 w 5702"/>
              <a:gd name="T29" fmla="*/ 172 h 394"/>
              <a:gd name="T30" fmla="*/ 3105 w 5702"/>
              <a:gd name="T31" fmla="*/ 122 h 394"/>
              <a:gd name="T32" fmla="*/ 3223 w 5702"/>
              <a:gd name="T33" fmla="*/ 78 h 394"/>
              <a:gd name="T34" fmla="*/ 3369 w 5702"/>
              <a:gd name="T35" fmla="*/ 42 h 394"/>
              <a:gd name="T36" fmla="*/ 3547 w 5702"/>
              <a:gd name="T37" fmla="*/ 19 h 394"/>
              <a:gd name="T38" fmla="*/ 3735 w 5702"/>
              <a:gd name="T39" fmla="*/ 11 h 394"/>
              <a:gd name="T40" fmla="*/ 3949 w 5702"/>
              <a:gd name="T41" fmla="*/ 5 h 394"/>
              <a:gd name="T42" fmla="*/ 4210 w 5702"/>
              <a:gd name="T43" fmla="*/ 2 h 394"/>
              <a:gd name="T44" fmla="*/ 4519 w 5702"/>
              <a:gd name="T45" fmla="*/ 0 h 394"/>
              <a:gd name="T46" fmla="*/ 4907 w 5702"/>
              <a:gd name="T47" fmla="*/ 0 h 394"/>
              <a:gd name="T48" fmla="*/ 5318 w 5702"/>
              <a:gd name="T49" fmla="*/ 2 h 394"/>
              <a:gd name="T50" fmla="*/ 5702 w 5702"/>
              <a:gd name="T51" fmla="*/ 5 h 394"/>
              <a:gd name="T52" fmla="*/ 5513 w 5702"/>
              <a:gd name="T53" fmla="*/ 72 h 394"/>
              <a:gd name="T54" fmla="*/ 5116 w 5702"/>
              <a:gd name="T55" fmla="*/ 70 h 394"/>
              <a:gd name="T56" fmla="*/ 4689 w 5702"/>
              <a:gd name="T57" fmla="*/ 68 h 394"/>
              <a:gd name="T58" fmla="*/ 4358 w 5702"/>
              <a:gd name="T59" fmla="*/ 70 h 394"/>
              <a:gd name="T60" fmla="*/ 4073 w 5702"/>
              <a:gd name="T61" fmla="*/ 72 h 394"/>
              <a:gd name="T62" fmla="*/ 3836 w 5702"/>
              <a:gd name="T63" fmla="*/ 75 h 394"/>
              <a:gd name="T64" fmla="*/ 3648 w 5702"/>
              <a:gd name="T65" fmla="*/ 80 h 394"/>
              <a:gd name="T66" fmla="*/ 3455 w 5702"/>
              <a:gd name="T67" fmla="*/ 98 h 394"/>
              <a:gd name="T68" fmla="*/ 3293 w 5702"/>
              <a:gd name="T69" fmla="*/ 127 h 394"/>
              <a:gd name="T70" fmla="*/ 3162 w 5702"/>
              <a:gd name="T71" fmla="*/ 167 h 394"/>
              <a:gd name="T72" fmla="*/ 3056 w 5702"/>
              <a:gd name="T73" fmla="*/ 214 h 394"/>
              <a:gd name="T74" fmla="*/ 2974 w 5702"/>
              <a:gd name="T75" fmla="*/ 266 h 394"/>
              <a:gd name="T76" fmla="*/ 2911 w 5702"/>
              <a:gd name="T77" fmla="*/ 320 h 394"/>
              <a:gd name="T78" fmla="*/ 2868 w 5702"/>
              <a:gd name="T79" fmla="*/ 371 h 394"/>
              <a:gd name="T80" fmla="*/ 2835 w 5702"/>
              <a:gd name="T81" fmla="*/ 371 h 394"/>
              <a:gd name="T82" fmla="*/ 2791 w 5702"/>
              <a:gd name="T83" fmla="*/ 320 h 394"/>
              <a:gd name="T84" fmla="*/ 2730 w 5702"/>
              <a:gd name="T85" fmla="*/ 266 h 394"/>
              <a:gd name="T86" fmla="*/ 2647 w 5702"/>
              <a:gd name="T87" fmla="*/ 214 h 394"/>
              <a:gd name="T88" fmla="*/ 2542 w 5702"/>
              <a:gd name="T89" fmla="*/ 167 h 394"/>
              <a:gd name="T90" fmla="*/ 2410 w 5702"/>
              <a:gd name="T91" fmla="*/ 127 h 394"/>
              <a:gd name="T92" fmla="*/ 2248 w 5702"/>
              <a:gd name="T93" fmla="*/ 98 h 394"/>
              <a:gd name="T94" fmla="*/ 2055 w 5702"/>
              <a:gd name="T95" fmla="*/ 80 h 394"/>
              <a:gd name="T96" fmla="*/ 1867 w 5702"/>
              <a:gd name="T97" fmla="*/ 75 h 394"/>
              <a:gd name="T98" fmla="*/ 1630 w 5702"/>
              <a:gd name="T99" fmla="*/ 72 h 394"/>
              <a:gd name="T100" fmla="*/ 1344 w 5702"/>
              <a:gd name="T101" fmla="*/ 70 h 394"/>
              <a:gd name="T102" fmla="*/ 1014 w 5702"/>
              <a:gd name="T103" fmla="*/ 68 h 394"/>
              <a:gd name="T104" fmla="*/ 587 w 5702"/>
              <a:gd name="T105" fmla="*/ 70 h 394"/>
              <a:gd name="T106" fmla="*/ 190 w 5702"/>
              <a:gd name="T107" fmla="*/ 72 h 394"/>
              <a:gd name="T108" fmla="*/ 0 w 5702"/>
              <a:gd name="T109" fmla="*/ 5 h 394"/>
              <a:gd name="T110" fmla="*/ 385 w 5702"/>
              <a:gd name="T111" fmla="*/ 2 h 394"/>
              <a:gd name="T112" fmla="*/ 796 w 5702"/>
              <a:gd name="T113" fmla="*/ 0 h 3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5702" h="394">
                <a:moveTo>
                  <a:pt x="1014" y="0"/>
                </a:moveTo>
                <a:lnTo>
                  <a:pt x="1184" y="0"/>
                </a:lnTo>
                <a:lnTo>
                  <a:pt x="1344" y="0"/>
                </a:lnTo>
                <a:lnTo>
                  <a:pt x="1492" y="2"/>
                </a:lnTo>
                <a:lnTo>
                  <a:pt x="1630" y="4"/>
                </a:lnTo>
                <a:lnTo>
                  <a:pt x="1754" y="5"/>
                </a:lnTo>
                <a:lnTo>
                  <a:pt x="1867" y="7"/>
                </a:lnTo>
                <a:lnTo>
                  <a:pt x="1968" y="11"/>
                </a:lnTo>
                <a:lnTo>
                  <a:pt x="2055" y="12"/>
                </a:lnTo>
                <a:lnTo>
                  <a:pt x="2156" y="19"/>
                </a:lnTo>
                <a:lnTo>
                  <a:pt x="2248" y="30"/>
                </a:lnTo>
                <a:lnTo>
                  <a:pt x="2333" y="42"/>
                </a:lnTo>
                <a:lnTo>
                  <a:pt x="2410" y="59"/>
                </a:lnTo>
                <a:lnTo>
                  <a:pt x="2480" y="78"/>
                </a:lnTo>
                <a:lnTo>
                  <a:pt x="2542" y="99"/>
                </a:lnTo>
                <a:lnTo>
                  <a:pt x="2598" y="122"/>
                </a:lnTo>
                <a:lnTo>
                  <a:pt x="2647" y="146"/>
                </a:lnTo>
                <a:lnTo>
                  <a:pt x="2690" y="172"/>
                </a:lnTo>
                <a:lnTo>
                  <a:pt x="2730" y="199"/>
                </a:lnTo>
                <a:lnTo>
                  <a:pt x="2763" y="225"/>
                </a:lnTo>
                <a:lnTo>
                  <a:pt x="2791" y="253"/>
                </a:lnTo>
                <a:lnTo>
                  <a:pt x="2816" y="277"/>
                </a:lnTo>
                <a:lnTo>
                  <a:pt x="2835" y="303"/>
                </a:lnTo>
                <a:lnTo>
                  <a:pt x="2852" y="326"/>
                </a:lnTo>
                <a:lnTo>
                  <a:pt x="2868" y="303"/>
                </a:lnTo>
                <a:lnTo>
                  <a:pt x="2887" y="277"/>
                </a:lnTo>
                <a:lnTo>
                  <a:pt x="2911" y="253"/>
                </a:lnTo>
                <a:lnTo>
                  <a:pt x="2939" y="225"/>
                </a:lnTo>
                <a:lnTo>
                  <a:pt x="2974" y="199"/>
                </a:lnTo>
                <a:lnTo>
                  <a:pt x="3012" y="172"/>
                </a:lnTo>
                <a:lnTo>
                  <a:pt x="3056" y="146"/>
                </a:lnTo>
                <a:lnTo>
                  <a:pt x="3105" y="122"/>
                </a:lnTo>
                <a:lnTo>
                  <a:pt x="3162" y="99"/>
                </a:lnTo>
                <a:lnTo>
                  <a:pt x="3223" y="78"/>
                </a:lnTo>
                <a:lnTo>
                  <a:pt x="3293" y="59"/>
                </a:lnTo>
                <a:lnTo>
                  <a:pt x="3369" y="42"/>
                </a:lnTo>
                <a:lnTo>
                  <a:pt x="3455" y="30"/>
                </a:lnTo>
                <a:lnTo>
                  <a:pt x="3547" y="19"/>
                </a:lnTo>
                <a:lnTo>
                  <a:pt x="3648" y="12"/>
                </a:lnTo>
                <a:lnTo>
                  <a:pt x="3735" y="11"/>
                </a:lnTo>
                <a:lnTo>
                  <a:pt x="3836" y="7"/>
                </a:lnTo>
                <a:lnTo>
                  <a:pt x="3949" y="5"/>
                </a:lnTo>
                <a:lnTo>
                  <a:pt x="4073" y="4"/>
                </a:lnTo>
                <a:lnTo>
                  <a:pt x="4210" y="2"/>
                </a:lnTo>
                <a:lnTo>
                  <a:pt x="4358" y="0"/>
                </a:lnTo>
                <a:lnTo>
                  <a:pt x="4519" y="0"/>
                </a:lnTo>
                <a:lnTo>
                  <a:pt x="4689" y="0"/>
                </a:lnTo>
                <a:lnTo>
                  <a:pt x="4907" y="0"/>
                </a:lnTo>
                <a:lnTo>
                  <a:pt x="5116" y="2"/>
                </a:lnTo>
                <a:lnTo>
                  <a:pt x="5318" y="2"/>
                </a:lnTo>
                <a:lnTo>
                  <a:pt x="5513" y="4"/>
                </a:lnTo>
                <a:lnTo>
                  <a:pt x="5702" y="5"/>
                </a:lnTo>
                <a:lnTo>
                  <a:pt x="5702" y="73"/>
                </a:lnTo>
                <a:lnTo>
                  <a:pt x="5513" y="72"/>
                </a:lnTo>
                <a:lnTo>
                  <a:pt x="5318" y="70"/>
                </a:lnTo>
                <a:lnTo>
                  <a:pt x="5116" y="70"/>
                </a:lnTo>
                <a:lnTo>
                  <a:pt x="4907" y="68"/>
                </a:lnTo>
                <a:lnTo>
                  <a:pt x="4689" y="68"/>
                </a:lnTo>
                <a:lnTo>
                  <a:pt x="4519" y="68"/>
                </a:lnTo>
                <a:lnTo>
                  <a:pt x="4358" y="70"/>
                </a:lnTo>
                <a:lnTo>
                  <a:pt x="4210" y="70"/>
                </a:lnTo>
                <a:lnTo>
                  <a:pt x="4073" y="72"/>
                </a:lnTo>
                <a:lnTo>
                  <a:pt x="3949" y="73"/>
                </a:lnTo>
                <a:lnTo>
                  <a:pt x="3836" y="75"/>
                </a:lnTo>
                <a:lnTo>
                  <a:pt x="3735" y="78"/>
                </a:lnTo>
                <a:lnTo>
                  <a:pt x="3648" y="80"/>
                </a:lnTo>
                <a:lnTo>
                  <a:pt x="3547" y="87"/>
                </a:lnTo>
                <a:lnTo>
                  <a:pt x="3455" y="98"/>
                </a:lnTo>
                <a:lnTo>
                  <a:pt x="3369" y="110"/>
                </a:lnTo>
                <a:lnTo>
                  <a:pt x="3293" y="127"/>
                </a:lnTo>
                <a:lnTo>
                  <a:pt x="3223" y="146"/>
                </a:lnTo>
                <a:lnTo>
                  <a:pt x="3162" y="167"/>
                </a:lnTo>
                <a:lnTo>
                  <a:pt x="3105" y="190"/>
                </a:lnTo>
                <a:lnTo>
                  <a:pt x="3056" y="214"/>
                </a:lnTo>
                <a:lnTo>
                  <a:pt x="3012" y="240"/>
                </a:lnTo>
                <a:lnTo>
                  <a:pt x="2974" y="266"/>
                </a:lnTo>
                <a:lnTo>
                  <a:pt x="2939" y="293"/>
                </a:lnTo>
                <a:lnTo>
                  <a:pt x="2911" y="320"/>
                </a:lnTo>
                <a:lnTo>
                  <a:pt x="2887" y="345"/>
                </a:lnTo>
                <a:lnTo>
                  <a:pt x="2868" y="371"/>
                </a:lnTo>
                <a:lnTo>
                  <a:pt x="2852" y="394"/>
                </a:lnTo>
                <a:lnTo>
                  <a:pt x="2835" y="371"/>
                </a:lnTo>
                <a:lnTo>
                  <a:pt x="2816" y="345"/>
                </a:lnTo>
                <a:lnTo>
                  <a:pt x="2791" y="320"/>
                </a:lnTo>
                <a:lnTo>
                  <a:pt x="2763" y="293"/>
                </a:lnTo>
                <a:lnTo>
                  <a:pt x="2730" y="266"/>
                </a:lnTo>
                <a:lnTo>
                  <a:pt x="2690" y="240"/>
                </a:lnTo>
                <a:lnTo>
                  <a:pt x="2647" y="214"/>
                </a:lnTo>
                <a:lnTo>
                  <a:pt x="2598" y="190"/>
                </a:lnTo>
                <a:lnTo>
                  <a:pt x="2542" y="167"/>
                </a:lnTo>
                <a:lnTo>
                  <a:pt x="2480" y="146"/>
                </a:lnTo>
                <a:lnTo>
                  <a:pt x="2410" y="127"/>
                </a:lnTo>
                <a:lnTo>
                  <a:pt x="2333" y="110"/>
                </a:lnTo>
                <a:lnTo>
                  <a:pt x="2248" y="98"/>
                </a:lnTo>
                <a:lnTo>
                  <a:pt x="2156" y="87"/>
                </a:lnTo>
                <a:lnTo>
                  <a:pt x="2055" y="80"/>
                </a:lnTo>
                <a:lnTo>
                  <a:pt x="1968" y="78"/>
                </a:lnTo>
                <a:lnTo>
                  <a:pt x="1867" y="75"/>
                </a:lnTo>
                <a:lnTo>
                  <a:pt x="1754" y="73"/>
                </a:lnTo>
                <a:lnTo>
                  <a:pt x="1630" y="72"/>
                </a:lnTo>
                <a:lnTo>
                  <a:pt x="1492" y="70"/>
                </a:lnTo>
                <a:lnTo>
                  <a:pt x="1344" y="70"/>
                </a:lnTo>
                <a:lnTo>
                  <a:pt x="1184" y="68"/>
                </a:lnTo>
                <a:lnTo>
                  <a:pt x="1014" y="68"/>
                </a:lnTo>
                <a:lnTo>
                  <a:pt x="796" y="68"/>
                </a:lnTo>
                <a:lnTo>
                  <a:pt x="587" y="70"/>
                </a:lnTo>
                <a:lnTo>
                  <a:pt x="385" y="70"/>
                </a:lnTo>
                <a:lnTo>
                  <a:pt x="190" y="72"/>
                </a:lnTo>
                <a:lnTo>
                  <a:pt x="0" y="73"/>
                </a:lnTo>
                <a:lnTo>
                  <a:pt x="0" y="5"/>
                </a:lnTo>
                <a:lnTo>
                  <a:pt x="190" y="4"/>
                </a:lnTo>
                <a:lnTo>
                  <a:pt x="385" y="2"/>
                </a:lnTo>
                <a:lnTo>
                  <a:pt x="587" y="2"/>
                </a:lnTo>
                <a:lnTo>
                  <a:pt x="796" y="0"/>
                </a:lnTo>
                <a:lnTo>
                  <a:pt x="1014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8580" tIns="64290" rIns="128580" bIns="6429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B1F170-16AF-8D59-170E-2153292265BD}"/>
              </a:ext>
            </a:extLst>
          </p:cNvPr>
          <p:cNvSpPr txBox="1"/>
          <p:nvPr/>
        </p:nvSpPr>
        <p:spPr>
          <a:xfrm>
            <a:off x="3652057" y="1962928"/>
            <a:ext cx="48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</a:p>
          <a:p>
            <a:pPr algn="ctr"/>
            <a:r>
              <a:rPr lang="en-US" altLang="zh-CN" sz="1400" dirty="0">
                <a:solidFill>
                  <a:schemeClr val="tx2">
                    <a:lumMod val="40000"/>
                    <a:lumOff val="60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Program Design and Algorithm Foundation I </a:t>
            </a:r>
            <a:endParaRPr lang="zh-CN" altLang="en-US" sz="1400" dirty="0">
              <a:solidFill>
                <a:schemeClr val="tx2">
                  <a:lumMod val="40000"/>
                  <a:lumOff val="60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8CA8D9C-32EB-3014-D62F-3C03BB79A3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4765821" y="5915755"/>
            <a:ext cx="2660357" cy="57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922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84011"/>
          </a:xfrm>
        </p:spPr>
        <p:txBody>
          <a:bodyPr>
            <a:noAutofit/>
          </a:bodyPr>
          <a:lstStyle>
            <a:lvl1pPr>
              <a:defRPr sz="2600" b="0">
                <a:solidFill>
                  <a:schemeClr val="tx2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任意多边形 30">
            <a:extLst>
              <a:ext uri="{FF2B5EF4-FFF2-40B4-BE49-F238E27FC236}">
                <a16:creationId xmlns:a16="http://schemas.microsoft.com/office/drawing/2014/main" id="{DC4B3930-AA2C-E8E3-BE93-B0D7AF04ED2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838200" y="727662"/>
            <a:ext cx="11353799" cy="65813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任意多边形 31">
            <a:extLst>
              <a:ext uri="{FF2B5EF4-FFF2-40B4-BE49-F238E27FC236}">
                <a16:creationId xmlns:a16="http://schemas.microsoft.com/office/drawing/2014/main" id="{D803BA4B-44B8-3309-5E85-4ED322CD955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206067"/>
            <a:ext cx="788203" cy="584012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2002" dirty="0">
              <a:solidFill>
                <a:srgbClr val="7EC234"/>
              </a:solidFill>
              <a:latin typeface="Consolas" panose="020B0609020204030204" pitchFamily="49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CACEB85-3639-447B-5B78-3501BA0AC703}"/>
              </a:ext>
            </a:extLst>
          </p:cNvPr>
          <p:cNvSpPr/>
          <p:nvPr/>
        </p:nvSpPr>
        <p:spPr>
          <a:xfrm>
            <a:off x="1" y="6475232"/>
            <a:ext cx="12191999" cy="385982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2660"/>
            <a:ext cx="10515600" cy="4963387"/>
          </a:xfrm>
        </p:spPr>
        <p:txBody>
          <a:bodyPr>
            <a:normAutofit/>
          </a:bodyPr>
          <a:lstStyle>
            <a:lvl1pPr algn="just">
              <a:lnSpc>
                <a:spcPct val="150000"/>
              </a:lnSpc>
              <a:defRPr sz="2400">
                <a:latin typeface="Consolas" panose="020B0609020204030204" pitchFamily="49" charset="0"/>
                <a:ea typeface="微软雅黑" panose="020B0503020204020204" pitchFamily="34" charset="-122"/>
              </a:defRPr>
            </a:lvl1pPr>
            <a:lvl2pPr algn="just">
              <a:lnSpc>
                <a:spcPct val="150000"/>
              </a:lnSpc>
              <a:defRPr sz="2000">
                <a:latin typeface="Consolas" panose="020B0609020204030204" pitchFamily="49" charset="0"/>
                <a:ea typeface="微软雅黑" panose="020B0503020204020204" pitchFamily="34" charset="-122"/>
              </a:defRPr>
            </a:lvl2pPr>
            <a:lvl3pPr algn="just">
              <a:lnSpc>
                <a:spcPct val="150000"/>
              </a:lnSpc>
              <a:defRPr sz="1800">
                <a:latin typeface="Consolas" panose="020B0609020204030204" pitchFamily="49" charset="0"/>
                <a:ea typeface="微软雅黑" panose="020B0503020204020204" pitchFamily="34" charset="-122"/>
              </a:defRPr>
            </a:lvl3pPr>
            <a:lvl4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4pPr>
            <a:lvl5pPr algn="just">
              <a:lnSpc>
                <a:spcPct val="150000"/>
              </a:lnSpc>
              <a:defRPr sz="1600">
                <a:latin typeface="Consolas" panose="020B0609020204030204" pitchFamily="49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6F01DA7-B315-B10C-3A98-5EA3E4098B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5890"/>
          <a:stretch/>
        </p:blipFill>
        <p:spPr>
          <a:xfrm>
            <a:off x="10683027" y="6537418"/>
            <a:ext cx="1220069" cy="26340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D821215-750A-B963-D73E-5161CDB9DD50}"/>
              </a:ext>
            </a:extLst>
          </p:cNvPr>
          <p:cNvSpPr txBox="1"/>
          <p:nvPr/>
        </p:nvSpPr>
        <p:spPr>
          <a:xfrm>
            <a:off x="160116" y="6537418"/>
            <a:ext cx="39538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程序设计与算法基础</a:t>
            </a:r>
            <a:r>
              <a:rPr lang="en-US" altLang="zh-CN" sz="1050" dirty="0">
                <a:solidFill>
                  <a:schemeClr val="bg1">
                    <a:lumMod val="75000"/>
                  </a:schemeClr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I</a:t>
            </a:r>
            <a:endParaRPr lang="zh-CN" altLang="en-US" sz="1050" dirty="0">
              <a:solidFill>
                <a:schemeClr val="bg1">
                  <a:lumMod val="75000"/>
                </a:schemeClr>
              </a:solidFill>
              <a:latin typeface="Consolas" panose="020B0609020204030204" pitchFamily="49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848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0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845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304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437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16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94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602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72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54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06067"/>
            <a:ext cx="10515600" cy="521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159100"/>
            <a:ext cx="10515600" cy="51901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9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600" kern="1200">
          <a:solidFill>
            <a:schemeClr val="tx2">
              <a:lumMod val="75000"/>
            </a:schemeClr>
          </a:solidFill>
          <a:latin typeface="Consolas" panose="020B0609020204030204" pitchFamily="49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onsolas" panose="020B0609020204030204" pitchFamily="49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函数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白忠建</a:t>
            </a:r>
          </a:p>
        </p:txBody>
      </p:sp>
    </p:spTree>
    <p:extLst>
      <p:ext uri="{BB962C8B-B14F-4D97-AF65-F5344CB8AC3E}">
        <p14:creationId xmlns:p14="http://schemas.microsoft.com/office/powerpoint/2010/main" val="352454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为什么使用函数？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代码中，相连的一些语句构成了逻辑功能相对</a:t>
            </a:r>
            <a:r>
              <a:rPr lang="zh-CN" altLang="en-US" b="1" dirty="0">
                <a:solidFill>
                  <a:srgbClr val="FF0000"/>
                </a:solidFill>
              </a:rPr>
              <a:t>独立</a:t>
            </a:r>
            <a:r>
              <a:rPr lang="zh-CN" altLang="en-US" dirty="0"/>
              <a:t>的模块</a:t>
            </a:r>
            <a:endParaRPr lang="en-US" altLang="zh-CN" dirty="0"/>
          </a:p>
          <a:p>
            <a:r>
              <a:rPr lang="zh-CN" altLang="en-US" dirty="0"/>
              <a:t>这些功能模块是可以</a:t>
            </a:r>
            <a:r>
              <a:rPr lang="zh-CN" altLang="en-US" b="1" dirty="0">
                <a:solidFill>
                  <a:srgbClr val="FF0000"/>
                </a:solidFill>
              </a:rPr>
              <a:t>复用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reuse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的</a:t>
            </a:r>
            <a:endParaRPr lang="en-US" altLang="zh-CN" dirty="0"/>
          </a:p>
          <a:p>
            <a:r>
              <a:rPr lang="zh-CN" altLang="en-US" dirty="0"/>
              <a:t>这样，就可以将这些模块独立出来，成为可重复使用的语法单元</a:t>
            </a:r>
            <a:endParaRPr lang="en-US" altLang="zh-CN" dirty="0"/>
          </a:p>
          <a:p>
            <a:r>
              <a:rPr lang="zh-CN" altLang="en-US" dirty="0"/>
              <a:t>这种单元就是“</a:t>
            </a:r>
            <a:r>
              <a:rPr lang="zh-CN" altLang="en-US" b="1" dirty="0">
                <a:solidFill>
                  <a:srgbClr val="FF0000"/>
                </a:solidFill>
              </a:rPr>
              <a:t>函数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function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7839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函数长什么样？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FR" altLang="zh-CN" sz="3600" i="1" dirty="0"/>
          </a:p>
          <a:p>
            <a:pPr marL="0" indent="0">
              <a:buNone/>
            </a:pPr>
            <a:r>
              <a:rPr lang="fr-FR" altLang="zh-CN" sz="3600" i="1" dirty="0"/>
              <a:t>double</a:t>
            </a:r>
            <a:r>
              <a:rPr lang="fr-FR" altLang="zh-CN" sz="3600" dirty="0"/>
              <a:t> average(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x</a:t>
            </a:r>
            <a:r>
              <a:rPr lang="fr-FR" altLang="zh-CN" sz="3600" dirty="0"/>
              <a:t>, 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y</a:t>
            </a:r>
            <a:r>
              <a:rPr lang="fr-FR" altLang="zh-CN" sz="3600" dirty="0"/>
              <a:t>) {</a:t>
            </a:r>
          </a:p>
          <a:p>
            <a:pPr marL="0" indent="0">
              <a:buNone/>
            </a:pPr>
            <a:r>
              <a:rPr lang="fr-FR" altLang="zh-CN" sz="3600" dirty="0"/>
              <a:t>    return (</a:t>
            </a:r>
            <a:r>
              <a:rPr lang="fr-FR" altLang="zh-CN" sz="3600" i="1" dirty="0"/>
              <a:t>x</a:t>
            </a:r>
            <a:r>
              <a:rPr lang="fr-FR" altLang="zh-CN" sz="3600" dirty="0"/>
              <a:t> + </a:t>
            </a:r>
            <a:r>
              <a:rPr lang="fr-FR" altLang="zh-CN" sz="3600" i="1" dirty="0"/>
              <a:t>y</a:t>
            </a:r>
            <a:r>
              <a:rPr lang="fr-FR" altLang="zh-CN" sz="3600" dirty="0"/>
              <a:t>) / 2.0;</a:t>
            </a:r>
          </a:p>
          <a:p>
            <a:pPr marL="0" indent="0">
              <a:buNone/>
            </a:pPr>
            <a:r>
              <a:rPr lang="fr-FR" altLang="zh-CN" sz="3600" dirty="0"/>
              <a:t>}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矩形标注 4"/>
          <p:cNvSpPr/>
          <p:nvPr/>
        </p:nvSpPr>
        <p:spPr>
          <a:xfrm>
            <a:off x="975003" y="1666971"/>
            <a:ext cx="1407268" cy="538264"/>
          </a:xfrm>
          <a:prstGeom prst="wedgeRectCallout">
            <a:avLst>
              <a:gd name="adj1" fmla="val -19911"/>
              <a:gd name="adj2" fmla="val 769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返回类型</a:t>
            </a:r>
          </a:p>
        </p:txBody>
      </p:sp>
      <p:sp>
        <p:nvSpPr>
          <p:cNvPr id="6" name="矩形标注 5"/>
          <p:cNvSpPr/>
          <p:nvPr/>
        </p:nvSpPr>
        <p:spPr>
          <a:xfrm>
            <a:off x="2865412" y="1666971"/>
            <a:ext cx="1407268" cy="538264"/>
          </a:xfrm>
          <a:prstGeom prst="wedgeRectCallout">
            <a:avLst>
              <a:gd name="adj1" fmla="val -19911"/>
              <a:gd name="adj2" fmla="val 769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函数名</a:t>
            </a:r>
          </a:p>
        </p:txBody>
      </p:sp>
      <p:sp>
        <p:nvSpPr>
          <p:cNvPr id="7" name="矩形标注 6"/>
          <p:cNvSpPr/>
          <p:nvPr/>
        </p:nvSpPr>
        <p:spPr>
          <a:xfrm>
            <a:off x="6030144" y="1666971"/>
            <a:ext cx="1407268" cy="538264"/>
          </a:xfrm>
          <a:prstGeom prst="wedgeRectCallout">
            <a:avLst>
              <a:gd name="adj1" fmla="val -19911"/>
              <a:gd name="adj2" fmla="val 769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参数列表</a:t>
            </a:r>
          </a:p>
        </p:txBody>
      </p:sp>
      <p:sp>
        <p:nvSpPr>
          <p:cNvPr id="8" name="矩形标注 7"/>
          <p:cNvSpPr/>
          <p:nvPr/>
        </p:nvSpPr>
        <p:spPr>
          <a:xfrm>
            <a:off x="3890606" y="4207089"/>
            <a:ext cx="1407268" cy="538264"/>
          </a:xfrm>
          <a:prstGeom prst="wedgeRectCallout">
            <a:avLst>
              <a:gd name="adj1" fmla="val -23137"/>
              <a:gd name="adj2" fmla="val -1001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函数体</a:t>
            </a:r>
          </a:p>
        </p:txBody>
      </p:sp>
      <p:cxnSp>
        <p:nvCxnSpPr>
          <p:cNvPr id="10" name="直接连接符 9"/>
          <p:cNvCxnSpPr/>
          <p:nvPr/>
        </p:nvCxnSpPr>
        <p:spPr>
          <a:xfrm>
            <a:off x="2725982" y="2973786"/>
            <a:ext cx="166667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4716910" y="2973786"/>
            <a:ext cx="446823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975003" y="2973786"/>
            <a:ext cx="1407268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1678637" y="3214045"/>
            <a:ext cx="0" cy="73281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908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如何使用函数？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使用函数称为“</a:t>
            </a:r>
            <a:r>
              <a:rPr lang="zh-CN" altLang="en-US" b="1" dirty="0">
                <a:solidFill>
                  <a:srgbClr val="FF0000"/>
                </a:solidFill>
              </a:rPr>
              <a:t>函数调用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function call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”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en-US" altLang="zh-CN" sz="3200" dirty="0"/>
              <a:t>void f() {</a:t>
            </a:r>
          </a:p>
          <a:p>
            <a:pPr marL="0" indent="0">
              <a:buNone/>
            </a:pPr>
            <a:r>
              <a:rPr lang="en-US" altLang="zh-CN" sz="3200" dirty="0"/>
              <a:t>    double a = 1.1, b = 2.2, c;</a:t>
            </a:r>
          </a:p>
          <a:p>
            <a:pPr marL="0" indent="0">
              <a:buNone/>
            </a:pPr>
            <a:r>
              <a:rPr lang="en-US" altLang="zh-CN" sz="3200" dirty="0"/>
              <a:t>    c = </a:t>
            </a:r>
            <a:r>
              <a:rPr lang="en-US" altLang="zh-CN" sz="3200" b="1" i="1" dirty="0">
                <a:solidFill>
                  <a:srgbClr val="FF0000"/>
                </a:solidFill>
              </a:rPr>
              <a:t>average(a, b)</a:t>
            </a:r>
            <a:r>
              <a:rPr lang="en-US" altLang="zh-CN" sz="3200" i="1" dirty="0"/>
              <a:t>;</a:t>
            </a:r>
          </a:p>
          <a:p>
            <a:pPr marL="0" indent="0">
              <a:buNone/>
            </a:pPr>
            <a:r>
              <a:rPr lang="en-US" altLang="zh-CN" sz="3200" dirty="0"/>
              <a:t>}</a:t>
            </a:r>
          </a:p>
        </p:txBody>
      </p:sp>
      <p:sp>
        <p:nvSpPr>
          <p:cNvPr id="4" name="矩形标注 4">
            <a:extLst>
              <a:ext uri="{FF2B5EF4-FFF2-40B4-BE49-F238E27FC236}">
                <a16:creationId xmlns:a16="http://schemas.microsoft.com/office/drawing/2014/main" id="{57815662-BAD5-F48E-7681-B50A61E7591D}"/>
              </a:ext>
            </a:extLst>
          </p:cNvPr>
          <p:cNvSpPr/>
          <p:nvPr/>
        </p:nvSpPr>
        <p:spPr>
          <a:xfrm>
            <a:off x="3145092" y="1860154"/>
            <a:ext cx="2264034" cy="767136"/>
          </a:xfrm>
          <a:prstGeom prst="wedgeRectCallout">
            <a:avLst>
              <a:gd name="adj1" fmla="val -70913"/>
              <a:gd name="adj2" fmla="val 5354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调用函数：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caller</a:t>
            </a:r>
          </a:p>
        </p:txBody>
      </p:sp>
      <p:sp>
        <p:nvSpPr>
          <p:cNvPr id="5" name="矩形标注 4">
            <a:extLst>
              <a:ext uri="{FF2B5EF4-FFF2-40B4-BE49-F238E27FC236}">
                <a16:creationId xmlns:a16="http://schemas.microsoft.com/office/drawing/2014/main" id="{7F39ACA8-6D82-5D48-F65B-9A1A1748B292}"/>
              </a:ext>
            </a:extLst>
          </p:cNvPr>
          <p:cNvSpPr/>
          <p:nvPr/>
        </p:nvSpPr>
        <p:spPr>
          <a:xfrm>
            <a:off x="3980071" y="5071286"/>
            <a:ext cx="2264034" cy="767136"/>
          </a:xfrm>
          <a:prstGeom prst="wedgeRectCallout">
            <a:avLst>
              <a:gd name="adj1" fmla="val -69207"/>
              <a:gd name="adj2" fmla="val -648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被调函数：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callee</a:t>
            </a:r>
            <a:endParaRPr lang="zh-CN" alt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84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函数原型</a:t>
            </a:r>
            <a:r>
              <a:rPr lang="en-US" altLang="zh-CN" dirty="0"/>
              <a:t>/</a:t>
            </a:r>
            <a:r>
              <a:rPr lang="zh-CN" altLang="en-US" dirty="0"/>
              <a:t>签名</a:t>
            </a:r>
            <a:r>
              <a:rPr lang="en-US" altLang="zh-CN" dirty="0"/>
              <a:t>(signature)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altLang="zh-CN" sz="3600" i="1" dirty="0"/>
              <a:t>double</a:t>
            </a:r>
            <a:r>
              <a:rPr lang="fr-FR" altLang="zh-CN" sz="3600" dirty="0"/>
              <a:t> average(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x</a:t>
            </a:r>
            <a:r>
              <a:rPr lang="fr-FR" altLang="zh-CN" sz="3600" dirty="0"/>
              <a:t>, 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y</a:t>
            </a:r>
            <a:r>
              <a:rPr lang="fr-FR" altLang="zh-CN" sz="3600" dirty="0"/>
              <a:t>)</a:t>
            </a:r>
            <a:r>
              <a:rPr lang="fr-FR" altLang="zh-CN" sz="3600" b="1" dirty="0">
                <a:solidFill>
                  <a:srgbClr val="FF0000"/>
                </a:solidFill>
              </a:rPr>
              <a:t>;</a:t>
            </a:r>
          </a:p>
          <a:p>
            <a:pPr marL="0" indent="0" algn="ctr">
              <a:buNone/>
            </a:pPr>
            <a:endParaRPr lang="fr-FR" altLang="zh-CN" sz="3600" b="1" dirty="0">
              <a:solidFill>
                <a:srgbClr val="FFC000"/>
              </a:solidFill>
            </a:endParaRPr>
          </a:p>
          <a:p>
            <a:pPr marL="0" indent="0" algn="just">
              <a:buNone/>
            </a:pPr>
            <a:r>
              <a:rPr lang="en-US" altLang="zh-CN" sz="3200" dirty="0"/>
              <a:t>1.</a:t>
            </a:r>
            <a:r>
              <a:rPr lang="zh-CN" altLang="en-US" sz="3200" dirty="0"/>
              <a:t>说明函数的规格，以便编译器检查</a:t>
            </a:r>
            <a:endParaRPr lang="en-US" altLang="zh-CN" sz="3200" dirty="0"/>
          </a:p>
          <a:p>
            <a:pPr marL="0" indent="0" algn="just">
              <a:buNone/>
            </a:pPr>
            <a:r>
              <a:rPr lang="en-US" altLang="zh-CN" sz="3200" dirty="0"/>
              <a:t>2.</a:t>
            </a:r>
            <a:r>
              <a:rPr lang="zh-CN" altLang="en-US" sz="3200" dirty="0"/>
              <a:t>函数原型应该在调用该函数之前声明</a:t>
            </a:r>
          </a:p>
        </p:txBody>
      </p:sp>
    </p:spTree>
    <p:extLst>
      <p:ext uri="{BB962C8B-B14F-4D97-AF65-F5344CB8AC3E}">
        <p14:creationId xmlns:p14="http://schemas.microsoft.com/office/powerpoint/2010/main" val="4157490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altLang="zh-CN" sz="3600" i="1" dirty="0"/>
              <a:t>double</a:t>
            </a:r>
            <a:r>
              <a:rPr lang="fr-FR" altLang="zh-CN" sz="3600" dirty="0"/>
              <a:t> average(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x</a:t>
            </a:r>
            <a:r>
              <a:rPr lang="fr-FR" altLang="zh-CN" sz="3600" dirty="0"/>
              <a:t>, 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y</a:t>
            </a:r>
            <a:r>
              <a:rPr lang="fr-FR" altLang="zh-CN" sz="3600" dirty="0"/>
              <a:t>);</a:t>
            </a:r>
          </a:p>
          <a:p>
            <a:pPr marL="0" indent="0" algn="ctr">
              <a:buNone/>
            </a:pPr>
            <a:endParaRPr lang="fr-FR" altLang="zh-CN" sz="3600" dirty="0"/>
          </a:p>
          <a:p>
            <a:pPr marL="0" indent="0" algn="ctr">
              <a:buNone/>
            </a:pPr>
            <a:r>
              <a:rPr lang="fr-FR" altLang="zh-CN" sz="4800" b="1" i="1" dirty="0">
                <a:solidFill>
                  <a:srgbClr val="FF0000"/>
                </a:solidFill>
              </a:rPr>
              <a:t>double</a:t>
            </a:r>
            <a:r>
              <a:rPr lang="fr-FR" altLang="zh-CN" sz="4800" b="1" dirty="0">
                <a:solidFill>
                  <a:srgbClr val="FF0000"/>
                </a:solidFill>
              </a:rPr>
              <a:t> (</a:t>
            </a:r>
            <a:r>
              <a:rPr lang="fr-FR" altLang="zh-CN" sz="4800" b="1" i="1" dirty="0">
                <a:solidFill>
                  <a:srgbClr val="FF0000"/>
                </a:solidFill>
              </a:rPr>
              <a:t>double</a:t>
            </a:r>
            <a:r>
              <a:rPr lang="fr-FR" altLang="zh-CN" sz="4800" b="1" dirty="0">
                <a:solidFill>
                  <a:srgbClr val="FF0000"/>
                </a:solidFill>
              </a:rPr>
              <a:t>, </a:t>
            </a:r>
            <a:r>
              <a:rPr lang="fr-FR" altLang="zh-CN" sz="4800" b="1" i="1" dirty="0">
                <a:solidFill>
                  <a:srgbClr val="FF0000"/>
                </a:solidFill>
              </a:rPr>
              <a:t>double</a:t>
            </a:r>
            <a:r>
              <a:rPr lang="fr-FR" altLang="zh-CN" sz="48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矩形 3"/>
          <p:cNvSpPr/>
          <p:nvPr/>
        </p:nvSpPr>
        <p:spPr>
          <a:xfrm>
            <a:off x="3357995" y="1211989"/>
            <a:ext cx="1891621" cy="790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23812" y="1463128"/>
            <a:ext cx="313294" cy="607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178662" y="1463128"/>
            <a:ext cx="313294" cy="607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9700628" y="1463128"/>
            <a:ext cx="313294" cy="607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6511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altLang="zh-CN" sz="3600" i="1" dirty="0"/>
              <a:t>double</a:t>
            </a:r>
            <a:r>
              <a:rPr lang="fr-FR" altLang="zh-CN" sz="3600" dirty="0"/>
              <a:t> average(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x</a:t>
            </a:r>
            <a:r>
              <a:rPr lang="fr-FR" altLang="zh-CN" sz="3600" dirty="0"/>
              <a:t>, </a:t>
            </a:r>
            <a:r>
              <a:rPr lang="fr-FR" altLang="zh-CN" sz="3600" i="1" dirty="0"/>
              <a:t>double</a:t>
            </a:r>
            <a:r>
              <a:rPr lang="fr-FR" altLang="zh-CN" sz="3600" dirty="0"/>
              <a:t> </a:t>
            </a:r>
            <a:r>
              <a:rPr lang="fr-FR" altLang="zh-CN" sz="3600" i="1" dirty="0"/>
              <a:t>y</a:t>
            </a:r>
            <a:r>
              <a:rPr lang="fr-FR" altLang="zh-CN" sz="3600" dirty="0"/>
              <a:t>) {</a:t>
            </a:r>
          </a:p>
          <a:p>
            <a:pPr marL="0" indent="0">
              <a:buNone/>
            </a:pPr>
            <a:r>
              <a:rPr lang="fr-FR" altLang="zh-CN" sz="3600" dirty="0"/>
              <a:t>    return (</a:t>
            </a:r>
            <a:r>
              <a:rPr lang="fr-FR" altLang="zh-CN" sz="3600" i="1" dirty="0"/>
              <a:t>x</a:t>
            </a:r>
            <a:r>
              <a:rPr lang="fr-FR" altLang="zh-CN" sz="3600" dirty="0"/>
              <a:t> + </a:t>
            </a:r>
            <a:r>
              <a:rPr lang="fr-FR" altLang="zh-CN" sz="3600" i="1" dirty="0"/>
              <a:t>y</a:t>
            </a:r>
            <a:r>
              <a:rPr lang="fr-FR" altLang="zh-CN" sz="3600" dirty="0"/>
              <a:t>) / 2.0;</a:t>
            </a:r>
          </a:p>
          <a:p>
            <a:pPr marL="0" indent="0">
              <a:buNone/>
            </a:pPr>
            <a:r>
              <a:rPr lang="fr-FR" altLang="zh-CN" sz="3600" dirty="0"/>
              <a:t>}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8" name="矩形标注 7"/>
          <p:cNvSpPr/>
          <p:nvPr/>
        </p:nvSpPr>
        <p:spPr>
          <a:xfrm>
            <a:off x="3379711" y="2905638"/>
            <a:ext cx="5645591" cy="1457430"/>
          </a:xfrm>
          <a:prstGeom prst="wedgeRectCallout">
            <a:avLst>
              <a:gd name="adj1" fmla="val -22984"/>
              <a:gd name="adj2" fmla="val -104885"/>
            </a:avLst>
          </a:pr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函数定义隐含了函数原型声明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987672" y="1961240"/>
            <a:ext cx="8410754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2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函数的形式参数（列表）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zh-CN" sz="3600" i="1" dirty="0"/>
              <a:t>double</a:t>
            </a:r>
            <a:r>
              <a:rPr lang="fr-FR" altLang="zh-CN" sz="3600" dirty="0"/>
              <a:t> average(</a:t>
            </a:r>
            <a:r>
              <a:rPr lang="fr-FR" altLang="zh-CN" sz="3600" b="1" i="1" dirty="0">
                <a:solidFill>
                  <a:srgbClr val="FF0000"/>
                </a:solidFill>
              </a:rPr>
              <a:t>double</a:t>
            </a:r>
            <a:r>
              <a:rPr lang="fr-FR" altLang="zh-CN" sz="3600" b="1" dirty="0">
                <a:solidFill>
                  <a:srgbClr val="FF0000"/>
                </a:solidFill>
              </a:rPr>
              <a:t> </a:t>
            </a:r>
            <a:r>
              <a:rPr lang="fr-FR" altLang="zh-CN" sz="3600" b="1" i="1" dirty="0">
                <a:solidFill>
                  <a:srgbClr val="FF0000"/>
                </a:solidFill>
              </a:rPr>
              <a:t>x</a:t>
            </a:r>
            <a:r>
              <a:rPr lang="fr-FR" altLang="zh-CN" sz="3600" b="1" dirty="0">
                <a:solidFill>
                  <a:srgbClr val="FF0000"/>
                </a:solidFill>
              </a:rPr>
              <a:t>, </a:t>
            </a:r>
            <a:r>
              <a:rPr lang="fr-FR" altLang="zh-CN" sz="3600" b="1" i="1" dirty="0">
                <a:solidFill>
                  <a:srgbClr val="FF0000"/>
                </a:solidFill>
              </a:rPr>
              <a:t>double</a:t>
            </a:r>
            <a:r>
              <a:rPr lang="fr-FR" altLang="zh-CN" sz="3600" b="1" dirty="0">
                <a:solidFill>
                  <a:srgbClr val="FF0000"/>
                </a:solidFill>
              </a:rPr>
              <a:t> </a:t>
            </a:r>
            <a:r>
              <a:rPr lang="fr-FR" altLang="zh-CN" sz="3600" b="1" i="1" dirty="0">
                <a:solidFill>
                  <a:srgbClr val="FF0000"/>
                </a:solidFill>
              </a:rPr>
              <a:t>y</a:t>
            </a:r>
            <a:r>
              <a:rPr lang="fr-FR" altLang="zh-CN" sz="3600" dirty="0"/>
              <a:t>);</a:t>
            </a:r>
            <a:endParaRPr lang="en-US" altLang="zh-CN" sz="3600" dirty="0"/>
          </a:p>
          <a:p>
            <a:endParaRPr lang="en-US" altLang="zh-CN" dirty="0"/>
          </a:p>
          <a:p>
            <a:r>
              <a:rPr lang="zh-CN" altLang="en-US" dirty="0"/>
              <a:t>在定义或声明函数时，函数名后</a:t>
            </a:r>
            <a:r>
              <a:rPr lang="en-US" altLang="zh-CN" dirty="0"/>
              <a:t>()</a:t>
            </a:r>
            <a:r>
              <a:rPr lang="zh-CN" altLang="en-US" dirty="0"/>
              <a:t>里的内容称为“</a:t>
            </a:r>
            <a:r>
              <a:rPr lang="zh-CN" altLang="en-US" b="1" dirty="0">
                <a:solidFill>
                  <a:srgbClr val="FF0000"/>
                </a:solidFill>
              </a:rPr>
              <a:t>函数的参数（列表）（</a:t>
            </a:r>
            <a:r>
              <a:rPr lang="en-US" altLang="zh-CN" b="1" i="1" dirty="0">
                <a:solidFill>
                  <a:srgbClr val="FF0000"/>
                </a:solidFill>
              </a:rPr>
              <a:t>parameter list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”。</a:t>
            </a:r>
            <a:endParaRPr lang="en-US" altLang="zh-CN" dirty="0"/>
          </a:p>
          <a:p>
            <a:r>
              <a:rPr lang="zh-CN" altLang="en-US" dirty="0"/>
              <a:t>这里的参数</a:t>
            </a:r>
            <a:r>
              <a:rPr lang="en-US" altLang="zh-CN" dirty="0"/>
              <a:t>(x</a:t>
            </a:r>
            <a:r>
              <a:rPr lang="zh-CN" altLang="en-US" dirty="0"/>
              <a:t>和</a:t>
            </a:r>
            <a:r>
              <a:rPr lang="en-US" altLang="zh-CN" dirty="0"/>
              <a:t>y)</a:t>
            </a:r>
            <a:r>
              <a:rPr lang="zh-CN" altLang="en-US" dirty="0"/>
              <a:t>又称为“</a:t>
            </a:r>
            <a:r>
              <a:rPr lang="zh-CN" altLang="en-US" b="1" dirty="0">
                <a:solidFill>
                  <a:srgbClr val="FF0000"/>
                </a:solidFill>
              </a:rPr>
              <a:t>形式参数</a:t>
            </a:r>
            <a:r>
              <a:rPr lang="zh-CN" altLang="en-US" dirty="0"/>
              <a:t>”，是一种“</a:t>
            </a:r>
            <a:r>
              <a:rPr lang="zh-CN" altLang="en-US" b="1" dirty="0">
                <a:solidFill>
                  <a:srgbClr val="FF0000"/>
                </a:solidFill>
              </a:rPr>
              <a:t>占位</a:t>
            </a:r>
            <a:r>
              <a:rPr lang="zh-CN" altLang="en-US" dirty="0"/>
              <a:t>”机制。即：在函数体中，形式参数虽参与了运算，但没有具体值，只体现了它们的作用。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85948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函数的实际参数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zh-CN" sz="3200" i="1" dirty="0"/>
              <a:t>double a = 1.1, b = 2.2, c;</a:t>
            </a:r>
          </a:p>
          <a:p>
            <a:pPr marL="0" indent="0">
              <a:buNone/>
            </a:pPr>
            <a:r>
              <a:rPr lang="fr-FR" altLang="zh-CN" sz="3200" i="1" dirty="0"/>
              <a:t>c</a:t>
            </a:r>
            <a:r>
              <a:rPr lang="fr-FR" altLang="zh-CN" sz="3200" dirty="0"/>
              <a:t> = average(</a:t>
            </a:r>
            <a:r>
              <a:rPr lang="fr-FR" altLang="zh-CN" sz="3200" b="1" i="1" dirty="0">
                <a:solidFill>
                  <a:srgbClr val="FF0000"/>
                </a:solidFill>
              </a:rPr>
              <a:t>a, b</a:t>
            </a:r>
            <a:r>
              <a:rPr lang="fr-FR" altLang="zh-CN" sz="3200" dirty="0"/>
              <a:t>);</a:t>
            </a:r>
            <a:endParaRPr lang="en-US" altLang="zh-CN" sz="3200" dirty="0"/>
          </a:p>
          <a:p>
            <a:endParaRPr lang="en-US" altLang="zh-CN" dirty="0"/>
          </a:p>
          <a:p>
            <a:r>
              <a:rPr lang="zh-CN" altLang="en-US" dirty="0"/>
              <a:t>在调用函数时，给出的参数</a:t>
            </a:r>
            <a:r>
              <a:rPr lang="en-US" altLang="zh-CN" dirty="0"/>
              <a:t>(a</a:t>
            </a:r>
            <a:r>
              <a:rPr lang="zh-CN" altLang="en-US" dirty="0"/>
              <a:t>和</a:t>
            </a:r>
            <a:r>
              <a:rPr lang="en-US" altLang="zh-CN" dirty="0"/>
              <a:t>b)</a:t>
            </a:r>
            <a:r>
              <a:rPr lang="zh-CN" altLang="en-US" dirty="0"/>
              <a:t>称为“</a:t>
            </a:r>
            <a:r>
              <a:rPr lang="zh-CN" altLang="en-US" b="1" dirty="0">
                <a:solidFill>
                  <a:srgbClr val="FF0000"/>
                </a:solidFill>
              </a:rPr>
              <a:t>实际参数（</a:t>
            </a:r>
            <a:r>
              <a:rPr lang="en-US" altLang="zh-CN" b="1" i="1" dirty="0">
                <a:solidFill>
                  <a:srgbClr val="FF0000"/>
                </a:solidFill>
              </a:rPr>
              <a:t>argument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zh-CN" altLang="en-US" dirty="0"/>
              <a:t>”</a:t>
            </a:r>
            <a:endParaRPr lang="en-US" altLang="zh-CN" dirty="0"/>
          </a:p>
          <a:p>
            <a:r>
              <a:rPr lang="zh-CN" altLang="en-US" dirty="0"/>
              <a:t>实际参数将它们的值传递给形式参数，从而使函数的计算有效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5709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函数的参数传递</a:t>
            </a:r>
            <a:r>
              <a:rPr lang="en-US" altLang="zh-CN" dirty="0"/>
              <a:t>-</a:t>
            </a:r>
            <a:r>
              <a:rPr lang="zh-CN" altLang="en-US" dirty="0"/>
              <a:t>对位传递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altLang="zh-CN" i="1" dirty="0"/>
              <a:t>double</a:t>
            </a:r>
            <a:r>
              <a:rPr lang="fr-FR" altLang="zh-CN" dirty="0"/>
              <a:t> average(</a:t>
            </a:r>
            <a:r>
              <a:rPr lang="fr-FR" altLang="zh-CN" b="1" i="1" dirty="0">
                <a:solidFill>
                  <a:srgbClr val="FF0000"/>
                </a:solidFill>
              </a:rPr>
              <a:t>double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i="1" dirty="0">
                <a:solidFill>
                  <a:srgbClr val="FF0000"/>
                </a:solidFill>
              </a:rPr>
              <a:t>x</a:t>
            </a:r>
            <a:r>
              <a:rPr lang="fr-FR" altLang="zh-CN" b="1" dirty="0">
                <a:solidFill>
                  <a:srgbClr val="FF0000"/>
                </a:solidFill>
              </a:rPr>
              <a:t>, </a:t>
            </a:r>
            <a:r>
              <a:rPr lang="fr-FR" altLang="zh-CN" b="1" i="1" dirty="0">
                <a:solidFill>
                  <a:srgbClr val="FF0000"/>
                </a:solidFill>
              </a:rPr>
              <a:t>double</a:t>
            </a:r>
            <a:r>
              <a:rPr lang="fr-FR" altLang="zh-CN" b="1" dirty="0">
                <a:solidFill>
                  <a:srgbClr val="FF0000"/>
                </a:solidFill>
              </a:rPr>
              <a:t> </a:t>
            </a:r>
            <a:r>
              <a:rPr lang="fr-FR" altLang="zh-CN" b="1" i="1" dirty="0">
                <a:solidFill>
                  <a:srgbClr val="FF0000"/>
                </a:solidFill>
              </a:rPr>
              <a:t>y</a:t>
            </a:r>
            <a:r>
              <a:rPr lang="fr-FR" altLang="zh-CN" dirty="0"/>
              <a:t>); </a:t>
            </a:r>
            <a:r>
              <a:rPr lang="fr-FR" altLang="zh-CN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声明</a:t>
            </a:r>
            <a:endParaRPr lang="en-US" altLang="zh-CN" dirty="0">
              <a:solidFill>
                <a:schemeClr val="tx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>
              <a:solidFill>
                <a:schemeClr val="tx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fr-FR" altLang="zh-CN" i="1" dirty="0"/>
              <a:t>c</a:t>
            </a:r>
            <a:r>
              <a:rPr lang="fr-FR" altLang="zh-CN" dirty="0"/>
              <a:t> =    average(       </a:t>
            </a:r>
            <a:r>
              <a:rPr lang="fr-FR" altLang="zh-CN" b="1" i="1" dirty="0">
                <a:solidFill>
                  <a:srgbClr val="FF0000"/>
                </a:solidFill>
              </a:rPr>
              <a:t>a,        b</a:t>
            </a:r>
            <a:r>
              <a:rPr lang="fr-FR" altLang="zh-CN" dirty="0"/>
              <a:t>); </a:t>
            </a:r>
            <a:r>
              <a:rPr lang="en-US" altLang="zh-CN" dirty="0">
                <a:solidFill>
                  <a:schemeClr val="tx1">
                    <a:lumMod val="75000"/>
                  </a:schemeClr>
                </a:solidFill>
              </a:rPr>
              <a:t>//</a:t>
            </a:r>
            <a:r>
              <a:rPr lang="zh-CN" altLang="en-US" dirty="0">
                <a:solidFill>
                  <a:schemeClr val="tx1">
                    <a:lumMod val="75000"/>
                  </a:schemeClr>
                </a:solidFill>
              </a:rPr>
              <a:t>调用</a:t>
            </a:r>
            <a:endParaRPr lang="en-US" altLang="zh-CN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5613ACD-D04D-DE13-0EE3-2A3BFFDC9D25}"/>
              </a:ext>
            </a:extLst>
          </p:cNvPr>
          <p:cNvCxnSpPr>
            <a:cxnSpLocks/>
          </p:cNvCxnSpPr>
          <p:nvPr/>
        </p:nvCxnSpPr>
        <p:spPr>
          <a:xfrm flipV="1">
            <a:off x="4718040" y="1635065"/>
            <a:ext cx="0" cy="1793935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3ADB6DAA-1D75-B058-0AB5-50151668CE1A}"/>
              </a:ext>
            </a:extLst>
          </p:cNvPr>
          <p:cNvCxnSpPr>
            <a:cxnSpLocks/>
          </p:cNvCxnSpPr>
          <p:nvPr/>
        </p:nvCxnSpPr>
        <p:spPr>
          <a:xfrm flipV="1">
            <a:off x="6363064" y="1635065"/>
            <a:ext cx="0" cy="1700563"/>
          </a:xfrm>
          <a:prstGeom prst="straightConnector1">
            <a:avLst/>
          </a:prstGeom>
          <a:ln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71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编写一个函数，原型如下：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3600" b="1" i="1" dirty="0"/>
              <a:t>void swap(int x, int y);</a:t>
            </a:r>
          </a:p>
          <a:p>
            <a:pPr marL="0" indent="0">
              <a:buNone/>
            </a:pPr>
            <a:r>
              <a:rPr lang="zh-CN" altLang="en-US" dirty="0"/>
              <a:t>用于交换两个数的值。</a:t>
            </a:r>
          </a:p>
        </p:txBody>
      </p:sp>
    </p:spTree>
    <p:extLst>
      <p:ext uri="{BB962C8B-B14F-4D97-AF65-F5344CB8AC3E}">
        <p14:creationId xmlns:p14="http://schemas.microsoft.com/office/powerpoint/2010/main" val="954953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DD5C4-C403-3554-5075-F9FF97962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395104-70AA-8C22-53D1-27D567291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函数的参数传递</a:t>
            </a:r>
            <a:r>
              <a:rPr lang="en-US" altLang="zh-CN" dirty="0"/>
              <a:t>-</a:t>
            </a:r>
            <a:r>
              <a:rPr lang="zh-CN" altLang="en-US" dirty="0"/>
              <a:t>传值调用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832EE-F50E-BFAB-AE89-6BA019B4A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传值调用</a:t>
            </a:r>
            <a:r>
              <a:rPr lang="en-US" altLang="zh-CN" b="1" dirty="0">
                <a:solidFill>
                  <a:srgbClr val="FF0000"/>
                </a:solidFill>
              </a:rPr>
              <a:t>(</a:t>
            </a:r>
            <a:r>
              <a:rPr lang="en-US" altLang="zh-CN" b="1" i="1" dirty="0">
                <a:solidFill>
                  <a:srgbClr val="FF0000"/>
                </a:solidFill>
              </a:rPr>
              <a:t>call by value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简单类型的形式参数是实际参数的</a:t>
            </a:r>
            <a:r>
              <a:rPr lang="zh-CN" altLang="en-US" b="1" dirty="0">
                <a:solidFill>
                  <a:srgbClr val="FF0000"/>
                </a:solidFill>
              </a:rPr>
              <a:t>副本</a:t>
            </a:r>
            <a:r>
              <a:rPr lang="zh-CN" altLang="en-US" dirty="0"/>
              <a:t>，即：形式参数的</a:t>
            </a:r>
            <a:r>
              <a:rPr lang="zh-CN" altLang="en-US" b="1" dirty="0">
                <a:solidFill>
                  <a:srgbClr val="FF0000"/>
                </a:solidFill>
              </a:rPr>
              <a:t>改变不影响</a:t>
            </a:r>
            <a:r>
              <a:rPr lang="zh-CN" altLang="en-US" dirty="0"/>
              <a:t>实际参数。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1CD86F55-EA95-5BF2-7FB6-BEE34A27EF4B}"/>
              </a:ext>
            </a:extLst>
          </p:cNvPr>
          <p:cNvSpPr/>
          <p:nvPr/>
        </p:nvSpPr>
        <p:spPr>
          <a:xfrm>
            <a:off x="0" y="6134043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swap-by-</a:t>
            </a:r>
            <a:r>
              <a:rPr lang="en-US" altLang="zh-CN" sz="1400" dirty="0" err="1">
                <a:latin typeface="Consolas" panose="020B0609020204030204" pitchFamily="49" charset="0"/>
              </a:rPr>
              <a:t>val.c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97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传值调用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void swap(</a:t>
            </a:r>
            <a:r>
              <a:rPr lang="en-US" altLang="zh-CN" b="1" i="1" dirty="0">
                <a:solidFill>
                  <a:srgbClr val="FF0000"/>
                </a:solidFill>
              </a:rPr>
              <a:t>int x, int y</a:t>
            </a:r>
            <a:r>
              <a:rPr lang="en-US" altLang="zh-CN" dirty="0"/>
              <a:t>); //</a:t>
            </a:r>
            <a:r>
              <a:rPr lang="zh-CN" altLang="en-US" dirty="0"/>
              <a:t>值参数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 = 111, b = 999;</a:t>
            </a:r>
          </a:p>
          <a:p>
            <a:pPr marL="0" indent="0">
              <a:buNone/>
            </a:pPr>
            <a:r>
              <a:rPr lang="en-US" altLang="zh-CN" dirty="0"/>
              <a:t>swap(a, b);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065786" y="3178719"/>
            <a:ext cx="927370" cy="855715"/>
            <a:chOff x="6293812" y="4263956"/>
            <a:chExt cx="927370" cy="855715"/>
          </a:xfrm>
        </p:grpSpPr>
        <p:sp>
          <p:nvSpPr>
            <p:cNvPr id="6" name="矩形 5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111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065785" y="4444676"/>
            <a:ext cx="927370" cy="855715"/>
            <a:chOff x="6293812" y="4263956"/>
            <a:chExt cx="927370" cy="855715"/>
          </a:xfrm>
        </p:grpSpPr>
        <p:sp>
          <p:nvSpPr>
            <p:cNvPr id="10" name="矩形 9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999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b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7793862" y="3178719"/>
            <a:ext cx="927370" cy="855715"/>
            <a:chOff x="6293812" y="4263956"/>
            <a:chExt cx="927370" cy="855715"/>
          </a:xfrm>
        </p:grpSpPr>
        <p:sp>
          <p:nvSpPr>
            <p:cNvPr id="13" name="矩形 12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111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7793861" y="4444676"/>
            <a:ext cx="927370" cy="855715"/>
            <a:chOff x="6293812" y="4263956"/>
            <a:chExt cx="927370" cy="855715"/>
          </a:xfrm>
        </p:grpSpPr>
        <p:sp>
          <p:nvSpPr>
            <p:cNvPr id="16" name="矩形 15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999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y</a:t>
              </a:r>
            </a:p>
          </p:txBody>
        </p:sp>
      </p:grpSp>
      <p:cxnSp>
        <p:nvCxnSpPr>
          <p:cNvPr id="25" name="直接箭头连接符 24"/>
          <p:cNvCxnSpPr>
            <a:stCxn id="6" idx="3"/>
            <a:endCxn id="13" idx="1"/>
          </p:cNvCxnSpPr>
          <p:nvPr/>
        </p:nvCxnSpPr>
        <p:spPr>
          <a:xfrm>
            <a:off x="5993156" y="3421911"/>
            <a:ext cx="18007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3"/>
            <a:endCxn id="16" idx="1"/>
          </p:cNvCxnSpPr>
          <p:nvPr/>
        </p:nvCxnSpPr>
        <p:spPr>
          <a:xfrm>
            <a:off x="5993155" y="4687868"/>
            <a:ext cx="18007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551481" y="3052579"/>
            <a:ext cx="68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复制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551480" y="4318535"/>
            <a:ext cx="6840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复制</a:t>
            </a:r>
          </a:p>
        </p:txBody>
      </p:sp>
      <p:sp>
        <p:nvSpPr>
          <p:cNvPr id="31" name="矩形 30"/>
          <p:cNvSpPr/>
          <p:nvPr/>
        </p:nvSpPr>
        <p:spPr>
          <a:xfrm>
            <a:off x="7235535" y="2398973"/>
            <a:ext cx="2024585" cy="311314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 anchorCtr="0"/>
          <a:lstStyle/>
          <a:p>
            <a:pPr algn="ctr"/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swap()</a:t>
            </a:r>
          </a:p>
          <a:p>
            <a:pPr algn="ctr"/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的作用域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7784141" y="3178719"/>
            <a:ext cx="927370" cy="855715"/>
            <a:chOff x="6293812" y="4263956"/>
            <a:chExt cx="927370" cy="855715"/>
          </a:xfrm>
        </p:grpSpPr>
        <p:sp>
          <p:nvSpPr>
            <p:cNvPr id="33" name="矩形 32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999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7784140" y="4444676"/>
            <a:ext cx="927370" cy="855715"/>
            <a:chOff x="6293812" y="4263956"/>
            <a:chExt cx="927370" cy="855715"/>
          </a:xfrm>
        </p:grpSpPr>
        <p:sp>
          <p:nvSpPr>
            <p:cNvPr id="36" name="矩形 35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111</a:t>
              </a:r>
              <a:endParaRPr lang="zh-CN" altLang="en-US" dirty="0">
                <a:latin typeface="Consolas" panose="020B0609020204030204" pitchFamily="49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889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/>
      <p:bldP spid="30" grpId="1"/>
      <p:bldP spid="31" grpId="0" animBg="1"/>
      <p:bldP spid="31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改变实参：指针作为参数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void swap(</a:t>
            </a:r>
            <a:r>
              <a:rPr lang="en-US" altLang="zh-CN" b="1" i="1" dirty="0">
                <a:solidFill>
                  <a:srgbClr val="FF0000"/>
                </a:solidFill>
              </a:rPr>
              <a:t>int *x, int *y</a:t>
            </a:r>
            <a:r>
              <a:rPr lang="en-US" altLang="zh-CN" dirty="0"/>
              <a:t>); //</a:t>
            </a:r>
            <a:r>
              <a:rPr lang="zh-CN" altLang="en-US" dirty="0"/>
              <a:t>指针参数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 = 111, b = 999;</a:t>
            </a:r>
          </a:p>
          <a:p>
            <a:pPr marL="0" indent="0">
              <a:buNone/>
            </a:pPr>
            <a:r>
              <a:rPr lang="en-US" altLang="zh-CN" dirty="0"/>
              <a:t>swap(&amp;a, &amp;b);</a:t>
            </a:r>
            <a:endParaRPr lang="zh-CN" altLang="en-US" dirty="0"/>
          </a:p>
        </p:txBody>
      </p:sp>
      <p:grpSp>
        <p:nvGrpSpPr>
          <p:cNvPr id="5" name="组合 4"/>
          <p:cNvGrpSpPr/>
          <p:nvPr/>
        </p:nvGrpSpPr>
        <p:grpSpPr>
          <a:xfrm>
            <a:off x="5689562" y="3159166"/>
            <a:ext cx="927370" cy="855715"/>
            <a:chOff x="6293812" y="4263956"/>
            <a:chExt cx="927370" cy="855715"/>
          </a:xfrm>
        </p:grpSpPr>
        <p:sp>
          <p:nvSpPr>
            <p:cNvPr id="6" name="矩形 5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111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689561" y="4425123"/>
            <a:ext cx="927370" cy="855715"/>
            <a:chOff x="6293812" y="4263956"/>
            <a:chExt cx="927370" cy="855715"/>
          </a:xfrm>
        </p:grpSpPr>
        <p:sp>
          <p:nvSpPr>
            <p:cNvPr id="10" name="矩形 9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999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b</a:t>
              </a: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8417638" y="3159166"/>
            <a:ext cx="927370" cy="855715"/>
            <a:chOff x="6293812" y="4263956"/>
            <a:chExt cx="927370" cy="855715"/>
          </a:xfrm>
        </p:grpSpPr>
        <p:sp>
          <p:nvSpPr>
            <p:cNvPr id="13" name="矩形 12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&amp;a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x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417637" y="4425123"/>
            <a:ext cx="927370" cy="855715"/>
            <a:chOff x="6293812" y="4263956"/>
            <a:chExt cx="927370" cy="855715"/>
          </a:xfrm>
        </p:grpSpPr>
        <p:sp>
          <p:nvSpPr>
            <p:cNvPr id="16" name="矩形 15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&amp;b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y</a:t>
              </a:r>
            </a:p>
          </p:txBody>
        </p:sp>
      </p:grpSp>
      <p:cxnSp>
        <p:nvCxnSpPr>
          <p:cNvPr id="25" name="直接箭头连接符 24"/>
          <p:cNvCxnSpPr>
            <a:stCxn id="6" idx="3"/>
            <a:endCxn id="13" idx="1"/>
          </p:cNvCxnSpPr>
          <p:nvPr/>
        </p:nvCxnSpPr>
        <p:spPr>
          <a:xfrm>
            <a:off x="6616932" y="3402358"/>
            <a:ext cx="18007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10" idx="3"/>
            <a:endCxn id="16" idx="1"/>
          </p:cNvCxnSpPr>
          <p:nvPr/>
        </p:nvCxnSpPr>
        <p:spPr>
          <a:xfrm>
            <a:off x="6616931" y="4668315"/>
            <a:ext cx="18007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6996375" y="3033025"/>
            <a:ext cx="1137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复制地址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6985122" y="4326928"/>
            <a:ext cx="1118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复制地址</a:t>
            </a:r>
          </a:p>
        </p:txBody>
      </p:sp>
      <p:sp>
        <p:nvSpPr>
          <p:cNvPr id="31" name="矩形 30"/>
          <p:cNvSpPr/>
          <p:nvPr/>
        </p:nvSpPr>
        <p:spPr>
          <a:xfrm>
            <a:off x="7859311" y="2379420"/>
            <a:ext cx="2024585" cy="3113148"/>
          </a:xfrm>
          <a:prstGeom prst="rect">
            <a:avLst/>
          </a:prstGeom>
          <a:noFill/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t" anchorCtr="0"/>
          <a:lstStyle/>
          <a:p>
            <a:pPr algn="ctr"/>
            <a:r>
              <a:rPr lang="en-US" altLang="zh-CN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swap()</a:t>
            </a:r>
          </a:p>
          <a:p>
            <a:pPr algn="ctr"/>
            <a:r>
              <a: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的作用域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5676940" y="3159166"/>
            <a:ext cx="927370" cy="855715"/>
            <a:chOff x="6293812" y="4263956"/>
            <a:chExt cx="927370" cy="855715"/>
          </a:xfrm>
        </p:grpSpPr>
        <p:sp>
          <p:nvSpPr>
            <p:cNvPr id="33" name="矩形 32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999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a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676939" y="4425123"/>
            <a:ext cx="927370" cy="855715"/>
            <a:chOff x="6293812" y="4263956"/>
            <a:chExt cx="927370" cy="855715"/>
          </a:xfrm>
        </p:grpSpPr>
        <p:sp>
          <p:nvSpPr>
            <p:cNvPr id="36" name="矩形 35"/>
            <p:cNvSpPr/>
            <p:nvPr/>
          </p:nvSpPr>
          <p:spPr>
            <a:xfrm>
              <a:off x="6293812" y="4263956"/>
              <a:ext cx="927370" cy="486383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111</a:t>
              </a:r>
              <a:endPara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endParaRPr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6580777" y="4750339"/>
              <a:ext cx="35343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latin typeface="Consolas" panose="020B0609020204030204" pitchFamily="49" charset="0"/>
                </a:rPr>
                <a:t>b</a:t>
              </a:r>
            </a:p>
          </p:txBody>
        </p:sp>
      </p:grpSp>
      <p:cxnSp>
        <p:nvCxnSpPr>
          <p:cNvPr id="8" name="曲线连接符 7"/>
          <p:cNvCxnSpPr>
            <a:stCxn id="14" idx="0"/>
            <a:endCxn id="7" idx="0"/>
          </p:cNvCxnSpPr>
          <p:nvPr/>
        </p:nvCxnSpPr>
        <p:spPr>
          <a:xfrm rot="16200000" flipV="1">
            <a:off x="7517285" y="2281511"/>
            <a:ext cx="12700" cy="2728076"/>
          </a:xfrm>
          <a:prstGeom prst="curvedConnector3">
            <a:avLst>
              <a:gd name="adj1" fmla="val -248702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曲线连接符 38"/>
          <p:cNvCxnSpPr>
            <a:stCxn id="16" idx="2"/>
            <a:endCxn id="10" idx="2"/>
          </p:cNvCxnSpPr>
          <p:nvPr/>
        </p:nvCxnSpPr>
        <p:spPr>
          <a:xfrm rot="5400000">
            <a:off x="7517284" y="3547468"/>
            <a:ext cx="12700" cy="2728076"/>
          </a:xfrm>
          <a:prstGeom prst="curvedConnector3">
            <a:avLst>
              <a:gd name="adj1" fmla="val 251450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344DB3A2-5F22-273F-F2A1-6C4A69CDCE7B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swap-by-</a:t>
            </a:r>
            <a:r>
              <a:rPr lang="en-US" altLang="zh-CN" sz="1400" dirty="0" err="1">
                <a:latin typeface="Consolas" panose="020B0609020204030204" pitchFamily="49" charset="0"/>
              </a:rPr>
              <a:t>pointer.c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4872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/>
      <p:bldP spid="30" grpId="1"/>
      <p:bldP spid="31" grpId="0" animBg="1"/>
      <p:bldP spid="3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指针作为参数总结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（简单类型）值参数是实际参数的</a:t>
            </a:r>
            <a:r>
              <a:rPr lang="zh-CN" altLang="en-US" b="1" dirty="0">
                <a:solidFill>
                  <a:srgbClr val="FF0000"/>
                </a:solidFill>
              </a:rPr>
              <a:t>副本</a:t>
            </a:r>
            <a:r>
              <a:rPr lang="zh-CN" altLang="en-US" dirty="0"/>
              <a:t>，</a:t>
            </a:r>
            <a:r>
              <a:rPr lang="zh-CN" altLang="en-US" b="1" dirty="0">
                <a:solidFill>
                  <a:srgbClr val="FF0000"/>
                </a:solidFill>
              </a:rPr>
              <a:t>改变形参不影响实参</a:t>
            </a:r>
            <a:endParaRPr lang="en-US" altLang="zh-CN" b="1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值参数是一类“输入</a:t>
            </a:r>
            <a:r>
              <a:rPr lang="en-US" altLang="zh-CN" dirty="0"/>
              <a:t>(in)</a:t>
            </a:r>
            <a:r>
              <a:rPr lang="zh-CN" altLang="en-US" dirty="0"/>
              <a:t>参数”</a:t>
            </a:r>
            <a:endParaRPr lang="en-US" altLang="zh-CN" dirty="0"/>
          </a:p>
          <a:p>
            <a:pPr lvl="1"/>
            <a:r>
              <a:rPr lang="zh-CN" altLang="en-US" dirty="0"/>
              <a:t>输入参数</a:t>
            </a:r>
            <a:r>
              <a:rPr lang="zh-CN" altLang="en-US" b="1" dirty="0">
                <a:solidFill>
                  <a:srgbClr val="FF0000"/>
                </a:solidFill>
              </a:rPr>
              <a:t>不能</a:t>
            </a:r>
            <a:r>
              <a:rPr lang="zh-CN" altLang="en-US" dirty="0"/>
              <a:t>将结果“带回”调用者</a:t>
            </a:r>
            <a:endParaRPr lang="en-US" altLang="zh-CN" dirty="0"/>
          </a:p>
          <a:p>
            <a:r>
              <a:rPr lang="zh-CN" altLang="en-US" dirty="0"/>
              <a:t>指针参数仍然是实际参数的</a:t>
            </a:r>
            <a:r>
              <a:rPr lang="zh-CN" altLang="en-US" b="1" dirty="0">
                <a:solidFill>
                  <a:srgbClr val="FF0000"/>
                </a:solidFill>
              </a:rPr>
              <a:t>副本</a:t>
            </a:r>
            <a:r>
              <a:rPr lang="zh-CN" altLang="en-US" dirty="0"/>
              <a:t>，它们指向了实际参数；因此通过指针参数可以间接改变实参</a:t>
            </a:r>
            <a:endParaRPr lang="en-US" altLang="zh-CN" dirty="0"/>
          </a:p>
          <a:p>
            <a:pPr lvl="1"/>
            <a:r>
              <a:rPr lang="zh-CN" altLang="en-US" dirty="0"/>
              <a:t>实际参数都是指针</a:t>
            </a:r>
            <a:endParaRPr lang="en-US" altLang="zh-CN" dirty="0"/>
          </a:p>
          <a:p>
            <a:pPr lvl="1"/>
            <a:r>
              <a:rPr lang="zh-CN" altLang="en-US" dirty="0"/>
              <a:t>指针参数是一类“输入</a:t>
            </a:r>
            <a:r>
              <a:rPr lang="en-US" altLang="zh-CN" dirty="0"/>
              <a:t>/</a:t>
            </a:r>
            <a:r>
              <a:rPr lang="zh-CN" altLang="en-US" dirty="0"/>
              <a:t>输出</a:t>
            </a:r>
            <a:r>
              <a:rPr lang="en-US" altLang="zh-CN" dirty="0"/>
              <a:t>(in/out)</a:t>
            </a:r>
            <a:r>
              <a:rPr lang="zh-CN" altLang="en-US" dirty="0"/>
              <a:t>参数”</a:t>
            </a:r>
            <a:endParaRPr lang="en-US" altLang="zh-CN" dirty="0"/>
          </a:p>
          <a:p>
            <a:pPr lvl="1"/>
            <a:r>
              <a:rPr lang="zh-CN" altLang="en-US" dirty="0"/>
              <a:t>输出参数</a:t>
            </a:r>
            <a:r>
              <a:rPr lang="zh-CN" altLang="en-US" b="1" dirty="0">
                <a:solidFill>
                  <a:srgbClr val="FF0000"/>
                </a:solidFill>
              </a:rPr>
              <a:t>可以</a:t>
            </a:r>
            <a:r>
              <a:rPr lang="zh-CN" altLang="en-US" dirty="0"/>
              <a:t>将结果“带回”调用者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3238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 err="1"/>
              <a:t>const</a:t>
            </a:r>
            <a:r>
              <a:rPr lang="zh-CN" altLang="en-US" dirty="0"/>
              <a:t>保护参数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void f(</a:t>
            </a:r>
            <a:r>
              <a:rPr lang="en-US" altLang="zh-CN" b="1" i="1" dirty="0" err="1">
                <a:solidFill>
                  <a:srgbClr val="FF0000"/>
                </a:solidFill>
              </a:rPr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int</a:t>
            </a:r>
            <a:r>
              <a:rPr lang="en-US" altLang="zh-CN" dirty="0"/>
              <a:t> *p) {</a:t>
            </a:r>
          </a:p>
          <a:p>
            <a:pPr marL="0" indent="0">
              <a:buNone/>
            </a:pPr>
            <a:r>
              <a:rPr lang="en-US" altLang="zh-CN" dirty="0"/>
              <a:t>	*p = 0; //</a:t>
            </a:r>
            <a:r>
              <a:rPr lang="zh-CN" altLang="en-US" dirty="0"/>
              <a:t>错误！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}</a:t>
            </a:r>
          </a:p>
          <a:p>
            <a:r>
              <a:rPr lang="zh-CN" altLang="en-US" dirty="0"/>
              <a:t>指针参数</a:t>
            </a:r>
            <a:r>
              <a:rPr lang="en-US" altLang="zh-CN" dirty="0"/>
              <a:t>p</a:t>
            </a:r>
            <a:r>
              <a:rPr lang="zh-CN" altLang="en-US" b="1" dirty="0">
                <a:solidFill>
                  <a:srgbClr val="FF0000"/>
                </a:solidFill>
              </a:rPr>
              <a:t>指向的单元被冻结，不能</a:t>
            </a:r>
            <a:r>
              <a:rPr lang="zh-CN" altLang="en-US" dirty="0"/>
              <a:t>改变</a:t>
            </a:r>
            <a:endParaRPr lang="en-US" altLang="zh-CN" dirty="0"/>
          </a:p>
          <a:p>
            <a:r>
              <a:rPr lang="zh-CN" altLang="en-US" dirty="0"/>
              <a:t>但</a:t>
            </a:r>
            <a:r>
              <a:rPr lang="en-US" altLang="zh-CN" dirty="0"/>
              <a:t>p</a:t>
            </a:r>
            <a:r>
              <a:rPr lang="zh-CN" altLang="en-US" dirty="0"/>
              <a:t>仍然是</a:t>
            </a:r>
            <a:r>
              <a:rPr lang="zh-CN" altLang="en-US" b="1" dirty="0">
                <a:solidFill>
                  <a:srgbClr val="FF0000"/>
                </a:solidFill>
              </a:rPr>
              <a:t>变量</a:t>
            </a:r>
            <a:r>
              <a:rPr lang="zh-CN" altLang="en-US" dirty="0"/>
              <a:t>，可以改变</a:t>
            </a:r>
            <a:endParaRPr lang="en-US" altLang="zh-CN" dirty="0"/>
          </a:p>
          <a:p>
            <a:pPr lvl="1"/>
            <a:r>
              <a:rPr lang="zh-CN" altLang="en-US" dirty="0"/>
              <a:t>注意：</a:t>
            </a:r>
            <a:r>
              <a:rPr lang="en-US" altLang="zh-CN" dirty="0"/>
              <a:t>p</a:t>
            </a:r>
            <a:r>
              <a:rPr lang="zh-CN" altLang="en-US" dirty="0"/>
              <a:t>改变后，将不再指向原来的单元！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F6064AD9-EE7D-A819-009B-B7C0871DDACF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const-</a:t>
            </a:r>
            <a:r>
              <a:rPr lang="en-US" altLang="zh-CN" sz="1400" dirty="0" err="1">
                <a:latin typeface="Consolas" panose="020B0609020204030204" pitchFamily="49" charset="0"/>
              </a:rPr>
              <a:t>parameter.c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11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函数返回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函数的返回类型说明函数要得到一个什么类型的结果</a:t>
            </a:r>
            <a:endParaRPr lang="en-US" altLang="zh-CN" dirty="0"/>
          </a:p>
          <a:p>
            <a:pPr lvl="1"/>
            <a:r>
              <a:rPr lang="zh-CN" altLang="en-US" dirty="0"/>
              <a:t>该结果的类型可以是简单类型、结构类型，但不能是数组和函数类型</a:t>
            </a:r>
            <a:endParaRPr lang="en-US" altLang="zh-CN" dirty="0"/>
          </a:p>
          <a:p>
            <a:pPr lvl="1"/>
            <a:r>
              <a:rPr lang="zh-CN" altLang="en-US" dirty="0"/>
              <a:t>如果函数不需要具体结果，那么这个返回类型应该是</a:t>
            </a:r>
            <a:r>
              <a:rPr lang="en-US" altLang="zh-CN" b="1" i="1" dirty="0">
                <a:solidFill>
                  <a:srgbClr val="FF0000"/>
                </a:solidFill>
              </a:rPr>
              <a:t>void</a:t>
            </a:r>
          </a:p>
          <a:p>
            <a:pPr lvl="1"/>
            <a:r>
              <a:rPr lang="zh-CN" altLang="en-US" dirty="0"/>
              <a:t>函数的返回结果一般在调用函数中，用赋值语句接收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897295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FF704-2D7B-D860-3DF4-1CDEFAEF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BA393-3926-7F44-F83C-728E4498F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函数返回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245F7D-B9A2-345F-BBA8-835104B2E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函数的返回结果在函数体中用</a:t>
            </a:r>
            <a:r>
              <a:rPr lang="en-US" altLang="zh-CN" dirty="0"/>
              <a:t>return</a:t>
            </a:r>
            <a:r>
              <a:rPr lang="zh-CN" altLang="en-US" dirty="0"/>
              <a:t>语句返回：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b="1" i="1" dirty="0">
                <a:solidFill>
                  <a:srgbClr val="FFC000"/>
                </a:solidFill>
              </a:rPr>
              <a:t>   </a:t>
            </a:r>
            <a:r>
              <a:rPr lang="en-US" altLang="zh-CN" b="1" i="1" dirty="0">
                <a:solidFill>
                  <a:srgbClr val="FF0000"/>
                </a:solidFill>
              </a:rPr>
              <a:t>return </a:t>
            </a:r>
            <a:r>
              <a:rPr lang="zh-CN" altLang="en-US" b="1" i="1" dirty="0">
                <a:solidFill>
                  <a:srgbClr val="FF0000"/>
                </a:solidFill>
              </a:rPr>
              <a:t>表达式</a:t>
            </a:r>
            <a:r>
              <a:rPr lang="en-US" altLang="zh-CN" i="1" dirty="0">
                <a:solidFill>
                  <a:srgbClr val="FF0000"/>
                </a:solidFill>
              </a:rPr>
              <a:t>;</a:t>
            </a:r>
          </a:p>
          <a:p>
            <a:pPr lvl="1"/>
            <a:r>
              <a:rPr lang="zh-CN" altLang="en-US" dirty="0"/>
              <a:t>一旦</a:t>
            </a:r>
            <a:r>
              <a:rPr lang="en-US" altLang="zh-CN" dirty="0"/>
              <a:t>return</a:t>
            </a:r>
            <a:r>
              <a:rPr lang="zh-CN" altLang="en-US" dirty="0"/>
              <a:t>语句被执行，那么函数的执行就结束了，并返回到调用它的地方</a:t>
            </a:r>
          </a:p>
          <a:p>
            <a:pPr lvl="1"/>
            <a:r>
              <a:rPr lang="zh-CN" altLang="en-US" dirty="0"/>
              <a:t>函数在必要的地方即可返回。即：函数体中可以有多条</a:t>
            </a:r>
            <a:r>
              <a:rPr lang="en-US" altLang="zh-CN" dirty="0"/>
              <a:t>return</a:t>
            </a:r>
            <a:r>
              <a:rPr lang="zh-CN" altLang="en-US" dirty="0"/>
              <a:t>语句</a:t>
            </a:r>
            <a:endParaRPr lang="en-US" altLang="zh-CN" dirty="0"/>
          </a:p>
          <a:p>
            <a:r>
              <a:rPr lang="en-US" altLang="zh-CN" dirty="0"/>
              <a:t>return</a:t>
            </a:r>
            <a:r>
              <a:rPr lang="zh-CN" altLang="en-US" dirty="0"/>
              <a:t>语句只能返回一个结果。如果有多个结果，那么需要用到指针参数（作为输出参数）。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118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函数调用和返回的时序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345330" y="2184788"/>
            <a:ext cx="27990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g();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74721" y="2097088"/>
            <a:ext cx="356104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g()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return;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4327695" y="2491915"/>
            <a:ext cx="2296470" cy="10121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8355243" y="3106169"/>
            <a:ext cx="6980" cy="9981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4327695" y="4104330"/>
            <a:ext cx="3294632" cy="2373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131175" y="2100517"/>
            <a:ext cx="2294086" cy="707886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函数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f()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暂停执行，将控制权交给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g()</a:t>
            </a:r>
            <a:endParaRPr lang="zh-CN" altLang="en-US" sz="2000" dirty="0">
              <a:solidFill>
                <a:schemeClr val="accent2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560051" y="3405194"/>
            <a:ext cx="1843406" cy="400110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函数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g()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执行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827968" y="4391656"/>
            <a:ext cx="2294086" cy="1015663"/>
          </a:xfrm>
          <a:prstGeom prst="rect">
            <a:avLst/>
          </a:prstGeom>
          <a:solidFill>
            <a:schemeClr val="accent2">
              <a:alpha val="60000"/>
            </a:schemeClr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函数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g()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返回到调用点，控制权回到</a:t>
            </a:r>
            <a:r>
              <a:rPr lang="en-US" altLang="zh-CN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f()</a:t>
            </a:r>
            <a:r>
              <a:rPr lang="zh-CN" altLang="en-US" sz="2000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并继续执行</a:t>
            </a:r>
          </a:p>
        </p:txBody>
      </p:sp>
    </p:spTree>
    <p:extLst>
      <p:ext uri="{BB962C8B-B14F-4D97-AF65-F5344CB8AC3E}">
        <p14:creationId xmlns:p14="http://schemas.microsoft.com/office/powerpoint/2010/main" val="396553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指针作为返回值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i="1" dirty="0">
                <a:solidFill>
                  <a:srgbClr val="FF0000"/>
                </a:solidFill>
              </a:rPr>
              <a:t> * </a:t>
            </a:r>
            <a:r>
              <a:rPr lang="en-US" altLang="zh-CN" dirty="0"/>
              <a:t>f(</a:t>
            </a:r>
            <a:r>
              <a:rPr lang="en-US" altLang="zh-CN" dirty="0" err="1"/>
              <a:t>int</a:t>
            </a:r>
            <a:r>
              <a:rPr lang="en-US" altLang="zh-CN" dirty="0"/>
              <a:t> *a) { return a; }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a = 1;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*p = f(&amp;a); //</a:t>
            </a:r>
            <a:r>
              <a:rPr lang="zh-CN" altLang="en-US" dirty="0"/>
              <a:t>此后</a:t>
            </a:r>
            <a:r>
              <a:rPr lang="en-US" altLang="zh-CN" dirty="0"/>
              <a:t>p</a:t>
            </a:r>
            <a:r>
              <a:rPr lang="zh-CN" altLang="en-US" dirty="0"/>
              <a:t>指向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74F37F53-B539-1BC0-9955-B30A196085C5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return-</a:t>
            </a:r>
            <a:r>
              <a:rPr lang="en-US" altLang="zh-CN" sz="1400" dirty="0" err="1">
                <a:latin typeface="Consolas" panose="020B0609020204030204" pitchFamily="49" charset="0"/>
              </a:rPr>
              <a:t>pointer.c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5756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指针作为返回值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i="1" dirty="0">
                <a:solidFill>
                  <a:srgbClr val="FF0000"/>
                </a:solidFill>
              </a:rPr>
              <a:t>int * </a:t>
            </a:r>
            <a:r>
              <a:rPr lang="en-US" altLang="zh-CN" dirty="0"/>
              <a:t>f() { int b = 1; return &amp;b; } //</a:t>
            </a:r>
            <a:r>
              <a:rPr lang="zh-CN" altLang="en-US" dirty="0"/>
              <a:t>错误！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*p = f(); //</a:t>
            </a:r>
            <a:r>
              <a:rPr lang="zh-CN" altLang="en-US" dirty="0"/>
              <a:t>此后</a:t>
            </a:r>
            <a:r>
              <a:rPr lang="en-US" altLang="zh-CN" dirty="0"/>
              <a:t>p</a:t>
            </a:r>
            <a:r>
              <a:rPr lang="zh-CN" altLang="en-US" dirty="0"/>
              <a:t>指向</a:t>
            </a:r>
            <a:r>
              <a:rPr lang="zh-CN" altLang="en-US" b="1" dirty="0">
                <a:solidFill>
                  <a:srgbClr val="FF0000"/>
                </a:solidFill>
              </a:rPr>
              <a:t>失效单元！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函数返回后，指针指向的单元必须有效！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A088D26E-847F-20F4-0D15-E933A7E649BB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return-</a:t>
            </a:r>
            <a:r>
              <a:rPr lang="en-US" altLang="zh-CN" sz="1400" dirty="0" err="1">
                <a:latin typeface="Consolas" panose="020B0609020204030204" pitchFamily="49" charset="0"/>
              </a:rPr>
              <a:t>pointer.c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85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442C4-5E33-8655-4240-DA5BFE1D9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4BB24-D16C-3E9E-054A-D54B981AF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7FBFF-49F0-246C-1111-1AB93B569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编写一个函数求参数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的阶乘。函数原型：</a:t>
                </a:r>
                <a:endParaRPr lang="en-US" altLang="zh-CN" dirty="0"/>
              </a:p>
              <a:p>
                <a:pPr marL="457200" lvl="1" indent="0">
                  <a:buNone/>
                </a:pPr>
                <a:r>
                  <a:rPr lang="en-US" altLang="zh-CN" sz="2400" dirty="0"/>
                  <a:t> typedef unsigned long ULONG;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    ULONG fact(ULONG n);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 smtClean="0">
                          <a:latin typeface="Cambria Math" panose="02040503050406030204" pitchFamily="18" charset="0"/>
                        </a:rPr>
                        <m:t>𝑓𝑎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𝑐𝑡</m:t>
                      </m:r>
                      <m:d>
                        <m:d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×2×3×…×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EF27FBFF-49F0-246C-1111-1AB93B569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18E99F48-5046-B522-92B7-88DE22050C41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fact.c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01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AD04F-970B-A8C3-AE1D-B985CECB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A7DF8-7E5E-4B20-383A-626C88078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3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EDD03D-12B3-DE93-EFBE-F790EC4794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编写一个函数求</a:t>
                </a:r>
                <a:r>
                  <a:rPr lang="en-US" altLang="zh-CN" dirty="0"/>
                  <a:t>Fibonacci</a:t>
                </a:r>
                <a:r>
                  <a:rPr lang="zh-CN" altLang="en-US" dirty="0"/>
                  <a:t>数列的第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项。函数原型：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typedef unsigned long ULONG;   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ULONG </a:t>
                </a:r>
                <a:r>
                  <a:rPr lang="en-US" altLang="zh-CN" dirty="0" err="1"/>
                  <a:t>fibo</a:t>
                </a:r>
                <a:r>
                  <a:rPr lang="en-US" altLang="zh-CN" dirty="0"/>
                  <a:t>(ULONG n);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𝑓𝑖𝑏𝑜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&amp;1,&amp;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=1,2</m:t>
                              </m:r>
                            </m:e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𝑓𝑖𝑏𝑜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−1)+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𝑓𝑖𝑏𝑜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−2),&amp;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&gt;2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i="1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CEDD03D-12B3-DE93-EFBE-F790EC4794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A8D4792C-3FCB-7D22-B6C1-D13192A898FE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fibo.c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0353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DD36C-72AE-6DC5-B65F-FA6103426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A3F38-888A-6AC2-0728-F61BC3B02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4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C59100-928D-9B88-9F12-F0C064B6B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编写一个函数，将传入的</a:t>
            </a:r>
            <a:r>
              <a:rPr lang="en-US" altLang="zh-CN" dirty="0"/>
              <a:t>double</a:t>
            </a:r>
            <a:r>
              <a:rPr lang="zh-CN" altLang="en-US" dirty="0"/>
              <a:t>参数分解为整数和小数两个部分</a:t>
            </a:r>
            <a:endParaRPr lang="en-US" altLang="zh-CN" dirty="0"/>
          </a:p>
          <a:p>
            <a:pPr lvl="1"/>
            <a:r>
              <a:rPr lang="zh-CN" altLang="en-US" dirty="0"/>
              <a:t>函数名：</a:t>
            </a:r>
            <a:r>
              <a:rPr lang="en-US" altLang="zh-CN" dirty="0"/>
              <a:t>decompose</a:t>
            </a:r>
          </a:p>
          <a:p>
            <a:pPr lvl="1"/>
            <a:r>
              <a:rPr lang="zh-CN" altLang="en-US" dirty="0"/>
              <a:t>提示：函数得到几个结果？</a:t>
            </a:r>
            <a:r>
              <a:rPr lang="en-US" altLang="zh-CN" dirty="0"/>
              <a:t> </a:t>
            </a:r>
            <a:r>
              <a:rPr lang="zh-CN" altLang="en-US" dirty="0"/>
              <a:t>应该有几个及什么样的参数？</a:t>
            </a:r>
            <a:endParaRPr lang="en-US" altLang="zh-CN" dirty="0"/>
          </a:p>
          <a:p>
            <a:pPr lvl="1"/>
            <a:endParaRPr lang="en-US" altLang="zh-CN" dirty="0"/>
          </a:p>
          <a:p>
            <a:pPr marL="457200" lvl="1" indent="0">
              <a:buNone/>
            </a:pPr>
            <a:r>
              <a:rPr lang="en-US" altLang="zh-CN" sz="2800" dirty="0"/>
              <a:t>void decompose(double d, int*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, double* f);</a:t>
            </a:r>
            <a:endParaRPr lang="zh-CN" altLang="en-US" sz="2800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B3780A85-3AF6-66B9-E365-27E2379F6149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decompose.c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34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函数的数组参数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数组可以作为函数的参数：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void</a:t>
            </a:r>
            <a:r>
              <a:rPr lang="en-US" altLang="zh-CN" dirty="0"/>
              <a:t> increase(</a:t>
            </a:r>
            <a:r>
              <a:rPr lang="en-US" altLang="zh-CN" i="1" dirty="0" err="1"/>
              <a:t>int</a:t>
            </a:r>
            <a:r>
              <a:rPr lang="en-US" altLang="zh-CN" dirty="0"/>
              <a:t> </a:t>
            </a:r>
            <a:r>
              <a:rPr lang="en-US" altLang="zh-CN" i="1" dirty="0"/>
              <a:t>a</a:t>
            </a:r>
            <a:r>
              <a:rPr lang="en-US" altLang="zh-CN" dirty="0"/>
              <a:t>[10]);</a:t>
            </a:r>
          </a:p>
          <a:p>
            <a:r>
              <a:rPr lang="zh-CN" altLang="en-US" dirty="0"/>
              <a:t>但由于</a:t>
            </a:r>
            <a:r>
              <a:rPr lang="en-US" altLang="zh-CN" dirty="0"/>
              <a:t>C</a:t>
            </a:r>
            <a:r>
              <a:rPr lang="zh-CN" altLang="en-US" dirty="0"/>
              <a:t>语言对数组参数的特殊处理，这类参数的第一维长度不起作用</a:t>
            </a:r>
            <a:endParaRPr lang="en-US" altLang="zh-CN" dirty="0"/>
          </a:p>
          <a:p>
            <a:r>
              <a:rPr lang="zh-CN" altLang="en-US" dirty="0"/>
              <a:t>因此，最好用更多的参数给出数组的长度：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void</a:t>
            </a:r>
            <a:r>
              <a:rPr lang="en-US" altLang="zh-CN" dirty="0"/>
              <a:t> increase(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i="1" dirty="0">
                <a:solidFill>
                  <a:srgbClr val="FF0000"/>
                </a:solidFill>
              </a:rPr>
              <a:t>a</a:t>
            </a:r>
            <a:r>
              <a:rPr lang="en-US" altLang="zh-CN" b="1" dirty="0">
                <a:solidFill>
                  <a:srgbClr val="FF0000"/>
                </a:solidFill>
              </a:rPr>
              <a:t>[], </a:t>
            </a:r>
            <a:r>
              <a:rPr lang="en-US" altLang="zh-CN" b="1" i="1" dirty="0" err="1">
                <a:solidFill>
                  <a:srgbClr val="FF0000"/>
                </a:solidFill>
              </a:rPr>
              <a:t>int</a:t>
            </a: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i="1" dirty="0" err="1">
                <a:solidFill>
                  <a:srgbClr val="FF0000"/>
                </a:solidFill>
              </a:rPr>
              <a:t>len</a:t>
            </a:r>
            <a:r>
              <a:rPr lang="en-US" altLang="zh-CN" dirty="0"/>
              <a:t>);</a:t>
            </a:r>
          </a:p>
          <a:p>
            <a:r>
              <a:rPr lang="zh-CN" altLang="en-US" dirty="0"/>
              <a:t>与简单类型形式参数不同，数组形式参数可以</a:t>
            </a:r>
            <a:r>
              <a:rPr lang="zh-CN" altLang="en-US" b="1" dirty="0">
                <a:solidFill>
                  <a:srgbClr val="FF0000"/>
                </a:solidFill>
              </a:rPr>
              <a:t>视为是实际参数本身</a:t>
            </a:r>
            <a:endParaRPr lang="en-US" altLang="zh-CN" b="1" dirty="0">
              <a:solidFill>
                <a:srgbClr val="FF0000"/>
              </a:solidFill>
            </a:endParaRPr>
          </a:p>
          <a:p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矩形标注 3"/>
          <p:cNvSpPr/>
          <p:nvPr/>
        </p:nvSpPr>
        <p:spPr>
          <a:xfrm>
            <a:off x="2524405" y="5084479"/>
            <a:ext cx="5645591" cy="879950"/>
          </a:xfrm>
          <a:prstGeom prst="wedgeRectCallout">
            <a:avLst>
              <a:gd name="adj1" fmla="val -18045"/>
              <a:gd name="adj2" fmla="val -112255"/>
            </a:avLst>
          </a:prstGeom>
          <a:solidFill>
            <a:schemeClr val="accent1">
              <a:alpha val="5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这是一种未完成类型，只能出现在函数的参数列表中</a:t>
            </a:r>
          </a:p>
        </p:txBody>
      </p:sp>
    </p:spTree>
    <p:extLst>
      <p:ext uri="{BB962C8B-B14F-4D97-AF65-F5344CB8AC3E}">
        <p14:creationId xmlns:p14="http://schemas.microsoft.com/office/powerpoint/2010/main" val="107351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5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编写一个程序，计算一个数组所有元素的和。请思考：</a:t>
            </a:r>
            <a:endParaRPr lang="en-US" altLang="zh-CN" dirty="0"/>
          </a:p>
          <a:p>
            <a:pPr lvl="1"/>
            <a:r>
              <a:rPr lang="zh-CN" altLang="en-US" dirty="0"/>
              <a:t>函数有几个参数？</a:t>
            </a:r>
            <a:endParaRPr lang="en-US" altLang="zh-CN" dirty="0"/>
          </a:p>
          <a:p>
            <a:pPr lvl="1"/>
            <a:r>
              <a:rPr lang="zh-CN" altLang="en-US" dirty="0"/>
              <a:t>参数的类型是什么？</a:t>
            </a:r>
            <a:endParaRPr lang="en-US" altLang="zh-CN" dirty="0"/>
          </a:p>
          <a:p>
            <a:pPr lvl="1"/>
            <a:r>
              <a:rPr lang="zh-CN" altLang="en-US" dirty="0"/>
              <a:t>函数的返回值类型是什么？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F74ED98D-C8A7-AE76-C4C9-AA3AA63B56DF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sum-of-</a:t>
            </a:r>
            <a:r>
              <a:rPr lang="en-US" altLang="zh-CN" sz="1400" dirty="0" err="1">
                <a:latin typeface="Consolas" panose="020B0609020204030204" pitchFamily="49" charset="0"/>
              </a:rPr>
              <a:t>array.c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955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46427-8706-B1D3-AEA4-25DFDA96B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98B0C0-D090-E0D7-EB52-C512C323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6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979A0C-2E3E-6CA2-98BE-30C1B282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将折半查找法代码从</a:t>
            </a:r>
            <a:r>
              <a:rPr lang="en-US" altLang="zh-CN" dirty="0"/>
              <a:t>main</a:t>
            </a:r>
            <a:r>
              <a:rPr lang="zh-CN" altLang="en-US" dirty="0"/>
              <a:t>函数独立出来，成为一个函数。</a:t>
            </a:r>
            <a:endParaRPr lang="en-US" altLang="zh-CN" dirty="0"/>
          </a:p>
          <a:p>
            <a:pPr lvl="1"/>
            <a:r>
              <a:rPr lang="zh-CN" altLang="en-US" dirty="0"/>
              <a:t>函数名：</a:t>
            </a:r>
            <a:r>
              <a:rPr lang="en-US" altLang="zh-CN" dirty="0"/>
              <a:t>find</a:t>
            </a:r>
          </a:p>
          <a:p>
            <a:pPr lvl="1"/>
            <a:r>
              <a:rPr lang="zh-CN" altLang="en-US" dirty="0"/>
              <a:t>函数返回值：如找到，返回指向元素的指针；否则返回空指针</a:t>
            </a:r>
            <a:r>
              <a:rPr lang="en-US" altLang="zh-CN" dirty="0"/>
              <a:t>NULL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请思考：</a:t>
            </a:r>
            <a:endParaRPr lang="en-US" altLang="zh-CN" dirty="0"/>
          </a:p>
          <a:p>
            <a:pPr lvl="1"/>
            <a:r>
              <a:rPr lang="zh-CN" altLang="en-US" dirty="0"/>
              <a:t>函数有几个参数？</a:t>
            </a:r>
            <a:endParaRPr lang="en-US" altLang="zh-CN" dirty="0"/>
          </a:p>
          <a:p>
            <a:pPr lvl="1"/>
            <a:r>
              <a:rPr lang="zh-CN" altLang="en-US" dirty="0"/>
              <a:t>参数的类型是什么？</a:t>
            </a:r>
            <a:endParaRPr lang="en-US" altLang="zh-CN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29A9923F-9082-9FF1-18F2-7AF0AA61CEFD}"/>
              </a:ext>
            </a:extLst>
          </p:cNvPr>
          <p:cNvSpPr/>
          <p:nvPr/>
        </p:nvSpPr>
        <p:spPr>
          <a:xfrm>
            <a:off x="0" y="6132826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find-</a:t>
            </a:r>
            <a:r>
              <a:rPr lang="en-US" altLang="zh-CN" sz="1400" dirty="0" err="1">
                <a:latin typeface="Consolas" panose="020B0609020204030204" pitchFamily="49" charset="0"/>
              </a:rPr>
              <a:t>binary.c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412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函数的多层嵌套调用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68740" y="2097088"/>
            <a:ext cx="27990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g();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098878" y="2097086"/>
            <a:ext cx="26505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h()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706461" y="2610577"/>
            <a:ext cx="1063347" cy="8585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400803" y="2387213"/>
            <a:ext cx="6980" cy="9981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3795246" y="3926785"/>
            <a:ext cx="1062940" cy="923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769809" y="2097087"/>
            <a:ext cx="28270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g()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h();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6945253" y="2554736"/>
            <a:ext cx="1153625" cy="9144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9889713" y="2387212"/>
            <a:ext cx="0" cy="24360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7065381" y="3926785"/>
            <a:ext cx="1062940" cy="9235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6421743" y="4049148"/>
            <a:ext cx="0" cy="8011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82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函数递归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657204" y="2097088"/>
            <a:ext cx="27990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</a:t>
            </a:r>
            <a:r>
              <a:rPr lang="en-US" altLang="zh-CN" sz="40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f();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87342" y="2097086"/>
            <a:ext cx="26505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g()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</a:t>
            </a:r>
            <a:r>
              <a:rPr lang="en-US" altLang="zh-CN" sz="40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f();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656288" y="2097086"/>
            <a:ext cx="28270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</a:t>
            </a:r>
            <a:r>
              <a:rPr lang="en-US" altLang="zh-CN" sz="4000" b="1" i="1" dirty="0">
                <a:solidFill>
                  <a:srgbClr val="FF0000"/>
                </a:solidFill>
                <a:latin typeface="Consolas" panose="020B0609020204030204" pitchFamily="49" charset="0"/>
              </a:rPr>
              <a:t>g();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4606901" y="2097086"/>
            <a:ext cx="0" cy="33823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1947463" y="5632984"/>
            <a:ext cx="166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直接递归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7237255" y="5632984"/>
            <a:ext cx="166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间接递归</a:t>
            </a:r>
          </a:p>
        </p:txBody>
      </p:sp>
    </p:spTree>
    <p:extLst>
      <p:ext uri="{BB962C8B-B14F-4D97-AF65-F5344CB8AC3E}">
        <p14:creationId xmlns:p14="http://schemas.microsoft.com/office/powerpoint/2010/main" val="184357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10572821" y="2097086"/>
            <a:ext cx="16191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solidFill>
                  <a:schemeClr val="bg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f() {</a:t>
            </a:r>
          </a:p>
          <a:p>
            <a:endParaRPr lang="en-US" altLang="zh-CN" sz="4000" dirty="0">
              <a:solidFill>
                <a:schemeClr val="bg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sz="4000" dirty="0">
              <a:solidFill>
                <a:schemeClr val="bg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endParaRPr lang="en-US" altLang="zh-CN" sz="4000" dirty="0">
              <a:solidFill>
                <a:schemeClr val="bg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zh-CN" sz="4000" dirty="0">
                <a:solidFill>
                  <a:schemeClr val="bg2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}</a:t>
            </a:r>
            <a:endParaRPr lang="zh-CN" altLang="en-US" sz="4000" dirty="0">
              <a:solidFill>
                <a:schemeClr val="bg2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函数递归</a:t>
            </a:r>
            <a:r>
              <a:rPr lang="en-US" altLang="zh-CN" dirty="0"/>
              <a:t>-</a:t>
            </a:r>
            <a:r>
              <a:rPr lang="zh-CN" altLang="en-US" dirty="0"/>
              <a:t>特殊的嵌套调用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66169" y="2097088"/>
            <a:ext cx="2799041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f();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96307" y="2097086"/>
            <a:ext cx="265055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f();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203890" y="2610577"/>
            <a:ext cx="1063347" cy="8585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5898232" y="2387213"/>
            <a:ext cx="6980" cy="9981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267238" y="2097087"/>
            <a:ext cx="282704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f();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4000" dirty="0">
                <a:latin typeface="Consolas" panose="020B0609020204030204" pitchFamily="49" charset="0"/>
              </a:rPr>
              <a:t>}</a:t>
            </a:r>
            <a:endParaRPr lang="zh-CN" altLang="en-US" sz="4000" dirty="0">
              <a:latin typeface="Consolas" panose="020B0609020204030204" pitchFamily="49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6442682" y="2554736"/>
            <a:ext cx="1153625" cy="9144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9247542" y="2387212"/>
            <a:ext cx="0" cy="99816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V="1">
            <a:off x="9569050" y="2470973"/>
            <a:ext cx="1153625" cy="91440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爆炸形 2 8"/>
          <p:cNvSpPr/>
          <p:nvPr/>
        </p:nvSpPr>
        <p:spPr>
          <a:xfrm>
            <a:off x="10720565" y="1828800"/>
            <a:ext cx="921380" cy="725936"/>
          </a:xfrm>
          <a:prstGeom prst="irregularSeal2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标注 9"/>
          <p:cNvSpPr/>
          <p:nvPr/>
        </p:nvSpPr>
        <p:spPr>
          <a:xfrm>
            <a:off x="2177807" y="4502199"/>
            <a:ext cx="2875823" cy="711976"/>
          </a:xfrm>
          <a:prstGeom prst="wedgeRectCallout">
            <a:avLst>
              <a:gd name="adj1" fmla="val -28600"/>
              <a:gd name="adj2" fmla="val -121408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递归应该有条件限制</a:t>
            </a:r>
          </a:p>
        </p:txBody>
      </p:sp>
    </p:spTree>
    <p:extLst>
      <p:ext uri="{BB962C8B-B14F-4D97-AF65-F5344CB8AC3E}">
        <p14:creationId xmlns:p14="http://schemas.microsoft.com/office/powerpoint/2010/main" val="2213761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5" grpId="0"/>
      <p:bldP spid="15" grpId="0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函数递归返回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43098" y="2706002"/>
            <a:ext cx="27990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(…) f();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73236" y="2706000"/>
            <a:ext cx="26505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</a:t>
            </a:r>
            <a:r>
              <a:rPr lang="en-US" altLang="zh-CN" sz="2400" b="1" dirty="0">
                <a:solidFill>
                  <a:srgbClr val="FFC000"/>
                </a:solidFill>
                <a:latin typeface="Consolas" panose="020B0609020204030204" pitchFamily="49" charset="0"/>
              </a:rPr>
              <a:t>…</a:t>
            </a:r>
            <a:r>
              <a:rPr lang="en-US" altLang="zh-CN" sz="2400" dirty="0">
                <a:latin typeface="Consolas" panose="020B0609020204030204" pitchFamily="49" charset="0"/>
              </a:rPr>
              <a:t>) f();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3706461" y="2887113"/>
            <a:ext cx="966154" cy="5820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6407783" y="2826962"/>
            <a:ext cx="0" cy="55841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 flipV="1">
            <a:off x="3795246" y="3926785"/>
            <a:ext cx="955225" cy="5544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4644167" y="2706001"/>
            <a:ext cx="282704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Consolas" panose="020B0609020204030204" pitchFamily="49" charset="0"/>
              </a:rPr>
              <a:t>f() {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if (…) f();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    …</a:t>
            </a:r>
          </a:p>
          <a:p>
            <a:r>
              <a:rPr lang="en-US" altLang="zh-CN" sz="2400" dirty="0">
                <a:latin typeface="Consolas" panose="020B0609020204030204" pitchFamily="49" charset="0"/>
              </a:rPr>
              <a:t>}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cxnSp>
        <p:nvCxnSpPr>
          <p:cNvPr id="16" name="直接箭头连接符 15"/>
          <p:cNvCxnSpPr/>
          <p:nvPr/>
        </p:nvCxnSpPr>
        <p:spPr>
          <a:xfrm flipV="1">
            <a:off x="6945253" y="2887113"/>
            <a:ext cx="1027983" cy="5820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9889713" y="2826962"/>
            <a:ext cx="0" cy="642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 flipV="1">
            <a:off x="7065381" y="3926785"/>
            <a:ext cx="907855" cy="4986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6421743" y="4049148"/>
            <a:ext cx="0" cy="432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9880406" y="3926785"/>
            <a:ext cx="0" cy="6421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754142" y="3490830"/>
            <a:ext cx="2239921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FF0000"/>
                </a:solidFill>
              </a:rPr>
              <a:t>条件不满足</a:t>
            </a:r>
          </a:p>
        </p:txBody>
      </p:sp>
    </p:spTree>
    <p:extLst>
      <p:ext uri="{BB962C8B-B14F-4D97-AF65-F5344CB8AC3E}">
        <p14:creationId xmlns:p14="http://schemas.microsoft.com/office/powerpoint/2010/main" val="3606448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函数递归示例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i="1" dirty="0"/>
              <a:t>typedef unsigned long ULONG;</a:t>
            </a:r>
          </a:p>
          <a:p>
            <a:pPr marL="0" indent="0">
              <a:buNone/>
            </a:pPr>
            <a:endParaRPr lang="en-US" altLang="zh-CN" i="1" dirty="0"/>
          </a:p>
          <a:p>
            <a:pPr marL="0" indent="0">
              <a:buNone/>
            </a:pPr>
            <a:r>
              <a:rPr lang="en-US" altLang="zh-CN" i="1" dirty="0"/>
              <a:t>ULONG</a:t>
            </a:r>
            <a:r>
              <a:rPr lang="en-US" altLang="zh-CN" dirty="0"/>
              <a:t> fact(ULONG </a:t>
            </a:r>
            <a:r>
              <a:rPr lang="en-US" altLang="zh-CN" i="1" dirty="0"/>
              <a:t>n</a:t>
            </a:r>
            <a:r>
              <a:rPr lang="en-US" altLang="zh-CN" dirty="0"/>
              <a:t>) {</a:t>
            </a:r>
          </a:p>
          <a:p>
            <a:pPr marL="0" indent="0">
              <a:buNone/>
            </a:pPr>
            <a:r>
              <a:rPr lang="en-US" altLang="zh-CN" dirty="0"/>
              <a:t>    if (</a:t>
            </a:r>
            <a:r>
              <a:rPr lang="en-US" altLang="zh-CN" i="1" dirty="0"/>
              <a:t>n</a:t>
            </a:r>
            <a:r>
              <a:rPr lang="en-US" altLang="zh-CN" dirty="0"/>
              <a:t> &lt; 3) return </a:t>
            </a:r>
            <a:r>
              <a:rPr lang="en-US" altLang="zh-CN" i="1" dirty="0"/>
              <a:t>n</a:t>
            </a:r>
            <a:r>
              <a:rPr lang="en-US" altLang="zh-CN" dirty="0"/>
              <a:t>; </a:t>
            </a:r>
          </a:p>
          <a:p>
            <a:pPr marL="0" indent="0">
              <a:buNone/>
            </a:pPr>
            <a:r>
              <a:rPr lang="en-US" altLang="zh-CN" dirty="0"/>
              <a:t>    return </a:t>
            </a:r>
            <a:r>
              <a:rPr lang="en-US" altLang="zh-CN" b="1" i="1" dirty="0">
                <a:solidFill>
                  <a:srgbClr val="FF0000"/>
                </a:solidFill>
              </a:rPr>
              <a:t>fact(n - 1) </a:t>
            </a:r>
            <a:r>
              <a:rPr lang="en-US" altLang="zh-CN" dirty="0"/>
              <a:t>* </a:t>
            </a:r>
            <a:r>
              <a:rPr lang="en-US" altLang="zh-CN" i="1" dirty="0"/>
              <a:t>n</a:t>
            </a:r>
            <a:r>
              <a:rPr lang="en-US" altLang="zh-CN" dirty="0"/>
              <a:t>;</a:t>
            </a:r>
          </a:p>
          <a:p>
            <a:pPr marL="0" indent="0">
              <a:buNone/>
            </a:pPr>
            <a:r>
              <a:rPr lang="en-US" altLang="zh-CN" dirty="0"/>
              <a:t>    </a:t>
            </a:r>
            <a:r>
              <a:rPr lang="en-US" altLang="zh-CN" dirty="0">
                <a:solidFill>
                  <a:schemeClr val="bg1">
                    <a:lumMod val="50000"/>
                    <a:lumOff val="50000"/>
                  </a:schemeClr>
                </a:solidFill>
              </a:rPr>
              <a:t>//return n &lt; 3 ? n : fact(n - 1) * n;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CB376341-EC09-EE64-6BA9-A8E75B6518EB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latin typeface="Consolas" panose="020B0609020204030204" pitchFamily="49" charset="0"/>
              </a:rPr>
              <a:t>fact-</a:t>
            </a:r>
            <a:r>
              <a:rPr lang="en-US" altLang="zh-CN" sz="1400" dirty="0" err="1">
                <a:latin typeface="Consolas" panose="020B0609020204030204" pitchFamily="49" charset="0"/>
              </a:rPr>
              <a:t>recur.c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670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B4EB98-65B1-4D01-93C5-47EDF7A44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递归调用和返回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8E8FFA-42B5-483E-B1A0-80A5C1588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long x = fact(4);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523CBB-1969-41FE-A3AC-2794F53C4B5A}"/>
              </a:ext>
            </a:extLst>
          </p:cNvPr>
          <p:cNvSpPr txBox="1"/>
          <p:nvPr/>
        </p:nvSpPr>
        <p:spPr>
          <a:xfrm>
            <a:off x="571500" y="3103395"/>
            <a:ext cx="294437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fact(4)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(4 &lt; 3) return 4;</a:t>
            </a:r>
          </a:p>
          <a:p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   return </a:t>
            </a:r>
            <a:r>
              <a:rPr lang="en-US" altLang="zh-CN" sz="1600" b="1" i="1" dirty="0">
                <a:solidFill>
                  <a:schemeClr val="tx1"/>
                </a:solidFill>
                <a:latin typeface="Consolas" panose="020B0609020204030204" pitchFamily="49" charset="0"/>
              </a:rPr>
              <a:t>fact(3)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* 4;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6F2BA6-7629-47AE-82FF-277A3DCA1016}"/>
              </a:ext>
            </a:extLst>
          </p:cNvPr>
          <p:cNvSpPr txBox="1"/>
          <p:nvPr/>
        </p:nvSpPr>
        <p:spPr>
          <a:xfrm>
            <a:off x="4526944" y="3103395"/>
            <a:ext cx="294437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fact(3)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(3 &lt; 3) return 3;</a:t>
            </a:r>
          </a:p>
          <a:p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   return </a:t>
            </a:r>
            <a:r>
              <a:rPr lang="en-US" altLang="zh-CN" sz="1600" b="1" i="1" dirty="0">
                <a:solidFill>
                  <a:schemeClr val="tx1"/>
                </a:solidFill>
                <a:latin typeface="Consolas" panose="020B0609020204030204" pitchFamily="49" charset="0"/>
              </a:rPr>
              <a:t>fact(2)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* 3;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7" name="连接符: 曲线 6">
            <a:extLst>
              <a:ext uri="{FF2B5EF4-FFF2-40B4-BE49-F238E27FC236}">
                <a16:creationId xmlns:a16="http://schemas.microsoft.com/office/drawing/2014/main" id="{D375771D-3E32-4799-81EE-73C3B620BFB0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2634573" y="3253522"/>
            <a:ext cx="1958502" cy="992079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04A1DC0-9C9B-4F4D-A70D-330A797C1ECA}"/>
              </a:ext>
            </a:extLst>
          </p:cNvPr>
          <p:cNvSpPr txBox="1"/>
          <p:nvPr/>
        </p:nvSpPr>
        <p:spPr>
          <a:xfrm>
            <a:off x="8482387" y="3103395"/>
            <a:ext cx="2944370" cy="156966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fact(2)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   if (2 &lt; 3) </a:t>
            </a:r>
            <a:r>
              <a:rPr lang="en-US" altLang="zh-CN" sz="1600" b="1" i="1" dirty="0">
                <a:solidFill>
                  <a:schemeClr val="tx1"/>
                </a:solidFill>
                <a:latin typeface="Consolas" panose="020B0609020204030204" pitchFamily="49" charset="0"/>
              </a:rPr>
              <a:t>return 2</a:t>
            </a:r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altLang="zh-CN" sz="16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    return fact(1) * 2;</a:t>
            </a:r>
          </a:p>
          <a:p>
            <a:r>
              <a:rPr lang="en-US" altLang="zh-CN" sz="16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  <a:endParaRPr lang="zh-CN" altLang="en-US" sz="16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" name="连接符: 曲线 11">
            <a:extLst>
              <a:ext uri="{FF2B5EF4-FFF2-40B4-BE49-F238E27FC236}">
                <a16:creationId xmlns:a16="http://schemas.microsoft.com/office/drawing/2014/main" id="{FB5DBAFC-7102-49DB-B03C-C0B367E191FF}"/>
              </a:ext>
            </a:extLst>
          </p:cNvPr>
          <p:cNvCxnSpPr>
            <a:cxnSpLocks/>
            <a:stCxn id="33" idx="3"/>
          </p:cNvCxnSpPr>
          <p:nvPr/>
        </p:nvCxnSpPr>
        <p:spPr>
          <a:xfrm flipV="1">
            <a:off x="6658595" y="3264335"/>
            <a:ext cx="1902606" cy="970422"/>
          </a:xfrm>
          <a:prstGeom prst="curvedConnector3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46FC5ECF-F39C-43A2-9EAD-EC5E29E8DA96}"/>
              </a:ext>
            </a:extLst>
          </p:cNvPr>
          <p:cNvSpPr/>
          <p:nvPr/>
        </p:nvSpPr>
        <p:spPr>
          <a:xfrm>
            <a:off x="5775946" y="4110554"/>
            <a:ext cx="882649" cy="2484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nsolas" panose="020B0609020204030204" pitchFamily="49" charset="0"/>
              </a:rPr>
              <a:t>2</a:t>
            </a:r>
            <a:endParaRPr lang="zh-CN" altLang="en-US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569C484-B289-462A-8950-85646A13DB20}"/>
              </a:ext>
            </a:extLst>
          </p:cNvPr>
          <p:cNvSpPr/>
          <p:nvPr/>
        </p:nvSpPr>
        <p:spPr>
          <a:xfrm>
            <a:off x="1839877" y="4110554"/>
            <a:ext cx="794696" cy="27009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  <a:latin typeface="Consolas" panose="020B0609020204030204" pitchFamily="49" charset="0"/>
              </a:rPr>
              <a:t>6</a:t>
            </a:r>
            <a:endParaRPr lang="zh-CN" altLang="en-US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955F624-D562-4846-A65B-06DDB17A1A35}"/>
              </a:ext>
            </a:extLst>
          </p:cNvPr>
          <p:cNvSpPr/>
          <p:nvPr/>
        </p:nvSpPr>
        <p:spPr>
          <a:xfrm>
            <a:off x="2374639" y="1759337"/>
            <a:ext cx="1205023" cy="6080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Consolas" panose="020B0609020204030204" pitchFamily="49" charset="0"/>
              </a:rPr>
              <a:t>24</a:t>
            </a:r>
            <a:endParaRPr lang="zh-CN" altLang="en-US" sz="2800" b="1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3" name="连接符: 曲线 42">
            <a:extLst>
              <a:ext uri="{FF2B5EF4-FFF2-40B4-BE49-F238E27FC236}">
                <a16:creationId xmlns:a16="http://schemas.microsoft.com/office/drawing/2014/main" id="{7F7B8335-595D-4708-AF66-2BC2BEF7C09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38200" y="2173914"/>
            <a:ext cx="1507333" cy="992905"/>
          </a:xfrm>
          <a:prstGeom prst="curvedConnector3">
            <a:avLst>
              <a:gd name="adj1" fmla="val 10119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FCBEF1D1-72F2-4133-99FD-58A2D9E5BA7A}"/>
              </a:ext>
            </a:extLst>
          </p:cNvPr>
          <p:cNvCxnSpPr>
            <a:cxnSpLocks/>
            <a:endCxn id="33" idx="3"/>
          </p:cNvCxnSpPr>
          <p:nvPr/>
        </p:nvCxnSpPr>
        <p:spPr>
          <a:xfrm rot="10800000" flipV="1">
            <a:off x="6658595" y="3906127"/>
            <a:ext cx="4041410" cy="32863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7EA972B5-7F9E-4A99-A38D-0D778EBAFDDE}"/>
              </a:ext>
            </a:extLst>
          </p:cNvPr>
          <p:cNvCxnSpPr>
            <a:cxnSpLocks/>
            <a:endCxn id="36" idx="3"/>
          </p:cNvCxnSpPr>
          <p:nvPr/>
        </p:nvCxnSpPr>
        <p:spPr>
          <a:xfrm rot="10800000">
            <a:off x="2634574" y="4245602"/>
            <a:ext cx="2269655" cy="128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7" name="连接符: 曲线 36">
            <a:extLst>
              <a:ext uri="{FF2B5EF4-FFF2-40B4-BE49-F238E27FC236}">
                <a16:creationId xmlns:a16="http://schemas.microsoft.com/office/drawing/2014/main" id="{DB33FF10-9000-41B0-8745-F2E8D72AB079}"/>
              </a:ext>
            </a:extLst>
          </p:cNvPr>
          <p:cNvCxnSpPr>
            <a:cxnSpLocks/>
            <a:endCxn id="42" idx="2"/>
          </p:cNvCxnSpPr>
          <p:nvPr/>
        </p:nvCxnSpPr>
        <p:spPr>
          <a:xfrm flipV="1">
            <a:off x="1483931" y="2367347"/>
            <a:ext cx="1493220" cy="796842"/>
          </a:xfrm>
          <a:prstGeom prst="curvedConnector2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1F41DD69-D6B2-4184-87AA-89DAFC8C71C0}"/>
              </a:ext>
            </a:extLst>
          </p:cNvPr>
          <p:cNvSpPr txBox="1"/>
          <p:nvPr/>
        </p:nvSpPr>
        <p:spPr>
          <a:xfrm>
            <a:off x="5570468" y="1095437"/>
            <a:ext cx="3801692" cy="1569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long fact(long n)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if (n &lt; 3) return n;</a:t>
            </a:r>
          </a:p>
          <a:p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    return fact(n-1) * n;</a:t>
            </a:r>
          </a:p>
          <a:p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8279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1" grpId="0" animBg="1"/>
      <p:bldP spid="33" grpId="0" animBg="1"/>
      <p:bldP spid="36" grpId="0" animBg="1"/>
      <p:bldP spid="4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计算类递归的数学模型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4400" i="1" dirty="0"/>
              <a:t>a</a:t>
            </a:r>
            <a:r>
              <a:rPr lang="en-US" altLang="zh-CN" sz="4400" i="1" baseline="-25000" dirty="0"/>
              <a:t>n</a:t>
            </a:r>
            <a:r>
              <a:rPr lang="en-US" altLang="zh-CN" sz="4400" i="1" dirty="0"/>
              <a:t> = f(a</a:t>
            </a:r>
            <a:r>
              <a:rPr lang="en-US" altLang="zh-CN" sz="4400" i="1" baseline="-25000" dirty="0"/>
              <a:t>n-1</a:t>
            </a:r>
            <a:r>
              <a:rPr lang="en-US" altLang="zh-CN" sz="4400" i="1" dirty="0"/>
              <a:t>)  n &gt; 0</a:t>
            </a:r>
          </a:p>
          <a:p>
            <a:pPr marL="0" indent="0" algn="ctr">
              <a:buNone/>
            </a:pPr>
            <a:r>
              <a:rPr lang="en-US" altLang="zh-CN" sz="4400" i="1" dirty="0"/>
              <a:t>a</a:t>
            </a:r>
            <a:r>
              <a:rPr lang="en-US" altLang="zh-CN" sz="4400" i="1" baseline="-25000" dirty="0"/>
              <a:t>0</a:t>
            </a:r>
            <a:r>
              <a:rPr lang="en-US" altLang="zh-CN" sz="4400" i="1" dirty="0"/>
              <a:t> = C			 n = 0</a:t>
            </a:r>
          </a:p>
        </p:txBody>
      </p:sp>
    </p:spTree>
    <p:extLst>
      <p:ext uri="{BB962C8B-B14F-4D97-AF65-F5344CB8AC3E}">
        <p14:creationId xmlns:p14="http://schemas.microsoft.com/office/powerpoint/2010/main" val="20486187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r>
              <a:rPr lang="en-US" altLang="zh-CN" dirty="0"/>
              <a:t>7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编写一个递归函数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ULONG </a:t>
            </a:r>
            <a:r>
              <a:rPr lang="en-US" altLang="zh-CN" dirty="0" err="1"/>
              <a:t>fibo</a:t>
            </a:r>
            <a:r>
              <a:rPr lang="en-US" altLang="zh-CN" dirty="0"/>
              <a:t>(ULONG n);</a:t>
            </a:r>
          </a:p>
          <a:p>
            <a:pPr marL="0" indent="0">
              <a:buNone/>
            </a:pPr>
            <a:r>
              <a:rPr lang="zh-CN" altLang="en-US" dirty="0"/>
              <a:t>求</a:t>
            </a:r>
            <a:r>
              <a:rPr lang="en-US" altLang="zh-CN" dirty="0"/>
              <a:t>Fibonacci</a:t>
            </a:r>
            <a:r>
              <a:rPr lang="zh-CN" altLang="en-US" dirty="0"/>
              <a:t>数列的第</a:t>
            </a:r>
            <a:r>
              <a:rPr lang="en-US" altLang="zh-CN" dirty="0"/>
              <a:t>n</a:t>
            </a:r>
            <a:r>
              <a:rPr lang="zh-CN" altLang="en-US" dirty="0"/>
              <a:t>项</a:t>
            </a: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9CBFDBFC-7F20-9DF9-298A-58A6A9E527CA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fibo-recur.c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81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将一件事务分解成若干（例如：</a:t>
            </a:r>
            <a:r>
              <a:rPr lang="en-US" altLang="zh-CN" dirty="0"/>
              <a:t>2</a:t>
            </a:r>
            <a:r>
              <a:rPr lang="zh-CN" altLang="en-US" dirty="0"/>
              <a:t>份）相似但不相交的子部分，对每一部分用与处理整体相同的方法处理。</a:t>
            </a:r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n</a:t>
            </a:r>
            <a:r>
              <a:rPr lang="zh-CN" altLang="en-US" dirty="0"/>
              <a:t>阶的问题，一个简单的数学模型是：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i="1" dirty="0"/>
              <a:t>f(n) = f(n1) ∩ f(n2) ∩ f(n3) … ∩ f(</a:t>
            </a:r>
            <a:r>
              <a:rPr lang="en-US" altLang="zh-CN" i="1" dirty="0" err="1"/>
              <a:t>nk</a:t>
            </a:r>
            <a:r>
              <a:rPr lang="en-US" altLang="zh-CN" i="1" dirty="0"/>
              <a:t>)</a:t>
            </a:r>
          </a:p>
          <a:p>
            <a:pPr marL="0" indent="0">
              <a:buNone/>
            </a:pPr>
            <a:r>
              <a:rPr lang="en-US" altLang="zh-CN" i="1" dirty="0"/>
              <a:t>f(1) = C</a:t>
            </a:r>
          </a:p>
          <a:p>
            <a:pPr marL="0" indent="0">
              <a:buNone/>
            </a:pPr>
            <a:r>
              <a:rPr lang="en-US" altLang="zh-CN" i="1" dirty="0"/>
              <a:t>n = n1 + n2 + … + </a:t>
            </a:r>
            <a:r>
              <a:rPr lang="en-US" altLang="zh-CN" i="1" dirty="0" err="1"/>
              <a:t>nk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8520351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案例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 err="1"/>
              <a:t>hanoi</a:t>
            </a:r>
            <a:r>
              <a:rPr lang="zh-CN" altLang="en-US" dirty="0"/>
              <a:t>塔问题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536970" y="5557736"/>
            <a:ext cx="903796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028545" y="3787302"/>
            <a:ext cx="0" cy="177043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055468" y="3787302"/>
            <a:ext cx="0" cy="177043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082391" y="3787302"/>
            <a:ext cx="0" cy="177043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2191966" y="4743856"/>
            <a:ext cx="1647217" cy="560961"/>
            <a:chOff x="2191966" y="4743856"/>
            <a:chExt cx="1647217" cy="560961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2191966" y="5304817"/>
              <a:ext cx="1647217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365442" y="5024336"/>
              <a:ext cx="1300264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2569723" y="4743856"/>
              <a:ext cx="891702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2639438" y="3106845"/>
            <a:ext cx="82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Consolas" panose="020B0609020204030204" pitchFamily="49" charset="0"/>
              </a:rPr>
              <a:t>A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655417" y="3106845"/>
            <a:ext cx="82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B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71397" y="3106845"/>
            <a:ext cx="82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C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5270802" y="4743856"/>
            <a:ext cx="1647217" cy="560961"/>
            <a:chOff x="2191966" y="4743856"/>
            <a:chExt cx="1647217" cy="560961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2191966" y="5304817"/>
              <a:ext cx="1647217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2365442" y="5024336"/>
              <a:ext cx="1300264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2569723" y="4743856"/>
              <a:ext cx="891702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78024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问题分析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1536970" y="5557736"/>
            <a:ext cx="9037961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flipV="1">
            <a:off x="3028545" y="3787302"/>
            <a:ext cx="0" cy="177043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 flipV="1">
            <a:off x="6055468" y="3787302"/>
            <a:ext cx="0" cy="177043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V="1">
            <a:off x="9082391" y="3787302"/>
            <a:ext cx="0" cy="1770434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/>
        </p:nvGrpSpPr>
        <p:grpSpPr>
          <a:xfrm>
            <a:off x="2191966" y="4743856"/>
            <a:ext cx="1647217" cy="560961"/>
            <a:chOff x="2191966" y="4743856"/>
            <a:chExt cx="1647217" cy="560961"/>
          </a:xfrm>
        </p:grpSpPr>
        <p:cxnSp>
          <p:nvCxnSpPr>
            <p:cNvPr id="12" name="直接连接符 11"/>
            <p:cNvCxnSpPr/>
            <p:nvPr/>
          </p:nvCxnSpPr>
          <p:spPr>
            <a:xfrm>
              <a:off x="2191966" y="5304817"/>
              <a:ext cx="1647217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2365442" y="5024336"/>
              <a:ext cx="1300264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15" name="直接连接符 14"/>
            <p:cNvCxnSpPr/>
            <p:nvPr/>
          </p:nvCxnSpPr>
          <p:spPr>
            <a:xfrm>
              <a:off x="2569723" y="4743856"/>
              <a:ext cx="891702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sp>
        <p:nvSpPr>
          <p:cNvPr id="17" name="文本框 16"/>
          <p:cNvSpPr txBox="1"/>
          <p:nvPr/>
        </p:nvSpPr>
        <p:spPr>
          <a:xfrm>
            <a:off x="2639438" y="3106845"/>
            <a:ext cx="82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Consolas" panose="020B0609020204030204" pitchFamily="49" charset="0"/>
              </a:rPr>
              <a:t>A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655417" y="3106845"/>
            <a:ext cx="82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B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671397" y="3106845"/>
            <a:ext cx="821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latin typeface="Consolas" panose="020B0609020204030204" pitchFamily="49" charset="0"/>
              </a:rPr>
              <a:t>C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>
            <a:off x="5270802" y="5304817"/>
            <a:ext cx="1647217" cy="0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25" name="组合 24"/>
          <p:cNvGrpSpPr/>
          <p:nvPr/>
        </p:nvGrpSpPr>
        <p:grpSpPr>
          <a:xfrm>
            <a:off x="8425394" y="5023061"/>
            <a:ext cx="1300264" cy="280480"/>
            <a:chOff x="2365442" y="4743856"/>
            <a:chExt cx="1300264" cy="280480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2365442" y="5024336"/>
              <a:ext cx="1300264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直接连接符 27"/>
            <p:cNvCxnSpPr/>
            <p:nvPr/>
          </p:nvCxnSpPr>
          <p:spPr>
            <a:xfrm>
              <a:off x="2569723" y="4743856"/>
              <a:ext cx="891702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5405336" y="4713212"/>
            <a:ext cx="1300264" cy="280480"/>
            <a:chOff x="2365442" y="4743856"/>
            <a:chExt cx="1300264" cy="280480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2365442" y="5024336"/>
              <a:ext cx="1300264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2569723" y="4743856"/>
              <a:ext cx="891702" cy="0"/>
            </a:xfrm>
            <a:prstGeom prst="line">
              <a:avLst/>
            </a:prstGeom>
            <a:ln w="57150"/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cxnSp>
        <p:nvCxnSpPr>
          <p:cNvPr id="32" name="直接连接符 31"/>
          <p:cNvCxnSpPr/>
          <p:nvPr/>
        </p:nvCxnSpPr>
        <p:spPr>
          <a:xfrm>
            <a:off x="2191965" y="5303541"/>
            <a:ext cx="1647217" cy="0"/>
          </a:xfrm>
          <a:prstGeom prst="line">
            <a:avLst/>
          </a:prstGeom>
          <a:ln w="571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1466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问题求解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假设移动</a:t>
            </a:r>
            <a:r>
              <a:rPr lang="en-US" altLang="zh-CN" dirty="0"/>
              <a:t>n</a:t>
            </a:r>
            <a:r>
              <a:rPr lang="zh-CN" altLang="en-US" dirty="0"/>
              <a:t>片的方法为 </a:t>
            </a:r>
            <a:r>
              <a:rPr lang="en-US" altLang="zh-CN" b="1" i="1" dirty="0">
                <a:solidFill>
                  <a:srgbClr val="FF0000"/>
                </a:solidFill>
              </a:rPr>
              <a:t>H(n, A, B, C)</a:t>
            </a:r>
            <a:r>
              <a:rPr lang="zh-CN" altLang="en-US" dirty="0"/>
              <a:t>，那么它可以分解为三个步骤：</a:t>
            </a:r>
            <a:endParaRPr lang="en-US" altLang="zh-CN" dirty="0"/>
          </a:p>
          <a:p>
            <a:pPr marL="457200" indent="-457200">
              <a:buAutoNum type="arabicPeriod"/>
            </a:pPr>
            <a:r>
              <a:rPr lang="en-US" altLang="zh-CN" dirty="0"/>
              <a:t>H(n-1, A, C, B)</a:t>
            </a:r>
          </a:p>
          <a:p>
            <a:pPr marL="457200" indent="-457200">
              <a:buAutoNum type="arabicPeriod"/>
            </a:pPr>
            <a:r>
              <a:rPr lang="en-US" altLang="zh-CN" dirty="0"/>
              <a:t>H(1, A, B)</a:t>
            </a:r>
          </a:p>
          <a:p>
            <a:pPr marL="457200" indent="-457200">
              <a:buAutoNum type="arabicPeriod"/>
            </a:pPr>
            <a:r>
              <a:rPr lang="en-US" altLang="zh-CN" dirty="0"/>
              <a:t>H(n-1, C, B, A)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012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分治法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算法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H(n, A, B, C) {</a:t>
            </a:r>
          </a:p>
          <a:p>
            <a:pPr marL="0" indent="0">
              <a:buNone/>
            </a:pPr>
            <a:r>
              <a:rPr lang="en-US" altLang="zh-CN" dirty="0"/>
              <a:t>    if (n == 1) { print A-&gt;B; return; }</a:t>
            </a:r>
          </a:p>
          <a:p>
            <a:pPr marL="0" indent="0">
              <a:buNone/>
            </a:pPr>
            <a:r>
              <a:rPr lang="en-US" altLang="zh-CN" dirty="0"/>
              <a:t>    H(n-1, A, C, B);</a:t>
            </a:r>
          </a:p>
          <a:p>
            <a:pPr marL="0" indent="0">
              <a:buNone/>
            </a:pPr>
            <a:r>
              <a:rPr lang="en-US" altLang="zh-CN" dirty="0"/>
              <a:t>    H(1, A, B, C);</a:t>
            </a:r>
          </a:p>
          <a:p>
            <a:pPr marL="0" indent="0">
              <a:buNone/>
            </a:pPr>
            <a:r>
              <a:rPr lang="en-US" altLang="zh-CN" dirty="0"/>
              <a:t>    H(n-1, C, B, A);</a:t>
            </a:r>
          </a:p>
          <a:p>
            <a:pPr marL="0" indent="0">
              <a:buNone/>
            </a:pP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B416F837-6582-730F-0F18-1FFA3F82AECC}"/>
              </a:ext>
            </a:extLst>
          </p:cNvPr>
          <p:cNvSpPr/>
          <p:nvPr/>
        </p:nvSpPr>
        <p:spPr>
          <a:xfrm>
            <a:off x="0" y="6130899"/>
            <a:ext cx="3226158" cy="347730"/>
          </a:xfrm>
          <a:prstGeom prst="homePlate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err="1">
                <a:latin typeface="Consolas" panose="020B0609020204030204" pitchFamily="49" charset="0"/>
              </a:rPr>
              <a:t>hanoi.c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721245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雅黑+Consolas">
      <a:majorFont>
        <a:latin typeface="Consolas"/>
        <a:ea typeface="微软雅黑"/>
        <a:cs typeface=""/>
      </a:majorFont>
      <a:minorFont>
        <a:latin typeface="Consolas"/>
        <a:ea typeface="微软雅黑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50000"/>
          </a:schemeClr>
        </a:solidFill>
        <a:ln>
          <a:noFill/>
        </a:ln>
      </a:spPr>
      <a:bodyPr rot="0" spcFirstLastPara="0" vertOverflow="overflow" horzOverflow="overflow" vert="horz" wrap="square" lIns="96435" tIns="48218" rIns="96435" bIns="48218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002" dirty="0">
            <a:solidFill>
              <a:srgbClr val="7EC234"/>
            </a:solidFill>
            <a:latin typeface="Consolas" panose="020B0609020204030204" pitchFamily="49" charset="0"/>
            <a:ea typeface="微软雅黑" panose="020B0503020204020204" pitchFamily="34" charset="-122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400" dirty="0" smtClean="0">
            <a:latin typeface="Consolas" panose="020B0609020204030204" pitchFamily="49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06-循环.pptx" id="{F03A9CFA-35F9-440A-966A-5E917513ECB4}" vid="{F942D14E-8283-4960-9D94-F40AD533D26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程算1</Template>
  <TotalTime>382</TotalTime>
  <Words>1969</Words>
  <Application>Microsoft Office PowerPoint</Application>
  <PresentationFormat>宽屏</PresentationFormat>
  <Paragraphs>351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Arial</vt:lpstr>
      <vt:lpstr>Cambria Math</vt:lpstr>
      <vt:lpstr>Consolas</vt:lpstr>
      <vt:lpstr>Office 主题​​</vt:lpstr>
      <vt:lpstr>函数</vt:lpstr>
      <vt:lpstr>为什么使用函数？</vt:lpstr>
      <vt:lpstr>函数长什么样？</vt:lpstr>
      <vt:lpstr>如何使用函数？</vt:lpstr>
      <vt:lpstr>函数原型/签名(signature)</vt:lpstr>
      <vt:lpstr>函数的类型</vt:lpstr>
      <vt:lpstr>函数定义</vt:lpstr>
      <vt:lpstr>函数的形式参数（列表）</vt:lpstr>
      <vt:lpstr>函数的实际参数</vt:lpstr>
      <vt:lpstr>函数的参数传递-对位传递</vt:lpstr>
      <vt:lpstr>课堂练习1</vt:lpstr>
      <vt:lpstr>函数的参数传递-传值调用</vt:lpstr>
      <vt:lpstr>传值调用</vt:lpstr>
      <vt:lpstr>改变实参：指针作为参数</vt:lpstr>
      <vt:lpstr>指针作为参数总结</vt:lpstr>
      <vt:lpstr>用const保护参数</vt:lpstr>
      <vt:lpstr>函数返回</vt:lpstr>
      <vt:lpstr>函数返回</vt:lpstr>
      <vt:lpstr>函数调用和返回的时序</vt:lpstr>
      <vt:lpstr>指针作为返回值</vt:lpstr>
      <vt:lpstr>指针作为返回值</vt:lpstr>
      <vt:lpstr>课堂练习2</vt:lpstr>
      <vt:lpstr>课堂练习3</vt:lpstr>
      <vt:lpstr>课堂练习4</vt:lpstr>
      <vt:lpstr>函数的数组参数</vt:lpstr>
      <vt:lpstr>课堂练习5</vt:lpstr>
      <vt:lpstr>课堂练习6</vt:lpstr>
      <vt:lpstr>函数的多层嵌套调用</vt:lpstr>
      <vt:lpstr>函数递归</vt:lpstr>
      <vt:lpstr>函数递归-特殊的嵌套调用</vt:lpstr>
      <vt:lpstr>函数递归返回</vt:lpstr>
      <vt:lpstr>函数递归示例</vt:lpstr>
      <vt:lpstr>递归调用和返回</vt:lpstr>
      <vt:lpstr>计算类递归的数学模型</vt:lpstr>
      <vt:lpstr>课堂练习7</vt:lpstr>
      <vt:lpstr>分治法</vt:lpstr>
      <vt:lpstr>分治法</vt:lpstr>
      <vt:lpstr>分治法</vt:lpstr>
      <vt:lpstr>分治法</vt:lpstr>
      <vt:lpstr>分治法</vt:lpstr>
    </vt:vector>
  </TitlesOfParts>
  <Company>UESTC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关于类型</dc:title>
  <dc:creator>Bai Zhongjian</dc:creator>
  <cp:lastModifiedBy>Zhongjian Bai</cp:lastModifiedBy>
  <cp:revision>331</cp:revision>
  <dcterms:created xsi:type="dcterms:W3CDTF">2021-10-07T04:52:51Z</dcterms:created>
  <dcterms:modified xsi:type="dcterms:W3CDTF">2025-10-20T11:38:23Z</dcterms:modified>
</cp:coreProperties>
</file>