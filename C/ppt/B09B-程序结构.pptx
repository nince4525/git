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74" r:id="rId3"/>
    <p:sldId id="257" r:id="rId4"/>
    <p:sldId id="277" r:id="rId5"/>
    <p:sldId id="273" r:id="rId6"/>
    <p:sldId id="279" r:id="rId7"/>
    <p:sldId id="272" r:id="rId8"/>
    <p:sldId id="281" r:id="rId9"/>
    <p:sldId id="275" r:id="rId10"/>
    <p:sldId id="264" r:id="rId11"/>
    <p:sldId id="265" r:id="rId12"/>
    <p:sldId id="266" r:id="rId13"/>
    <p:sldId id="267" r:id="rId14"/>
    <p:sldId id="283" r:id="rId15"/>
    <p:sldId id="282" r:id="rId16"/>
    <p:sldId id="28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5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0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3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1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5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1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2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4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4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9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程序</a:t>
            </a:r>
            <a:r>
              <a:rPr lang="zh-CN" altLang="en-US" dirty="0"/>
              <a:t>结构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84528-32D8-F887-8BA7-6850CAD1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可以在哪里可以声明</a:t>
            </a:r>
            <a:r>
              <a:rPr lang="en-US" altLang="zh-CN" dirty="0"/>
              <a:t>/</a:t>
            </a:r>
            <a:r>
              <a:rPr lang="zh-CN" altLang="en-US" dirty="0"/>
              <a:t>定义变量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4F5A41-3B21-7779-8164-086CB6A7A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所有函数之外</a:t>
            </a:r>
            <a:endParaRPr lang="en-US" altLang="zh-CN" dirty="0"/>
          </a:p>
          <a:p>
            <a:pPr lvl="1"/>
            <a:r>
              <a:rPr lang="zh-CN" altLang="en-US" dirty="0"/>
              <a:t>可以在一个函数之前</a:t>
            </a:r>
            <a:r>
              <a:rPr lang="en-US" altLang="zh-CN" dirty="0"/>
              <a:t>/</a:t>
            </a:r>
            <a:r>
              <a:rPr lang="zh-CN" altLang="en-US" dirty="0"/>
              <a:t>之后、两个函数之间声明</a:t>
            </a:r>
            <a:r>
              <a:rPr lang="en-US" altLang="zh-CN" dirty="0"/>
              <a:t>/</a:t>
            </a:r>
            <a:r>
              <a:rPr lang="zh-CN" altLang="en-US" dirty="0"/>
              <a:t>定义变量</a:t>
            </a:r>
            <a:endParaRPr lang="en-US" altLang="zh-CN" dirty="0"/>
          </a:p>
          <a:p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可以函数头部的参数列表中声明变量；可以在函数体内任意位置声明</a:t>
            </a:r>
            <a:r>
              <a:rPr lang="en-US" altLang="zh-CN" dirty="0"/>
              <a:t>/</a:t>
            </a:r>
            <a:r>
              <a:rPr lang="zh-CN" altLang="en-US" dirty="0"/>
              <a:t>定义变量</a:t>
            </a:r>
            <a:endParaRPr lang="en-US" altLang="zh-CN" dirty="0"/>
          </a:p>
          <a:p>
            <a:r>
              <a:rPr lang="zh-CN" altLang="en-US" dirty="0"/>
              <a:t>块</a:t>
            </a:r>
            <a:endParaRPr lang="en-US" altLang="zh-CN" dirty="0"/>
          </a:p>
          <a:p>
            <a:pPr lvl="1"/>
            <a:r>
              <a:rPr lang="zh-CN" altLang="en-US" dirty="0"/>
              <a:t>用一对</a:t>
            </a:r>
            <a:r>
              <a:rPr lang="en-US" altLang="zh-CN" b="1" dirty="0">
                <a:solidFill>
                  <a:srgbClr val="FF0000"/>
                </a:solidFill>
              </a:rPr>
              <a:t>{}</a:t>
            </a:r>
            <a:r>
              <a:rPr lang="zh-CN" altLang="en-US" b="1" dirty="0">
                <a:solidFill>
                  <a:srgbClr val="FF0000"/>
                </a:solidFill>
              </a:rPr>
              <a:t>扩起</a:t>
            </a:r>
            <a:r>
              <a:rPr lang="zh-CN" altLang="en-US" dirty="0"/>
              <a:t>的范围称为</a:t>
            </a:r>
            <a:r>
              <a:rPr lang="zh-CN" altLang="en-US" b="1" dirty="0">
                <a:solidFill>
                  <a:srgbClr val="FF0000"/>
                </a:solidFill>
              </a:rPr>
              <a:t>块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block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zh-CN" altLang="en-US" dirty="0"/>
              <a:t>又称为</a:t>
            </a:r>
            <a:r>
              <a:rPr lang="zh-CN" altLang="en-US" b="1" dirty="0">
                <a:solidFill>
                  <a:srgbClr val="FF0000"/>
                </a:solidFill>
              </a:rPr>
              <a:t>复合语句</a:t>
            </a:r>
            <a:r>
              <a:rPr lang="zh-CN" altLang="en-US" dirty="0"/>
              <a:t>。可以在块内的任意位置声明</a:t>
            </a:r>
            <a:r>
              <a:rPr lang="en-US" altLang="zh-CN" dirty="0"/>
              <a:t>/</a:t>
            </a:r>
            <a:r>
              <a:rPr lang="zh-CN" altLang="en-US" dirty="0"/>
              <a:t>定义变量</a:t>
            </a:r>
            <a:endParaRPr lang="en-US" altLang="zh-CN" b="1" dirty="0">
              <a:solidFill>
                <a:srgbClr val="FFC000"/>
              </a:solidFill>
            </a:endParaRPr>
          </a:p>
          <a:p>
            <a:r>
              <a:rPr lang="en-US" altLang="zh-CN" dirty="0"/>
              <a:t>for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en-US" dirty="0"/>
              <a:t>可以在</a:t>
            </a:r>
            <a:r>
              <a:rPr lang="en-US" altLang="zh-CN" dirty="0"/>
              <a:t>for</a:t>
            </a:r>
            <a:r>
              <a:rPr lang="zh-CN" altLang="en-US" dirty="0"/>
              <a:t>语句初始化部分定义变量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901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变量的作用域</a:t>
            </a:r>
            <a:r>
              <a:rPr lang="en-US" altLang="zh-CN" dirty="0"/>
              <a:t>(SCOPE)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变量的</a:t>
            </a:r>
            <a:r>
              <a:rPr lang="zh-CN" altLang="en-US" b="1" dirty="0">
                <a:solidFill>
                  <a:srgbClr val="FF0000"/>
                </a:solidFill>
              </a:rPr>
              <a:t>作用域</a:t>
            </a:r>
            <a:r>
              <a:rPr lang="zh-CN" altLang="en-US" dirty="0"/>
              <a:t>系指该变量</a:t>
            </a:r>
            <a:r>
              <a:rPr lang="zh-CN" altLang="en-US" b="1" dirty="0">
                <a:solidFill>
                  <a:srgbClr val="FF0000"/>
                </a:solidFill>
              </a:rPr>
              <a:t>生效的范围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在范围内，变量对其后的所有程序实体</a:t>
            </a:r>
            <a:r>
              <a:rPr lang="zh-CN" altLang="en-US" b="1" dirty="0">
                <a:solidFill>
                  <a:srgbClr val="FF0000"/>
                </a:solidFill>
              </a:rPr>
              <a:t>可见的</a:t>
            </a:r>
            <a:r>
              <a:rPr lang="en-US" altLang="zh-CN" b="1" i="1" dirty="0">
                <a:solidFill>
                  <a:srgbClr val="FF0000"/>
                </a:solidFill>
              </a:rPr>
              <a:t>(visible) </a:t>
            </a:r>
            <a:r>
              <a:rPr lang="zh-CN" altLang="en-US" dirty="0"/>
              <a:t>，是</a:t>
            </a:r>
            <a:r>
              <a:rPr lang="zh-CN" altLang="en-US" b="1" dirty="0">
                <a:solidFill>
                  <a:srgbClr val="FF0000"/>
                </a:solidFill>
              </a:rPr>
              <a:t>可访问的</a:t>
            </a:r>
            <a:r>
              <a:rPr lang="en-US" altLang="zh-CN" b="1" i="1" dirty="0">
                <a:solidFill>
                  <a:srgbClr val="FF0000"/>
                </a:solidFill>
              </a:rPr>
              <a:t>(accessible)</a:t>
            </a:r>
          </a:p>
          <a:p>
            <a:pPr lvl="1"/>
            <a:r>
              <a:rPr lang="zh-CN" altLang="en-US" dirty="0"/>
              <a:t>在此范围之外（之前、之后），变量对其他程序实体是</a:t>
            </a:r>
            <a:r>
              <a:rPr lang="zh-CN" altLang="en-US" b="1" dirty="0">
                <a:solidFill>
                  <a:srgbClr val="FF0000"/>
                </a:solidFill>
              </a:rPr>
              <a:t>不可见的</a:t>
            </a:r>
            <a:r>
              <a:rPr lang="en-US" altLang="zh-CN" b="1" i="1" dirty="0">
                <a:solidFill>
                  <a:srgbClr val="FF0000"/>
                </a:solidFill>
              </a:rPr>
              <a:t>(invisible)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不可访问的</a:t>
            </a:r>
            <a:r>
              <a:rPr lang="en-US" altLang="zh-CN" b="1" i="1" dirty="0">
                <a:solidFill>
                  <a:srgbClr val="FF0000"/>
                </a:solidFill>
              </a:rPr>
              <a:t>(inaccessible)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26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CCF8-663E-615D-C98A-91BA8B29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716E4-2482-0B30-DED4-C008C741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变量的作用域</a:t>
            </a:r>
            <a:r>
              <a:rPr lang="en-US" altLang="zh-CN" dirty="0"/>
              <a:t>(SCOPE)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29E19E-9A9B-8092-1190-64F21667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作用域分为以下几种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60079D-DBFD-A185-A8CC-BD6F55111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288826"/>
              </p:ext>
            </p:extLst>
          </p:nvPr>
        </p:nvGraphicFramePr>
        <p:xfrm>
          <a:off x="1487509" y="1938270"/>
          <a:ext cx="9086045" cy="366062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279651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6806394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</a:tblGrid>
              <a:tr h="518311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作用域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最大覆盖范围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667901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文件作用域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一个</a:t>
                      </a:r>
                      <a:r>
                        <a:rPr lang="en-US" altLang="zh-CN" sz="18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源文件（编译单元）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  <a:tr h="73655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函数作用域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函数头部及其函数体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13927"/>
                  </a:ext>
                </a:extLst>
              </a:tr>
              <a:tr h="86892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块作用域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用</a:t>
                      </a:r>
                      <a:r>
                        <a:rPr lang="en-US" altLang="zh-CN" sz="1800" dirty="0">
                          <a:latin typeface="Consolas" panose="020B0609020204030204" pitchFamily="49" charset="0"/>
                        </a:rPr>
                        <a:t>{}</a:t>
                      </a: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扩起的语句块</a:t>
                      </a:r>
                      <a:endParaRPr lang="en-US" altLang="zh-CN" sz="18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31146"/>
                  </a:ext>
                </a:extLst>
              </a:tr>
              <a:tr h="86892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语句作用域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语句初始化部分定义的变量，其作用域仅覆盖这条</a:t>
                      </a:r>
                      <a:r>
                        <a:rPr lang="en-US" altLang="zh-CN" sz="1800" dirty="0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zh-CN" altLang="en-US" sz="1800" dirty="0">
                          <a:latin typeface="Consolas" panose="020B0609020204030204" pitchFamily="49" charset="0"/>
                        </a:rPr>
                        <a:t>语句</a:t>
                      </a:r>
                      <a:endParaRPr lang="en-US" altLang="zh-CN" sz="18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4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62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D50F0-72F0-CCA7-A22F-2E248404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D6DCE-486A-09F0-D1A8-C9A74C42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变量的存储期</a:t>
            </a:r>
            <a:r>
              <a:rPr lang="en-US" altLang="zh-CN" dirty="0"/>
              <a:t>(storage duration)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97AA6-461C-CD12-98D7-EF88367A8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变量的</a:t>
            </a:r>
            <a:r>
              <a:rPr lang="zh-CN" altLang="en-US" b="1" dirty="0">
                <a:solidFill>
                  <a:srgbClr val="FF0000"/>
                </a:solidFill>
              </a:rPr>
              <a:t>存储期</a:t>
            </a:r>
            <a:r>
              <a:rPr lang="zh-CN" altLang="en-US" dirty="0"/>
              <a:t>系指保持该变量的存储的最短潜在生命期</a:t>
            </a:r>
            <a:r>
              <a:rPr lang="en-US" altLang="zh-CN" dirty="0"/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lifetime</a:t>
            </a:r>
            <a:r>
              <a:rPr lang="en-US" altLang="zh-CN" dirty="0"/>
              <a:t>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57CFE8-0E4F-32A1-408F-7EE79C94B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37628"/>
              </p:ext>
            </p:extLst>
          </p:nvPr>
        </p:nvGraphicFramePr>
        <p:xfrm>
          <a:off x="1467676" y="2002665"/>
          <a:ext cx="9086045" cy="4115163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279651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6806394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</a:tblGrid>
              <a:tr h="58266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存储期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存储在何地，何时分配和释放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 algn="just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自动的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automatic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在块开始时分配，块结束时释放。存储在栈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stack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中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  <a:tr h="82801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静态的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存储在程序开始时分配，程序结束时释放。存储在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全局数据区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中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13927"/>
                  </a:ext>
                </a:extLst>
              </a:tr>
              <a:tr h="97682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分配的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allocated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存储是显式动态申请和释放的。存储在堆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heap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中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31146"/>
                  </a:ext>
                </a:extLst>
              </a:tr>
              <a:tr h="97682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nsolas" panose="020B0609020204030204" pitchFamily="49" charset="0"/>
                        </a:rPr>
                        <a:t>线程的</a:t>
                      </a:r>
                      <a:r>
                        <a:rPr lang="en-US" altLang="zh-CN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nsolas" panose="020B0609020204030204" pitchFamily="49" charset="0"/>
                        </a:rPr>
                        <a:t>thread</a:t>
                      </a:r>
                      <a:r>
                        <a:rPr lang="en-US" altLang="zh-CN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en-US" altLang="zh-CN" sz="18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nsolas" panose="020B0609020204030204" pitchFamily="49" charset="0"/>
                        </a:rPr>
                        <a:t>存储在线程开始时分配，线程结束时释放</a:t>
                      </a:r>
                      <a:endParaRPr lang="en-US" altLang="zh-CN" sz="1800" dirty="0">
                        <a:solidFill>
                          <a:schemeClr val="bg1">
                            <a:lumMod val="6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4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3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847A-930B-7E21-1BF9-63739595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B95FF-9E62-AEEA-B72C-87802B6C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变量的存储类别</a:t>
            </a:r>
            <a:r>
              <a:rPr lang="en-US" altLang="zh-CN" dirty="0">
                <a:effectLst/>
              </a:rPr>
              <a:t>(storage class)</a:t>
            </a:r>
            <a:endParaRPr lang="zh-CN" altLang="en-US" dirty="0">
              <a:effectLst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4998D6-DE1F-3E72-2EC0-FF2EE2B2E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687730"/>
              </p:ext>
            </p:extLst>
          </p:nvPr>
        </p:nvGraphicFramePr>
        <p:xfrm>
          <a:off x="1223492" y="1403798"/>
          <a:ext cx="9691353" cy="4339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34171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2697053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  <a:gridCol w="1946677">
                  <a:extLst>
                    <a:ext uri="{9D8B030D-6E8A-4147-A177-3AD203B41FA5}">
                      <a16:colId xmlns:a16="http://schemas.microsoft.com/office/drawing/2014/main" val="1369185156"/>
                    </a:ext>
                  </a:extLst>
                </a:gridCol>
                <a:gridCol w="3113452">
                  <a:extLst>
                    <a:ext uri="{9D8B030D-6E8A-4147-A177-3AD203B41FA5}">
                      <a16:colId xmlns:a16="http://schemas.microsoft.com/office/drawing/2014/main" val="2703458918"/>
                    </a:ext>
                  </a:extLst>
                </a:gridCol>
              </a:tblGrid>
              <a:tr h="646652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关键字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变量的存储期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可以修饰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634691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auto int </a:t>
                      </a:r>
                      <a:r>
                        <a:rPr lang="en-US" altLang="zh-CN" sz="18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automatic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局部变量，排除形参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  <a:tr h="69993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register int </a:t>
                      </a:r>
                      <a:r>
                        <a:rPr lang="en-US" altLang="zh-CN" sz="18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automatic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局部变量和形参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13927"/>
                  </a:ext>
                </a:extLst>
              </a:tr>
              <a:tr h="78619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static int </a:t>
                      </a:r>
                      <a:r>
                        <a:rPr lang="en-US" altLang="zh-CN" sz="18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局部和全局变量，排除形参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31146"/>
                  </a:ext>
                </a:extLst>
              </a:tr>
              <a:tr h="78619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extern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extern int </a:t>
                      </a:r>
                      <a:r>
                        <a:rPr lang="en-US" altLang="zh-CN" sz="18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全局变量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136121"/>
                  </a:ext>
                </a:extLst>
              </a:tr>
              <a:tr h="78619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thread_local</a:t>
                      </a:r>
                      <a:endParaRPr lang="en-US" altLang="zh-CN" sz="18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用于多线程，超纲了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超纲了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超纲了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048363"/>
                  </a:ext>
                </a:extLst>
              </a:tr>
            </a:tbl>
          </a:graphicData>
        </a:graphic>
      </p:graphicFrame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91E9D431-2DF0-7286-C145-858542F60B31}"/>
              </a:ext>
            </a:extLst>
          </p:cNvPr>
          <p:cNvSpPr/>
          <p:nvPr/>
        </p:nvSpPr>
        <p:spPr>
          <a:xfrm>
            <a:off x="2202286" y="1909294"/>
            <a:ext cx="2942823" cy="528034"/>
          </a:xfrm>
          <a:prstGeom prst="wedgeRectCallout">
            <a:avLst>
              <a:gd name="adj1" fmla="val -58470"/>
              <a:gd name="adj2" fmla="val 51525"/>
            </a:avLst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C23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标准将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auto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用作它途</a:t>
            </a:r>
          </a:p>
        </p:txBody>
      </p:sp>
    </p:spTree>
    <p:extLst>
      <p:ext uri="{BB962C8B-B14F-4D97-AF65-F5344CB8AC3E}">
        <p14:creationId xmlns:p14="http://schemas.microsoft.com/office/powerpoint/2010/main" val="12352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6097C-01DA-ED7D-4555-56EC9E92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F4367-B7A6-2966-0A5D-72ACDE29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具有自动存储期的变量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CB1F71-F60E-28CB-506E-CDDBDC249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62140"/>
              </p:ext>
            </p:extLst>
          </p:nvPr>
        </p:nvGraphicFramePr>
        <p:xfrm>
          <a:off x="1242008" y="1577662"/>
          <a:ext cx="9636664" cy="4094979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3716234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2097062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  <a:gridCol w="3823368">
                  <a:extLst>
                    <a:ext uri="{9D8B030D-6E8A-4147-A177-3AD203B41FA5}">
                      <a16:colId xmlns:a16="http://schemas.microsoft.com/office/drawing/2014/main" val="1369185156"/>
                    </a:ext>
                  </a:extLst>
                </a:gridCol>
              </a:tblGrid>
              <a:tr h="723996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声明</a:t>
                      </a:r>
                      <a:r>
                        <a:rPr lang="en-US" altLang="zh-CN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定义在哪里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作用域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生命期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1008823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所有定义在一对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{}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之间的、没有用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修饰的变量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自其定义至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至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，该变量失效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  <a:tr h="111252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函数的形式参数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该函数的函数体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该函数返回，该变量失效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13927"/>
                  </a:ext>
                </a:extLst>
              </a:tr>
              <a:tr h="124963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语句初始化部分定义的变量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这条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语句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这条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语句结束，该变量失效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31146"/>
                  </a:ext>
                </a:extLst>
              </a:tr>
            </a:tbl>
          </a:graphicData>
        </a:graphic>
      </p:graphicFrame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5C1359DC-5E7A-6C70-BF45-B95C7E4BEB69}"/>
              </a:ext>
            </a:extLst>
          </p:cNvPr>
          <p:cNvSpPr/>
          <p:nvPr/>
        </p:nvSpPr>
        <p:spPr>
          <a:xfrm>
            <a:off x="0" y="6156101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var-</a:t>
            </a:r>
            <a:r>
              <a:rPr lang="en-US" altLang="zh-CN" sz="1400" dirty="0" err="1">
                <a:latin typeface="Consolas" panose="020B0609020204030204" pitchFamily="49" charset="0"/>
              </a:rPr>
              <a:t>auto.c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54818A-98CF-3DDD-EA1B-573734899515}"/>
              </a:ext>
            </a:extLst>
          </p:cNvPr>
          <p:cNvSpPr/>
          <p:nvPr/>
        </p:nvSpPr>
        <p:spPr>
          <a:xfrm>
            <a:off x="4205098" y="2853109"/>
            <a:ext cx="3773510" cy="1178417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所有自动变量都是局部的</a:t>
            </a:r>
          </a:p>
        </p:txBody>
      </p:sp>
    </p:spTree>
    <p:extLst>
      <p:ext uri="{BB962C8B-B14F-4D97-AF65-F5344CB8AC3E}">
        <p14:creationId xmlns:p14="http://schemas.microsoft.com/office/powerpoint/2010/main" val="166472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9BE5-F6FF-5B22-95E2-5BA06E94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1BC68-1FDD-48E3-688F-0C2E61CA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具有静态存储期的变量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BCB206-2378-90F9-F0F8-F0C4D6A7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03472"/>
              </p:ext>
            </p:extLst>
          </p:nvPr>
        </p:nvGraphicFramePr>
        <p:xfrm>
          <a:off x="1286166" y="1596980"/>
          <a:ext cx="9616491" cy="3947927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4802164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4814327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</a:tblGrid>
              <a:tr h="694536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静态的</a:t>
                      </a: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局部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变量</a:t>
                      </a:r>
                      <a:endParaRPr lang="en-US" altLang="zh-CN" sz="20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静态的非局部变量</a:t>
                      </a:r>
                      <a:endParaRPr lang="en-US" altLang="zh-CN" sz="2000" b="1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3253391"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定义在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{}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之间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被关键字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static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修饰：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static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int 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= 0; //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一般要初始化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只被初始化一次。如果没有被显示初始化，则编译器使用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初始化规则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会保持上一次的计算结果，直到被再次改变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定义在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所有函数之外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。常被称为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全局变量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</a:rPr>
                        <a:t>可以用也可以不用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</a:rPr>
                        <a:t>static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</a:rPr>
                        <a:t>关键字修饰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</a:rPr>
                        <a:t>全局变量自定义起，对定义后面的所有函数可见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</a:rPr>
                        <a:t>如果其中一个函数改变了这个全局变量，那么这个改变将广播到所有函数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</a:tbl>
          </a:graphicData>
        </a:graphic>
      </p:graphicFrame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12B81052-A4CE-0B30-C019-6E8A6F1D365E}"/>
              </a:ext>
            </a:extLst>
          </p:cNvPr>
          <p:cNvSpPr/>
          <p:nvPr/>
        </p:nvSpPr>
        <p:spPr>
          <a:xfrm>
            <a:off x="0" y="6132868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var-</a:t>
            </a:r>
            <a:r>
              <a:rPr lang="en-US" altLang="zh-CN" sz="1400" dirty="0" err="1">
                <a:latin typeface="Consolas" panose="020B0609020204030204" pitchFamily="49" charset="0"/>
              </a:rPr>
              <a:t>static.c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689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D814-3255-8DE4-1F83-EDF80AD3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B250D-AA0F-BED2-97E1-10312F17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不同作用域中同名变量的掩蔽</a:t>
            </a:r>
            <a:r>
              <a:rPr lang="en-US" altLang="zh-CN" dirty="0"/>
              <a:t>(mask)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54BD2-756F-EAC1-9648-F192A991D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07978"/>
            <a:ext cx="9905999" cy="3541714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在不同的作用域中，可以定义同名的变量。此种情况下，局部（包括静态局部）变量会掩蔽更大作用域中的同名变量。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{ int </a:t>
            </a:r>
            <a:r>
              <a:rPr lang="en-US" altLang="zh-CN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lang="en-US" altLang="zh-CN" dirty="0"/>
              <a:t>; // ①</a:t>
            </a:r>
          </a:p>
          <a:p>
            <a:pPr marL="0" indent="0">
              <a:buNone/>
            </a:pPr>
            <a:r>
              <a:rPr lang="en-US" altLang="zh-CN" dirty="0"/>
              <a:t>    { int </a:t>
            </a:r>
            <a:r>
              <a:rPr lang="en-US" altLang="zh-CN" b="1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en-US" altLang="zh-CN" dirty="0"/>
              <a:t>; // ②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{ int </a:t>
            </a:r>
            <a:r>
              <a:rPr lang="en-US" altLang="zh-CN" b="1" i="1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altLang="zh-CN" dirty="0"/>
              <a:t>; // ③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1ED9327-AB09-32CA-3AA8-BFBBF8E793EA}"/>
              </a:ext>
            </a:extLst>
          </p:cNvPr>
          <p:cNvCxnSpPr/>
          <p:nvPr/>
        </p:nvCxnSpPr>
        <p:spPr>
          <a:xfrm>
            <a:off x="3466355" y="2949086"/>
            <a:ext cx="726543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F6F7113-1BE4-3552-052A-6A0E0418FCE3}"/>
              </a:ext>
            </a:extLst>
          </p:cNvPr>
          <p:cNvCxnSpPr>
            <a:cxnSpLocks/>
          </p:cNvCxnSpPr>
          <p:nvPr/>
        </p:nvCxnSpPr>
        <p:spPr>
          <a:xfrm>
            <a:off x="1653106" y="5235086"/>
            <a:ext cx="907868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D7E2E81-2B40-4720-E373-F0690485BBFF}"/>
              </a:ext>
            </a:extLst>
          </p:cNvPr>
          <p:cNvCxnSpPr/>
          <p:nvPr/>
        </p:nvCxnSpPr>
        <p:spPr>
          <a:xfrm>
            <a:off x="4138159" y="3378294"/>
            <a:ext cx="4901682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E7130F-76CD-20E3-BB6A-F293E16E274F}"/>
              </a:ext>
            </a:extLst>
          </p:cNvPr>
          <p:cNvCxnSpPr>
            <a:cxnSpLocks/>
          </p:cNvCxnSpPr>
          <p:nvPr/>
        </p:nvCxnSpPr>
        <p:spPr>
          <a:xfrm>
            <a:off x="2119636" y="3897698"/>
            <a:ext cx="692020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1314E5D-7DEC-80C8-68D4-1E9FB6DCD143}"/>
              </a:ext>
            </a:extLst>
          </p:cNvPr>
          <p:cNvCxnSpPr/>
          <p:nvPr/>
        </p:nvCxnSpPr>
        <p:spPr>
          <a:xfrm>
            <a:off x="4138159" y="4314465"/>
            <a:ext cx="490168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ED123AD-C51E-5E17-3BF4-F9CCCC9F3A62}"/>
              </a:ext>
            </a:extLst>
          </p:cNvPr>
          <p:cNvCxnSpPr>
            <a:cxnSpLocks/>
          </p:cNvCxnSpPr>
          <p:nvPr/>
        </p:nvCxnSpPr>
        <p:spPr>
          <a:xfrm>
            <a:off x="2119636" y="4833869"/>
            <a:ext cx="692020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C8F226F-910C-F05D-797B-1E54C0F2C4C0}"/>
              </a:ext>
            </a:extLst>
          </p:cNvPr>
          <p:cNvCxnSpPr/>
          <p:nvPr/>
        </p:nvCxnSpPr>
        <p:spPr>
          <a:xfrm>
            <a:off x="9456617" y="3017511"/>
            <a:ext cx="0" cy="2133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7B7FA0B-F553-C289-0F58-7B62691D1DE8}"/>
              </a:ext>
            </a:extLst>
          </p:cNvPr>
          <p:cNvSpPr txBox="1"/>
          <p:nvPr/>
        </p:nvSpPr>
        <p:spPr>
          <a:xfrm>
            <a:off x="9406846" y="3897698"/>
            <a:ext cx="1443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①</a:t>
            </a:r>
            <a:r>
              <a:rPr lang="zh-CN" altLang="en-US" sz="1600" dirty="0">
                <a:latin typeface="Consolas" panose="020B0609020204030204" pitchFamily="49" charset="0"/>
              </a:rPr>
              <a:t>的作用域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D4DE390-FE6E-FDAA-5A25-C871D6AF2173}"/>
              </a:ext>
            </a:extLst>
          </p:cNvPr>
          <p:cNvCxnSpPr>
            <a:cxnSpLocks/>
          </p:cNvCxnSpPr>
          <p:nvPr/>
        </p:nvCxnSpPr>
        <p:spPr>
          <a:xfrm>
            <a:off x="5033912" y="3370748"/>
            <a:ext cx="0" cy="526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1B80B91-5E92-833C-8A09-5F92351EA91B}"/>
              </a:ext>
            </a:extLst>
          </p:cNvPr>
          <p:cNvSpPr txBox="1"/>
          <p:nvPr/>
        </p:nvSpPr>
        <p:spPr>
          <a:xfrm>
            <a:off x="4996581" y="3484500"/>
            <a:ext cx="391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②</a:t>
            </a:r>
            <a:r>
              <a:rPr lang="zh-CN" altLang="en-US" sz="1600" dirty="0">
                <a:latin typeface="Consolas" panose="020B0609020204030204" pitchFamily="49" charset="0"/>
              </a:rPr>
              <a:t>的作用域，掩蔽了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①</a:t>
            </a:r>
            <a:r>
              <a:rPr lang="zh-CN" altLang="en-US" sz="1600" dirty="0">
                <a:latin typeface="Consolas" panose="020B0609020204030204" pitchFamily="49" charset="0"/>
              </a:rPr>
              <a:t>。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/>
              <a:t>③</a:t>
            </a:r>
            <a:r>
              <a:rPr lang="zh-CN" altLang="en-US" sz="1600" dirty="0">
                <a:latin typeface="Consolas" panose="020B0609020204030204" pitchFamily="49" charset="0"/>
              </a:rPr>
              <a:t>不可见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5D73918-1A23-F939-EE98-3351CC5D06B5}"/>
              </a:ext>
            </a:extLst>
          </p:cNvPr>
          <p:cNvCxnSpPr>
            <a:cxnSpLocks/>
          </p:cNvCxnSpPr>
          <p:nvPr/>
        </p:nvCxnSpPr>
        <p:spPr>
          <a:xfrm>
            <a:off x="5037010" y="4319588"/>
            <a:ext cx="0" cy="526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465A647-E3B7-F9E2-FA0B-2B6476F7DC78}"/>
              </a:ext>
            </a:extLst>
          </p:cNvPr>
          <p:cNvSpPr txBox="1"/>
          <p:nvPr/>
        </p:nvSpPr>
        <p:spPr>
          <a:xfrm>
            <a:off x="5037009" y="4411110"/>
            <a:ext cx="378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/>
              <a:t>③</a:t>
            </a:r>
            <a:r>
              <a:rPr lang="zh-CN" altLang="en-US" sz="1600" dirty="0">
                <a:latin typeface="Consolas" panose="020B0609020204030204" pitchFamily="49" charset="0"/>
              </a:rPr>
              <a:t>的作用域，掩蔽了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①</a:t>
            </a:r>
            <a:r>
              <a:rPr lang="zh-CN" altLang="en-US" sz="1600" dirty="0">
                <a:latin typeface="Consolas" panose="020B0609020204030204" pitchFamily="49" charset="0"/>
              </a:rPr>
              <a:t>。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②</a:t>
            </a:r>
            <a:r>
              <a:rPr lang="zh-CN" altLang="en-US" sz="1600" dirty="0">
                <a:latin typeface="Consolas" panose="020B0609020204030204" pitchFamily="49" charset="0"/>
              </a:rPr>
              <a:t>不可见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C80F225-4A58-E60E-59B2-809E161C178D}"/>
              </a:ext>
            </a:extLst>
          </p:cNvPr>
          <p:cNvSpPr/>
          <p:nvPr/>
        </p:nvSpPr>
        <p:spPr>
          <a:xfrm>
            <a:off x="0" y="6510270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var-*.c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00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</a:t>
            </a:r>
            <a:r>
              <a:rPr lang="en-US" altLang="zh-CN" dirty="0"/>
              <a:t>Stack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堆栈是一种用于存储数据的结构</a:t>
            </a:r>
            <a:endParaRPr lang="en-US" altLang="zh-CN" dirty="0"/>
          </a:p>
          <a:p>
            <a:r>
              <a:rPr lang="zh-CN" altLang="en-US" dirty="0"/>
              <a:t>堆栈是一种单向进出的存储结构</a:t>
            </a:r>
            <a:endParaRPr lang="en-US" altLang="zh-CN" dirty="0"/>
          </a:p>
          <a:p>
            <a:pPr lvl="1"/>
            <a:r>
              <a:rPr lang="zh-CN" altLang="en-US" dirty="0"/>
              <a:t>封闭的一端称为栈底，数据进出的一端称为栈顶</a:t>
            </a:r>
            <a:endParaRPr lang="en-US" altLang="zh-CN" dirty="0"/>
          </a:p>
          <a:p>
            <a:pPr lvl="1"/>
            <a:r>
              <a:rPr lang="zh-CN" altLang="en-US" dirty="0"/>
              <a:t>存入数据称为压栈</a:t>
            </a:r>
            <a:r>
              <a:rPr lang="en-US" altLang="zh-CN" dirty="0"/>
              <a:t>push</a:t>
            </a:r>
            <a:r>
              <a:rPr lang="zh-CN" altLang="en-US" dirty="0"/>
              <a:t>，取出数据称为弹栈</a:t>
            </a:r>
            <a:r>
              <a:rPr lang="en-US" altLang="zh-CN" dirty="0"/>
              <a:t>pop</a:t>
            </a:r>
          </a:p>
          <a:p>
            <a:pPr lvl="1"/>
            <a:r>
              <a:rPr lang="zh-CN" altLang="en-US" dirty="0"/>
              <a:t>栈顶用一个“指针”标记，称为栈顶指针</a:t>
            </a:r>
            <a:endParaRPr lang="en-US" altLang="zh-CN" dirty="0"/>
          </a:p>
          <a:p>
            <a:pPr lvl="1"/>
            <a:r>
              <a:rPr lang="zh-CN" altLang="en-US" dirty="0"/>
              <a:t>压栈和弹栈都在栈顶指针的位置进行。因此，堆栈是一种先进后出</a:t>
            </a:r>
            <a:r>
              <a:rPr lang="en-US" altLang="zh-CN" dirty="0"/>
              <a:t>(FILO)</a:t>
            </a:r>
            <a:r>
              <a:rPr lang="zh-CN" altLang="en-US"/>
              <a:t>的结构</a:t>
            </a:r>
            <a:endParaRPr lang="en-US" altLang="zh-CN" dirty="0"/>
          </a:p>
          <a:p>
            <a:pPr lvl="1"/>
            <a:r>
              <a:rPr lang="zh-CN" altLang="en-US" dirty="0"/>
              <a:t>栈顶指针是浮动的。压栈使指针上移，弹栈使指针下移</a:t>
            </a:r>
            <a:endParaRPr lang="en-US" altLang="zh-CN" dirty="0"/>
          </a:p>
          <a:p>
            <a:r>
              <a:rPr lang="zh-CN" altLang="en-US" dirty="0"/>
              <a:t>堆栈有固定容量</a:t>
            </a:r>
            <a:endParaRPr lang="en-US" altLang="zh-CN" dirty="0"/>
          </a:p>
          <a:p>
            <a:pPr lvl="1"/>
            <a:r>
              <a:rPr lang="zh-CN" altLang="en-US" dirty="0"/>
              <a:t>没有数据时，栈为空。此时弹栈导致的错误称为堆栈下溢</a:t>
            </a:r>
            <a:r>
              <a:rPr lang="en-US" altLang="zh-CN" dirty="0"/>
              <a:t>underflow</a:t>
            </a:r>
          </a:p>
          <a:p>
            <a:pPr lvl="1"/>
            <a:r>
              <a:rPr lang="zh-CN" altLang="en-US" dirty="0"/>
              <a:t>堆栈存储的数据达到最大容量时称为栈满。此时压栈导致的错误称为堆栈上溢</a:t>
            </a:r>
            <a:r>
              <a:rPr lang="en-US" altLang="zh-CN" dirty="0"/>
              <a:t>overflow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63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堆栈的结构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5164782" y="5190008"/>
            <a:ext cx="1974231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64782" y="4767492"/>
            <a:ext cx="1974229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64782" y="4344976"/>
            <a:ext cx="1974231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64782" y="3922460"/>
            <a:ext cx="1974231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64782" y="3499944"/>
            <a:ext cx="197423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64782" y="3077428"/>
            <a:ext cx="1974233" cy="4225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64777" y="2657043"/>
            <a:ext cx="1974234" cy="4225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728483" y="3499944"/>
            <a:ext cx="1436299" cy="422516"/>
            <a:chOff x="3728483" y="3499944"/>
            <a:chExt cx="1436299" cy="422516"/>
          </a:xfrm>
        </p:grpSpPr>
        <p:sp>
          <p:nvSpPr>
            <p:cNvPr id="20" name="矩形 19"/>
            <p:cNvSpPr/>
            <p:nvPr/>
          </p:nvSpPr>
          <p:spPr>
            <a:xfrm>
              <a:off x="3728483" y="3499944"/>
              <a:ext cx="875963" cy="4225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top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2" name="直接箭头连接符 21"/>
            <p:cNvCxnSpPr>
              <a:cxnSpLocks/>
              <a:stCxn id="20" idx="3"/>
              <a:endCxn id="8" idx="1"/>
            </p:cNvCxnSpPr>
            <p:nvPr/>
          </p:nvCxnSpPr>
          <p:spPr>
            <a:xfrm>
              <a:off x="4604446" y="3711202"/>
              <a:ext cx="560336" cy="0"/>
            </a:xfrm>
            <a:prstGeom prst="straightConnector1">
              <a:avLst/>
            </a:prstGeom>
            <a:ln w="254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7176073" y="5239381"/>
            <a:ext cx="1322886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栈底</a:t>
            </a:r>
          </a:p>
        </p:txBody>
      </p:sp>
      <p:sp>
        <p:nvSpPr>
          <p:cNvPr id="26" name="矩形 25"/>
          <p:cNvSpPr/>
          <p:nvPr/>
        </p:nvSpPr>
        <p:spPr>
          <a:xfrm>
            <a:off x="7139017" y="2259113"/>
            <a:ext cx="1322886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最大容量</a:t>
            </a:r>
          </a:p>
        </p:txBody>
      </p:sp>
      <p:sp>
        <p:nvSpPr>
          <p:cNvPr id="27" name="矩形 26"/>
          <p:cNvSpPr/>
          <p:nvPr/>
        </p:nvSpPr>
        <p:spPr>
          <a:xfrm>
            <a:off x="7139017" y="3487331"/>
            <a:ext cx="1322886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栈顶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164771" y="2219784"/>
            <a:ext cx="1974237" cy="3392740"/>
            <a:chOff x="5146255" y="2219784"/>
            <a:chExt cx="1992762" cy="3405352"/>
          </a:xfrm>
        </p:grpSpPr>
        <p:grpSp>
          <p:nvGrpSpPr>
            <p:cNvPr id="16" name="组合 15"/>
            <p:cNvGrpSpPr/>
            <p:nvPr/>
          </p:nvGrpSpPr>
          <p:grpSpPr>
            <a:xfrm>
              <a:off x="5146255" y="2219784"/>
              <a:ext cx="1992762" cy="3405352"/>
              <a:chOff x="5164783" y="2207172"/>
              <a:chExt cx="1992762" cy="3405352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5164783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7157545" y="2207172"/>
                <a:ext cx="0" cy="3405352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5164783" y="5612524"/>
                <a:ext cx="1992762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>
              <a:off x="5146255" y="2219784"/>
              <a:ext cx="19927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3084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5540541" y="5218361"/>
            <a:ext cx="1992761" cy="435127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71428" y="5218362"/>
            <a:ext cx="1992760" cy="435128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堆栈的操作</a:t>
            </a:r>
          </a:p>
        </p:txBody>
      </p:sp>
      <p:sp>
        <p:nvSpPr>
          <p:cNvPr id="5" name="矩形 4"/>
          <p:cNvSpPr/>
          <p:nvPr/>
        </p:nvSpPr>
        <p:spPr>
          <a:xfrm>
            <a:off x="1871428" y="4795846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71428" y="4373330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71428" y="3950814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71428" y="3528298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71428" y="3105782"/>
            <a:ext cx="1992762" cy="422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89956" y="2670654"/>
            <a:ext cx="1992762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871427" y="2248138"/>
            <a:ext cx="1992760" cy="3405352"/>
            <a:chOff x="5146255" y="2219784"/>
            <a:chExt cx="1992762" cy="3405352"/>
          </a:xfrm>
        </p:grpSpPr>
        <p:grpSp>
          <p:nvGrpSpPr>
            <p:cNvPr id="16" name="组合 15"/>
            <p:cNvGrpSpPr/>
            <p:nvPr/>
          </p:nvGrpSpPr>
          <p:grpSpPr>
            <a:xfrm>
              <a:off x="5146255" y="2219784"/>
              <a:ext cx="1992762" cy="3405352"/>
              <a:chOff x="5164783" y="2207172"/>
              <a:chExt cx="1992762" cy="3405352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5164783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7157545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5164783" y="5612524"/>
                <a:ext cx="1992762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>
              <a:off x="5146255" y="2219784"/>
              <a:ext cx="19927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453656" y="3528298"/>
            <a:ext cx="1417772" cy="422516"/>
            <a:chOff x="3728483" y="3499944"/>
            <a:chExt cx="1417772" cy="422516"/>
          </a:xfrm>
        </p:grpSpPr>
        <p:sp>
          <p:nvSpPr>
            <p:cNvPr id="20" name="矩形 19"/>
            <p:cNvSpPr/>
            <p:nvPr/>
          </p:nvSpPr>
          <p:spPr>
            <a:xfrm>
              <a:off x="3728483" y="3499944"/>
              <a:ext cx="875963" cy="4225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top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2" name="直接箭头连接符 21"/>
            <p:cNvCxnSpPr>
              <a:stCxn id="20" idx="3"/>
              <a:endCxn id="8" idx="1"/>
            </p:cNvCxnSpPr>
            <p:nvPr/>
          </p:nvCxnSpPr>
          <p:spPr>
            <a:xfrm>
              <a:off x="4604446" y="3711202"/>
              <a:ext cx="541809" cy="0"/>
            </a:xfrm>
            <a:prstGeom prst="straightConnector1">
              <a:avLst/>
            </a:prstGeom>
            <a:ln w="254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2224894" y="5877361"/>
            <a:ext cx="1322886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目前状态</a:t>
            </a:r>
          </a:p>
        </p:txBody>
      </p:sp>
      <p:sp>
        <p:nvSpPr>
          <p:cNvPr id="42" name="矩形 41"/>
          <p:cNvSpPr/>
          <p:nvPr/>
        </p:nvSpPr>
        <p:spPr>
          <a:xfrm>
            <a:off x="5540541" y="4795846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40541" y="4373330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540541" y="3950814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540541" y="3528298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540541" y="3105782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540541" y="2670654"/>
            <a:ext cx="1992762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5540537" y="2248138"/>
            <a:ext cx="1992765" cy="3405352"/>
            <a:chOff x="5146255" y="2219784"/>
            <a:chExt cx="1992762" cy="3405352"/>
          </a:xfrm>
        </p:grpSpPr>
        <p:grpSp>
          <p:nvGrpSpPr>
            <p:cNvPr id="49" name="组合 48"/>
            <p:cNvGrpSpPr/>
            <p:nvPr/>
          </p:nvGrpSpPr>
          <p:grpSpPr>
            <a:xfrm>
              <a:off x="5146255" y="2219784"/>
              <a:ext cx="1992762" cy="3405352"/>
              <a:chOff x="5164783" y="2207172"/>
              <a:chExt cx="1992762" cy="3405352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5164783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5164783" y="5612524"/>
                <a:ext cx="1992762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157545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50" name="直接连接符 49"/>
            <p:cNvCxnSpPr/>
            <p:nvPr/>
          </p:nvCxnSpPr>
          <p:spPr>
            <a:xfrm>
              <a:off x="5146255" y="2219784"/>
              <a:ext cx="19927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4136626" y="3093170"/>
            <a:ext cx="1403915" cy="646386"/>
            <a:chOff x="3728483" y="3499944"/>
            <a:chExt cx="1403915" cy="646386"/>
          </a:xfrm>
        </p:grpSpPr>
        <p:sp>
          <p:nvSpPr>
            <p:cNvPr id="55" name="矩形 54"/>
            <p:cNvSpPr/>
            <p:nvPr/>
          </p:nvSpPr>
          <p:spPr>
            <a:xfrm>
              <a:off x="3728483" y="3499944"/>
              <a:ext cx="875963" cy="4225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top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6" name="直接箭头连接符 55"/>
            <p:cNvCxnSpPr>
              <a:stCxn id="55" idx="3"/>
              <a:endCxn id="45" idx="1"/>
            </p:cNvCxnSpPr>
            <p:nvPr/>
          </p:nvCxnSpPr>
          <p:spPr>
            <a:xfrm>
              <a:off x="4604446" y="3711202"/>
              <a:ext cx="527952" cy="435128"/>
            </a:xfrm>
            <a:prstGeom prst="straightConnector1">
              <a:avLst/>
            </a:prstGeom>
            <a:ln w="254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矩形 56"/>
          <p:cNvSpPr/>
          <p:nvPr/>
        </p:nvSpPr>
        <p:spPr>
          <a:xfrm>
            <a:off x="5522013" y="5877361"/>
            <a:ext cx="1992762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压栈：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push(6)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330452" y="5218362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30452" y="4795846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330452" y="4373330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330452" y="3950814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330452" y="3528298"/>
            <a:ext cx="1992762" cy="422516"/>
          </a:xfrm>
          <a:prstGeom prst="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330452" y="3105782"/>
            <a:ext cx="1992762" cy="422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330452" y="2670654"/>
            <a:ext cx="1992762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9330450" y="2248138"/>
            <a:ext cx="1992759" cy="3392740"/>
            <a:chOff x="5146255" y="2219784"/>
            <a:chExt cx="1992762" cy="3405352"/>
          </a:xfrm>
        </p:grpSpPr>
        <p:grpSp>
          <p:nvGrpSpPr>
            <p:cNvPr id="66" name="组合 65"/>
            <p:cNvGrpSpPr/>
            <p:nvPr/>
          </p:nvGrpSpPr>
          <p:grpSpPr>
            <a:xfrm>
              <a:off x="5146255" y="2219784"/>
              <a:ext cx="1992762" cy="3405352"/>
              <a:chOff x="5164783" y="2207172"/>
              <a:chExt cx="1992762" cy="3405352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5164783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5164783" y="5612524"/>
                <a:ext cx="1992762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7157545" y="2207172"/>
                <a:ext cx="0" cy="340535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7" name="直接连接符 66"/>
            <p:cNvCxnSpPr/>
            <p:nvPr/>
          </p:nvCxnSpPr>
          <p:spPr>
            <a:xfrm>
              <a:off x="5146255" y="2219784"/>
              <a:ext cx="19927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2" name="矩形 71"/>
          <p:cNvSpPr/>
          <p:nvPr/>
        </p:nvSpPr>
        <p:spPr>
          <a:xfrm>
            <a:off x="7894152" y="3528298"/>
            <a:ext cx="875963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top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3" name="直接箭头连接符 72"/>
          <p:cNvCxnSpPr>
            <a:stCxn id="72" idx="3"/>
            <a:endCxn id="62" idx="1"/>
          </p:cNvCxnSpPr>
          <p:nvPr/>
        </p:nvCxnSpPr>
        <p:spPr>
          <a:xfrm>
            <a:off x="8770115" y="3739556"/>
            <a:ext cx="5603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9385005" y="5877361"/>
            <a:ext cx="1882551" cy="42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弹栈：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pop()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圆角矩形标注 74"/>
          <p:cNvSpPr/>
          <p:nvPr/>
        </p:nvSpPr>
        <p:spPr>
          <a:xfrm>
            <a:off x="7772400" y="967979"/>
            <a:ext cx="3532286" cy="977027"/>
          </a:xfrm>
          <a:prstGeom prst="wedgeRoundRectCallout">
            <a:avLst>
              <a:gd name="adj1" fmla="val 16108"/>
              <a:gd name="adj2" fmla="val 77870"/>
              <a:gd name="adj3" fmla="val 16667"/>
            </a:avLst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弹栈后，数据依然保留在栈上，但原则上不能访问。下次压栈后，这个数据将被覆盖。</a:t>
            </a:r>
          </a:p>
        </p:txBody>
      </p:sp>
    </p:spTree>
    <p:extLst>
      <p:ext uri="{BB962C8B-B14F-4D97-AF65-F5344CB8AC3E}">
        <p14:creationId xmlns:p14="http://schemas.microsoft.com/office/powerpoint/2010/main" val="22191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堆栈的表示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使用全局数组和全局变量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C000"/>
                </a:solidFill>
              </a:rPr>
              <a:t>    </a:t>
            </a:r>
            <a:r>
              <a:rPr lang="en-US" altLang="zh-CN" b="1" i="1" dirty="0">
                <a:solidFill>
                  <a:srgbClr val="FF0000"/>
                </a:solidFill>
              </a:rPr>
              <a:t>#define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STACK_SIZE  100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    int contents[STACK_SIZE]; // </a:t>
            </a:r>
            <a:r>
              <a:rPr lang="zh-CN" altLang="en-US" dirty="0"/>
              <a:t>栈的存储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int top = 0; // </a:t>
            </a:r>
            <a:r>
              <a:rPr lang="zh-CN" altLang="en-US" dirty="0"/>
              <a:t>栈顶指针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986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CDD6-B9D2-4BD2-69D9-B4DCB2AD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9AC82-2A1D-1D72-769C-D089CAB2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堆栈的典型操作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B4745-A2DC-A753-B6AD-E3AB7441D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压栈：</a:t>
            </a:r>
            <a:r>
              <a:rPr lang="en-US" altLang="zh-CN" dirty="0"/>
              <a:t>void push(int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弹栈：</a:t>
            </a:r>
            <a:r>
              <a:rPr lang="en-US" altLang="zh-CN" dirty="0"/>
              <a:t>int pop();</a:t>
            </a:r>
          </a:p>
          <a:p>
            <a:r>
              <a:rPr lang="zh-CN" altLang="en-US" dirty="0"/>
              <a:t>判栈满：</a:t>
            </a:r>
            <a:r>
              <a:rPr lang="en-US" altLang="zh-CN" dirty="0"/>
              <a:t>bool </a:t>
            </a:r>
            <a:r>
              <a:rPr lang="en-US" altLang="zh-CN" dirty="0" err="1"/>
              <a:t>is_full</a:t>
            </a:r>
            <a:r>
              <a:rPr lang="en-US" altLang="zh-CN" dirty="0"/>
              <a:t>();</a:t>
            </a:r>
          </a:p>
          <a:p>
            <a:r>
              <a:rPr lang="zh-CN" altLang="en-US" dirty="0"/>
              <a:t>判栈空：</a:t>
            </a:r>
            <a:r>
              <a:rPr lang="en-US" altLang="zh-CN" dirty="0"/>
              <a:t>bool </a:t>
            </a:r>
            <a:r>
              <a:rPr lang="en-US" altLang="zh-CN" dirty="0" err="1"/>
              <a:t>is_empty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52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9400-39FC-2713-6B7A-691450DE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2951A-7E74-1641-8C71-00878CF8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补全栈的编码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CB1F7A6C-7E85-1EF9-704E-C1E3782A569C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stack.c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43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0665B-6C25-C9C1-921B-6045526D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链接属性</a:t>
            </a:r>
            <a:r>
              <a:rPr lang="en-US" altLang="zh-CN" dirty="0"/>
              <a:t>(linkage)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AEDFE7C-0B43-D157-97FC-C487CC6B0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链接属性可以用于修饰全局变量和函数。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10D20D-E23B-E5CC-D231-2A77A7DA4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9620"/>
              </p:ext>
            </p:extLst>
          </p:nvPr>
        </p:nvGraphicFramePr>
        <p:xfrm>
          <a:off x="1242007" y="1822361"/>
          <a:ext cx="9659909" cy="385028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259649">
                  <a:extLst>
                    <a:ext uri="{9D8B030D-6E8A-4147-A177-3AD203B41FA5}">
                      <a16:colId xmlns:a16="http://schemas.microsoft.com/office/drawing/2014/main" val="756592863"/>
                    </a:ext>
                  </a:extLst>
                </a:gridCol>
                <a:gridCol w="3303181">
                  <a:extLst>
                    <a:ext uri="{9D8B030D-6E8A-4147-A177-3AD203B41FA5}">
                      <a16:colId xmlns:a16="http://schemas.microsoft.com/office/drawing/2014/main" val="4221651347"/>
                    </a:ext>
                  </a:extLst>
                </a:gridCol>
                <a:gridCol w="4097079">
                  <a:extLst>
                    <a:ext uri="{9D8B030D-6E8A-4147-A177-3AD203B41FA5}">
                      <a16:colId xmlns:a16="http://schemas.microsoft.com/office/drawing/2014/main" val="3818218584"/>
                    </a:ext>
                  </a:extLst>
                </a:gridCol>
              </a:tblGrid>
              <a:tr h="680733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链接属性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呈现形式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48471"/>
                  </a:ext>
                </a:extLst>
              </a:tr>
              <a:tr h="948540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未设置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none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局部变量（静态态局部变量）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函数形参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只能在定义它的块中使用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33975"/>
                  </a:ext>
                </a:extLst>
              </a:tr>
              <a:tr h="104604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内部的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internal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用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static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修饰的全局变量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用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static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修饰的函数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dirty="0"/>
                        <a:t>只能在本源程序文件中使用</a:t>
                      </a:r>
                      <a:endParaRPr lang="en-US" altLang="zh-CN" dirty="0"/>
                    </a:p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在其他源程序中使用将导致链接错误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13927"/>
                  </a:ext>
                </a:extLst>
              </a:tr>
              <a:tr h="117496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外部的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800" b="1" i="1" dirty="0">
                          <a:effectLst/>
                          <a:latin typeface="Consolas" panose="020B0609020204030204" pitchFamily="49" charset="0"/>
                        </a:rPr>
                        <a:t>external</a:t>
                      </a:r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用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extern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修饰的全局变量</a:t>
                      </a:r>
                      <a:endParaRPr lang="en-US" altLang="zh-CN" sz="18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just"/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用</a:t>
                      </a:r>
                      <a:r>
                        <a:rPr lang="en-US" altLang="zh-CN" sz="1800" b="1" i="1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extern</a:t>
                      </a:r>
                      <a:r>
                        <a:rPr lang="zh-CN" altLang="en-US" sz="1800" dirty="0">
                          <a:effectLst/>
                          <a:latin typeface="Consolas" panose="020B0609020204030204" pitchFamily="49" charset="0"/>
                        </a:rPr>
                        <a:t>修饰的函数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dirty="0"/>
                        <a:t>有被其他源程序使用的可能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31146"/>
                  </a:ext>
                </a:extLst>
              </a:tr>
            </a:tbl>
          </a:graphicData>
        </a:graphic>
      </p:graphicFrame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8458C3-65D5-1A71-BA27-372EAFD9BEF0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extern*.c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0657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701</TotalTime>
  <Words>1126</Words>
  <Application>Microsoft Office PowerPoint</Application>
  <PresentationFormat>宽屏</PresentationFormat>
  <Paragraphs>188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主题​​</vt:lpstr>
      <vt:lpstr>程序结构</vt:lpstr>
      <vt:lpstr>可以在哪里可以声明/定义变量</vt:lpstr>
      <vt:lpstr>变量的作用域(SCOPE)</vt:lpstr>
      <vt:lpstr>变量的作用域(SCOPE)</vt:lpstr>
      <vt:lpstr>变量的存储期(storage duration)</vt:lpstr>
      <vt:lpstr>变量的存储类别(storage class)</vt:lpstr>
      <vt:lpstr>具有自动存储期的变量</vt:lpstr>
      <vt:lpstr>具有静态存储期的变量</vt:lpstr>
      <vt:lpstr>不同作用域中同名变量的掩蔽(mask)</vt:lpstr>
      <vt:lpstr>堆栈Stack</vt:lpstr>
      <vt:lpstr>堆栈的结构</vt:lpstr>
      <vt:lpstr>堆栈的操作</vt:lpstr>
      <vt:lpstr>堆栈的表示</vt:lpstr>
      <vt:lpstr>堆栈的典型操作</vt:lpstr>
      <vt:lpstr>课堂练习</vt:lpstr>
      <vt:lpstr>链接属性(linkage)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578</cp:revision>
  <dcterms:created xsi:type="dcterms:W3CDTF">2021-10-07T04:52:51Z</dcterms:created>
  <dcterms:modified xsi:type="dcterms:W3CDTF">2025-10-20T01:44:39Z</dcterms:modified>
</cp:coreProperties>
</file>