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2" r:id="rId8"/>
    <p:sldId id="261" r:id="rId9"/>
    <p:sldId id="263" r:id="rId10"/>
    <p:sldId id="264" r:id="rId11"/>
    <p:sldId id="265" r:id="rId12"/>
    <p:sldId id="270" r:id="rId13"/>
    <p:sldId id="276" r:id="rId14"/>
    <p:sldId id="272" r:id="rId15"/>
    <p:sldId id="273" r:id="rId16"/>
    <p:sldId id="274" r:id="rId17"/>
    <p:sldId id="275" r:id="rId18"/>
    <p:sldId id="278" r:id="rId19"/>
    <p:sldId id="277" r:id="rId20"/>
    <p:sldId id="271" r:id="rId21"/>
    <p:sldId id="267" r:id="rId22"/>
    <p:sldId id="268" r:id="rId23"/>
    <p:sldId id="269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95" d="100"/>
          <a:sy n="95" d="100"/>
        </p:scale>
        <p:origin x="104" y="1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656905"/>
            <a:ext cx="9144000" cy="853057"/>
          </a:xfrm>
        </p:spPr>
        <p:txBody>
          <a:bodyPr anchor="b">
            <a:normAutofit/>
          </a:bodyPr>
          <a:lstStyle>
            <a:lvl1pPr algn="ctr">
              <a:defRPr sz="4000">
                <a:latin typeface="Consolas" panose="020B0609020204030204" pitchFamily="49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A0CCDFD-2059-C6BC-5E3A-39AD78B84B52}"/>
              </a:ext>
            </a:extLst>
          </p:cNvPr>
          <p:cNvSpPr>
            <a:spLocks/>
          </p:cNvSpPr>
          <p:nvPr/>
        </p:nvSpPr>
        <p:spPr bwMode="auto">
          <a:xfrm>
            <a:off x="0" y="5118351"/>
            <a:ext cx="12191646" cy="1739649"/>
          </a:xfrm>
          <a:custGeom>
            <a:avLst/>
            <a:gdLst>
              <a:gd name="T0" fmla="*/ 1115 w 5702"/>
              <a:gd name="T1" fmla="*/ 0 h 1219"/>
              <a:gd name="T2" fmla="*/ 1277 w 5702"/>
              <a:gd name="T3" fmla="*/ 0 h 1219"/>
              <a:gd name="T4" fmla="*/ 1428 w 5702"/>
              <a:gd name="T5" fmla="*/ 2 h 1219"/>
              <a:gd name="T6" fmla="*/ 1569 w 5702"/>
              <a:gd name="T7" fmla="*/ 2 h 1219"/>
              <a:gd name="T8" fmla="*/ 1698 w 5702"/>
              <a:gd name="T9" fmla="*/ 4 h 1219"/>
              <a:gd name="T10" fmla="*/ 1816 w 5702"/>
              <a:gd name="T11" fmla="*/ 6 h 1219"/>
              <a:gd name="T12" fmla="*/ 1922 w 5702"/>
              <a:gd name="T13" fmla="*/ 7 h 1219"/>
              <a:gd name="T14" fmla="*/ 2018 w 5702"/>
              <a:gd name="T15" fmla="*/ 11 h 1219"/>
              <a:gd name="T16" fmla="*/ 2102 w 5702"/>
              <a:gd name="T17" fmla="*/ 14 h 1219"/>
              <a:gd name="T18" fmla="*/ 2201 w 5702"/>
              <a:gd name="T19" fmla="*/ 20 h 1219"/>
              <a:gd name="T20" fmla="*/ 2293 w 5702"/>
              <a:gd name="T21" fmla="*/ 32 h 1219"/>
              <a:gd name="T22" fmla="*/ 2375 w 5702"/>
              <a:gd name="T23" fmla="*/ 46 h 1219"/>
              <a:gd name="T24" fmla="*/ 2452 w 5702"/>
              <a:gd name="T25" fmla="*/ 63 h 1219"/>
              <a:gd name="T26" fmla="*/ 2518 w 5702"/>
              <a:gd name="T27" fmla="*/ 84 h 1219"/>
              <a:gd name="T28" fmla="*/ 2579 w 5702"/>
              <a:gd name="T29" fmla="*/ 107 h 1219"/>
              <a:gd name="T30" fmla="*/ 2633 w 5702"/>
              <a:gd name="T31" fmla="*/ 131 h 1219"/>
              <a:gd name="T32" fmla="*/ 2680 w 5702"/>
              <a:gd name="T33" fmla="*/ 157 h 1219"/>
              <a:gd name="T34" fmla="*/ 2722 w 5702"/>
              <a:gd name="T35" fmla="*/ 185 h 1219"/>
              <a:gd name="T36" fmla="*/ 2756 w 5702"/>
              <a:gd name="T37" fmla="*/ 213 h 1219"/>
              <a:gd name="T38" fmla="*/ 2788 w 5702"/>
              <a:gd name="T39" fmla="*/ 241 h 1219"/>
              <a:gd name="T40" fmla="*/ 2812 w 5702"/>
              <a:gd name="T41" fmla="*/ 269 h 1219"/>
              <a:gd name="T42" fmla="*/ 2835 w 5702"/>
              <a:gd name="T43" fmla="*/ 295 h 1219"/>
              <a:gd name="T44" fmla="*/ 2852 w 5702"/>
              <a:gd name="T45" fmla="*/ 319 h 1219"/>
              <a:gd name="T46" fmla="*/ 2868 w 5702"/>
              <a:gd name="T47" fmla="*/ 295 h 1219"/>
              <a:gd name="T48" fmla="*/ 2891 w 5702"/>
              <a:gd name="T49" fmla="*/ 269 h 1219"/>
              <a:gd name="T50" fmla="*/ 2915 w 5702"/>
              <a:gd name="T51" fmla="*/ 241 h 1219"/>
              <a:gd name="T52" fmla="*/ 2946 w 5702"/>
              <a:gd name="T53" fmla="*/ 213 h 1219"/>
              <a:gd name="T54" fmla="*/ 2981 w 5702"/>
              <a:gd name="T55" fmla="*/ 185 h 1219"/>
              <a:gd name="T56" fmla="*/ 3023 w 5702"/>
              <a:gd name="T57" fmla="*/ 157 h 1219"/>
              <a:gd name="T58" fmla="*/ 3070 w 5702"/>
              <a:gd name="T59" fmla="*/ 131 h 1219"/>
              <a:gd name="T60" fmla="*/ 3124 w 5702"/>
              <a:gd name="T61" fmla="*/ 107 h 1219"/>
              <a:gd name="T62" fmla="*/ 3185 w 5702"/>
              <a:gd name="T63" fmla="*/ 84 h 1219"/>
              <a:gd name="T64" fmla="*/ 3253 w 5702"/>
              <a:gd name="T65" fmla="*/ 63 h 1219"/>
              <a:gd name="T66" fmla="*/ 3328 w 5702"/>
              <a:gd name="T67" fmla="*/ 46 h 1219"/>
              <a:gd name="T68" fmla="*/ 3409 w 5702"/>
              <a:gd name="T69" fmla="*/ 32 h 1219"/>
              <a:gd name="T70" fmla="*/ 3502 w 5702"/>
              <a:gd name="T71" fmla="*/ 20 h 1219"/>
              <a:gd name="T72" fmla="*/ 3601 w 5702"/>
              <a:gd name="T73" fmla="*/ 14 h 1219"/>
              <a:gd name="T74" fmla="*/ 3684 w 5702"/>
              <a:gd name="T75" fmla="*/ 11 h 1219"/>
              <a:gd name="T76" fmla="*/ 3780 w 5702"/>
              <a:gd name="T77" fmla="*/ 7 h 1219"/>
              <a:gd name="T78" fmla="*/ 3886 w 5702"/>
              <a:gd name="T79" fmla="*/ 6 h 1219"/>
              <a:gd name="T80" fmla="*/ 4005 w 5702"/>
              <a:gd name="T81" fmla="*/ 4 h 1219"/>
              <a:gd name="T82" fmla="*/ 4134 w 5702"/>
              <a:gd name="T83" fmla="*/ 2 h 1219"/>
              <a:gd name="T84" fmla="*/ 4275 w 5702"/>
              <a:gd name="T85" fmla="*/ 2 h 1219"/>
              <a:gd name="T86" fmla="*/ 4426 w 5702"/>
              <a:gd name="T87" fmla="*/ 0 h 1219"/>
              <a:gd name="T88" fmla="*/ 4588 w 5702"/>
              <a:gd name="T89" fmla="*/ 0 h 1219"/>
              <a:gd name="T90" fmla="*/ 4799 w 5702"/>
              <a:gd name="T91" fmla="*/ 0 h 1219"/>
              <a:gd name="T92" fmla="*/ 4999 w 5702"/>
              <a:gd name="T93" fmla="*/ 2 h 1219"/>
              <a:gd name="T94" fmla="*/ 5189 w 5702"/>
              <a:gd name="T95" fmla="*/ 4 h 1219"/>
              <a:gd name="T96" fmla="*/ 5368 w 5702"/>
              <a:gd name="T97" fmla="*/ 6 h 1219"/>
              <a:gd name="T98" fmla="*/ 5541 w 5702"/>
              <a:gd name="T99" fmla="*/ 7 h 1219"/>
              <a:gd name="T100" fmla="*/ 5702 w 5702"/>
              <a:gd name="T101" fmla="*/ 9 h 1219"/>
              <a:gd name="T102" fmla="*/ 5702 w 5702"/>
              <a:gd name="T103" fmla="*/ 1219 h 1219"/>
              <a:gd name="T104" fmla="*/ 0 w 5702"/>
              <a:gd name="T105" fmla="*/ 1219 h 1219"/>
              <a:gd name="T106" fmla="*/ 0 w 5702"/>
              <a:gd name="T107" fmla="*/ 9 h 1219"/>
              <a:gd name="T108" fmla="*/ 164 w 5702"/>
              <a:gd name="T109" fmla="*/ 7 h 1219"/>
              <a:gd name="T110" fmla="*/ 335 w 5702"/>
              <a:gd name="T111" fmla="*/ 6 h 1219"/>
              <a:gd name="T112" fmla="*/ 514 w 5702"/>
              <a:gd name="T113" fmla="*/ 4 h 1219"/>
              <a:gd name="T114" fmla="*/ 704 w 5702"/>
              <a:gd name="T115" fmla="*/ 2 h 1219"/>
              <a:gd name="T116" fmla="*/ 904 w 5702"/>
              <a:gd name="T117" fmla="*/ 0 h 1219"/>
              <a:gd name="T118" fmla="*/ 1115 w 5702"/>
              <a:gd name="T119" fmla="*/ 0 h 1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5702" h="1219">
                <a:moveTo>
                  <a:pt x="1115" y="0"/>
                </a:moveTo>
                <a:lnTo>
                  <a:pt x="1277" y="0"/>
                </a:lnTo>
                <a:lnTo>
                  <a:pt x="1428" y="2"/>
                </a:lnTo>
                <a:lnTo>
                  <a:pt x="1569" y="2"/>
                </a:lnTo>
                <a:lnTo>
                  <a:pt x="1698" y="4"/>
                </a:lnTo>
                <a:lnTo>
                  <a:pt x="1816" y="6"/>
                </a:lnTo>
                <a:lnTo>
                  <a:pt x="1922" y="7"/>
                </a:lnTo>
                <a:lnTo>
                  <a:pt x="2018" y="11"/>
                </a:lnTo>
                <a:lnTo>
                  <a:pt x="2102" y="14"/>
                </a:lnTo>
                <a:lnTo>
                  <a:pt x="2201" y="20"/>
                </a:lnTo>
                <a:lnTo>
                  <a:pt x="2293" y="32"/>
                </a:lnTo>
                <a:lnTo>
                  <a:pt x="2375" y="46"/>
                </a:lnTo>
                <a:lnTo>
                  <a:pt x="2452" y="63"/>
                </a:lnTo>
                <a:lnTo>
                  <a:pt x="2518" y="84"/>
                </a:lnTo>
                <a:lnTo>
                  <a:pt x="2579" y="107"/>
                </a:lnTo>
                <a:lnTo>
                  <a:pt x="2633" y="131"/>
                </a:lnTo>
                <a:lnTo>
                  <a:pt x="2680" y="157"/>
                </a:lnTo>
                <a:lnTo>
                  <a:pt x="2722" y="185"/>
                </a:lnTo>
                <a:lnTo>
                  <a:pt x="2756" y="213"/>
                </a:lnTo>
                <a:lnTo>
                  <a:pt x="2788" y="241"/>
                </a:lnTo>
                <a:lnTo>
                  <a:pt x="2812" y="269"/>
                </a:lnTo>
                <a:lnTo>
                  <a:pt x="2835" y="295"/>
                </a:lnTo>
                <a:lnTo>
                  <a:pt x="2852" y="319"/>
                </a:lnTo>
                <a:lnTo>
                  <a:pt x="2868" y="295"/>
                </a:lnTo>
                <a:lnTo>
                  <a:pt x="2891" y="269"/>
                </a:lnTo>
                <a:lnTo>
                  <a:pt x="2915" y="241"/>
                </a:lnTo>
                <a:lnTo>
                  <a:pt x="2946" y="213"/>
                </a:lnTo>
                <a:lnTo>
                  <a:pt x="2981" y="185"/>
                </a:lnTo>
                <a:lnTo>
                  <a:pt x="3023" y="157"/>
                </a:lnTo>
                <a:lnTo>
                  <a:pt x="3070" y="131"/>
                </a:lnTo>
                <a:lnTo>
                  <a:pt x="3124" y="107"/>
                </a:lnTo>
                <a:lnTo>
                  <a:pt x="3185" y="84"/>
                </a:lnTo>
                <a:lnTo>
                  <a:pt x="3253" y="63"/>
                </a:lnTo>
                <a:lnTo>
                  <a:pt x="3328" y="46"/>
                </a:lnTo>
                <a:lnTo>
                  <a:pt x="3409" y="32"/>
                </a:lnTo>
                <a:lnTo>
                  <a:pt x="3502" y="20"/>
                </a:lnTo>
                <a:lnTo>
                  <a:pt x="3601" y="14"/>
                </a:lnTo>
                <a:lnTo>
                  <a:pt x="3684" y="11"/>
                </a:lnTo>
                <a:lnTo>
                  <a:pt x="3780" y="7"/>
                </a:lnTo>
                <a:lnTo>
                  <a:pt x="3886" y="6"/>
                </a:lnTo>
                <a:lnTo>
                  <a:pt x="4005" y="4"/>
                </a:lnTo>
                <a:lnTo>
                  <a:pt x="4134" y="2"/>
                </a:lnTo>
                <a:lnTo>
                  <a:pt x="4275" y="2"/>
                </a:lnTo>
                <a:lnTo>
                  <a:pt x="4426" y="0"/>
                </a:lnTo>
                <a:lnTo>
                  <a:pt x="4588" y="0"/>
                </a:lnTo>
                <a:lnTo>
                  <a:pt x="4799" y="0"/>
                </a:lnTo>
                <a:lnTo>
                  <a:pt x="4999" y="2"/>
                </a:lnTo>
                <a:lnTo>
                  <a:pt x="5189" y="4"/>
                </a:lnTo>
                <a:lnTo>
                  <a:pt x="5368" y="6"/>
                </a:lnTo>
                <a:lnTo>
                  <a:pt x="5541" y="7"/>
                </a:lnTo>
                <a:lnTo>
                  <a:pt x="5702" y="9"/>
                </a:lnTo>
                <a:lnTo>
                  <a:pt x="5702" y="1219"/>
                </a:lnTo>
                <a:lnTo>
                  <a:pt x="0" y="1219"/>
                </a:lnTo>
                <a:lnTo>
                  <a:pt x="0" y="9"/>
                </a:lnTo>
                <a:lnTo>
                  <a:pt x="164" y="7"/>
                </a:lnTo>
                <a:lnTo>
                  <a:pt x="335" y="6"/>
                </a:lnTo>
                <a:lnTo>
                  <a:pt x="514" y="4"/>
                </a:lnTo>
                <a:lnTo>
                  <a:pt x="704" y="2"/>
                </a:lnTo>
                <a:lnTo>
                  <a:pt x="904" y="0"/>
                </a:lnTo>
                <a:lnTo>
                  <a:pt x="1115" y="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8580" tIns="64290" rIns="128580" bIns="6429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0D9D09DF-80F9-DFA3-51E5-2FF8AF1549DE}"/>
              </a:ext>
            </a:extLst>
          </p:cNvPr>
          <p:cNvSpPr>
            <a:spLocks/>
          </p:cNvSpPr>
          <p:nvPr/>
        </p:nvSpPr>
        <p:spPr bwMode="auto">
          <a:xfrm>
            <a:off x="354" y="4848934"/>
            <a:ext cx="12191646" cy="562283"/>
          </a:xfrm>
          <a:custGeom>
            <a:avLst/>
            <a:gdLst>
              <a:gd name="T0" fmla="*/ 1184 w 5702"/>
              <a:gd name="T1" fmla="*/ 0 h 394"/>
              <a:gd name="T2" fmla="*/ 1492 w 5702"/>
              <a:gd name="T3" fmla="*/ 2 h 394"/>
              <a:gd name="T4" fmla="*/ 1754 w 5702"/>
              <a:gd name="T5" fmla="*/ 5 h 394"/>
              <a:gd name="T6" fmla="*/ 1968 w 5702"/>
              <a:gd name="T7" fmla="*/ 11 h 394"/>
              <a:gd name="T8" fmla="*/ 2156 w 5702"/>
              <a:gd name="T9" fmla="*/ 19 h 394"/>
              <a:gd name="T10" fmla="*/ 2333 w 5702"/>
              <a:gd name="T11" fmla="*/ 42 h 394"/>
              <a:gd name="T12" fmla="*/ 2480 w 5702"/>
              <a:gd name="T13" fmla="*/ 78 h 394"/>
              <a:gd name="T14" fmla="*/ 2598 w 5702"/>
              <a:gd name="T15" fmla="*/ 122 h 394"/>
              <a:gd name="T16" fmla="*/ 2690 w 5702"/>
              <a:gd name="T17" fmla="*/ 172 h 394"/>
              <a:gd name="T18" fmla="*/ 2763 w 5702"/>
              <a:gd name="T19" fmla="*/ 225 h 394"/>
              <a:gd name="T20" fmla="*/ 2816 w 5702"/>
              <a:gd name="T21" fmla="*/ 277 h 394"/>
              <a:gd name="T22" fmla="*/ 2852 w 5702"/>
              <a:gd name="T23" fmla="*/ 326 h 394"/>
              <a:gd name="T24" fmla="*/ 2887 w 5702"/>
              <a:gd name="T25" fmla="*/ 277 h 394"/>
              <a:gd name="T26" fmla="*/ 2939 w 5702"/>
              <a:gd name="T27" fmla="*/ 225 h 394"/>
              <a:gd name="T28" fmla="*/ 3012 w 5702"/>
              <a:gd name="T29" fmla="*/ 172 h 394"/>
              <a:gd name="T30" fmla="*/ 3105 w 5702"/>
              <a:gd name="T31" fmla="*/ 122 h 394"/>
              <a:gd name="T32" fmla="*/ 3223 w 5702"/>
              <a:gd name="T33" fmla="*/ 78 h 394"/>
              <a:gd name="T34" fmla="*/ 3369 w 5702"/>
              <a:gd name="T35" fmla="*/ 42 h 394"/>
              <a:gd name="T36" fmla="*/ 3547 w 5702"/>
              <a:gd name="T37" fmla="*/ 19 h 394"/>
              <a:gd name="T38" fmla="*/ 3735 w 5702"/>
              <a:gd name="T39" fmla="*/ 11 h 394"/>
              <a:gd name="T40" fmla="*/ 3949 w 5702"/>
              <a:gd name="T41" fmla="*/ 5 h 394"/>
              <a:gd name="T42" fmla="*/ 4210 w 5702"/>
              <a:gd name="T43" fmla="*/ 2 h 394"/>
              <a:gd name="T44" fmla="*/ 4519 w 5702"/>
              <a:gd name="T45" fmla="*/ 0 h 394"/>
              <a:gd name="T46" fmla="*/ 4907 w 5702"/>
              <a:gd name="T47" fmla="*/ 0 h 394"/>
              <a:gd name="T48" fmla="*/ 5318 w 5702"/>
              <a:gd name="T49" fmla="*/ 2 h 394"/>
              <a:gd name="T50" fmla="*/ 5702 w 5702"/>
              <a:gd name="T51" fmla="*/ 5 h 394"/>
              <a:gd name="T52" fmla="*/ 5513 w 5702"/>
              <a:gd name="T53" fmla="*/ 72 h 394"/>
              <a:gd name="T54" fmla="*/ 5116 w 5702"/>
              <a:gd name="T55" fmla="*/ 70 h 394"/>
              <a:gd name="T56" fmla="*/ 4689 w 5702"/>
              <a:gd name="T57" fmla="*/ 68 h 394"/>
              <a:gd name="T58" fmla="*/ 4358 w 5702"/>
              <a:gd name="T59" fmla="*/ 70 h 394"/>
              <a:gd name="T60" fmla="*/ 4073 w 5702"/>
              <a:gd name="T61" fmla="*/ 72 h 394"/>
              <a:gd name="T62" fmla="*/ 3836 w 5702"/>
              <a:gd name="T63" fmla="*/ 75 h 394"/>
              <a:gd name="T64" fmla="*/ 3648 w 5702"/>
              <a:gd name="T65" fmla="*/ 80 h 394"/>
              <a:gd name="T66" fmla="*/ 3455 w 5702"/>
              <a:gd name="T67" fmla="*/ 98 h 394"/>
              <a:gd name="T68" fmla="*/ 3293 w 5702"/>
              <a:gd name="T69" fmla="*/ 127 h 394"/>
              <a:gd name="T70" fmla="*/ 3162 w 5702"/>
              <a:gd name="T71" fmla="*/ 167 h 394"/>
              <a:gd name="T72" fmla="*/ 3056 w 5702"/>
              <a:gd name="T73" fmla="*/ 214 h 394"/>
              <a:gd name="T74" fmla="*/ 2974 w 5702"/>
              <a:gd name="T75" fmla="*/ 266 h 394"/>
              <a:gd name="T76" fmla="*/ 2911 w 5702"/>
              <a:gd name="T77" fmla="*/ 320 h 394"/>
              <a:gd name="T78" fmla="*/ 2868 w 5702"/>
              <a:gd name="T79" fmla="*/ 371 h 394"/>
              <a:gd name="T80" fmla="*/ 2835 w 5702"/>
              <a:gd name="T81" fmla="*/ 371 h 394"/>
              <a:gd name="T82" fmla="*/ 2791 w 5702"/>
              <a:gd name="T83" fmla="*/ 320 h 394"/>
              <a:gd name="T84" fmla="*/ 2730 w 5702"/>
              <a:gd name="T85" fmla="*/ 266 h 394"/>
              <a:gd name="T86" fmla="*/ 2647 w 5702"/>
              <a:gd name="T87" fmla="*/ 214 h 394"/>
              <a:gd name="T88" fmla="*/ 2542 w 5702"/>
              <a:gd name="T89" fmla="*/ 167 h 394"/>
              <a:gd name="T90" fmla="*/ 2410 w 5702"/>
              <a:gd name="T91" fmla="*/ 127 h 394"/>
              <a:gd name="T92" fmla="*/ 2248 w 5702"/>
              <a:gd name="T93" fmla="*/ 98 h 394"/>
              <a:gd name="T94" fmla="*/ 2055 w 5702"/>
              <a:gd name="T95" fmla="*/ 80 h 394"/>
              <a:gd name="T96" fmla="*/ 1867 w 5702"/>
              <a:gd name="T97" fmla="*/ 75 h 394"/>
              <a:gd name="T98" fmla="*/ 1630 w 5702"/>
              <a:gd name="T99" fmla="*/ 72 h 394"/>
              <a:gd name="T100" fmla="*/ 1344 w 5702"/>
              <a:gd name="T101" fmla="*/ 70 h 394"/>
              <a:gd name="T102" fmla="*/ 1014 w 5702"/>
              <a:gd name="T103" fmla="*/ 68 h 394"/>
              <a:gd name="T104" fmla="*/ 587 w 5702"/>
              <a:gd name="T105" fmla="*/ 70 h 394"/>
              <a:gd name="T106" fmla="*/ 190 w 5702"/>
              <a:gd name="T107" fmla="*/ 72 h 394"/>
              <a:gd name="T108" fmla="*/ 0 w 5702"/>
              <a:gd name="T109" fmla="*/ 5 h 394"/>
              <a:gd name="T110" fmla="*/ 385 w 5702"/>
              <a:gd name="T111" fmla="*/ 2 h 394"/>
              <a:gd name="T112" fmla="*/ 796 w 5702"/>
              <a:gd name="T113" fmla="*/ 0 h 3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5702" h="394">
                <a:moveTo>
                  <a:pt x="1014" y="0"/>
                </a:moveTo>
                <a:lnTo>
                  <a:pt x="1184" y="0"/>
                </a:lnTo>
                <a:lnTo>
                  <a:pt x="1344" y="0"/>
                </a:lnTo>
                <a:lnTo>
                  <a:pt x="1492" y="2"/>
                </a:lnTo>
                <a:lnTo>
                  <a:pt x="1630" y="4"/>
                </a:lnTo>
                <a:lnTo>
                  <a:pt x="1754" y="5"/>
                </a:lnTo>
                <a:lnTo>
                  <a:pt x="1867" y="7"/>
                </a:lnTo>
                <a:lnTo>
                  <a:pt x="1968" y="11"/>
                </a:lnTo>
                <a:lnTo>
                  <a:pt x="2055" y="12"/>
                </a:lnTo>
                <a:lnTo>
                  <a:pt x="2156" y="19"/>
                </a:lnTo>
                <a:lnTo>
                  <a:pt x="2248" y="30"/>
                </a:lnTo>
                <a:lnTo>
                  <a:pt x="2333" y="42"/>
                </a:lnTo>
                <a:lnTo>
                  <a:pt x="2410" y="59"/>
                </a:lnTo>
                <a:lnTo>
                  <a:pt x="2480" y="78"/>
                </a:lnTo>
                <a:lnTo>
                  <a:pt x="2542" y="99"/>
                </a:lnTo>
                <a:lnTo>
                  <a:pt x="2598" y="122"/>
                </a:lnTo>
                <a:lnTo>
                  <a:pt x="2647" y="146"/>
                </a:lnTo>
                <a:lnTo>
                  <a:pt x="2690" y="172"/>
                </a:lnTo>
                <a:lnTo>
                  <a:pt x="2730" y="199"/>
                </a:lnTo>
                <a:lnTo>
                  <a:pt x="2763" y="225"/>
                </a:lnTo>
                <a:lnTo>
                  <a:pt x="2791" y="253"/>
                </a:lnTo>
                <a:lnTo>
                  <a:pt x="2816" y="277"/>
                </a:lnTo>
                <a:lnTo>
                  <a:pt x="2835" y="303"/>
                </a:lnTo>
                <a:lnTo>
                  <a:pt x="2852" y="326"/>
                </a:lnTo>
                <a:lnTo>
                  <a:pt x="2868" y="303"/>
                </a:lnTo>
                <a:lnTo>
                  <a:pt x="2887" y="277"/>
                </a:lnTo>
                <a:lnTo>
                  <a:pt x="2911" y="253"/>
                </a:lnTo>
                <a:lnTo>
                  <a:pt x="2939" y="225"/>
                </a:lnTo>
                <a:lnTo>
                  <a:pt x="2974" y="199"/>
                </a:lnTo>
                <a:lnTo>
                  <a:pt x="3012" y="172"/>
                </a:lnTo>
                <a:lnTo>
                  <a:pt x="3056" y="146"/>
                </a:lnTo>
                <a:lnTo>
                  <a:pt x="3105" y="122"/>
                </a:lnTo>
                <a:lnTo>
                  <a:pt x="3162" y="99"/>
                </a:lnTo>
                <a:lnTo>
                  <a:pt x="3223" y="78"/>
                </a:lnTo>
                <a:lnTo>
                  <a:pt x="3293" y="59"/>
                </a:lnTo>
                <a:lnTo>
                  <a:pt x="3369" y="42"/>
                </a:lnTo>
                <a:lnTo>
                  <a:pt x="3455" y="30"/>
                </a:lnTo>
                <a:lnTo>
                  <a:pt x="3547" y="19"/>
                </a:lnTo>
                <a:lnTo>
                  <a:pt x="3648" y="12"/>
                </a:lnTo>
                <a:lnTo>
                  <a:pt x="3735" y="11"/>
                </a:lnTo>
                <a:lnTo>
                  <a:pt x="3836" y="7"/>
                </a:lnTo>
                <a:lnTo>
                  <a:pt x="3949" y="5"/>
                </a:lnTo>
                <a:lnTo>
                  <a:pt x="4073" y="4"/>
                </a:lnTo>
                <a:lnTo>
                  <a:pt x="4210" y="2"/>
                </a:lnTo>
                <a:lnTo>
                  <a:pt x="4358" y="0"/>
                </a:lnTo>
                <a:lnTo>
                  <a:pt x="4519" y="0"/>
                </a:lnTo>
                <a:lnTo>
                  <a:pt x="4689" y="0"/>
                </a:lnTo>
                <a:lnTo>
                  <a:pt x="4907" y="0"/>
                </a:lnTo>
                <a:lnTo>
                  <a:pt x="5116" y="2"/>
                </a:lnTo>
                <a:lnTo>
                  <a:pt x="5318" y="2"/>
                </a:lnTo>
                <a:lnTo>
                  <a:pt x="5513" y="4"/>
                </a:lnTo>
                <a:lnTo>
                  <a:pt x="5702" y="5"/>
                </a:lnTo>
                <a:lnTo>
                  <a:pt x="5702" y="73"/>
                </a:lnTo>
                <a:lnTo>
                  <a:pt x="5513" y="72"/>
                </a:lnTo>
                <a:lnTo>
                  <a:pt x="5318" y="70"/>
                </a:lnTo>
                <a:lnTo>
                  <a:pt x="5116" y="70"/>
                </a:lnTo>
                <a:lnTo>
                  <a:pt x="4907" y="68"/>
                </a:lnTo>
                <a:lnTo>
                  <a:pt x="4689" y="68"/>
                </a:lnTo>
                <a:lnTo>
                  <a:pt x="4519" y="68"/>
                </a:lnTo>
                <a:lnTo>
                  <a:pt x="4358" y="70"/>
                </a:lnTo>
                <a:lnTo>
                  <a:pt x="4210" y="70"/>
                </a:lnTo>
                <a:lnTo>
                  <a:pt x="4073" y="72"/>
                </a:lnTo>
                <a:lnTo>
                  <a:pt x="3949" y="73"/>
                </a:lnTo>
                <a:lnTo>
                  <a:pt x="3836" y="75"/>
                </a:lnTo>
                <a:lnTo>
                  <a:pt x="3735" y="78"/>
                </a:lnTo>
                <a:lnTo>
                  <a:pt x="3648" y="80"/>
                </a:lnTo>
                <a:lnTo>
                  <a:pt x="3547" y="87"/>
                </a:lnTo>
                <a:lnTo>
                  <a:pt x="3455" y="98"/>
                </a:lnTo>
                <a:lnTo>
                  <a:pt x="3369" y="110"/>
                </a:lnTo>
                <a:lnTo>
                  <a:pt x="3293" y="127"/>
                </a:lnTo>
                <a:lnTo>
                  <a:pt x="3223" y="146"/>
                </a:lnTo>
                <a:lnTo>
                  <a:pt x="3162" y="167"/>
                </a:lnTo>
                <a:lnTo>
                  <a:pt x="3105" y="190"/>
                </a:lnTo>
                <a:lnTo>
                  <a:pt x="3056" y="214"/>
                </a:lnTo>
                <a:lnTo>
                  <a:pt x="3012" y="240"/>
                </a:lnTo>
                <a:lnTo>
                  <a:pt x="2974" y="266"/>
                </a:lnTo>
                <a:lnTo>
                  <a:pt x="2939" y="293"/>
                </a:lnTo>
                <a:lnTo>
                  <a:pt x="2911" y="320"/>
                </a:lnTo>
                <a:lnTo>
                  <a:pt x="2887" y="345"/>
                </a:lnTo>
                <a:lnTo>
                  <a:pt x="2868" y="371"/>
                </a:lnTo>
                <a:lnTo>
                  <a:pt x="2852" y="394"/>
                </a:lnTo>
                <a:lnTo>
                  <a:pt x="2835" y="371"/>
                </a:lnTo>
                <a:lnTo>
                  <a:pt x="2816" y="345"/>
                </a:lnTo>
                <a:lnTo>
                  <a:pt x="2791" y="320"/>
                </a:lnTo>
                <a:lnTo>
                  <a:pt x="2763" y="293"/>
                </a:lnTo>
                <a:lnTo>
                  <a:pt x="2730" y="266"/>
                </a:lnTo>
                <a:lnTo>
                  <a:pt x="2690" y="240"/>
                </a:lnTo>
                <a:lnTo>
                  <a:pt x="2647" y="214"/>
                </a:lnTo>
                <a:lnTo>
                  <a:pt x="2598" y="190"/>
                </a:lnTo>
                <a:lnTo>
                  <a:pt x="2542" y="167"/>
                </a:lnTo>
                <a:lnTo>
                  <a:pt x="2480" y="146"/>
                </a:lnTo>
                <a:lnTo>
                  <a:pt x="2410" y="127"/>
                </a:lnTo>
                <a:lnTo>
                  <a:pt x="2333" y="110"/>
                </a:lnTo>
                <a:lnTo>
                  <a:pt x="2248" y="98"/>
                </a:lnTo>
                <a:lnTo>
                  <a:pt x="2156" y="87"/>
                </a:lnTo>
                <a:lnTo>
                  <a:pt x="2055" y="80"/>
                </a:lnTo>
                <a:lnTo>
                  <a:pt x="1968" y="78"/>
                </a:lnTo>
                <a:lnTo>
                  <a:pt x="1867" y="75"/>
                </a:lnTo>
                <a:lnTo>
                  <a:pt x="1754" y="73"/>
                </a:lnTo>
                <a:lnTo>
                  <a:pt x="1630" y="72"/>
                </a:lnTo>
                <a:lnTo>
                  <a:pt x="1492" y="70"/>
                </a:lnTo>
                <a:lnTo>
                  <a:pt x="1344" y="70"/>
                </a:lnTo>
                <a:lnTo>
                  <a:pt x="1184" y="68"/>
                </a:lnTo>
                <a:lnTo>
                  <a:pt x="1014" y="68"/>
                </a:lnTo>
                <a:lnTo>
                  <a:pt x="796" y="68"/>
                </a:lnTo>
                <a:lnTo>
                  <a:pt x="587" y="70"/>
                </a:lnTo>
                <a:lnTo>
                  <a:pt x="385" y="70"/>
                </a:lnTo>
                <a:lnTo>
                  <a:pt x="190" y="72"/>
                </a:lnTo>
                <a:lnTo>
                  <a:pt x="0" y="73"/>
                </a:lnTo>
                <a:lnTo>
                  <a:pt x="0" y="5"/>
                </a:lnTo>
                <a:lnTo>
                  <a:pt x="190" y="4"/>
                </a:lnTo>
                <a:lnTo>
                  <a:pt x="385" y="2"/>
                </a:lnTo>
                <a:lnTo>
                  <a:pt x="587" y="2"/>
                </a:lnTo>
                <a:lnTo>
                  <a:pt x="796" y="0"/>
                </a:lnTo>
                <a:lnTo>
                  <a:pt x="1014" y="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8580" tIns="64290" rIns="128580" bIns="6429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9B1F170-16AF-8D59-170E-2153292265BD}"/>
              </a:ext>
            </a:extLst>
          </p:cNvPr>
          <p:cNvSpPr txBox="1"/>
          <p:nvPr/>
        </p:nvSpPr>
        <p:spPr>
          <a:xfrm>
            <a:off x="3652057" y="1962928"/>
            <a:ext cx="488753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程序设计与算法基础</a:t>
            </a:r>
            <a:r>
              <a:rPr lang="en-US" altLang="zh-CN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</a:p>
          <a:p>
            <a:pPr algn="ctr"/>
            <a:r>
              <a:rPr lang="en-US" altLang="zh-CN" sz="1400" dirty="0">
                <a:solidFill>
                  <a:schemeClr val="tx2">
                    <a:lumMod val="40000"/>
                    <a:lumOff val="6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Program Design and Algorithm Foundation I </a:t>
            </a:r>
            <a:endParaRPr lang="zh-CN" altLang="en-US" sz="1400" dirty="0">
              <a:solidFill>
                <a:schemeClr val="tx2">
                  <a:lumMod val="40000"/>
                  <a:lumOff val="60000"/>
                </a:schemeClr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8CA8D9C-32EB-3014-D62F-3C03BB79A3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890"/>
          <a:stretch/>
        </p:blipFill>
        <p:spPr>
          <a:xfrm>
            <a:off x="4765821" y="5915755"/>
            <a:ext cx="2660357" cy="574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215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6067"/>
            <a:ext cx="10515600" cy="584011"/>
          </a:xfrm>
        </p:spPr>
        <p:txBody>
          <a:bodyPr>
            <a:noAutofit/>
          </a:bodyPr>
          <a:lstStyle>
            <a:lvl1pPr>
              <a:defRPr sz="2600" b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任意多边形 30">
            <a:extLst>
              <a:ext uri="{FF2B5EF4-FFF2-40B4-BE49-F238E27FC236}">
                <a16:creationId xmlns:a16="http://schemas.microsoft.com/office/drawing/2014/main" id="{DC4B3930-AA2C-E8E3-BE93-B0D7AF04ED2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838200" y="727662"/>
            <a:ext cx="11353799" cy="65813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2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任意多边形 31">
            <a:extLst>
              <a:ext uri="{FF2B5EF4-FFF2-40B4-BE49-F238E27FC236}">
                <a16:creationId xmlns:a16="http://schemas.microsoft.com/office/drawing/2014/main" id="{D803BA4B-44B8-3309-5E85-4ED322CD955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206067"/>
            <a:ext cx="788203" cy="584012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2" dirty="0">
              <a:solidFill>
                <a:srgbClr val="7EC234"/>
              </a:solidFill>
              <a:latin typeface="Consolas" panose="020B0609020204030204" pitchFamily="49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CACEB85-3639-447B-5B78-3501BA0AC703}"/>
              </a:ext>
            </a:extLst>
          </p:cNvPr>
          <p:cNvSpPr/>
          <p:nvPr/>
        </p:nvSpPr>
        <p:spPr>
          <a:xfrm>
            <a:off x="1" y="6475232"/>
            <a:ext cx="12191999" cy="385982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52660"/>
            <a:ext cx="10515600" cy="4963387"/>
          </a:xfrm>
        </p:spPr>
        <p:txBody>
          <a:bodyPr>
            <a:normAutofit/>
          </a:bodyPr>
          <a:lstStyle>
            <a:lvl1pPr algn="just">
              <a:lnSpc>
                <a:spcPct val="100000"/>
              </a:lnSpc>
              <a:defRPr sz="2400">
                <a:latin typeface="Consolas" panose="020B0609020204030204" pitchFamily="49" charset="0"/>
                <a:ea typeface="微软雅黑" panose="020B0503020204020204" pitchFamily="34" charset="-122"/>
              </a:defRPr>
            </a:lvl1pPr>
            <a:lvl2pPr algn="just">
              <a:lnSpc>
                <a:spcPct val="100000"/>
              </a:lnSpc>
              <a:defRPr sz="2000">
                <a:latin typeface="Consolas" panose="020B0609020204030204" pitchFamily="49" charset="0"/>
                <a:ea typeface="微软雅黑" panose="020B0503020204020204" pitchFamily="34" charset="-122"/>
              </a:defRPr>
            </a:lvl2pPr>
            <a:lvl3pPr algn="just">
              <a:lnSpc>
                <a:spcPct val="100000"/>
              </a:lnSpc>
              <a:defRPr sz="1800">
                <a:latin typeface="Consolas" panose="020B0609020204030204" pitchFamily="49" charset="0"/>
                <a:ea typeface="微软雅黑" panose="020B0503020204020204" pitchFamily="34" charset="-122"/>
              </a:defRPr>
            </a:lvl3pPr>
            <a:lvl4pPr algn="just">
              <a:lnSpc>
                <a:spcPct val="100000"/>
              </a:lnSpc>
              <a:defRPr sz="1600">
                <a:latin typeface="Consolas" panose="020B0609020204030204" pitchFamily="49" charset="0"/>
                <a:ea typeface="微软雅黑" panose="020B0503020204020204" pitchFamily="34" charset="-122"/>
              </a:defRPr>
            </a:lvl4pPr>
            <a:lvl5pPr algn="just">
              <a:lnSpc>
                <a:spcPct val="100000"/>
              </a:lnSpc>
              <a:defRPr sz="1600">
                <a:latin typeface="Consolas" panose="020B0609020204030204" pitchFamily="49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6F01DA7-B315-B10C-3A98-5EA3E4098B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5890"/>
          <a:stretch/>
        </p:blipFill>
        <p:spPr>
          <a:xfrm>
            <a:off x="10683027" y="6537418"/>
            <a:ext cx="1220069" cy="26340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4D821215-750A-B963-D73E-5161CDB9DD50}"/>
              </a:ext>
            </a:extLst>
          </p:cNvPr>
          <p:cNvSpPr txBox="1"/>
          <p:nvPr/>
        </p:nvSpPr>
        <p:spPr>
          <a:xfrm>
            <a:off x="160116" y="6537418"/>
            <a:ext cx="39538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0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程序设计与算法基础</a:t>
            </a:r>
            <a:r>
              <a:rPr lang="en-US" altLang="zh-CN" sz="10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  <a:endParaRPr lang="zh-CN" altLang="en-US" sz="105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67959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648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640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289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280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757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962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7298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431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0175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06067"/>
            <a:ext cx="10515600" cy="521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159100"/>
            <a:ext cx="10515600" cy="51901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813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>
          <a:solidFill>
            <a:schemeClr val="tx2">
              <a:lumMod val="75000"/>
            </a:schemeClr>
          </a:solidFill>
          <a:latin typeface="Consolas" panose="020B0609020204030204" pitchFamily="49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字符串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白忠建</a:t>
            </a:r>
          </a:p>
        </p:txBody>
      </p:sp>
    </p:spTree>
    <p:extLst>
      <p:ext uri="{BB962C8B-B14F-4D97-AF65-F5344CB8AC3E}">
        <p14:creationId xmlns:p14="http://schemas.microsoft.com/office/powerpoint/2010/main" val="3524547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字符串字面常量</a:t>
            </a:r>
            <a:r>
              <a:rPr lang="en-US" altLang="zh-CN" dirty="0"/>
              <a:t>(String literal)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900" dirty="0">
                <a:solidFill>
                  <a:schemeClr val="tx1">
                    <a:lumMod val="85000"/>
                  </a:schemeClr>
                </a:solidFill>
              </a:rPr>
              <a:t>// </a:t>
            </a:r>
            <a:r>
              <a:rPr lang="zh-CN" altLang="en-US" sz="1900" dirty="0">
                <a:solidFill>
                  <a:schemeClr val="tx1">
                    <a:lumMod val="85000"/>
                  </a:schemeClr>
                </a:solidFill>
              </a:rPr>
              <a:t>常规字符串字面常量</a:t>
            </a:r>
            <a:endParaRPr lang="en-US" altLang="zh-CN" sz="1900" dirty="0">
              <a:solidFill>
                <a:schemeClr val="tx1">
                  <a:lumMod val="85000"/>
                </a:schemeClr>
              </a:solidFill>
            </a:endParaRPr>
          </a:p>
          <a:p>
            <a:pPr marL="0" indent="0">
              <a:buNone/>
            </a:pPr>
            <a:r>
              <a:rPr lang="en-US" altLang="zh-CN" dirty="0" err="1"/>
              <a:t>printf</a:t>
            </a:r>
            <a:r>
              <a:rPr lang="en-US" altLang="zh-CN" dirty="0"/>
              <a:t>(</a:t>
            </a:r>
            <a:r>
              <a:rPr lang="en-US" altLang="zh-CN" b="1" dirty="0">
                <a:solidFill>
                  <a:srgbClr val="FF0000"/>
                </a:solidFill>
              </a:rPr>
              <a:t>"To be or not to be, it's a question."</a:t>
            </a:r>
            <a:r>
              <a:rPr lang="en-US" altLang="zh-CN" dirty="0"/>
              <a:t>);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sz="1900" dirty="0">
                <a:solidFill>
                  <a:schemeClr val="tx1">
                    <a:lumMod val="85000"/>
                  </a:schemeClr>
                </a:solidFill>
              </a:rPr>
              <a:t>// </a:t>
            </a:r>
            <a:r>
              <a:rPr lang="zh-CN" altLang="en-US" sz="1900" dirty="0">
                <a:solidFill>
                  <a:schemeClr val="tx1">
                    <a:lumMod val="85000"/>
                  </a:schemeClr>
                </a:solidFill>
              </a:rPr>
              <a:t>在行尾使用</a:t>
            </a:r>
            <a:r>
              <a:rPr lang="en-US" altLang="zh-CN" sz="1900" dirty="0">
                <a:solidFill>
                  <a:schemeClr val="tx1">
                    <a:lumMod val="85000"/>
                  </a:schemeClr>
                </a:solidFill>
              </a:rPr>
              <a:t>\</a:t>
            </a:r>
            <a:r>
              <a:rPr lang="zh-CN" altLang="en-US" sz="1900" dirty="0">
                <a:solidFill>
                  <a:schemeClr val="tx1">
                    <a:lumMod val="85000"/>
                  </a:schemeClr>
                </a:solidFill>
              </a:rPr>
              <a:t>符号来续行</a:t>
            </a:r>
            <a:endParaRPr lang="en-US" altLang="zh-CN" sz="1900" dirty="0">
              <a:solidFill>
                <a:schemeClr val="tx1">
                  <a:lumMod val="85000"/>
                </a:schemeClr>
              </a:solidFill>
            </a:endParaRPr>
          </a:p>
          <a:p>
            <a:pPr marL="0" indent="0">
              <a:buNone/>
            </a:pPr>
            <a:r>
              <a:rPr lang="en-US" altLang="zh-CN" dirty="0" err="1"/>
              <a:t>printf</a:t>
            </a:r>
            <a:r>
              <a:rPr lang="en-US" altLang="zh-CN" dirty="0"/>
              <a:t>(</a:t>
            </a:r>
            <a:r>
              <a:rPr lang="en-US" altLang="zh-CN" b="1" dirty="0">
                <a:solidFill>
                  <a:srgbClr val="FF0000"/>
                </a:solidFill>
              </a:rPr>
              <a:t>"To be or not to be, \</a:t>
            </a:r>
          </a:p>
          <a:p>
            <a:pPr marL="0" indent="0"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it's a question."</a:t>
            </a:r>
            <a:r>
              <a:rPr lang="en-US" altLang="zh-CN" dirty="0"/>
              <a:t>);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sz="1900" dirty="0">
                <a:solidFill>
                  <a:schemeClr val="tx1">
                    <a:lumMod val="85000"/>
                  </a:schemeClr>
                </a:solidFill>
              </a:rPr>
              <a:t>// </a:t>
            </a:r>
            <a:r>
              <a:rPr lang="zh-CN" altLang="en-US" sz="1900" dirty="0">
                <a:solidFill>
                  <a:schemeClr val="tx1">
                    <a:lumMod val="85000"/>
                  </a:schemeClr>
                </a:solidFill>
              </a:rPr>
              <a:t>两个中间除了空白没有其他符号的字符串常量，可以被编译器拼接成一个</a:t>
            </a:r>
            <a:endParaRPr lang="en-US" altLang="zh-CN" sz="1900" dirty="0">
              <a:solidFill>
                <a:schemeClr val="tx1">
                  <a:lumMod val="85000"/>
                </a:schemeClr>
              </a:solidFill>
            </a:endParaRPr>
          </a:p>
          <a:p>
            <a:pPr marL="0" indent="0">
              <a:buNone/>
            </a:pPr>
            <a:r>
              <a:rPr lang="en-US" altLang="zh-CN" dirty="0" err="1"/>
              <a:t>printf</a:t>
            </a:r>
            <a:r>
              <a:rPr lang="en-US" altLang="zh-CN" dirty="0"/>
              <a:t>(</a:t>
            </a:r>
            <a:r>
              <a:rPr lang="en-US" altLang="zh-CN" b="1" dirty="0">
                <a:solidFill>
                  <a:srgbClr val="FF0000"/>
                </a:solidFill>
              </a:rPr>
              <a:t>"To be or not to be, " "it's a question."</a:t>
            </a:r>
            <a:r>
              <a:rPr lang="en-US" altLang="zh-CN" dirty="0"/>
              <a:t>);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54799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r>
              <a:rPr lang="zh-CN" altLang="en-US" dirty="0"/>
              <a:t>风格的字符串字面常量的存储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4452312"/>
              </p:ext>
            </p:extLst>
          </p:nvPr>
        </p:nvGraphicFramePr>
        <p:xfrm>
          <a:off x="2122101" y="3055925"/>
          <a:ext cx="5821972" cy="10708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55493">
                  <a:extLst>
                    <a:ext uri="{9D8B030D-6E8A-4147-A177-3AD203B41FA5}">
                      <a16:colId xmlns:a16="http://schemas.microsoft.com/office/drawing/2014/main" val="3975252273"/>
                    </a:ext>
                  </a:extLst>
                </a:gridCol>
                <a:gridCol w="1455493">
                  <a:extLst>
                    <a:ext uri="{9D8B030D-6E8A-4147-A177-3AD203B41FA5}">
                      <a16:colId xmlns:a16="http://schemas.microsoft.com/office/drawing/2014/main" val="7966"/>
                    </a:ext>
                  </a:extLst>
                </a:gridCol>
                <a:gridCol w="1455493">
                  <a:extLst>
                    <a:ext uri="{9D8B030D-6E8A-4147-A177-3AD203B41FA5}">
                      <a16:colId xmlns:a16="http://schemas.microsoft.com/office/drawing/2014/main" val="1667497368"/>
                    </a:ext>
                  </a:extLst>
                </a:gridCol>
                <a:gridCol w="1455493">
                  <a:extLst>
                    <a:ext uri="{9D8B030D-6E8A-4147-A177-3AD203B41FA5}">
                      <a16:colId xmlns:a16="http://schemas.microsoft.com/office/drawing/2014/main" val="1749235371"/>
                    </a:ext>
                  </a:extLst>
                </a:gridCol>
              </a:tblGrid>
              <a:tr h="10708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40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'</a:t>
                      </a:r>
                      <a:r>
                        <a:rPr lang="en-US" altLang="zh-CN" sz="4000" dirty="0">
                          <a:effectLst/>
                          <a:latin typeface="Consolas" panose="020B0609020204030204" pitchFamily="49" charset="0"/>
                        </a:rPr>
                        <a:t>a</a:t>
                      </a:r>
                      <a:r>
                        <a:rPr lang="en-US" altLang="zh-CN" sz="40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'</a:t>
                      </a:r>
                      <a:endParaRPr lang="zh-CN" altLang="en-US" sz="4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40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'</a:t>
                      </a:r>
                      <a:r>
                        <a:rPr lang="en-US" altLang="zh-CN" sz="4000" dirty="0">
                          <a:effectLst/>
                          <a:latin typeface="Consolas" panose="020B0609020204030204" pitchFamily="49" charset="0"/>
                        </a:rPr>
                        <a:t>b</a:t>
                      </a:r>
                      <a:r>
                        <a:rPr lang="en-US" altLang="zh-CN" sz="40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'</a:t>
                      </a:r>
                      <a:endParaRPr lang="zh-CN" altLang="en-US" sz="4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40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'</a:t>
                      </a:r>
                      <a:r>
                        <a:rPr lang="en-US" altLang="zh-CN" sz="4000" dirty="0">
                          <a:effectLst/>
                          <a:latin typeface="Consolas" panose="020B0609020204030204" pitchFamily="49" charset="0"/>
                        </a:rPr>
                        <a:t>c</a:t>
                      </a:r>
                      <a:r>
                        <a:rPr lang="en-US" altLang="zh-CN" sz="40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'</a:t>
                      </a:r>
                      <a:endParaRPr lang="zh-CN" altLang="en-US" sz="4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40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'</a:t>
                      </a:r>
                      <a:r>
                        <a:rPr lang="en-US" altLang="zh-CN" sz="4000" dirty="0">
                          <a:effectLst/>
                          <a:latin typeface="Consolas" panose="020B0609020204030204" pitchFamily="49" charset="0"/>
                        </a:rPr>
                        <a:t>\0</a:t>
                      </a:r>
                      <a:r>
                        <a:rPr lang="en-US" altLang="zh-CN" sz="40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'</a:t>
                      </a:r>
                      <a:endParaRPr lang="zh-CN" altLang="en-US" sz="4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9913602"/>
                  </a:ext>
                </a:extLst>
              </a:tr>
            </a:tbl>
          </a:graphicData>
        </a:graphic>
      </p:graphicFrame>
      <p:sp>
        <p:nvSpPr>
          <p:cNvPr id="5" name="矩形标注 4"/>
          <p:cNvSpPr/>
          <p:nvPr/>
        </p:nvSpPr>
        <p:spPr>
          <a:xfrm>
            <a:off x="8107408" y="3168152"/>
            <a:ext cx="2483796" cy="804155"/>
          </a:xfrm>
          <a:prstGeom prst="wedgeRectCallout">
            <a:avLst>
              <a:gd name="adj1" fmla="val -65178"/>
              <a:gd name="adj2" fmla="val 12383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Consolas" panose="020B0609020204030204" pitchFamily="49" charset="0"/>
              </a:rPr>
              <a:t>末尾是附加一个</a:t>
            </a:r>
            <a:r>
              <a:rPr lang="en-US" altLang="zh-CN" b="1" dirty="0">
                <a:solidFill>
                  <a:srgbClr val="FFFF00"/>
                </a:solidFill>
                <a:latin typeface="Consolas" panose="020B0609020204030204" pitchFamily="49" charset="0"/>
              </a:rPr>
              <a:t>ASCII</a:t>
            </a:r>
            <a:r>
              <a:rPr lang="zh-CN" altLang="en-US" b="1" dirty="0">
                <a:solidFill>
                  <a:srgbClr val="FFFF00"/>
                </a:solidFill>
                <a:latin typeface="Consolas" panose="020B0609020204030204" pitchFamily="49" charset="0"/>
              </a:rPr>
              <a:t>码为</a:t>
            </a:r>
            <a:r>
              <a:rPr lang="en-US" altLang="zh-CN" b="1" dirty="0">
                <a:solidFill>
                  <a:srgbClr val="FFFF00"/>
                </a:solidFill>
                <a:latin typeface="Consolas" panose="020B0609020204030204" pitchFamily="49" charset="0"/>
              </a:rPr>
              <a:t>0</a:t>
            </a:r>
            <a:r>
              <a:rPr lang="zh-CN" altLang="en-US" dirty="0">
                <a:latin typeface="Consolas" panose="020B0609020204030204" pitchFamily="49" charset="0"/>
              </a:rPr>
              <a:t>的字符</a:t>
            </a:r>
          </a:p>
        </p:txBody>
      </p:sp>
      <p:sp>
        <p:nvSpPr>
          <p:cNvPr id="6" name="左大括号 5"/>
          <p:cNvSpPr/>
          <p:nvPr/>
        </p:nvSpPr>
        <p:spPr>
          <a:xfrm rot="5400000">
            <a:off x="4140559" y="1224731"/>
            <a:ext cx="428018" cy="3041512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左大括号 6"/>
          <p:cNvSpPr/>
          <p:nvPr/>
        </p:nvSpPr>
        <p:spPr>
          <a:xfrm rot="16200000">
            <a:off x="4862027" y="2348274"/>
            <a:ext cx="411803" cy="4468235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560141" y="1979027"/>
            <a:ext cx="1640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有效长度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247562" y="4945954"/>
            <a:ext cx="1640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存储长度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820200" y="4945953"/>
            <a:ext cx="3822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Consolas" panose="020B0609020204030204" pitchFamily="49" charset="0"/>
              </a:rPr>
              <a:t>= </a:t>
            </a:r>
            <a:r>
              <a:rPr lang="zh-CN" altLang="en-US" sz="2400" dirty="0">
                <a:latin typeface="Consolas" panose="020B0609020204030204" pitchFamily="49" charset="0"/>
              </a:rPr>
              <a:t>有效长度 </a:t>
            </a:r>
            <a:r>
              <a:rPr lang="en-US" altLang="zh-CN" sz="2400" dirty="0">
                <a:latin typeface="Consolas" panose="020B0609020204030204" pitchFamily="49" charset="0"/>
              </a:rPr>
              <a:t>+ 1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D8E5888-CD06-91C1-5636-E0F4BEC13A99}"/>
              </a:ext>
            </a:extLst>
          </p:cNvPr>
          <p:cNvSpPr txBox="1"/>
          <p:nvPr/>
        </p:nvSpPr>
        <p:spPr>
          <a:xfrm>
            <a:off x="1102927" y="1871546"/>
            <a:ext cx="13183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Consolas" panose="020B0609020204030204" pitchFamily="49" charset="0"/>
              </a:rPr>
              <a:t>"</a:t>
            </a:r>
            <a:r>
              <a:rPr lang="en-US" altLang="zh-CN" sz="2400" dirty="0" err="1">
                <a:latin typeface="Consolas" panose="020B0609020204030204" pitchFamily="49" charset="0"/>
              </a:rPr>
              <a:t>abc</a:t>
            </a:r>
            <a:r>
              <a:rPr lang="en-US" altLang="zh-CN" sz="2400" b="1" dirty="0">
                <a:latin typeface="Consolas" panose="020B0609020204030204" pitchFamily="49" charset="0"/>
              </a:rPr>
              <a:t>"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  <p:sp>
        <p:nvSpPr>
          <p:cNvPr id="11" name="矩形标注 4">
            <a:extLst>
              <a:ext uri="{FF2B5EF4-FFF2-40B4-BE49-F238E27FC236}">
                <a16:creationId xmlns:a16="http://schemas.microsoft.com/office/drawing/2014/main" id="{91E9E4BE-FDD3-B444-6F0B-A1614C8C2394}"/>
              </a:ext>
            </a:extLst>
          </p:cNvPr>
          <p:cNvSpPr/>
          <p:nvPr/>
        </p:nvSpPr>
        <p:spPr>
          <a:xfrm>
            <a:off x="6210930" y="1839674"/>
            <a:ext cx="3041510" cy="804155"/>
          </a:xfrm>
          <a:prstGeom prst="wedgeRectCallout">
            <a:avLst>
              <a:gd name="adj1" fmla="val -36621"/>
              <a:gd name="adj2" fmla="val 80256"/>
            </a:avLst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Consolas" panose="020B0609020204030204" pitchFamily="49" charset="0"/>
              </a:rPr>
              <a:t>用</a:t>
            </a:r>
            <a:r>
              <a:rPr lang="zh-CN" altLang="en-US" b="1" dirty="0">
                <a:solidFill>
                  <a:srgbClr val="FFFF00"/>
                </a:solidFill>
                <a:latin typeface="Consolas" panose="020B0609020204030204" pitchFamily="49" charset="0"/>
              </a:rPr>
              <a:t>字符型一维数组</a:t>
            </a:r>
            <a:r>
              <a:rPr lang="zh-CN" altLang="en-US" dirty="0">
                <a:latin typeface="Consolas" panose="020B0609020204030204" pitchFamily="49" charset="0"/>
              </a:rPr>
              <a:t>来字符串</a:t>
            </a:r>
          </a:p>
        </p:txBody>
      </p:sp>
      <p:sp>
        <p:nvSpPr>
          <p:cNvPr id="12" name="箭头: 五边形 11">
            <a:extLst>
              <a:ext uri="{FF2B5EF4-FFF2-40B4-BE49-F238E27FC236}">
                <a16:creationId xmlns:a16="http://schemas.microsoft.com/office/drawing/2014/main" id="{831622C1-6DAC-3B7F-A265-488773C2FEC7}"/>
              </a:ext>
            </a:extLst>
          </p:cNvPr>
          <p:cNvSpPr/>
          <p:nvPr/>
        </p:nvSpPr>
        <p:spPr>
          <a:xfrm>
            <a:off x="0" y="6130344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nsolas" panose="020B0609020204030204" pitchFamily="49" charset="0"/>
              </a:rPr>
              <a:t>string-</a:t>
            </a:r>
            <a:r>
              <a:rPr lang="en-US" altLang="zh-CN" sz="1400" dirty="0" err="1">
                <a:latin typeface="Consolas" panose="020B0609020204030204" pitchFamily="49" charset="0"/>
              </a:rPr>
              <a:t>literal.c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6520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r>
              <a:rPr lang="zh-CN" altLang="en-US" dirty="0"/>
              <a:t>风格的字符串字面常量的存储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字符串字面常量是作为数组来存储的。因此，这个字符串被编译器计算的结果就是它的</a:t>
            </a:r>
            <a:r>
              <a:rPr lang="zh-CN" altLang="en-US" b="1" dirty="0">
                <a:solidFill>
                  <a:srgbClr val="FF0000"/>
                </a:solidFill>
              </a:rPr>
              <a:t>首地址</a:t>
            </a:r>
            <a:r>
              <a:rPr lang="zh-CN" altLang="en-US" dirty="0"/>
              <a:t>，即它</a:t>
            </a:r>
            <a:r>
              <a:rPr lang="zh-CN" altLang="en-US" b="1" dirty="0">
                <a:solidFill>
                  <a:srgbClr val="FF0000"/>
                </a:solidFill>
              </a:rPr>
              <a:t>第一个字符的地址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zh-CN" altLang="en-US" dirty="0"/>
              <a:t>这样，可以用一个字符指针来指向</a:t>
            </a:r>
            <a:endParaRPr lang="en-US" altLang="zh-CN" dirty="0"/>
          </a:p>
          <a:p>
            <a:pPr marL="0" indent="0" algn="ctr">
              <a:buNone/>
            </a:pPr>
            <a:r>
              <a:rPr lang="en-US" altLang="zh-CN" sz="4000" i="1" dirty="0">
                <a:solidFill>
                  <a:srgbClr val="FF0000"/>
                </a:solidFill>
              </a:rPr>
              <a:t>const char *p = "</a:t>
            </a:r>
            <a:r>
              <a:rPr lang="en-US" altLang="zh-CN" sz="4000" i="1" dirty="0" err="1">
                <a:solidFill>
                  <a:srgbClr val="FF0000"/>
                </a:solidFill>
              </a:rPr>
              <a:t>abc</a:t>
            </a:r>
            <a:r>
              <a:rPr lang="en-US" altLang="zh-CN" sz="4000" i="1" dirty="0">
                <a:solidFill>
                  <a:srgbClr val="FF0000"/>
                </a:solidFill>
              </a:rPr>
              <a:t>";</a:t>
            </a:r>
            <a:endParaRPr lang="zh-CN" altLang="en-US" sz="4000" i="1" dirty="0">
              <a:solidFill>
                <a:srgbClr val="FF0000"/>
              </a:solidFill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9B696E2B-6CD8-73F0-F34D-43AA1BF0CDBB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nsolas" panose="020B0609020204030204" pitchFamily="49" charset="0"/>
              </a:rPr>
              <a:t>string-</a:t>
            </a:r>
            <a:r>
              <a:rPr lang="en-US" altLang="zh-CN" sz="1400" dirty="0" err="1">
                <a:latin typeface="Consolas" panose="020B0609020204030204" pitchFamily="49" charset="0"/>
              </a:rPr>
              <a:t>literal.c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6710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i="1" dirty="0"/>
              <a:t>char</a:t>
            </a:r>
            <a:r>
              <a:rPr lang="en-US" altLang="zh-CN" dirty="0"/>
              <a:t> *p = "</a:t>
            </a:r>
            <a:r>
              <a:rPr lang="en-US" altLang="zh-CN" dirty="0" err="1"/>
              <a:t>abc</a:t>
            </a:r>
            <a:r>
              <a:rPr lang="en-US" altLang="zh-CN" dirty="0"/>
              <a:t>", *q = "</a:t>
            </a:r>
            <a:r>
              <a:rPr lang="en-US" altLang="zh-CN" dirty="0" err="1"/>
              <a:t>abc</a:t>
            </a:r>
            <a:r>
              <a:rPr lang="en-US" altLang="zh-CN" dirty="0"/>
              <a:t>";</a:t>
            </a:r>
          </a:p>
          <a:p>
            <a:pPr marL="0" indent="0">
              <a:buNone/>
            </a:pPr>
            <a:r>
              <a:rPr lang="en-US" altLang="zh-CN" dirty="0"/>
              <a:t>p == q </a:t>
            </a:r>
            <a:r>
              <a:rPr lang="zh-CN" altLang="en-US" dirty="0"/>
              <a:t>的结果是？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比较的是地址。两个字符串是否安排在同一地址取决于编译器，因此二者可能不相等！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45498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字符串变量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一维字符数组作为字符串变量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char s</a:t>
            </a:r>
            <a:r>
              <a:rPr lang="en-US" altLang="zh-CN" b="1" dirty="0">
                <a:solidFill>
                  <a:srgbClr val="FF0000"/>
                </a:solidFill>
              </a:rPr>
              <a:t>[8]</a:t>
            </a:r>
            <a:r>
              <a:rPr lang="en-US" altLang="zh-CN" dirty="0"/>
              <a:t> = "HELLO";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3148249"/>
              </p:ext>
            </p:extLst>
          </p:nvPr>
        </p:nvGraphicFramePr>
        <p:xfrm>
          <a:off x="2861892" y="3634353"/>
          <a:ext cx="7157400" cy="8562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4675">
                  <a:extLst>
                    <a:ext uri="{9D8B030D-6E8A-4147-A177-3AD203B41FA5}">
                      <a16:colId xmlns:a16="http://schemas.microsoft.com/office/drawing/2014/main" val="194769566"/>
                    </a:ext>
                  </a:extLst>
                </a:gridCol>
                <a:gridCol w="894675">
                  <a:extLst>
                    <a:ext uri="{9D8B030D-6E8A-4147-A177-3AD203B41FA5}">
                      <a16:colId xmlns:a16="http://schemas.microsoft.com/office/drawing/2014/main" val="2521350389"/>
                    </a:ext>
                  </a:extLst>
                </a:gridCol>
                <a:gridCol w="894675">
                  <a:extLst>
                    <a:ext uri="{9D8B030D-6E8A-4147-A177-3AD203B41FA5}">
                      <a16:colId xmlns:a16="http://schemas.microsoft.com/office/drawing/2014/main" val="865664572"/>
                    </a:ext>
                  </a:extLst>
                </a:gridCol>
                <a:gridCol w="894675">
                  <a:extLst>
                    <a:ext uri="{9D8B030D-6E8A-4147-A177-3AD203B41FA5}">
                      <a16:colId xmlns:a16="http://schemas.microsoft.com/office/drawing/2014/main" val="1965078545"/>
                    </a:ext>
                  </a:extLst>
                </a:gridCol>
                <a:gridCol w="894675">
                  <a:extLst>
                    <a:ext uri="{9D8B030D-6E8A-4147-A177-3AD203B41FA5}">
                      <a16:colId xmlns:a16="http://schemas.microsoft.com/office/drawing/2014/main" val="2052863620"/>
                    </a:ext>
                  </a:extLst>
                </a:gridCol>
                <a:gridCol w="894675">
                  <a:extLst>
                    <a:ext uri="{9D8B030D-6E8A-4147-A177-3AD203B41FA5}">
                      <a16:colId xmlns:a16="http://schemas.microsoft.com/office/drawing/2014/main" val="1865490539"/>
                    </a:ext>
                  </a:extLst>
                </a:gridCol>
                <a:gridCol w="894675">
                  <a:extLst>
                    <a:ext uri="{9D8B030D-6E8A-4147-A177-3AD203B41FA5}">
                      <a16:colId xmlns:a16="http://schemas.microsoft.com/office/drawing/2014/main" val="3716537859"/>
                    </a:ext>
                  </a:extLst>
                </a:gridCol>
                <a:gridCol w="894675">
                  <a:extLst>
                    <a:ext uri="{9D8B030D-6E8A-4147-A177-3AD203B41FA5}">
                      <a16:colId xmlns:a16="http://schemas.microsoft.com/office/drawing/2014/main" val="1450041494"/>
                    </a:ext>
                  </a:extLst>
                </a:gridCol>
              </a:tblGrid>
              <a:tr h="85621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H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E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L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L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O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\0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\0</a:t>
                      </a:r>
                      <a:endParaRPr lang="zh-CN" altLang="en-US" sz="28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\0</a:t>
                      </a:r>
                      <a:endParaRPr lang="zh-CN" altLang="en-US" sz="28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718936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827517" y="3831627"/>
            <a:ext cx="10343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Consolas" panose="020B0609020204030204" pitchFamily="49" charset="0"/>
              </a:rPr>
              <a:t>s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  <p:sp>
        <p:nvSpPr>
          <p:cNvPr id="6" name="矩形标注 4">
            <a:extLst>
              <a:ext uri="{FF2B5EF4-FFF2-40B4-BE49-F238E27FC236}">
                <a16:creationId xmlns:a16="http://schemas.microsoft.com/office/drawing/2014/main" id="{692ECDC7-9B9A-9012-840E-6295D204BB2A}"/>
              </a:ext>
            </a:extLst>
          </p:cNvPr>
          <p:cNvSpPr/>
          <p:nvPr/>
        </p:nvSpPr>
        <p:spPr>
          <a:xfrm>
            <a:off x="7535496" y="2528578"/>
            <a:ext cx="2483796" cy="804155"/>
          </a:xfrm>
          <a:prstGeom prst="wedgeRectCallout">
            <a:avLst>
              <a:gd name="adj1" fmla="val 4120"/>
              <a:gd name="adj2" fmla="val 79271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Consolas" panose="020B0609020204030204" pitchFamily="49" charset="0"/>
              </a:rPr>
              <a:t>数组为初始化部分被自动填充</a:t>
            </a:r>
            <a:r>
              <a:rPr lang="en-US" altLang="zh-CN" dirty="0">
                <a:latin typeface="Consolas" panose="020B0609020204030204" pitchFamily="49" charset="0"/>
              </a:rPr>
              <a:t>0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7" name="箭头: 五边形 6">
            <a:extLst>
              <a:ext uri="{FF2B5EF4-FFF2-40B4-BE49-F238E27FC236}">
                <a16:creationId xmlns:a16="http://schemas.microsoft.com/office/drawing/2014/main" id="{03D880A4-4ADF-624A-3F62-5DC6F10DF300}"/>
              </a:ext>
            </a:extLst>
          </p:cNvPr>
          <p:cNvSpPr/>
          <p:nvPr/>
        </p:nvSpPr>
        <p:spPr>
          <a:xfrm>
            <a:off x="0" y="6139456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nsolas" panose="020B0609020204030204" pitchFamily="49" charset="0"/>
              </a:rPr>
              <a:t>string-</a:t>
            </a:r>
            <a:r>
              <a:rPr lang="en-US" altLang="zh-CN" sz="1400" dirty="0" err="1">
                <a:latin typeface="Consolas" panose="020B0609020204030204" pitchFamily="49" charset="0"/>
              </a:rPr>
              <a:t>var.c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2191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字符串变量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一维字符数组作为字符串变量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char s</a:t>
            </a:r>
            <a:r>
              <a:rPr lang="en-US" altLang="zh-CN" b="1" dirty="0">
                <a:solidFill>
                  <a:srgbClr val="FF0000"/>
                </a:solidFill>
              </a:rPr>
              <a:t>[]</a:t>
            </a:r>
            <a:r>
              <a:rPr lang="en-US" altLang="zh-CN" dirty="0"/>
              <a:t> = "HELLO";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1229769"/>
              </p:ext>
            </p:extLst>
          </p:nvPr>
        </p:nvGraphicFramePr>
        <p:xfrm>
          <a:off x="3600439" y="3429000"/>
          <a:ext cx="5368050" cy="8562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4675">
                  <a:extLst>
                    <a:ext uri="{9D8B030D-6E8A-4147-A177-3AD203B41FA5}">
                      <a16:colId xmlns:a16="http://schemas.microsoft.com/office/drawing/2014/main" val="194769566"/>
                    </a:ext>
                  </a:extLst>
                </a:gridCol>
                <a:gridCol w="894675">
                  <a:extLst>
                    <a:ext uri="{9D8B030D-6E8A-4147-A177-3AD203B41FA5}">
                      <a16:colId xmlns:a16="http://schemas.microsoft.com/office/drawing/2014/main" val="2521350389"/>
                    </a:ext>
                  </a:extLst>
                </a:gridCol>
                <a:gridCol w="894675">
                  <a:extLst>
                    <a:ext uri="{9D8B030D-6E8A-4147-A177-3AD203B41FA5}">
                      <a16:colId xmlns:a16="http://schemas.microsoft.com/office/drawing/2014/main" val="865664572"/>
                    </a:ext>
                  </a:extLst>
                </a:gridCol>
                <a:gridCol w="894675">
                  <a:extLst>
                    <a:ext uri="{9D8B030D-6E8A-4147-A177-3AD203B41FA5}">
                      <a16:colId xmlns:a16="http://schemas.microsoft.com/office/drawing/2014/main" val="1965078545"/>
                    </a:ext>
                  </a:extLst>
                </a:gridCol>
                <a:gridCol w="894675">
                  <a:extLst>
                    <a:ext uri="{9D8B030D-6E8A-4147-A177-3AD203B41FA5}">
                      <a16:colId xmlns:a16="http://schemas.microsoft.com/office/drawing/2014/main" val="2052863620"/>
                    </a:ext>
                  </a:extLst>
                </a:gridCol>
                <a:gridCol w="894675">
                  <a:extLst>
                    <a:ext uri="{9D8B030D-6E8A-4147-A177-3AD203B41FA5}">
                      <a16:colId xmlns:a16="http://schemas.microsoft.com/office/drawing/2014/main" val="1865490539"/>
                    </a:ext>
                  </a:extLst>
                </a:gridCol>
              </a:tblGrid>
              <a:tr h="85621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H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E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L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L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O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\0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718936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2566064" y="3626274"/>
            <a:ext cx="10343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Consolas" panose="020B0609020204030204" pitchFamily="49" charset="0"/>
              </a:rPr>
              <a:t>s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  <p:sp>
        <p:nvSpPr>
          <p:cNvPr id="7" name="箭头: 五边形 6">
            <a:extLst>
              <a:ext uri="{FF2B5EF4-FFF2-40B4-BE49-F238E27FC236}">
                <a16:creationId xmlns:a16="http://schemas.microsoft.com/office/drawing/2014/main" id="{A10338A6-31BF-B9B3-4508-7771FD902FA3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nsolas" panose="020B0609020204030204" pitchFamily="49" charset="0"/>
              </a:rPr>
              <a:t>string-</a:t>
            </a:r>
            <a:r>
              <a:rPr lang="en-US" altLang="zh-CN" sz="1400" dirty="0" err="1">
                <a:latin typeface="Consolas" panose="020B0609020204030204" pitchFamily="49" charset="0"/>
              </a:rPr>
              <a:t>var.c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3788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字符串变量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字符指针指向字符串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char *s = "HELLO";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5974215"/>
              </p:ext>
            </p:extLst>
          </p:nvPr>
        </p:nvGraphicFramePr>
        <p:xfrm>
          <a:off x="5104040" y="3676352"/>
          <a:ext cx="5368050" cy="8562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4675">
                  <a:extLst>
                    <a:ext uri="{9D8B030D-6E8A-4147-A177-3AD203B41FA5}">
                      <a16:colId xmlns:a16="http://schemas.microsoft.com/office/drawing/2014/main" val="194769566"/>
                    </a:ext>
                  </a:extLst>
                </a:gridCol>
                <a:gridCol w="894675">
                  <a:extLst>
                    <a:ext uri="{9D8B030D-6E8A-4147-A177-3AD203B41FA5}">
                      <a16:colId xmlns:a16="http://schemas.microsoft.com/office/drawing/2014/main" val="2521350389"/>
                    </a:ext>
                  </a:extLst>
                </a:gridCol>
                <a:gridCol w="894675">
                  <a:extLst>
                    <a:ext uri="{9D8B030D-6E8A-4147-A177-3AD203B41FA5}">
                      <a16:colId xmlns:a16="http://schemas.microsoft.com/office/drawing/2014/main" val="865664572"/>
                    </a:ext>
                  </a:extLst>
                </a:gridCol>
                <a:gridCol w="894675">
                  <a:extLst>
                    <a:ext uri="{9D8B030D-6E8A-4147-A177-3AD203B41FA5}">
                      <a16:colId xmlns:a16="http://schemas.microsoft.com/office/drawing/2014/main" val="1965078545"/>
                    </a:ext>
                  </a:extLst>
                </a:gridCol>
                <a:gridCol w="894675">
                  <a:extLst>
                    <a:ext uri="{9D8B030D-6E8A-4147-A177-3AD203B41FA5}">
                      <a16:colId xmlns:a16="http://schemas.microsoft.com/office/drawing/2014/main" val="2052863620"/>
                    </a:ext>
                  </a:extLst>
                </a:gridCol>
                <a:gridCol w="894675">
                  <a:extLst>
                    <a:ext uri="{9D8B030D-6E8A-4147-A177-3AD203B41FA5}">
                      <a16:colId xmlns:a16="http://schemas.microsoft.com/office/drawing/2014/main" val="1865490539"/>
                    </a:ext>
                  </a:extLst>
                </a:gridCol>
              </a:tblGrid>
              <a:tr h="85621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H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E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L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L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O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\0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718936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8311841"/>
              </p:ext>
            </p:extLst>
          </p:nvPr>
        </p:nvGraphicFramePr>
        <p:xfrm>
          <a:off x="2605372" y="3820590"/>
          <a:ext cx="744003" cy="5976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44003">
                  <a:extLst>
                    <a:ext uri="{9D8B030D-6E8A-4147-A177-3AD203B41FA5}">
                      <a16:colId xmlns:a16="http://schemas.microsoft.com/office/drawing/2014/main" val="3317650769"/>
                    </a:ext>
                  </a:extLst>
                </a:gridCol>
              </a:tblGrid>
              <a:tr h="59762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713275"/>
                  </a:ext>
                </a:extLst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632398" y="3888566"/>
            <a:ext cx="10343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Consolas" panose="020B0609020204030204" pitchFamily="49" charset="0"/>
              </a:rPr>
              <a:t>s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  <p:cxnSp>
        <p:nvCxnSpPr>
          <p:cNvPr id="8" name="直接箭头连接符 7"/>
          <p:cNvCxnSpPr>
            <a:endCxn id="4" idx="1"/>
          </p:cNvCxnSpPr>
          <p:nvPr/>
        </p:nvCxnSpPr>
        <p:spPr>
          <a:xfrm flipV="1">
            <a:off x="2977373" y="4104459"/>
            <a:ext cx="2126667" cy="1494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标注 11"/>
          <p:cNvSpPr/>
          <p:nvPr/>
        </p:nvSpPr>
        <p:spPr>
          <a:xfrm>
            <a:off x="6202770" y="2454979"/>
            <a:ext cx="3520214" cy="928156"/>
          </a:xfrm>
          <a:prstGeom prst="wedgeRectCallout">
            <a:avLst>
              <a:gd name="adj1" fmla="val 1273"/>
              <a:gd name="adj2" fmla="val 71927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dirty="0">
                <a:latin typeface="Consolas" panose="020B0609020204030204" pitchFamily="49" charset="0"/>
              </a:rPr>
              <a:t>这个数组存储在程序的</a:t>
            </a:r>
            <a:r>
              <a:rPr lang="zh-CN" altLang="en-US" b="1" dirty="0">
                <a:solidFill>
                  <a:srgbClr val="FFC000"/>
                </a:solidFill>
                <a:latin typeface="Consolas" panose="020B0609020204030204" pitchFamily="49" charset="0"/>
              </a:rPr>
              <a:t>常量存储内存区</a:t>
            </a:r>
            <a:r>
              <a:rPr lang="zh-CN" altLang="en-US" dirty="0">
                <a:latin typeface="Consolas" panose="020B0609020204030204" pitchFamily="49" charset="0"/>
              </a:rPr>
              <a:t>，因此数据不能修改！</a:t>
            </a:r>
          </a:p>
        </p:txBody>
      </p:sp>
      <p:sp>
        <p:nvSpPr>
          <p:cNvPr id="7" name="矩形标注 11">
            <a:extLst>
              <a:ext uri="{FF2B5EF4-FFF2-40B4-BE49-F238E27FC236}">
                <a16:creationId xmlns:a16="http://schemas.microsoft.com/office/drawing/2014/main" id="{F2DC69A7-8C3F-C558-59C2-B278541CBD4D}"/>
              </a:ext>
            </a:extLst>
          </p:cNvPr>
          <p:cNvSpPr/>
          <p:nvPr/>
        </p:nvSpPr>
        <p:spPr>
          <a:xfrm>
            <a:off x="2539942" y="4797277"/>
            <a:ext cx="3318507" cy="643463"/>
          </a:xfrm>
          <a:prstGeom prst="wedgeRectCallout">
            <a:avLst>
              <a:gd name="adj1" fmla="val -38844"/>
              <a:gd name="adj2" fmla="val -96120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dirty="0">
                <a:latin typeface="Consolas" panose="020B0609020204030204" pitchFamily="49" charset="0"/>
              </a:rPr>
              <a:t>因此</a:t>
            </a:r>
            <a:r>
              <a:rPr lang="en-US" altLang="zh-CN" dirty="0">
                <a:latin typeface="Consolas" panose="020B0609020204030204" pitchFamily="49" charset="0"/>
              </a:rPr>
              <a:t>s</a:t>
            </a:r>
            <a:r>
              <a:rPr lang="zh-CN" altLang="en-US" dirty="0">
                <a:latin typeface="Consolas" panose="020B0609020204030204" pitchFamily="49" charset="0"/>
              </a:rPr>
              <a:t>是个指向常量的变量指针</a:t>
            </a: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A2EFD97B-CDB5-9A6F-B83F-64FC5ABBAB1C}"/>
              </a:ext>
            </a:extLst>
          </p:cNvPr>
          <p:cNvSpPr/>
          <p:nvPr/>
        </p:nvSpPr>
        <p:spPr>
          <a:xfrm>
            <a:off x="0" y="6131715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nsolas" panose="020B0609020204030204" pitchFamily="49" charset="0"/>
              </a:rPr>
              <a:t>string-</a:t>
            </a:r>
            <a:r>
              <a:rPr lang="en-US" altLang="zh-CN" sz="1400" dirty="0" err="1">
                <a:latin typeface="Consolas" panose="020B0609020204030204" pitchFamily="49" charset="0"/>
              </a:rPr>
              <a:t>var.c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7164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字符串的读写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printf</a:t>
            </a:r>
            <a:r>
              <a:rPr lang="en-US" altLang="zh-CN" dirty="0"/>
              <a:t>()</a:t>
            </a:r>
            <a:r>
              <a:rPr lang="zh-CN" altLang="en-US" dirty="0"/>
              <a:t>的</a:t>
            </a:r>
            <a:r>
              <a:rPr lang="en-US" altLang="zh-CN" b="1" i="1" dirty="0">
                <a:solidFill>
                  <a:srgbClr val="FF0000"/>
                </a:solidFill>
              </a:rPr>
              <a:t>%s</a:t>
            </a:r>
            <a:r>
              <a:rPr lang="zh-CN" altLang="en-US" dirty="0"/>
              <a:t>格式以及</a:t>
            </a:r>
            <a:r>
              <a:rPr lang="en-US" altLang="zh-CN" b="1" i="1" dirty="0">
                <a:solidFill>
                  <a:srgbClr val="FF0000"/>
                </a:solidFill>
              </a:rPr>
              <a:t>puts()</a:t>
            </a:r>
            <a:r>
              <a:rPr lang="zh-CN" altLang="en-US" dirty="0"/>
              <a:t>函数</a:t>
            </a:r>
            <a:endParaRPr lang="en-US" altLang="zh-CN" dirty="0"/>
          </a:p>
          <a:p>
            <a:pPr lvl="1"/>
            <a:r>
              <a:rPr lang="en-US" altLang="zh-CN" dirty="0" err="1"/>
              <a:t>printf</a:t>
            </a:r>
            <a:r>
              <a:rPr lang="en-US" altLang="zh-CN" dirty="0"/>
              <a:t>(“%</a:t>
            </a:r>
            <a:r>
              <a:rPr lang="en-US" altLang="zh-CN" dirty="0" err="1"/>
              <a:t>s”,s</a:t>
            </a:r>
            <a:r>
              <a:rPr lang="en-US" altLang="zh-CN" dirty="0"/>
              <a:t>); </a:t>
            </a:r>
          </a:p>
          <a:p>
            <a:pPr lvl="1"/>
            <a:r>
              <a:rPr lang="en-US" altLang="zh-CN" dirty="0"/>
              <a:t>puts(s); </a:t>
            </a:r>
            <a:r>
              <a:rPr lang="en-US" altLang="zh-CN" sz="1800" dirty="0"/>
              <a:t>// </a:t>
            </a:r>
            <a:r>
              <a:rPr lang="zh-CN" altLang="en-US" sz="1800" dirty="0"/>
              <a:t>附加输出一个换行</a:t>
            </a:r>
            <a:endParaRPr lang="en-US" altLang="zh-CN" sz="1800" dirty="0"/>
          </a:p>
          <a:p>
            <a:r>
              <a:rPr lang="en-US" altLang="zh-CN" dirty="0" err="1"/>
              <a:t>scanf</a:t>
            </a:r>
            <a:r>
              <a:rPr lang="en-US" altLang="zh-CN" dirty="0"/>
              <a:t>()</a:t>
            </a:r>
            <a:r>
              <a:rPr lang="zh-CN" altLang="en-US" dirty="0"/>
              <a:t>的</a:t>
            </a:r>
            <a:r>
              <a:rPr lang="en-US" altLang="zh-CN" b="1" i="1" dirty="0">
                <a:solidFill>
                  <a:srgbClr val="FF0000"/>
                </a:solidFill>
              </a:rPr>
              <a:t>%s</a:t>
            </a:r>
            <a:r>
              <a:rPr lang="zh-CN" altLang="en-US" dirty="0"/>
              <a:t>格式以及</a:t>
            </a:r>
            <a:r>
              <a:rPr lang="en-US" altLang="zh-CN" b="1" i="1" dirty="0" err="1">
                <a:solidFill>
                  <a:srgbClr val="FF0000"/>
                </a:solidFill>
              </a:rPr>
              <a:t>fgets</a:t>
            </a:r>
            <a:r>
              <a:rPr lang="en-US" altLang="zh-CN" b="1" i="1" dirty="0">
                <a:solidFill>
                  <a:srgbClr val="FF0000"/>
                </a:solidFill>
              </a:rPr>
              <a:t>()</a:t>
            </a:r>
            <a:r>
              <a:rPr lang="zh-CN" altLang="en-US" dirty="0"/>
              <a:t>函数</a:t>
            </a:r>
            <a:endParaRPr lang="en-US" altLang="zh-CN" dirty="0"/>
          </a:p>
          <a:p>
            <a:pPr lvl="1"/>
            <a:r>
              <a:rPr lang="en-US" altLang="zh-CN" dirty="0" err="1"/>
              <a:t>scanf</a:t>
            </a:r>
            <a:r>
              <a:rPr lang="en-US" altLang="zh-CN" dirty="0"/>
              <a:t>(“%s”, s); </a:t>
            </a:r>
            <a:r>
              <a:rPr lang="en-US" altLang="zh-CN" sz="1800" dirty="0"/>
              <a:t>// s</a:t>
            </a:r>
            <a:r>
              <a:rPr lang="zh-CN" altLang="en-US" sz="1800" dirty="0"/>
              <a:t>前不加</a:t>
            </a:r>
            <a:r>
              <a:rPr lang="en-US" altLang="zh-CN" sz="1800" dirty="0"/>
              <a:t>&amp;</a:t>
            </a:r>
          </a:p>
          <a:p>
            <a:pPr lvl="1"/>
            <a:r>
              <a:rPr lang="en-US" altLang="zh-CN" dirty="0" err="1"/>
              <a:t>fgets</a:t>
            </a:r>
            <a:r>
              <a:rPr lang="en-US" altLang="zh-CN" dirty="0"/>
              <a:t>(s, 127, stdin); </a:t>
            </a:r>
            <a:r>
              <a:rPr lang="en-US" altLang="zh-CN" sz="1800" dirty="0"/>
              <a:t>// </a:t>
            </a:r>
            <a:r>
              <a:rPr lang="zh-CN" altLang="en-US" sz="1800" dirty="0"/>
              <a:t>从标准输入输入最多</a:t>
            </a:r>
            <a:r>
              <a:rPr lang="en-US" altLang="zh-CN" sz="1800" dirty="0"/>
              <a:t>127</a:t>
            </a:r>
            <a:r>
              <a:rPr lang="zh-CN" altLang="en-US" sz="1800" dirty="0"/>
              <a:t>个字符，结尾附加</a:t>
            </a:r>
            <a:r>
              <a:rPr lang="en-US" altLang="zh-CN" sz="1800" dirty="0"/>
              <a:t>’\n’’\0’</a:t>
            </a:r>
            <a:endParaRPr lang="en-US" altLang="zh-CN" dirty="0"/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632C1C76-E03F-44A0-F413-6CD467D39663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nsolas" panose="020B0609020204030204" pitchFamily="49" charset="0"/>
              </a:rPr>
              <a:t>string-</a:t>
            </a:r>
            <a:r>
              <a:rPr lang="en-US" altLang="zh-CN" sz="1400" dirty="0" err="1">
                <a:latin typeface="Consolas" panose="020B0609020204030204" pitchFamily="49" charset="0"/>
              </a:rPr>
              <a:t>var.c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7538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字符串作为函数参数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size_t</a:t>
            </a:r>
            <a:r>
              <a:rPr lang="en-US" altLang="zh-CN" dirty="0"/>
              <a:t> </a:t>
            </a:r>
            <a:r>
              <a:rPr lang="en-US" altLang="zh-CN" dirty="0" err="1"/>
              <a:t>strlen</a:t>
            </a:r>
            <a:r>
              <a:rPr lang="en-US" altLang="zh-CN" dirty="0"/>
              <a:t>(const char str[]); // </a:t>
            </a:r>
            <a:r>
              <a:rPr lang="zh-CN" altLang="en-US" dirty="0"/>
              <a:t>一般不用这种方式</a:t>
            </a:r>
            <a:endParaRPr lang="en-US" altLang="zh-CN" dirty="0"/>
          </a:p>
          <a:p>
            <a:r>
              <a:rPr lang="en-US" altLang="zh-CN" dirty="0" err="1"/>
              <a:t>size_t</a:t>
            </a:r>
            <a:r>
              <a:rPr lang="en-US" altLang="zh-CN" dirty="0"/>
              <a:t> </a:t>
            </a:r>
            <a:r>
              <a:rPr lang="en-US" altLang="zh-CN" dirty="0" err="1"/>
              <a:t>strlen</a:t>
            </a:r>
            <a:r>
              <a:rPr lang="en-US" altLang="zh-CN" dirty="0"/>
              <a:t>(</a:t>
            </a:r>
            <a:r>
              <a:rPr lang="en-US" altLang="zh-CN" dirty="0" err="1"/>
              <a:t>const</a:t>
            </a:r>
            <a:r>
              <a:rPr lang="en-US" altLang="zh-CN" dirty="0"/>
              <a:t> char *</a:t>
            </a:r>
            <a:r>
              <a:rPr lang="en-US" altLang="zh-CN" dirty="0" err="1"/>
              <a:t>str</a:t>
            </a:r>
            <a:r>
              <a:rPr lang="en-US" altLang="zh-CN" dirty="0"/>
              <a:t>);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409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r>
              <a:rPr lang="zh-CN" altLang="en-US" dirty="0"/>
              <a:t>的字符串库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求字符串长度</a:t>
            </a:r>
            <a:r>
              <a:rPr lang="en-US" altLang="zh-CN" dirty="0"/>
              <a:t>	</a:t>
            </a:r>
            <a:r>
              <a:rPr lang="en-US" altLang="zh-CN" dirty="0" err="1"/>
              <a:t>size_t</a:t>
            </a:r>
            <a:r>
              <a:rPr lang="en-US" altLang="zh-CN" dirty="0"/>
              <a:t> </a:t>
            </a:r>
            <a:r>
              <a:rPr lang="en-US" altLang="zh-CN" dirty="0" err="1"/>
              <a:t>strlen</a:t>
            </a:r>
            <a:r>
              <a:rPr lang="en-US" altLang="zh-CN" dirty="0"/>
              <a:t>(const char *s);</a:t>
            </a:r>
          </a:p>
          <a:p>
            <a:pPr lvl="1"/>
            <a:r>
              <a:rPr lang="zh-CN" altLang="en-US" dirty="0"/>
              <a:t>返回串</a:t>
            </a:r>
            <a:r>
              <a:rPr lang="en-US" altLang="zh-CN" dirty="0"/>
              <a:t>s</a:t>
            </a:r>
            <a:r>
              <a:rPr lang="zh-CN" altLang="en-US" dirty="0"/>
              <a:t>的长度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字符串复制</a:t>
            </a:r>
            <a:r>
              <a:rPr lang="en-US" altLang="zh-CN" dirty="0"/>
              <a:t>		char * </a:t>
            </a:r>
            <a:r>
              <a:rPr lang="en-US" altLang="zh-CN" dirty="0" err="1"/>
              <a:t>strcpy</a:t>
            </a:r>
            <a:r>
              <a:rPr lang="en-US" altLang="zh-CN" dirty="0"/>
              <a:t>(char *t, const char *s);</a:t>
            </a:r>
          </a:p>
          <a:p>
            <a:pPr lvl="1"/>
            <a:r>
              <a:rPr lang="zh-CN" altLang="en-US" dirty="0"/>
              <a:t>将源串</a:t>
            </a:r>
            <a:r>
              <a:rPr lang="en-US" altLang="zh-CN" dirty="0"/>
              <a:t>s</a:t>
            </a:r>
            <a:r>
              <a:rPr lang="zh-CN" altLang="en-US" dirty="0"/>
              <a:t>复制到目的串</a:t>
            </a:r>
            <a:r>
              <a:rPr lang="en-US" altLang="zh-CN" dirty="0"/>
              <a:t>t</a:t>
            </a:r>
            <a:r>
              <a:rPr lang="zh-CN" altLang="en-US" dirty="0"/>
              <a:t>中。返回</a:t>
            </a:r>
            <a:r>
              <a:rPr lang="en-US" altLang="zh-CN" dirty="0"/>
              <a:t>t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字符串连接</a:t>
            </a:r>
            <a:r>
              <a:rPr lang="en-US" altLang="zh-CN" dirty="0"/>
              <a:t>		char * </a:t>
            </a:r>
            <a:r>
              <a:rPr lang="en-US" altLang="zh-CN" dirty="0" err="1"/>
              <a:t>strcat</a:t>
            </a:r>
            <a:r>
              <a:rPr lang="en-US" altLang="zh-CN" dirty="0"/>
              <a:t>(char *s, const char *t);</a:t>
            </a:r>
          </a:p>
          <a:p>
            <a:pPr lvl="1"/>
            <a:r>
              <a:rPr lang="zh-CN" altLang="en-US" dirty="0"/>
              <a:t>将串</a:t>
            </a:r>
            <a:r>
              <a:rPr lang="en-US" altLang="zh-CN" dirty="0"/>
              <a:t>t</a:t>
            </a:r>
            <a:r>
              <a:rPr lang="zh-CN" altLang="en-US" dirty="0"/>
              <a:t>拼接到</a:t>
            </a:r>
            <a:r>
              <a:rPr lang="en-US" altLang="zh-CN" dirty="0"/>
              <a:t>s</a:t>
            </a:r>
            <a:r>
              <a:rPr lang="zh-CN" altLang="en-US" dirty="0"/>
              <a:t>后面。返回</a:t>
            </a:r>
            <a:r>
              <a:rPr lang="en-US" altLang="zh-CN" dirty="0"/>
              <a:t>s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字符串比较</a:t>
            </a:r>
            <a:r>
              <a:rPr lang="en-US" altLang="zh-CN" dirty="0"/>
              <a:t>		int </a:t>
            </a:r>
            <a:r>
              <a:rPr lang="en-US" altLang="zh-CN" dirty="0" err="1"/>
              <a:t>strcmp</a:t>
            </a:r>
            <a:r>
              <a:rPr lang="en-US" altLang="zh-CN" dirty="0"/>
              <a:t>(const char *s, const char *t);</a:t>
            </a:r>
          </a:p>
          <a:p>
            <a:pPr lvl="1"/>
            <a:r>
              <a:rPr lang="zh-CN" altLang="en-US" dirty="0"/>
              <a:t>如果</a:t>
            </a:r>
            <a:r>
              <a:rPr lang="en-US" altLang="zh-CN" dirty="0"/>
              <a:t>s</a:t>
            </a:r>
            <a:r>
              <a:rPr lang="zh-CN" altLang="en-US" dirty="0"/>
              <a:t>和</a:t>
            </a:r>
            <a:r>
              <a:rPr lang="en-US" altLang="zh-CN" dirty="0"/>
              <a:t>t</a:t>
            </a:r>
            <a:r>
              <a:rPr lang="zh-CN" altLang="en-US" dirty="0"/>
              <a:t>相等，返回</a:t>
            </a:r>
            <a:r>
              <a:rPr lang="en-US" altLang="zh-CN" b="1" dirty="0">
                <a:solidFill>
                  <a:srgbClr val="FF0000"/>
                </a:solidFill>
              </a:rPr>
              <a:t>0</a:t>
            </a:r>
            <a:r>
              <a:rPr lang="zh-CN" altLang="en-US" dirty="0"/>
              <a:t>；如果</a:t>
            </a:r>
            <a:r>
              <a:rPr lang="en-US" altLang="zh-CN" dirty="0"/>
              <a:t>s&lt;t</a:t>
            </a:r>
            <a:r>
              <a:rPr lang="zh-CN" altLang="en-US" dirty="0"/>
              <a:t>，返回</a:t>
            </a:r>
            <a:r>
              <a:rPr lang="zh-CN" altLang="en-US" b="1" dirty="0">
                <a:solidFill>
                  <a:srgbClr val="FF0000"/>
                </a:solidFill>
              </a:rPr>
              <a:t>负值</a:t>
            </a:r>
            <a:r>
              <a:rPr lang="zh-CN" altLang="en-US" dirty="0"/>
              <a:t>；如果</a:t>
            </a:r>
            <a:r>
              <a:rPr lang="en-US" altLang="zh-CN" dirty="0"/>
              <a:t>s&gt;t</a:t>
            </a:r>
            <a:r>
              <a:rPr lang="zh-CN" altLang="en-US" dirty="0"/>
              <a:t>，返回</a:t>
            </a:r>
            <a:r>
              <a:rPr lang="zh-CN" altLang="en-US" b="1" dirty="0">
                <a:solidFill>
                  <a:srgbClr val="FF0000"/>
                </a:solidFill>
              </a:rPr>
              <a:t>正值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80797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6A4158-EF5F-ABC1-6424-97A699FA7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9EA6A1-B1BF-5062-8CEA-BBC7187FB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模仿库函数，实现如下字符串操作函数</a:t>
            </a:r>
            <a:endParaRPr lang="en-US" altLang="zh-CN" dirty="0"/>
          </a:p>
          <a:p>
            <a:r>
              <a:rPr lang="zh-CN" altLang="en-US" dirty="0"/>
              <a:t>求字符串长度</a:t>
            </a:r>
            <a:r>
              <a:rPr lang="en-US" altLang="zh-CN" dirty="0"/>
              <a:t>	</a:t>
            </a:r>
            <a:r>
              <a:rPr lang="en-US" altLang="zh-CN" dirty="0" err="1"/>
              <a:t>size_t</a:t>
            </a:r>
            <a:r>
              <a:rPr lang="en-US" altLang="zh-CN" dirty="0"/>
              <a:t> </a:t>
            </a:r>
            <a:r>
              <a:rPr lang="en-US" altLang="zh-CN" dirty="0" err="1"/>
              <a:t>Strlen</a:t>
            </a:r>
            <a:r>
              <a:rPr lang="en-US" altLang="zh-CN" dirty="0"/>
              <a:t>(const char *s);</a:t>
            </a:r>
          </a:p>
          <a:p>
            <a:r>
              <a:rPr lang="zh-CN" altLang="en-US" dirty="0"/>
              <a:t>字符串复制</a:t>
            </a:r>
            <a:r>
              <a:rPr lang="en-US" altLang="zh-CN" dirty="0"/>
              <a:t>		char * </a:t>
            </a:r>
            <a:r>
              <a:rPr lang="en-US" altLang="zh-CN" dirty="0" err="1"/>
              <a:t>Strcpy</a:t>
            </a:r>
            <a:r>
              <a:rPr lang="en-US" altLang="zh-CN" dirty="0"/>
              <a:t>(char *s, const char *t);</a:t>
            </a:r>
          </a:p>
          <a:p>
            <a:r>
              <a:rPr lang="zh-CN" altLang="en-US" dirty="0"/>
              <a:t>字符串连接</a:t>
            </a:r>
            <a:r>
              <a:rPr lang="en-US" altLang="zh-CN" dirty="0"/>
              <a:t>		char * </a:t>
            </a:r>
            <a:r>
              <a:rPr lang="en-US" altLang="zh-CN" dirty="0" err="1"/>
              <a:t>Strcat</a:t>
            </a:r>
            <a:r>
              <a:rPr lang="en-US" altLang="zh-CN" dirty="0"/>
              <a:t>(char *s, const char *t);</a:t>
            </a:r>
          </a:p>
          <a:p>
            <a:r>
              <a:rPr lang="zh-CN" altLang="en-US" dirty="0"/>
              <a:t>字符串比较</a:t>
            </a:r>
            <a:r>
              <a:rPr lang="en-US" altLang="zh-CN" dirty="0"/>
              <a:t>		int </a:t>
            </a:r>
            <a:r>
              <a:rPr lang="en-US" altLang="zh-CN" dirty="0" err="1"/>
              <a:t>Strcmp</a:t>
            </a:r>
            <a:r>
              <a:rPr lang="en-US" altLang="zh-CN" dirty="0"/>
              <a:t>(const char *s, const char *t);</a:t>
            </a: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221F9BF4-B5D1-24EE-2762-3D392DB75278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latin typeface="Consolas" panose="020B0609020204030204" pitchFamily="49" charset="0"/>
              </a:rPr>
              <a:t>string.c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09699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090C5-E11A-391E-AED2-AC13BA26A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37345A-666C-C705-D35B-1F0519B25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Strlen</a:t>
            </a:r>
            <a:endParaRPr lang="zh-CN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6150568-568D-8DE8-488B-4A34D54B7B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583698"/>
              </p:ext>
            </p:extLst>
          </p:nvPr>
        </p:nvGraphicFramePr>
        <p:xfrm>
          <a:off x="3364641" y="2572785"/>
          <a:ext cx="5368050" cy="85621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94675">
                  <a:extLst>
                    <a:ext uri="{9D8B030D-6E8A-4147-A177-3AD203B41FA5}">
                      <a16:colId xmlns:a16="http://schemas.microsoft.com/office/drawing/2014/main" val="194769566"/>
                    </a:ext>
                  </a:extLst>
                </a:gridCol>
                <a:gridCol w="894675">
                  <a:extLst>
                    <a:ext uri="{9D8B030D-6E8A-4147-A177-3AD203B41FA5}">
                      <a16:colId xmlns:a16="http://schemas.microsoft.com/office/drawing/2014/main" val="2521350389"/>
                    </a:ext>
                  </a:extLst>
                </a:gridCol>
                <a:gridCol w="894675">
                  <a:extLst>
                    <a:ext uri="{9D8B030D-6E8A-4147-A177-3AD203B41FA5}">
                      <a16:colId xmlns:a16="http://schemas.microsoft.com/office/drawing/2014/main" val="865664572"/>
                    </a:ext>
                  </a:extLst>
                </a:gridCol>
                <a:gridCol w="894675">
                  <a:extLst>
                    <a:ext uri="{9D8B030D-6E8A-4147-A177-3AD203B41FA5}">
                      <a16:colId xmlns:a16="http://schemas.microsoft.com/office/drawing/2014/main" val="1965078545"/>
                    </a:ext>
                  </a:extLst>
                </a:gridCol>
                <a:gridCol w="894675">
                  <a:extLst>
                    <a:ext uri="{9D8B030D-6E8A-4147-A177-3AD203B41FA5}">
                      <a16:colId xmlns:a16="http://schemas.microsoft.com/office/drawing/2014/main" val="2052863620"/>
                    </a:ext>
                  </a:extLst>
                </a:gridCol>
                <a:gridCol w="894675">
                  <a:extLst>
                    <a:ext uri="{9D8B030D-6E8A-4147-A177-3AD203B41FA5}">
                      <a16:colId xmlns:a16="http://schemas.microsoft.com/office/drawing/2014/main" val="1865490539"/>
                    </a:ext>
                  </a:extLst>
                </a:gridCol>
              </a:tblGrid>
              <a:tr h="85621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H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E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L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L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O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\0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718936"/>
                  </a:ext>
                </a:extLst>
              </a:tr>
            </a:tbl>
          </a:graphicData>
        </a:graphic>
      </p:graphicFrame>
      <p:grpSp>
        <p:nvGrpSpPr>
          <p:cNvPr id="11" name="组合 10">
            <a:extLst>
              <a:ext uri="{FF2B5EF4-FFF2-40B4-BE49-F238E27FC236}">
                <a16:creationId xmlns:a16="http://schemas.microsoft.com/office/drawing/2014/main" id="{B5C7EE2D-C364-097F-B0C8-B698CD19C653}"/>
              </a:ext>
            </a:extLst>
          </p:cNvPr>
          <p:cNvGrpSpPr/>
          <p:nvPr/>
        </p:nvGrpSpPr>
        <p:grpSpPr>
          <a:xfrm>
            <a:off x="3364641" y="3498074"/>
            <a:ext cx="521594" cy="792914"/>
            <a:chOff x="3364641" y="3166782"/>
            <a:chExt cx="521594" cy="792914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86429492-9F77-98CE-B9DA-4B3CF6BCD2F1}"/>
                </a:ext>
              </a:extLst>
            </p:cNvPr>
            <p:cNvSpPr txBox="1"/>
            <p:nvPr/>
          </p:nvSpPr>
          <p:spPr>
            <a:xfrm>
              <a:off x="3364641" y="3590364"/>
              <a:ext cx="5215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Consolas" panose="020B0609020204030204" pitchFamily="49" charset="0"/>
                  <a:ea typeface="微软雅黑" panose="020B0503020204020204" pitchFamily="34" charset="-122"/>
                </a:rPr>
                <a:t>s</a:t>
              </a:r>
              <a:endParaRPr lang="zh-CN" altLang="en-US" dirty="0"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3984CE79-5C1E-AE34-58B0-DA545ABCBF14}"/>
                </a:ext>
              </a:extLst>
            </p:cNvPr>
            <p:cNvCxnSpPr>
              <a:cxnSpLocks/>
              <a:stCxn id="3" idx="0"/>
            </p:cNvCxnSpPr>
            <p:nvPr/>
          </p:nvCxnSpPr>
          <p:spPr>
            <a:xfrm flipV="1">
              <a:off x="3625438" y="3166782"/>
              <a:ext cx="0" cy="42358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C084C5C9-919C-AB9A-A7DA-07848AA7960C}"/>
              </a:ext>
            </a:extLst>
          </p:cNvPr>
          <p:cNvGrpSpPr/>
          <p:nvPr/>
        </p:nvGrpSpPr>
        <p:grpSpPr>
          <a:xfrm>
            <a:off x="3678406" y="3498074"/>
            <a:ext cx="521594" cy="792914"/>
            <a:chOff x="3364641" y="3166782"/>
            <a:chExt cx="521594" cy="792914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D1228B39-636B-AF7B-4A5D-C54D27150350}"/>
                </a:ext>
              </a:extLst>
            </p:cNvPr>
            <p:cNvSpPr txBox="1"/>
            <p:nvPr/>
          </p:nvSpPr>
          <p:spPr>
            <a:xfrm>
              <a:off x="3364641" y="3590364"/>
              <a:ext cx="5215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Consolas" panose="020B0609020204030204" pitchFamily="49" charset="0"/>
                  <a:ea typeface="微软雅黑" panose="020B0503020204020204" pitchFamily="34" charset="-122"/>
                </a:rPr>
                <a:t>q</a:t>
              </a:r>
              <a:endParaRPr lang="zh-CN" altLang="en-US" dirty="0"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98D77D9B-FECF-23AB-0A6D-1DE49B676D1F}"/>
                </a:ext>
              </a:extLst>
            </p:cNvPr>
            <p:cNvCxnSpPr>
              <a:cxnSpLocks/>
              <a:stCxn id="14" idx="0"/>
            </p:cNvCxnSpPr>
            <p:nvPr/>
          </p:nvCxnSpPr>
          <p:spPr>
            <a:xfrm flipV="1">
              <a:off x="3625438" y="3166782"/>
              <a:ext cx="0" cy="42358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14A84738-4279-AE2D-9A7C-385AEB957CAE}"/>
              </a:ext>
            </a:extLst>
          </p:cNvPr>
          <p:cNvCxnSpPr/>
          <p:nvPr/>
        </p:nvCxnSpPr>
        <p:spPr>
          <a:xfrm>
            <a:off x="3751729" y="3706504"/>
            <a:ext cx="443753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8481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4.07407E-6 L 0.35468 -4.07407E-6 " pathEditMode="relative" rAng="0" ptsTypes="AA">
                                      <p:cBhvr>
                                        <p:cTn id="16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73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23532A-87CC-10C7-35D5-97E2C5D70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Strcpy</a:t>
            </a:r>
            <a:endParaRPr lang="zh-CN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07BCAFA-90A5-9027-6B7D-EAA0366FD7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1386837"/>
              </p:ext>
            </p:extLst>
          </p:nvPr>
        </p:nvGraphicFramePr>
        <p:xfrm>
          <a:off x="2544370" y="1999446"/>
          <a:ext cx="5368050" cy="85621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94675">
                  <a:extLst>
                    <a:ext uri="{9D8B030D-6E8A-4147-A177-3AD203B41FA5}">
                      <a16:colId xmlns:a16="http://schemas.microsoft.com/office/drawing/2014/main" val="194769566"/>
                    </a:ext>
                  </a:extLst>
                </a:gridCol>
                <a:gridCol w="894675">
                  <a:extLst>
                    <a:ext uri="{9D8B030D-6E8A-4147-A177-3AD203B41FA5}">
                      <a16:colId xmlns:a16="http://schemas.microsoft.com/office/drawing/2014/main" val="2521350389"/>
                    </a:ext>
                  </a:extLst>
                </a:gridCol>
                <a:gridCol w="894675">
                  <a:extLst>
                    <a:ext uri="{9D8B030D-6E8A-4147-A177-3AD203B41FA5}">
                      <a16:colId xmlns:a16="http://schemas.microsoft.com/office/drawing/2014/main" val="865664572"/>
                    </a:ext>
                  </a:extLst>
                </a:gridCol>
                <a:gridCol w="894675">
                  <a:extLst>
                    <a:ext uri="{9D8B030D-6E8A-4147-A177-3AD203B41FA5}">
                      <a16:colId xmlns:a16="http://schemas.microsoft.com/office/drawing/2014/main" val="1965078545"/>
                    </a:ext>
                  </a:extLst>
                </a:gridCol>
                <a:gridCol w="894675">
                  <a:extLst>
                    <a:ext uri="{9D8B030D-6E8A-4147-A177-3AD203B41FA5}">
                      <a16:colId xmlns:a16="http://schemas.microsoft.com/office/drawing/2014/main" val="2052863620"/>
                    </a:ext>
                  </a:extLst>
                </a:gridCol>
                <a:gridCol w="894675">
                  <a:extLst>
                    <a:ext uri="{9D8B030D-6E8A-4147-A177-3AD203B41FA5}">
                      <a16:colId xmlns:a16="http://schemas.microsoft.com/office/drawing/2014/main" val="1865490539"/>
                    </a:ext>
                  </a:extLst>
                </a:gridCol>
              </a:tblGrid>
              <a:tr h="85621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H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E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L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L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O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\0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718936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BA693FB-C5CF-EB4B-F6C6-F9D8D42759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3398937"/>
              </p:ext>
            </p:extLst>
          </p:nvPr>
        </p:nvGraphicFramePr>
        <p:xfrm>
          <a:off x="2544370" y="3807451"/>
          <a:ext cx="8061381" cy="8562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5709">
                  <a:extLst>
                    <a:ext uri="{9D8B030D-6E8A-4147-A177-3AD203B41FA5}">
                      <a16:colId xmlns:a16="http://schemas.microsoft.com/office/drawing/2014/main" val="194769566"/>
                    </a:ext>
                  </a:extLst>
                </a:gridCol>
                <a:gridCol w="895709">
                  <a:extLst>
                    <a:ext uri="{9D8B030D-6E8A-4147-A177-3AD203B41FA5}">
                      <a16:colId xmlns:a16="http://schemas.microsoft.com/office/drawing/2014/main" val="2521350389"/>
                    </a:ext>
                  </a:extLst>
                </a:gridCol>
                <a:gridCol w="895709">
                  <a:extLst>
                    <a:ext uri="{9D8B030D-6E8A-4147-A177-3AD203B41FA5}">
                      <a16:colId xmlns:a16="http://schemas.microsoft.com/office/drawing/2014/main" val="865664572"/>
                    </a:ext>
                  </a:extLst>
                </a:gridCol>
                <a:gridCol w="895709">
                  <a:extLst>
                    <a:ext uri="{9D8B030D-6E8A-4147-A177-3AD203B41FA5}">
                      <a16:colId xmlns:a16="http://schemas.microsoft.com/office/drawing/2014/main" val="1965078545"/>
                    </a:ext>
                  </a:extLst>
                </a:gridCol>
                <a:gridCol w="895709">
                  <a:extLst>
                    <a:ext uri="{9D8B030D-6E8A-4147-A177-3AD203B41FA5}">
                      <a16:colId xmlns:a16="http://schemas.microsoft.com/office/drawing/2014/main" val="2052863620"/>
                    </a:ext>
                  </a:extLst>
                </a:gridCol>
                <a:gridCol w="895709">
                  <a:extLst>
                    <a:ext uri="{9D8B030D-6E8A-4147-A177-3AD203B41FA5}">
                      <a16:colId xmlns:a16="http://schemas.microsoft.com/office/drawing/2014/main" val="1865490539"/>
                    </a:ext>
                  </a:extLst>
                </a:gridCol>
                <a:gridCol w="895709">
                  <a:extLst>
                    <a:ext uri="{9D8B030D-6E8A-4147-A177-3AD203B41FA5}">
                      <a16:colId xmlns:a16="http://schemas.microsoft.com/office/drawing/2014/main" val="2919456576"/>
                    </a:ext>
                  </a:extLst>
                </a:gridCol>
                <a:gridCol w="895709">
                  <a:extLst>
                    <a:ext uri="{9D8B030D-6E8A-4147-A177-3AD203B41FA5}">
                      <a16:colId xmlns:a16="http://schemas.microsoft.com/office/drawing/2014/main" val="1445634845"/>
                    </a:ext>
                  </a:extLst>
                </a:gridCol>
                <a:gridCol w="895709">
                  <a:extLst>
                    <a:ext uri="{9D8B030D-6E8A-4147-A177-3AD203B41FA5}">
                      <a16:colId xmlns:a16="http://schemas.microsoft.com/office/drawing/2014/main" val="581557370"/>
                    </a:ext>
                  </a:extLst>
                </a:gridCol>
              </a:tblGrid>
              <a:tr h="856215">
                <a:tc>
                  <a:txBody>
                    <a:bodyPr/>
                    <a:lstStyle/>
                    <a:p>
                      <a:pPr algn="ctr"/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718936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56AB6BD2-8F9C-20BC-9E9F-B3E3BFAC1BE7}"/>
              </a:ext>
            </a:extLst>
          </p:cNvPr>
          <p:cNvSpPr txBox="1"/>
          <p:nvPr/>
        </p:nvSpPr>
        <p:spPr>
          <a:xfrm>
            <a:off x="1867437" y="2196720"/>
            <a:ext cx="5215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Consolas" panose="020B0609020204030204" pitchFamily="49" charset="0"/>
                <a:ea typeface="微软雅黑" panose="020B0503020204020204" pitchFamily="34" charset="-122"/>
              </a:rPr>
              <a:t>t</a:t>
            </a:r>
            <a:endParaRPr lang="zh-CN" altLang="en-US" sz="2400" dirty="0"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6B84A51-37BD-101D-90B9-422B87DBFDFD}"/>
              </a:ext>
            </a:extLst>
          </p:cNvPr>
          <p:cNvSpPr txBox="1"/>
          <p:nvPr/>
        </p:nvSpPr>
        <p:spPr>
          <a:xfrm>
            <a:off x="1867437" y="4004725"/>
            <a:ext cx="5215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Consolas" panose="020B0609020204030204" pitchFamily="49" charset="0"/>
                <a:ea typeface="微软雅黑" panose="020B0503020204020204" pitchFamily="34" charset="-122"/>
              </a:rPr>
              <a:t>s</a:t>
            </a:r>
            <a:endParaRPr lang="zh-CN" altLang="en-US" sz="2400" dirty="0"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86268476-54F2-F036-98F9-E215B1C1CD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9443439"/>
              </p:ext>
            </p:extLst>
          </p:nvPr>
        </p:nvGraphicFramePr>
        <p:xfrm>
          <a:off x="2544370" y="1999446"/>
          <a:ext cx="5368050" cy="85621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94675">
                  <a:extLst>
                    <a:ext uri="{9D8B030D-6E8A-4147-A177-3AD203B41FA5}">
                      <a16:colId xmlns:a16="http://schemas.microsoft.com/office/drawing/2014/main" val="194769566"/>
                    </a:ext>
                  </a:extLst>
                </a:gridCol>
                <a:gridCol w="894675">
                  <a:extLst>
                    <a:ext uri="{9D8B030D-6E8A-4147-A177-3AD203B41FA5}">
                      <a16:colId xmlns:a16="http://schemas.microsoft.com/office/drawing/2014/main" val="2521350389"/>
                    </a:ext>
                  </a:extLst>
                </a:gridCol>
                <a:gridCol w="894675">
                  <a:extLst>
                    <a:ext uri="{9D8B030D-6E8A-4147-A177-3AD203B41FA5}">
                      <a16:colId xmlns:a16="http://schemas.microsoft.com/office/drawing/2014/main" val="865664572"/>
                    </a:ext>
                  </a:extLst>
                </a:gridCol>
                <a:gridCol w="894675">
                  <a:extLst>
                    <a:ext uri="{9D8B030D-6E8A-4147-A177-3AD203B41FA5}">
                      <a16:colId xmlns:a16="http://schemas.microsoft.com/office/drawing/2014/main" val="1965078545"/>
                    </a:ext>
                  </a:extLst>
                </a:gridCol>
                <a:gridCol w="894675">
                  <a:extLst>
                    <a:ext uri="{9D8B030D-6E8A-4147-A177-3AD203B41FA5}">
                      <a16:colId xmlns:a16="http://schemas.microsoft.com/office/drawing/2014/main" val="2052863620"/>
                    </a:ext>
                  </a:extLst>
                </a:gridCol>
                <a:gridCol w="894675">
                  <a:extLst>
                    <a:ext uri="{9D8B030D-6E8A-4147-A177-3AD203B41FA5}">
                      <a16:colId xmlns:a16="http://schemas.microsoft.com/office/drawing/2014/main" val="1865490539"/>
                    </a:ext>
                  </a:extLst>
                </a:gridCol>
              </a:tblGrid>
              <a:tr h="85621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H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E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L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L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O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\0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718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5690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4.81481E-6 L 0.00065 0.26388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131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3E184-466D-2D80-AE3F-DFA2F9D01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A3627C-A0B6-AA44-1D99-359EB113D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Strcat</a:t>
            </a:r>
            <a:endParaRPr lang="zh-CN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ADA953D-733A-9CC0-0867-229EBC1A93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920398"/>
              </p:ext>
            </p:extLst>
          </p:nvPr>
        </p:nvGraphicFramePr>
        <p:xfrm>
          <a:off x="6819998" y="3867187"/>
          <a:ext cx="2684025" cy="8562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4675">
                  <a:extLst>
                    <a:ext uri="{9D8B030D-6E8A-4147-A177-3AD203B41FA5}">
                      <a16:colId xmlns:a16="http://schemas.microsoft.com/office/drawing/2014/main" val="194769566"/>
                    </a:ext>
                  </a:extLst>
                </a:gridCol>
                <a:gridCol w="894675">
                  <a:extLst>
                    <a:ext uri="{9D8B030D-6E8A-4147-A177-3AD203B41FA5}">
                      <a16:colId xmlns:a16="http://schemas.microsoft.com/office/drawing/2014/main" val="2521350389"/>
                    </a:ext>
                  </a:extLst>
                </a:gridCol>
                <a:gridCol w="894675">
                  <a:extLst>
                    <a:ext uri="{9D8B030D-6E8A-4147-A177-3AD203B41FA5}">
                      <a16:colId xmlns:a16="http://schemas.microsoft.com/office/drawing/2014/main" val="865664572"/>
                    </a:ext>
                  </a:extLst>
                </a:gridCol>
              </a:tblGrid>
              <a:tr h="85621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F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G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\0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718936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4737304F-561A-C6F1-FF94-DC682150EAA1}"/>
              </a:ext>
            </a:extLst>
          </p:cNvPr>
          <p:cNvSpPr txBox="1"/>
          <p:nvPr/>
        </p:nvSpPr>
        <p:spPr>
          <a:xfrm>
            <a:off x="6143065" y="4064461"/>
            <a:ext cx="5215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Consolas" panose="020B0609020204030204" pitchFamily="49" charset="0"/>
                <a:ea typeface="微软雅黑" panose="020B0503020204020204" pitchFamily="34" charset="-122"/>
              </a:rPr>
              <a:t>t</a:t>
            </a:r>
            <a:endParaRPr lang="zh-CN" altLang="en-US" sz="2400" dirty="0"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B79A76CC-2690-EB0D-331B-AA004D309F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3475468"/>
              </p:ext>
            </p:extLst>
          </p:nvPr>
        </p:nvGraphicFramePr>
        <p:xfrm>
          <a:off x="2329217" y="2143523"/>
          <a:ext cx="8061381" cy="8562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5709">
                  <a:extLst>
                    <a:ext uri="{9D8B030D-6E8A-4147-A177-3AD203B41FA5}">
                      <a16:colId xmlns:a16="http://schemas.microsoft.com/office/drawing/2014/main" val="194769566"/>
                    </a:ext>
                  </a:extLst>
                </a:gridCol>
                <a:gridCol w="895709">
                  <a:extLst>
                    <a:ext uri="{9D8B030D-6E8A-4147-A177-3AD203B41FA5}">
                      <a16:colId xmlns:a16="http://schemas.microsoft.com/office/drawing/2014/main" val="2521350389"/>
                    </a:ext>
                  </a:extLst>
                </a:gridCol>
                <a:gridCol w="895709">
                  <a:extLst>
                    <a:ext uri="{9D8B030D-6E8A-4147-A177-3AD203B41FA5}">
                      <a16:colId xmlns:a16="http://schemas.microsoft.com/office/drawing/2014/main" val="865664572"/>
                    </a:ext>
                  </a:extLst>
                </a:gridCol>
                <a:gridCol w="895709">
                  <a:extLst>
                    <a:ext uri="{9D8B030D-6E8A-4147-A177-3AD203B41FA5}">
                      <a16:colId xmlns:a16="http://schemas.microsoft.com/office/drawing/2014/main" val="1965078545"/>
                    </a:ext>
                  </a:extLst>
                </a:gridCol>
                <a:gridCol w="895709">
                  <a:extLst>
                    <a:ext uri="{9D8B030D-6E8A-4147-A177-3AD203B41FA5}">
                      <a16:colId xmlns:a16="http://schemas.microsoft.com/office/drawing/2014/main" val="2052863620"/>
                    </a:ext>
                  </a:extLst>
                </a:gridCol>
                <a:gridCol w="895709">
                  <a:extLst>
                    <a:ext uri="{9D8B030D-6E8A-4147-A177-3AD203B41FA5}">
                      <a16:colId xmlns:a16="http://schemas.microsoft.com/office/drawing/2014/main" val="1865490539"/>
                    </a:ext>
                  </a:extLst>
                </a:gridCol>
                <a:gridCol w="895709">
                  <a:extLst>
                    <a:ext uri="{9D8B030D-6E8A-4147-A177-3AD203B41FA5}">
                      <a16:colId xmlns:a16="http://schemas.microsoft.com/office/drawing/2014/main" val="2919456576"/>
                    </a:ext>
                  </a:extLst>
                </a:gridCol>
                <a:gridCol w="895709">
                  <a:extLst>
                    <a:ext uri="{9D8B030D-6E8A-4147-A177-3AD203B41FA5}">
                      <a16:colId xmlns:a16="http://schemas.microsoft.com/office/drawing/2014/main" val="1445634845"/>
                    </a:ext>
                  </a:extLst>
                </a:gridCol>
                <a:gridCol w="895709">
                  <a:extLst>
                    <a:ext uri="{9D8B030D-6E8A-4147-A177-3AD203B41FA5}">
                      <a16:colId xmlns:a16="http://schemas.microsoft.com/office/drawing/2014/main" val="581557370"/>
                    </a:ext>
                  </a:extLst>
                </a:gridCol>
              </a:tblGrid>
              <a:tr h="85621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A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B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C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D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E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\0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718936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EED7238D-4715-1B58-41DB-1C3338F3F8FE}"/>
              </a:ext>
            </a:extLst>
          </p:cNvPr>
          <p:cNvSpPr txBox="1"/>
          <p:nvPr/>
        </p:nvSpPr>
        <p:spPr>
          <a:xfrm>
            <a:off x="1652284" y="2340797"/>
            <a:ext cx="5215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Consolas" panose="020B0609020204030204" pitchFamily="49" charset="0"/>
                <a:ea typeface="微软雅黑" panose="020B0503020204020204" pitchFamily="34" charset="-122"/>
              </a:rPr>
              <a:t>s</a:t>
            </a:r>
            <a:endParaRPr lang="zh-CN" altLang="en-US" sz="2400" dirty="0"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7F9BABD1-FBD7-5620-3D18-2FBDEB41C4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5393087"/>
              </p:ext>
            </p:extLst>
          </p:nvPr>
        </p:nvGraphicFramePr>
        <p:xfrm>
          <a:off x="6819998" y="3867187"/>
          <a:ext cx="2684025" cy="8562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4675">
                  <a:extLst>
                    <a:ext uri="{9D8B030D-6E8A-4147-A177-3AD203B41FA5}">
                      <a16:colId xmlns:a16="http://schemas.microsoft.com/office/drawing/2014/main" val="194769566"/>
                    </a:ext>
                  </a:extLst>
                </a:gridCol>
                <a:gridCol w="894675">
                  <a:extLst>
                    <a:ext uri="{9D8B030D-6E8A-4147-A177-3AD203B41FA5}">
                      <a16:colId xmlns:a16="http://schemas.microsoft.com/office/drawing/2014/main" val="2521350389"/>
                    </a:ext>
                  </a:extLst>
                </a:gridCol>
                <a:gridCol w="894675">
                  <a:extLst>
                    <a:ext uri="{9D8B030D-6E8A-4147-A177-3AD203B41FA5}">
                      <a16:colId xmlns:a16="http://schemas.microsoft.com/office/drawing/2014/main" val="865664572"/>
                    </a:ext>
                  </a:extLst>
                </a:gridCol>
              </a:tblGrid>
              <a:tr h="85621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F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G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\0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718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1750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2.59259E-6 L -0.00156 -0.2507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" y="-125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A5F3B-ADD8-7605-0C94-9E3A7E64A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E2D8FF-C5F2-A8F6-14DD-E71983AE6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Strcmp</a:t>
            </a:r>
            <a:r>
              <a:rPr lang="zh-CN" altLang="en-US" dirty="0"/>
              <a:t>：相等的情况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494F3C2-8396-FC65-D270-57937BD919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88666"/>
              </p:ext>
            </p:extLst>
          </p:nvPr>
        </p:nvGraphicFramePr>
        <p:xfrm>
          <a:off x="3324300" y="2066681"/>
          <a:ext cx="5368050" cy="85621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94675">
                  <a:extLst>
                    <a:ext uri="{9D8B030D-6E8A-4147-A177-3AD203B41FA5}">
                      <a16:colId xmlns:a16="http://schemas.microsoft.com/office/drawing/2014/main" val="194769566"/>
                    </a:ext>
                  </a:extLst>
                </a:gridCol>
                <a:gridCol w="894675">
                  <a:extLst>
                    <a:ext uri="{9D8B030D-6E8A-4147-A177-3AD203B41FA5}">
                      <a16:colId xmlns:a16="http://schemas.microsoft.com/office/drawing/2014/main" val="2521350389"/>
                    </a:ext>
                  </a:extLst>
                </a:gridCol>
                <a:gridCol w="894675">
                  <a:extLst>
                    <a:ext uri="{9D8B030D-6E8A-4147-A177-3AD203B41FA5}">
                      <a16:colId xmlns:a16="http://schemas.microsoft.com/office/drawing/2014/main" val="865664572"/>
                    </a:ext>
                  </a:extLst>
                </a:gridCol>
                <a:gridCol w="894675">
                  <a:extLst>
                    <a:ext uri="{9D8B030D-6E8A-4147-A177-3AD203B41FA5}">
                      <a16:colId xmlns:a16="http://schemas.microsoft.com/office/drawing/2014/main" val="1965078545"/>
                    </a:ext>
                  </a:extLst>
                </a:gridCol>
                <a:gridCol w="894675">
                  <a:extLst>
                    <a:ext uri="{9D8B030D-6E8A-4147-A177-3AD203B41FA5}">
                      <a16:colId xmlns:a16="http://schemas.microsoft.com/office/drawing/2014/main" val="2052863620"/>
                    </a:ext>
                  </a:extLst>
                </a:gridCol>
                <a:gridCol w="894675">
                  <a:extLst>
                    <a:ext uri="{9D8B030D-6E8A-4147-A177-3AD203B41FA5}">
                      <a16:colId xmlns:a16="http://schemas.microsoft.com/office/drawing/2014/main" val="1865490539"/>
                    </a:ext>
                  </a:extLst>
                </a:gridCol>
              </a:tblGrid>
              <a:tr h="85621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H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E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L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L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O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\0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718936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ED275F4-62D5-EF66-71FF-7CBF17CF1D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9528402"/>
              </p:ext>
            </p:extLst>
          </p:nvPr>
        </p:nvGraphicFramePr>
        <p:xfrm>
          <a:off x="3324300" y="3874686"/>
          <a:ext cx="5374254" cy="8562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5709">
                  <a:extLst>
                    <a:ext uri="{9D8B030D-6E8A-4147-A177-3AD203B41FA5}">
                      <a16:colId xmlns:a16="http://schemas.microsoft.com/office/drawing/2014/main" val="194769566"/>
                    </a:ext>
                  </a:extLst>
                </a:gridCol>
                <a:gridCol w="895709">
                  <a:extLst>
                    <a:ext uri="{9D8B030D-6E8A-4147-A177-3AD203B41FA5}">
                      <a16:colId xmlns:a16="http://schemas.microsoft.com/office/drawing/2014/main" val="2521350389"/>
                    </a:ext>
                  </a:extLst>
                </a:gridCol>
                <a:gridCol w="895709">
                  <a:extLst>
                    <a:ext uri="{9D8B030D-6E8A-4147-A177-3AD203B41FA5}">
                      <a16:colId xmlns:a16="http://schemas.microsoft.com/office/drawing/2014/main" val="865664572"/>
                    </a:ext>
                  </a:extLst>
                </a:gridCol>
                <a:gridCol w="895709">
                  <a:extLst>
                    <a:ext uri="{9D8B030D-6E8A-4147-A177-3AD203B41FA5}">
                      <a16:colId xmlns:a16="http://schemas.microsoft.com/office/drawing/2014/main" val="1965078545"/>
                    </a:ext>
                  </a:extLst>
                </a:gridCol>
                <a:gridCol w="895709">
                  <a:extLst>
                    <a:ext uri="{9D8B030D-6E8A-4147-A177-3AD203B41FA5}">
                      <a16:colId xmlns:a16="http://schemas.microsoft.com/office/drawing/2014/main" val="2052863620"/>
                    </a:ext>
                  </a:extLst>
                </a:gridCol>
                <a:gridCol w="895709">
                  <a:extLst>
                    <a:ext uri="{9D8B030D-6E8A-4147-A177-3AD203B41FA5}">
                      <a16:colId xmlns:a16="http://schemas.microsoft.com/office/drawing/2014/main" val="1865490539"/>
                    </a:ext>
                  </a:extLst>
                </a:gridCol>
              </a:tblGrid>
              <a:tr h="85621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H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E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L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L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O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\0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718936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4AA7889B-1726-E22F-2351-14A4A3F34F7A}"/>
              </a:ext>
            </a:extLst>
          </p:cNvPr>
          <p:cNvSpPr txBox="1"/>
          <p:nvPr/>
        </p:nvSpPr>
        <p:spPr>
          <a:xfrm>
            <a:off x="2647367" y="2263955"/>
            <a:ext cx="5215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Consolas" panose="020B0609020204030204" pitchFamily="49" charset="0"/>
                <a:ea typeface="微软雅黑" panose="020B0503020204020204" pitchFamily="34" charset="-122"/>
              </a:rPr>
              <a:t>s</a:t>
            </a:r>
            <a:endParaRPr lang="zh-CN" altLang="en-US" sz="2400" dirty="0"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AF06F54-77C9-EC5E-16CA-7CBC18B91F9D}"/>
              </a:ext>
            </a:extLst>
          </p:cNvPr>
          <p:cNvSpPr txBox="1"/>
          <p:nvPr/>
        </p:nvSpPr>
        <p:spPr>
          <a:xfrm>
            <a:off x="2647367" y="4071960"/>
            <a:ext cx="5215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Consolas" panose="020B0609020204030204" pitchFamily="49" charset="0"/>
                <a:ea typeface="微软雅黑" panose="020B0503020204020204" pitchFamily="34" charset="-122"/>
              </a:rPr>
              <a:t>t</a:t>
            </a:r>
            <a:endParaRPr lang="zh-CN" altLang="en-US" sz="2400" dirty="0"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377499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52CF0-C39D-E085-FD56-0A865E2AD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A93FDA-F4DF-8294-88B7-ADC55ADD5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Strcmp</a:t>
            </a:r>
            <a:r>
              <a:rPr lang="zh-CN" altLang="en-US" dirty="0"/>
              <a:t>：不相等的情况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93A9087-AEAD-886F-A561-E71F9C23F6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5891363"/>
              </p:ext>
            </p:extLst>
          </p:nvPr>
        </p:nvGraphicFramePr>
        <p:xfrm>
          <a:off x="1717377" y="1555692"/>
          <a:ext cx="3583344" cy="57155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97224">
                  <a:extLst>
                    <a:ext uri="{9D8B030D-6E8A-4147-A177-3AD203B41FA5}">
                      <a16:colId xmlns:a16="http://schemas.microsoft.com/office/drawing/2014/main" val="194769566"/>
                    </a:ext>
                  </a:extLst>
                </a:gridCol>
                <a:gridCol w="597224">
                  <a:extLst>
                    <a:ext uri="{9D8B030D-6E8A-4147-A177-3AD203B41FA5}">
                      <a16:colId xmlns:a16="http://schemas.microsoft.com/office/drawing/2014/main" val="2521350389"/>
                    </a:ext>
                  </a:extLst>
                </a:gridCol>
                <a:gridCol w="597224">
                  <a:extLst>
                    <a:ext uri="{9D8B030D-6E8A-4147-A177-3AD203B41FA5}">
                      <a16:colId xmlns:a16="http://schemas.microsoft.com/office/drawing/2014/main" val="865664572"/>
                    </a:ext>
                  </a:extLst>
                </a:gridCol>
                <a:gridCol w="597224">
                  <a:extLst>
                    <a:ext uri="{9D8B030D-6E8A-4147-A177-3AD203B41FA5}">
                      <a16:colId xmlns:a16="http://schemas.microsoft.com/office/drawing/2014/main" val="1965078545"/>
                    </a:ext>
                  </a:extLst>
                </a:gridCol>
                <a:gridCol w="597224">
                  <a:extLst>
                    <a:ext uri="{9D8B030D-6E8A-4147-A177-3AD203B41FA5}">
                      <a16:colId xmlns:a16="http://schemas.microsoft.com/office/drawing/2014/main" val="2052863620"/>
                    </a:ext>
                  </a:extLst>
                </a:gridCol>
                <a:gridCol w="597224">
                  <a:extLst>
                    <a:ext uri="{9D8B030D-6E8A-4147-A177-3AD203B41FA5}">
                      <a16:colId xmlns:a16="http://schemas.microsoft.com/office/drawing/2014/main" val="1865490539"/>
                    </a:ext>
                  </a:extLst>
                </a:gridCol>
              </a:tblGrid>
              <a:tr h="57155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effectLst/>
                          <a:latin typeface="Consolas" panose="020B0609020204030204" pitchFamily="49" charset="0"/>
                        </a:rPr>
                        <a:t>H</a:t>
                      </a:r>
                      <a:endParaRPr lang="zh-CN" altLang="en-US" sz="1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1039" marR="61039" marT="30519" marB="30519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effectLst/>
                          <a:latin typeface="Consolas" panose="020B0609020204030204" pitchFamily="49" charset="0"/>
                        </a:rPr>
                        <a:t>E</a:t>
                      </a:r>
                      <a:endParaRPr lang="zh-CN" altLang="en-US" sz="1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1039" marR="61039" marT="30519" marB="30519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effectLst/>
                          <a:latin typeface="Consolas" panose="020B0609020204030204" pitchFamily="49" charset="0"/>
                        </a:rPr>
                        <a:t>L</a:t>
                      </a:r>
                      <a:endParaRPr lang="zh-CN" altLang="en-US" sz="1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1039" marR="61039" marT="30519" marB="30519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effectLst/>
                          <a:latin typeface="Consolas" panose="020B0609020204030204" pitchFamily="49" charset="0"/>
                        </a:rPr>
                        <a:t>L</a:t>
                      </a:r>
                      <a:endParaRPr lang="zh-CN" altLang="en-US" sz="1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1039" marR="61039" marT="30519" marB="30519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effectLst/>
                          <a:latin typeface="Consolas" panose="020B0609020204030204" pitchFamily="49" charset="0"/>
                        </a:rPr>
                        <a:t>O</a:t>
                      </a:r>
                      <a:endParaRPr lang="zh-CN" altLang="en-US" sz="1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1039" marR="61039" marT="30519" marB="30519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effectLst/>
                          <a:latin typeface="Consolas" panose="020B0609020204030204" pitchFamily="49" charset="0"/>
                        </a:rPr>
                        <a:t>\0</a:t>
                      </a:r>
                      <a:endParaRPr lang="zh-CN" altLang="en-US" sz="1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1039" marR="61039" marT="30519" marB="30519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718936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2B7DA8FC-EB5B-0C6A-AB87-BF35652CB9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459750"/>
              </p:ext>
            </p:extLst>
          </p:nvPr>
        </p:nvGraphicFramePr>
        <p:xfrm>
          <a:off x="1713231" y="2435849"/>
          <a:ext cx="3587490" cy="57155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7915">
                  <a:extLst>
                    <a:ext uri="{9D8B030D-6E8A-4147-A177-3AD203B41FA5}">
                      <a16:colId xmlns:a16="http://schemas.microsoft.com/office/drawing/2014/main" val="194769566"/>
                    </a:ext>
                  </a:extLst>
                </a:gridCol>
                <a:gridCol w="597915">
                  <a:extLst>
                    <a:ext uri="{9D8B030D-6E8A-4147-A177-3AD203B41FA5}">
                      <a16:colId xmlns:a16="http://schemas.microsoft.com/office/drawing/2014/main" val="2521350389"/>
                    </a:ext>
                  </a:extLst>
                </a:gridCol>
                <a:gridCol w="597915">
                  <a:extLst>
                    <a:ext uri="{9D8B030D-6E8A-4147-A177-3AD203B41FA5}">
                      <a16:colId xmlns:a16="http://schemas.microsoft.com/office/drawing/2014/main" val="865664572"/>
                    </a:ext>
                  </a:extLst>
                </a:gridCol>
                <a:gridCol w="597915">
                  <a:extLst>
                    <a:ext uri="{9D8B030D-6E8A-4147-A177-3AD203B41FA5}">
                      <a16:colId xmlns:a16="http://schemas.microsoft.com/office/drawing/2014/main" val="1965078545"/>
                    </a:ext>
                  </a:extLst>
                </a:gridCol>
                <a:gridCol w="597915">
                  <a:extLst>
                    <a:ext uri="{9D8B030D-6E8A-4147-A177-3AD203B41FA5}">
                      <a16:colId xmlns:a16="http://schemas.microsoft.com/office/drawing/2014/main" val="2052863620"/>
                    </a:ext>
                  </a:extLst>
                </a:gridCol>
                <a:gridCol w="597915">
                  <a:extLst>
                    <a:ext uri="{9D8B030D-6E8A-4147-A177-3AD203B41FA5}">
                      <a16:colId xmlns:a16="http://schemas.microsoft.com/office/drawing/2014/main" val="1865490539"/>
                    </a:ext>
                  </a:extLst>
                </a:gridCol>
              </a:tblGrid>
              <a:tr h="57155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effectLst/>
                          <a:latin typeface="Consolas" panose="020B0609020204030204" pitchFamily="49" charset="0"/>
                        </a:rPr>
                        <a:t>H</a:t>
                      </a:r>
                      <a:endParaRPr lang="zh-CN" altLang="en-US" sz="1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1039" marR="61039" marT="30519" marB="30519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effectLst/>
                          <a:latin typeface="Consolas" panose="020B0609020204030204" pitchFamily="49" charset="0"/>
                        </a:rPr>
                        <a:t>e</a:t>
                      </a:r>
                      <a:endParaRPr lang="zh-CN" altLang="en-US" sz="1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1039" marR="61039" marT="30519" marB="30519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effectLst/>
                          <a:latin typeface="Consolas" panose="020B0609020204030204" pitchFamily="49" charset="0"/>
                        </a:rPr>
                        <a:t>l</a:t>
                      </a:r>
                      <a:endParaRPr lang="zh-CN" altLang="en-US" sz="1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1039" marR="61039" marT="30519" marB="30519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effectLst/>
                          <a:latin typeface="Consolas" panose="020B0609020204030204" pitchFamily="49" charset="0"/>
                        </a:rPr>
                        <a:t>l</a:t>
                      </a:r>
                      <a:endParaRPr lang="zh-CN" altLang="en-US" sz="1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1039" marR="61039" marT="30519" marB="30519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effectLst/>
                          <a:latin typeface="Consolas" panose="020B0609020204030204" pitchFamily="49" charset="0"/>
                        </a:rPr>
                        <a:t>o</a:t>
                      </a:r>
                      <a:endParaRPr lang="zh-CN" altLang="en-US" sz="1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1039" marR="61039" marT="30519" marB="30519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effectLst/>
                          <a:latin typeface="Consolas" panose="020B0609020204030204" pitchFamily="49" charset="0"/>
                        </a:rPr>
                        <a:t>\0</a:t>
                      </a:r>
                      <a:endParaRPr lang="zh-CN" altLang="en-US" sz="1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1039" marR="61039" marT="30519" marB="30519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718936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1C7E8422-968F-CACA-E5A4-B2E6F5DDD955}"/>
              </a:ext>
            </a:extLst>
          </p:cNvPr>
          <p:cNvSpPr txBox="1"/>
          <p:nvPr/>
        </p:nvSpPr>
        <p:spPr>
          <a:xfrm>
            <a:off x="1040444" y="1610634"/>
            <a:ext cx="5215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Consolas" panose="020B0609020204030204" pitchFamily="49" charset="0"/>
                <a:ea typeface="微软雅黑" panose="020B0503020204020204" pitchFamily="34" charset="-122"/>
              </a:rPr>
              <a:t>s</a:t>
            </a:r>
            <a:endParaRPr lang="zh-CN" altLang="en-US" sz="2400" dirty="0"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63318E4-0BD2-4482-84E6-7D70CE0139FD}"/>
              </a:ext>
            </a:extLst>
          </p:cNvPr>
          <p:cNvSpPr txBox="1"/>
          <p:nvPr/>
        </p:nvSpPr>
        <p:spPr>
          <a:xfrm>
            <a:off x="1036298" y="2477929"/>
            <a:ext cx="5215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Consolas" panose="020B0609020204030204" pitchFamily="49" charset="0"/>
                <a:ea typeface="微软雅黑" panose="020B0503020204020204" pitchFamily="34" charset="-122"/>
              </a:rPr>
              <a:t>t</a:t>
            </a:r>
            <a:endParaRPr lang="zh-CN" altLang="en-US" sz="2400" dirty="0"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16F64554-D1DF-CD67-79FB-3E68ADE661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4141519"/>
              </p:ext>
            </p:extLst>
          </p:nvPr>
        </p:nvGraphicFramePr>
        <p:xfrm>
          <a:off x="7141024" y="1555692"/>
          <a:ext cx="3583344" cy="57155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97224">
                  <a:extLst>
                    <a:ext uri="{9D8B030D-6E8A-4147-A177-3AD203B41FA5}">
                      <a16:colId xmlns:a16="http://schemas.microsoft.com/office/drawing/2014/main" val="194769566"/>
                    </a:ext>
                  </a:extLst>
                </a:gridCol>
                <a:gridCol w="597224">
                  <a:extLst>
                    <a:ext uri="{9D8B030D-6E8A-4147-A177-3AD203B41FA5}">
                      <a16:colId xmlns:a16="http://schemas.microsoft.com/office/drawing/2014/main" val="2521350389"/>
                    </a:ext>
                  </a:extLst>
                </a:gridCol>
                <a:gridCol w="597224">
                  <a:extLst>
                    <a:ext uri="{9D8B030D-6E8A-4147-A177-3AD203B41FA5}">
                      <a16:colId xmlns:a16="http://schemas.microsoft.com/office/drawing/2014/main" val="865664572"/>
                    </a:ext>
                  </a:extLst>
                </a:gridCol>
                <a:gridCol w="597224">
                  <a:extLst>
                    <a:ext uri="{9D8B030D-6E8A-4147-A177-3AD203B41FA5}">
                      <a16:colId xmlns:a16="http://schemas.microsoft.com/office/drawing/2014/main" val="1965078545"/>
                    </a:ext>
                  </a:extLst>
                </a:gridCol>
                <a:gridCol w="597224">
                  <a:extLst>
                    <a:ext uri="{9D8B030D-6E8A-4147-A177-3AD203B41FA5}">
                      <a16:colId xmlns:a16="http://schemas.microsoft.com/office/drawing/2014/main" val="2052863620"/>
                    </a:ext>
                  </a:extLst>
                </a:gridCol>
                <a:gridCol w="597224">
                  <a:extLst>
                    <a:ext uri="{9D8B030D-6E8A-4147-A177-3AD203B41FA5}">
                      <a16:colId xmlns:a16="http://schemas.microsoft.com/office/drawing/2014/main" val="1865490539"/>
                    </a:ext>
                  </a:extLst>
                </a:gridCol>
              </a:tblGrid>
              <a:tr h="57155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effectLst/>
                          <a:latin typeface="Consolas" panose="020B0609020204030204" pitchFamily="49" charset="0"/>
                        </a:rPr>
                        <a:t>H</a:t>
                      </a:r>
                      <a:endParaRPr lang="zh-CN" altLang="en-US" sz="1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1039" marR="61039" marT="30519" marB="30519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effectLst/>
                          <a:latin typeface="Consolas" panose="020B0609020204030204" pitchFamily="49" charset="0"/>
                        </a:rPr>
                        <a:t>E</a:t>
                      </a:r>
                      <a:endParaRPr lang="zh-CN" altLang="en-US" sz="1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1039" marR="61039" marT="30519" marB="30519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effectLst/>
                          <a:latin typeface="Consolas" panose="020B0609020204030204" pitchFamily="49" charset="0"/>
                        </a:rPr>
                        <a:t>L</a:t>
                      </a:r>
                      <a:endParaRPr lang="zh-CN" altLang="en-US" sz="1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1039" marR="61039" marT="30519" marB="30519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effectLst/>
                          <a:latin typeface="Consolas" panose="020B0609020204030204" pitchFamily="49" charset="0"/>
                        </a:rPr>
                        <a:t>L</a:t>
                      </a:r>
                      <a:endParaRPr lang="zh-CN" altLang="en-US" sz="1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1039" marR="61039" marT="30519" marB="30519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effectLst/>
                          <a:latin typeface="Consolas" panose="020B0609020204030204" pitchFamily="49" charset="0"/>
                        </a:rPr>
                        <a:t>O</a:t>
                      </a:r>
                      <a:endParaRPr lang="zh-CN" altLang="en-US" sz="1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1039" marR="61039" marT="30519" marB="30519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effectLst/>
                          <a:latin typeface="Consolas" panose="020B0609020204030204" pitchFamily="49" charset="0"/>
                        </a:rPr>
                        <a:t>\0</a:t>
                      </a:r>
                      <a:endParaRPr lang="zh-CN" altLang="en-US" sz="1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1039" marR="61039" marT="30519" marB="30519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718936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65635E29-E804-E103-CA7F-92E9631F5F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3754656"/>
              </p:ext>
            </p:extLst>
          </p:nvPr>
        </p:nvGraphicFramePr>
        <p:xfrm>
          <a:off x="7136878" y="2435849"/>
          <a:ext cx="2989575" cy="57155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7915">
                  <a:extLst>
                    <a:ext uri="{9D8B030D-6E8A-4147-A177-3AD203B41FA5}">
                      <a16:colId xmlns:a16="http://schemas.microsoft.com/office/drawing/2014/main" val="194769566"/>
                    </a:ext>
                  </a:extLst>
                </a:gridCol>
                <a:gridCol w="597915">
                  <a:extLst>
                    <a:ext uri="{9D8B030D-6E8A-4147-A177-3AD203B41FA5}">
                      <a16:colId xmlns:a16="http://schemas.microsoft.com/office/drawing/2014/main" val="2521350389"/>
                    </a:ext>
                  </a:extLst>
                </a:gridCol>
                <a:gridCol w="597915">
                  <a:extLst>
                    <a:ext uri="{9D8B030D-6E8A-4147-A177-3AD203B41FA5}">
                      <a16:colId xmlns:a16="http://schemas.microsoft.com/office/drawing/2014/main" val="865664572"/>
                    </a:ext>
                  </a:extLst>
                </a:gridCol>
                <a:gridCol w="597915">
                  <a:extLst>
                    <a:ext uri="{9D8B030D-6E8A-4147-A177-3AD203B41FA5}">
                      <a16:colId xmlns:a16="http://schemas.microsoft.com/office/drawing/2014/main" val="1965078545"/>
                    </a:ext>
                  </a:extLst>
                </a:gridCol>
                <a:gridCol w="597915">
                  <a:extLst>
                    <a:ext uri="{9D8B030D-6E8A-4147-A177-3AD203B41FA5}">
                      <a16:colId xmlns:a16="http://schemas.microsoft.com/office/drawing/2014/main" val="2052863620"/>
                    </a:ext>
                  </a:extLst>
                </a:gridCol>
              </a:tblGrid>
              <a:tr h="57155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effectLst/>
                          <a:latin typeface="Consolas" panose="020B0609020204030204" pitchFamily="49" charset="0"/>
                        </a:rPr>
                        <a:t>H</a:t>
                      </a:r>
                      <a:endParaRPr lang="zh-CN" altLang="en-US" sz="1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1039" marR="61039" marT="30519" marB="30519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effectLst/>
                          <a:latin typeface="Consolas" panose="020B0609020204030204" pitchFamily="49" charset="0"/>
                        </a:rPr>
                        <a:t>E</a:t>
                      </a:r>
                      <a:endParaRPr lang="zh-CN" altLang="en-US" sz="1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1039" marR="61039" marT="30519" marB="30519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effectLst/>
                          <a:latin typeface="Consolas" panose="020B0609020204030204" pitchFamily="49" charset="0"/>
                        </a:rPr>
                        <a:t>L</a:t>
                      </a:r>
                      <a:endParaRPr lang="zh-CN" altLang="en-US" sz="1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1039" marR="61039" marT="30519" marB="30519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effectLst/>
                          <a:latin typeface="Consolas" panose="020B0609020204030204" pitchFamily="49" charset="0"/>
                        </a:rPr>
                        <a:t>L</a:t>
                      </a:r>
                      <a:endParaRPr lang="zh-CN" altLang="en-US" sz="1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1039" marR="61039" marT="30519" marB="30519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effectLst/>
                          <a:latin typeface="Consolas" panose="020B0609020204030204" pitchFamily="49" charset="0"/>
                        </a:rPr>
                        <a:t>\0</a:t>
                      </a:r>
                      <a:endParaRPr lang="zh-CN" altLang="en-US" sz="1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1039" marR="61039" marT="30519" marB="30519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718936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CF49638B-CEA9-9101-30D4-B6C6740C8D61}"/>
              </a:ext>
            </a:extLst>
          </p:cNvPr>
          <p:cNvSpPr txBox="1"/>
          <p:nvPr/>
        </p:nvSpPr>
        <p:spPr>
          <a:xfrm>
            <a:off x="6464091" y="1610634"/>
            <a:ext cx="5215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Consolas" panose="020B0609020204030204" pitchFamily="49" charset="0"/>
                <a:ea typeface="微软雅黑" panose="020B0503020204020204" pitchFamily="34" charset="-122"/>
              </a:rPr>
              <a:t>s</a:t>
            </a:r>
            <a:endParaRPr lang="zh-CN" altLang="en-US" sz="2400" dirty="0"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0A0F683-CA6D-8CFE-8869-2F6E96C3DFE6}"/>
              </a:ext>
            </a:extLst>
          </p:cNvPr>
          <p:cNvSpPr txBox="1"/>
          <p:nvPr/>
        </p:nvSpPr>
        <p:spPr>
          <a:xfrm>
            <a:off x="6459945" y="2477929"/>
            <a:ext cx="5215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Consolas" panose="020B0609020204030204" pitchFamily="49" charset="0"/>
                <a:ea typeface="微软雅黑" panose="020B0503020204020204" pitchFamily="34" charset="-122"/>
              </a:rPr>
              <a:t>t</a:t>
            </a:r>
            <a:endParaRPr lang="zh-CN" altLang="en-US" sz="2400" dirty="0"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A460429C-6FD7-64E7-9E21-1EDFD13F8A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2274596"/>
              </p:ext>
            </p:extLst>
          </p:nvPr>
        </p:nvGraphicFramePr>
        <p:xfrm>
          <a:off x="4471783" y="3872218"/>
          <a:ext cx="2986120" cy="57155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97224">
                  <a:extLst>
                    <a:ext uri="{9D8B030D-6E8A-4147-A177-3AD203B41FA5}">
                      <a16:colId xmlns:a16="http://schemas.microsoft.com/office/drawing/2014/main" val="194769566"/>
                    </a:ext>
                  </a:extLst>
                </a:gridCol>
                <a:gridCol w="597224">
                  <a:extLst>
                    <a:ext uri="{9D8B030D-6E8A-4147-A177-3AD203B41FA5}">
                      <a16:colId xmlns:a16="http://schemas.microsoft.com/office/drawing/2014/main" val="2521350389"/>
                    </a:ext>
                  </a:extLst>
                </a:gridCol>
                <a:gridCol w="597224">
                  <a:extLst>
                    <a:ext uri="{9D8B030D-6E8A-4147-A177-3AD203B41FA5}">
                      <a16:colId xmlns:a16="http://schemas.microsoft.com/office/drawing/2014/main" val="865664572"/>
                    </a:ext>
                  </a:extLst>
                </a:gridCol>
                <a:gridCol w="597224">
                  <a:extLst>
                    <a:ext uri="{9D8B030D-6E8A-4147-A177-3AD203B41FA5}">
                      <a16:colId xmlns:a16="http://schemas.microsoft.com/office/drawing/2014/main" val="1965078545"/>
                    </a:ext>
                  </a:extLst>
                </a:gridCol>
                <a:gridCol w="597224">
                  <a:extLst>
                    <a:ext uri="{9D8B030D-6E8A-4147-A177-3AD203B41FA5}">
                      <a16:colId xmlns:a16="http://schemas.microsoft.com/office/drawing/2014/main" val="1865490539"/>
                    </a:ext>
                  </a:extLst>
                </a:gridCol>
              </a:tblGrid>
              <a:tr h="57155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effectLst/>
                          <a:latin typeface="Consolas" panose="020B0609020204030204" pitchFamily="49" charset="0"/>
                        </a:rPr>
                        <a:t>H</a:t>
                      </a:r>
                      <a:endParaRPr lang="zh-CN" altLang="en-US" sz="1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1039" marR="61039" marT="30519" marB="30519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effectLst/>
                          <a:latin typeface="Consolas" panose="020B0609020204030204" pitchFamily="49" charset="0"/>
                        </a:rPr>
                        <a:t>E</a:t>
                      </a:r>
                      <a:endParaRPr lang="zh-CN" altLang="en-US" sz="1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1039" marR="61039" marT="30519" marB="30519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effectLst/>
                          <a:latin typeface="Consolas" panose="020B0609020204030204" pitchFamily="49" charset="0"/>
                        </a:rPr>
                        <a:t>L</a:t>
                      </a:r>
                      <a:endParaRPr lang="zh-CN" altLang="en-US" sz="1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1039" marR="61039" marT="30519" marB="30519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effectLst/>
                          <a:latin typeface="Consolas" panose="020B0609020204030204" pitchFamily="49" charset="0"/>
                        </a:rPr>
                        <a:t>L</a:t>
                      </a:r>
                      <a:endParaRPr lang="zh-CN" altLang="en-US" sz="1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1039" marR="61039" marT="30519" marB="30519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effectLst/>
                          <a:latin typeface="Consolas" panose="020B0609020204030204" pitchFamily="49" charset="0"/>
                        </a:rPr>
                        <a:t>\0</a:t>
                      </a:r>
                      <a:endParaRPr lang="zh-CN" altLang="en-US" sz="1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1039" marR="61039" marT="30519" marB="30519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718936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62B7AB56-4C92-7148-7207-B34EA9F13E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5987604"/>
              </p:ext>
            </p:extLst>
          </p:nvPr>
        </p:nvGraphicFramePr>
        <p:xfrm>
          <a:off x="4467637" y="4752375"/>
          <a:ext cx="3587490" cy="57155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7915">
                  <a:extLst>
                    <a:ext uri="{9D8B030D-6E8A-4147-A177-3AD203B41FA5}">
                      <a16:colId xmlns:a16="http://schemas.microsoft.com/office/drawing/2014/main" val="194769566"/>
                    </a:ext>
                  </a:extLst>
                </a:gridCol>
                <a:gridCol w="597915">
                  <a:extLst>
                    <a:ext uri="{9D8B030D-6E8A-4147-A177-3AD203B41FA5}">
                      <a16:colId xmlns:a16="http://schemas.microsoft.com/office/drawing/2014/main" val="2521350389"/>
                    </a:ext>
                  </a:extLst>
                </a:gridCol>
                <a:gridCol w="597915">
                  <a:extLst>
                    <a:ext uri="{9D8B030D-6E8A-4147-A177-3AD203B41FA5}">
                      <a16:colId xmlns:a16="http://schemas.microsoft.com/office/drawing/2014/main" val="865664572"/>
                    </a:ext>
                  </a:extLst>
                </a:gridCol>
                <a:gridCol w="597915">
                  <a:extLst>
                    <a:ext uri="{9D8B030D-6E8A-4147-A177-3AD203B41FA5}">
                      <a16:colId xmlns:a16="http://schemas.microsoft.com/office/drawing/2014/main" val="1965078545"/>
                    </a:ext>
                  </a:extLst>
                </a:gridCol>
                <a:gridCol w="597915">
                  <a:extLst>
                    <a:ext uri="{9D8B030D-6E8A-4147-A177-3AD203B41FA5}">
                      <a16:colId xmlns:a16="http://schemas.microsoft.com/office/drawing/2014/main" val="2052863620"/>
                    </a:ext>
                  </a:extLst>
                </a:gridCol>
                <a:gridCol w="597915">
                  <a:extLst>
                    <a:ext uri="{9D8B030D-6E8A-4147-A177-3AD203B41FA5}">
                      <a16:colId xmlns:a16="http://schemas.microsoft.com/office/drawing/2014/main" val="1865490539"/>
                    </a:ext>
                  </a:extLst>
                </a:gridCol>
              </a:tblGrid>
              <a:tr h="57155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effectLst/>
                          <a:latin typeface="Consolas" panose="020B0609020204030204" pitchFamily="49" charset="0"/>
                        </a:rPr>
                        <a:t>H</a:t>
                      </a:r>
                      <a:endParaRPr lang="zh-CN" altLang="en-US" sz="1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1039" marR="61039" marT="30519" marB="30519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effectLst/>
                          <a:latin typeface="Consolas" panose="020B0609020204030204" pitchFamily="49" charset="0"/>
                        </a:rPr>
                        <a:t>E</a:t>
                      </a:r>
                      <a:endParaRPr lang="zh-CN" altLang="en-US" sz="1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1039" marR="61039" marT="30519" marB="30519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effectLst/>
                          <a:latin typeface="Consolas" panose="020B0609020204030204" pitchFamily="49" charset="0"/>
                        </a:rPr>
                        <a:t>L</a:t>
                      </a:r>
                      <a:endParaRPr lang="zh-CN" altLang="en-US" sz="1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1039" marR="61039" marT="30519" marB="30519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effectLst/>
                          <a:latin typeface="Consolas" panose="020B0609020204030204" pitchFamily="49" charset="0"/>
                        </a:rPr>
                        <a:t>L</a:t>
                      </a:r>
                      <a:endParaRPr lang="zh-CN" altLang="en-US" sz="1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1039" marR="61039" marT="30519" marB="30519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effectLst/>
                          <a:latin typeface="Consolas" panose="020B0609020204030204" pitchFamily="49" charset="0"/>
                        </a:rPr>
                        <a:t>O</a:t>
                      </a:r>
                      <a:endParaRPr lang="zh-CN" altLang="en-US" sz="1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1039" marR="61039" marT="30519" marB="30519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effectLst/>
                          <a:latin typeface="Consolas" panose="020B0609020204030204" pitchFamily="49" charset="0"/>
                        </a:rPr>
                        <a:t>\0</a:t>
                      </a:r>
                      <a:endParaRPr lang="zh-CN" altLang="en-US" sz="1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1039" marR="61039" marT="30519" marB="30519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718936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FB24869E-EA3F-3671-CD8B-17F7C99558F3}"/>
              </a:ext>
            </a:extLst>
          </p:cNvPr>
          <p:cNvSpPr txBox="1"/>
          <p:nvPr/>
        </p:nvSpPr>
        <p:spPr>
          <a:xfrm>
            <a:off x="3794850" y="3927160"/>
            <a:ext cx="5215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Consolas" panose="020B0609020204030204" pitchFamily="49" charset="0"/>
                <a:ea typeface="微软雅黑" panose="020B0503020204020204" pitchFamily="34" charset="-122"/>
              </a:rPr>
              <a:t>s</a:t>
            </a:r>
            <a:endParaRPr lang="zh-CN" altLang="en-US" sz="2400" dirty="0"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1DDFA6F-2230-5C85-402D-E88E9FE86E77}"/>
              </a:ext>
            </a:extLst>
          </p:cNvPr>
          <p:cNvSpPr txBox="1"/>
          <p:nvPr/>
        </p:nvSpPr>
        <p:spPr>
          <a:xfrm>
            <a:off x="3790704" y="4794455"/>
            <a:ext cx="5215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Consolas" panose="020B0609020204030204" pitchFamily="49" charset="0"/>
                <a:ea typeface="微软雅黑" panose="020B0503020204020204" pitchFamily="34" charset="-122"/>
              </a:rPr>
              <a:t>t</a:t>
            </a:r>
            <a:endParaRPr lang="zh-CN" altLang="en-US" sz="2400" dirty="0"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78BF5E9-38E8-6616-B830-26E78BFA8DFB}"/>
              </a:ext>
            </a:extLst>
          </p:cNvPr>
          <p:cNvSpPr txBox="1"/>
          <p:nvPr/>
        </p:nvSpPr>
        <p:spPr>
          <a:xfrm>
            <a:off x="2476044" y="3128034"/>
            <a:ext cx="19915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</a:rPr>
              <a:t>对应位置字符不同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8A68634-CAB0-4803-E2E9-9E0D0BB6F7D8}"/>
              </a:ext>
            </a:extLst>
          </p:cNvPr>
          <p:cNvSpPr txBox="1"/>
          <p:nvPr/>
        </p:nvSpPr>
        <p:spPr>
          <a:xfrm>
            <a:off x="8055127" y="3162820"/>
            <a:ext cx="19915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</a:rPr>
              <a:t>串长度不同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76D0CB1-D602-71E1-7353-38A22D0D2505}"/>
              </a:ext>
            </a:extLst>
          </p:cNvPr>
          <p:cNvSpPr txBox="1"/>
          <p:nvPr/>
        </p:nvSpPr>
        <p:spPr>
          <a:xfrm>
            <a:off x="5265585" y="5497339"/>
            <a:ext cx="19915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</a:rPr>
              <a:t>串长度不同</a:t>
            </a:r>
          </a:p>
        </p:txBody>
      </p:sp>
    </p:spTree>
    <p:extLst>
      <p:ext uri="{BB962C8B-B14F-4D97-AF65-F5344CB8AC3E}">
        <p14:creationId xmlns:p14="http://schemas.microsoft.com/office/powerpoint/2010/main" val="2395578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F16C2-B6B5-7F78-B15F-60FDD7623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B0E8A7-676D-5E62-5AD8-D579872C0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Strcmp</a:t>
            </a:r>
            <a:r>
              <a:rPr lang="zh-CN" altLang="en-US" dirty="0"/>
              <a:t>：策略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8DFC6F6-0F0D-4797-F2EE-F3562283EF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9768761"/>
              </p:ext>
            </p:extLst>
          </p:nvPr>
        </p:nvGraphicFramePr>
        <p:xfrm>
          <a:off x="1186218" y="2652039"/>
          <a:ext cx="5368050" cy="85621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94675">
                  <a:extLst>
                    <a:ext uri="{9D8B030D-6E8A-4147-A177-3AD203B41FA5}">
                      <a16:colId xmlns:a16="http://schemas.microsoft.com/office/drawing/2014/main" val="194769566"/>
                    </a:ext>
                  </a:extLst>
                </a:gridCol>
                <a:gridCol w="894675">
                  <a:extLst>
                    <a:ext uri="{9D8B030D-6E8A-4147-A177-3AD203B41FA5}">
                      <a16:colId xmlns:a16="http://schemas.microsoft.com/office/drawing/2014/main" val="2521350389"/>
                    </a:ext>
                  </a:extLst>
                </a:gridCol>
                <a:gridCol w="894675">
                  <a:extLst>
                    <a:ext uri="{9D8B030D-6E8A-4147-A177-3AD203B41FA5}">
                      <a16:colId xmlns:a16="http://schemas.microsoft.com/office/drawing/2014/main" val="865664572"/>
                    </a:ext>
                  </a:extLst>
                </a:gridCol>
                <a:gridCol w="894675">
                  <a:extLst>
                    <a:ext uri="{9D8B030D-6E8A-4147-A177-3AD203B41FA5}">
                      <a16:colId xmlns:a16="http://schemas.microsoft.com/office/drawing/2014/main" val="1965078545"/>
                    </a:ext>
                  </a:extLst>
                </a:gridCol>
                <a:gridCol w="894675">
                  <a:extLst>
                    <a:ext uri="{9D8B030D-6E8A-4147-A177-3AD203B41FA5}">
                      <a16:colId xmlns:a16="http://schemas.microsoft.com/office/drawing/2014/main" val="2052863620"/>
                    </a:ext>
                  </a:extLst>
                </a:gridCol>
                <a:gridCol w="894675">
                  <a:extLst>
                    <a:ext uri="{9D8B030D-6E8A-4147-A177-3AD203B41FA5}">
                      <a16:colId xmlns:a16="http://schemas.microsoft.com/office/drawing/2014/main" val="1865490539"/>
                    </a:ext>
                  </a:extLst>
                </a:gridCol>
              </a:tblGrid>
              <a:tr h="85621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H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E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L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L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O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\0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718936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8B258AF-6077-BC94-2634-47223E04DE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3682482"/>
              </p:ext>
            </p:extLst>
          </p:nvPr>
        </p:nvGraphicFramePr>
        <p:xfrm>
          <a:off x="1186218" y="3720045"/>
          <a:ext cx="5374254" cy="8562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5709">
                  <a:extLst>
                    <a:ext uri="{9D8B030D-6E8A-4147-A177-3AD203B41FA5}">
                      <a16:colId xmlns:a16="http://schemas.microsoft.com/office/drawing/2014/main" val="194769566"/>
                    </a:ext>
                  </a:extLst>
                </a:gridCol>
                <a:gridCol w="895709">
                  <a:extLst>
                    <a:ext uri="{9D8B030D-6E8A-4147-A177-3AD203B41FA5}">
                      <a16:colId xmlns:a16="http://schemas.microsoft.com/office/drawing/2014/main" val="2521350389"/>
                    </a:ext>
                  </a:extLst>
                </a:gridCol>
                <a:gridCol w="895709">
                  <a:extLst>
                    <a:ext uri="{9D8B030D-6E8A-4147-A177-3AD203B41FA5}">
                      <a16:colId xmlns:a16="http://schemas.microsoft.com/office/drawing/2014/main" val="865664572"/>
                    </a:ext>
                  </a:extLst>
                </a:gridCol>
                <a:gridCol w="895709">
                  <a:extLst>
                    <a:ext uri="{9D8B030D-6E8A-4147-A177-3AD203B41FA5}">
                      <a16:colId xmlns:a16="http://schemas.microsoft.com/office/drawing/2014/main" val="1965078545"/>
                    </a:ext>
                  </a:extLst>
                </a:gridCol>
                <a:gridCol w="895709">
                  <a:extLst>
                    <a:ext uri="{9D8B030D-6E8A-4147-A177-3AD203B41FA5}">
                      <a16:colId xmlns:a16="http://schemas.microsoft.com/office/drawing/2014/main" val="2052863620"/>
                    </a:ext>
                  </a:extLst>
                </a:gridCol>
                <a:gridCol w="895709">
                  <a:extLst>
                    <a:ext uri="{9D8B030D-6E8A-4147-A177-3AD203B41FA5}">
                      <a16:colId xmlns:a16="http://schemas.microsoft.com/office/drawing/2014/main" val="1865490539"/>
                    </a:ext>
                  </a:extLst>
                </a:gridCol>
              </a:tblGrid>
              <a:tr h="85621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H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E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L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L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O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\0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718936"/>
                  </a:ext>
                </a:extLst>
              </a:tr>
            </a:tbl>
          </a:graphicData>
        </a:graphic>
      </p:graphicFrame>
      <p:grpSp>
        <p:nvGrpSpPr>
          <p:cNvPr id="3" name="组合 2">
            <a:extLst>
              <a:ext uri="{FF2B5EF4-FFF2-40B4-BE49-F238E27FC236}">
                <a16:creationId xmlns:a16="http://schemas.microsoft.com/office/drawing/2014/main" id="{C1B67E76-06EA-A1FA-159B-9E8527DE315C}"/>
              </a:ext>
            </a:extLst>
          </p:cNvPr>
          <p:cNvGrpSpPr/>
          <p:nvPr/>
        </p:nvGrpSpPr>
        <p:grpSpPr>
          <a:xfrm>
            <a:off x="1365513" y="1704074"/>
            <a:ext cx="521594" cy="842069"/>
            <a:chOff x="3364641" y="3590364"/>
            <a:chExt cx="521594" cy="842069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59D7B049-22CF-8087-E0E3-95C0E8E9E0C5}"/>
                </a:ext>
              </a:extLst>
            </p:cNvPr>
            <p:cNvSpPr txBox="1"/>
            <p:nvPr/>
          </p:nvSpPr>
          <p:spPr>
            <a:xfrm>
              <a:off x="3364641" y="3590364"/>
              <a:ext cx="5215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Consolas" panose="020B0609020204030204" pitchFamily="49" charset="0"/>
                  <a:ea typeface="微软雅黑" panose="020B0503020204020204" pitchFamily="34" charset="-122"/>
                </a:rPr>
                <a:t>s</a:t>
              </a:r>
              <a:endParaRPr lang="zh-CN" altLang="en-US" dirty="0"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614A9D76-30C4-76BD-2F46-D00D49A9BD9B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>
              <a:off x="3625438" y="3959696"/>
              <a:ext cx="0" cy="47273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80A22F4B-8621-A771-150D-4936437F2686}"/>
              </a:ext>
            </a:extLst>
          </p:cNvPr>
          <p:cNvGrpSpPr/>
          <p:nvPr/>
        </p:nvGrpSpPr>
        <p:grpSpPr>
          <a:xfrm>
            <a:off x="1365513" y="4623230"/>
            <a:ext cx="521594" cy="792914"/>
            <a:chOff x="3364641" y="3166782"/>
            <a:chExt cx="521594" cy="792914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8C271C3A-579A-5F18-61AE-1CE436BDE795}"/>
                </a:ext>
              </a:extLst>
            </p:cNvPr>
            <p:cNvSpPr txBox="1"/>
            <p:nvPr/>
          </p:nvSpPr>
          <p:spPr>
            <a:xfrm>
              <a:off x="3364641" y="3590364"/>
              <a:ext cx="5215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Consolas" panose="020B0609020204030204" pitchFamily="49" charset="0"/>
                  <a:ea typeface="微软雅黑" panose="020B0503020204020204" pitchFamily="34" charset="-122"/>
                </a:rPr>
                <a:t>t</a:t>
              </a:r>
              <a:endParaRPr lang="zh-CN" altLang="en-US" dirty="0"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C8B7D0F6-00EE-17B5-52BB-EA00EF38F81E}"/>
                </a:ext>
              </a:extLst>
            </p:cNvPr>
            <p:cNvCxnSpPr>
              <a:cxnSpLocks/>
              <a:stCxn id="11" idx="0"/>
            </p:cNvCxnSpPr>
            <p:nvPr/>
          </p:nvCxnSpPr>
          <p:spPr>
            <a:xfrm flipV="1">
              <a:off x="3625438" y="3166782"/>
              <a:ext cx="0" cy="42358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13F8F6C0-EB1B-F9AE-C03A-783F3175C856}"/>
              </a:ext>
            </a:extLst>
          </p:cNvPr>
          <p:cNvSpPr txBox="1"/>
          <p:nvPr/>
        </p:nvSpPr>
        <p:spPr>
          <a:xfrm>
            <a:off x="6938682" y="2418592"/>
            <a:ext cx="4471148" cy="2812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while </a:t>
            </a:r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(*s &amp;&amp; *t) </a:t>
            </a:r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    int diff = *s - *t;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    if (diff != 0) return diff;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    ++s;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    ++t;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}</a:t>
            </a:r>
            <a:endParaRPr lang="zh-CN" altLang="en-US" sz="2000" dirty="0"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15423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2.22222E-6 L 0.07513 -2.22222E-6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5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4.44444E-6 L 0.07513 -4.44444E-6 " pathEditMode="relative" rAng="0" ptsTypes="AA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5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DEC51-404C-F9F6-03FF-309D61C2E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90C071-4B3E-611C-DFDE-35E2F42AB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Strcmp</a:t>
            </a:r>
            <a:r>
              <a:rPr lang="zh-CN" altLang="en-US" dirty="0"/>
              <a:t>：策略</a:t>
            </a:r>
            <a:r>
              <a:rPr lang="en-US" altLang="zh-CN" dirty="0"/>
              <a:t>-</a:t>
            </a:r>
            <a:r>
              <a:rPr lang="zh-CN" altLang="en-US" dirty="0"/>
              <a:t>长度不同的情况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624E02A-7150-A1CD-15D6-23C249499B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0558946"/>
              </p:ext>
            </p:extLst>
          </p:nvPr>
        </p:nvGraphicFramePr>
        <p:xfrm>
          <a:off x="2064488" y="2531016"/>
          <a:ext cx="1791418" cy="85621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95709">
                  <a:extLst>
                    <a:ext uri="{9D8B030D-6E8A-4147-A177-3AD203B41FA5}">
                      <a16:colId xmlns:a16="http://schemas.microsoft.com/office/drawing/2014/main" val="3892443825"/>
                    </a:ext>
                  </a:extLst>
                </a:gridCol>
                <a:gridCol w="895709">
                  <a:extLst>
                    <a:ext uri="{9D8B030D-6E8A-4147-A177-3AD203B41FA5}">
                      <a16:colId xmlns:a16="http://schemas.microsoft.com/office/drawing/2014/main" val="1865490539"/>
                    </a:ext>
                  </a:extLst>
                </a:gridCol>
              </a:tblGrid>
              <a:tr h="85621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…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\0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718936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0D6D74E-F80B-69FF-98E5-795DCE86C6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3393635"/>
              </p:ext>
            </p:extLst>
          </p:nvPr>
        </p:nvGraphicFramePr>
        <p:xfrm>
          <a:off x="2064488" y="3599022"/>
          <a:ext cx="2688159" cy="8562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6053">
                  <a:extLst>
                    <a:ext uri="{9D8B030D-6E8A-4147-A177-3AD203B41FA5}">
                      <a16:colId xmlns:a16="http://schemas.microsoft.com/office/drawing/2014/main" val="4276043069"/>
                    </a:ext>
                  </a:extLst>
                </a:gridCol>
                <a:gridCol w="896053">
                  <a:extLst>
                    <a:ext uri="{9D8B030D-6E8A-4147-A177-3AD203B41FA5}">
                      <a16:colId xmlns:a16="http://schemas.microsoft.com/office/drawing/2014/main" val="2052863620"/>
                    </a:ext>
                  </a:extLst>
                </a:gridCol>
                <a:gridCol w="896053">
                  <a:extLst>
                    <a:ext uri="{9D8B030D-6E8A-4147-A177-3AD203B41FA5}">
                      <a16:colId xmlns:a16="http://schemas.microsoft.com/office/drawing/2014/main" val="1865490539"/>
                    </a:ext>
                  </a:extLst>
                </a:gridCol>
              </a:tblGrid>
              <a:tr h="85621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…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O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\0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718936"/>
                  </a:ext>
                </a:extLst>
              </a:tr>
            </a:tbl>
          </a:graphicData>
        </a:graphic>
      </p:graphicFrame>
      <p:grpSp>
        <p:nvGrpSpPr>
          <p:cNvPr id="3" name="组合 2">
            <a:extLst>
              <a:ext uri="{FF2B5EF4-FFF2-40B4-BE49-F238E27FC236}">
                <a16:creationId xmlns:a16="http://schemas.microsoft.com/office/drawing/2014/main" id="{DCAE1999-227D-D9AE-E596-A8DAD3393040}"/>
              </a:ext>
            </a:extLst>
          </p:cNvPr>
          <p:cNvGrpSpPr/>
          <p:nvPr/>
        </p:nvGrpSpPr>
        <p:grpSpPr>
          <a:xfrm>
            <a:off x="3140525" y="1583051"/>
            <a:ext cx="521594" cy="842069"/>
            <a:chOff x="3364641" y="3590364"/>
            <a:chExt cx="521594" cy="842069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04187E8B-7DA1-7E5A-A134-F84307B88C94}"/>
                </a:ext>
              </a:extLst>
            </p:cNvPr>
            <p:cNvSpPr txBox="1"/>
            <p:nvPr/>
          </p:nvSpPr>
          <p:spPr>
            <a:xfrm>
              <a:off x="3364641" y="3590364"/>
              <a:ext cx="5215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Consolas" panose="020B0609020204030204" pitchFamily="49" charset="0"/>
                  <a:ea typeface="微软雅黑" panose="020B0503020204020204" pitchFamily="34" charset="-122"/>
                </a:rPr>
                <a:t>s</a:t>
              </a:r>
              <a:endParaRPr lang="zh-CN" altLang="en-US" dirty="0"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B133E64C-DB83-5679-6E40-49392E0B5B94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>
              <a:off x="3625438" y="3959696"/>
              <a:ext cx="0" cy="47273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BF0E4435-B15D-EC2F-E093-0BA2C7324505}"/>
              </a:ext>
            </a:extLst>
          </p:cNvPr>
          <p:cNvGrpSpPr/>
          <p:nvPr/>
        </p:nvGrpSpPr>
        <p:grpSpPr>
          <a:xfrm>
            <a:off x="3140525" y="4502207"/>
            <a:ext cx="521594" cy="792914"/>
            <a:chOff x="3364641" y="3166782"/>
            <a:chExt cx="521594" cy="792914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894FBBA-C952-35A6-B0D9-92A8DFE5389D}"/>
                </a:ext>
              </a:extLst>
            </p:cNvPr>
            <p:cNvSpPr txBox="1"/>
            <p:nvPr/>
          </p:nvSpPr>
          <p:spPr>
            <a:xfrm>
              <a:off x="3364641" y="3590364"/>
              <a:ext cx="5215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Consolas" panose="020B0609020204030204" pitchFamily="49" charset="0"/>
                  <a:ea typeface="微软雅黑" panose="020B0503020204020204" pitchFamily="34" charset="-122"/>
                </a:rPr>
                <a:t>t</a:t>
              </a:r>
              <a:endParaRPr lang="zh-CN" altLang="en-US" dirty="0"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A6B0A349-733E-7F2A-0FF7-EA329D3E3C55}"/>
                </a:ext>
              </a:extLst>
            </p:cNvPr>
            <p:cNvCxnSpPr>
              <a:cxnSpLocks/>
              <a:stCxn id="11" idx="0"/>
            </p:cNvCxnSpPr>
            <p:nvPr/>
          </p:nvCxnSpPr>
          <p:spPr>
            <a:xfrm flipV="1">
              <a:off x="3625438" y="3166782"/>
              <a:ext cx="0" cy="42358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6F5D9CF8-DE48-2FC2-BD20-4E538B22E9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4647379"/>
              </p:ext>
            </p:extLst>
          </p:nvPr>
        </p:nvGraphicFramePr>
        <p:xfrm>
          <a:off x="6870510" y="2531016"/>
          <a:ext cx="2682990" cy="85621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94330">
                  <a:extLst>
                    <a:ext uri="{9D8B030D-6E8A-4147-A177-3AD203B41FA5}">
                      <a16:colId xmlns:a16="http://schemas.microsoft.com/office/drawing/2014/main" val="2304204643"/>
                    </a:ext>
                  </a:extLst>
                </a:gridCol>
                <a:gridCol w="894330">
                  <a:extLst>
                    <a:ext uri="{9D8B030D-6E8A-4147-A177-3AD203B41FA5}">
                      <a16:colId xmlns:a16="http://schemas.microsoft.com/office/drawing/2014/main" val="2052863620"/>
                    </a:ext>
                  </a:extLst>
                </a:gridCol>
                <a:gridCol w="894330">
                  <a:extLst>
                    <a:ext uri="{9D8B030D-6E8A-4147-A177-3AD203B41FA5}">
                      <a16:colId xmlns:a16="http://schemas.microsoft.com/office/drawing/2014/main" val="1865490539"/>
                    </a:ext>
                  </a:extLst>
                </a:gridCol>
              </a:tblGrid>
              <a:tr h="85621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…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O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\0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718936"/>
                  </a:ext>
                </a:extLst>
              </a:tr>
            </a:tbl>
          </a:graphicData>
        </a:graphic>
      </p:graphicFrame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9DB17EB4-DE41-5E74-DA5E-A8CDCEB70E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9237120"/>
              </p:ext>
            </p:extLst>
          </p:nvPr>
        </p:nvGraphicFramePr>
        <p:xfrm>
          <a:off x="6870510" y="3599022"/>
          <a:ext cx="1789350" cy="8562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4675">
                  <a:extLst>
                    <a:ext uri="{9D8B030D-6E8A-4147-A177-3AD203B41FA5}">
                      <a16:colId xmlns:a16="http://schemas.microsoft.com/office/drawing/2014/main" val="3837918588"/>
                    </a:ext>
                  </a:extLst>
                </a:gridCol>
                <a:gridCol w="894675">
                  <a:extLst>
                    <a:ext uri="{9D8B030D-6E8A-4147-A177-3AD203B41FA5}">
                      <a16:colId xmlns:a16="http://schemas.microsoft.com/office/drawing/2014/main" val="1865490539"/>
                    </a:ext>
                  </a:extLst>
                </a:gridCol>
              </a:tblGrid>
              <a:tr h="85621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…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effectLst/>
                          <a:latin typeface="Consolas" panose="020B0609020204030204" pitchFamily="49" charset="0"/>
                        </a:rPr>
                        <a:t>\0</a:t>
                      </a:r>
                      <a:endParaRPr lang="zh-CN" alt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718936"/>
                  </a:ext>
                </a:extLst>
              </a:tr>
            </a:tbl>
          </a:graphicData>
        </a:graphic>
      </p:graphicFrame>
      <p:grpSp>
        <p:nvGrpSpPr>
          <p:cNvPr id="17" name="组合 16">
            <a:extLst>
              <a:ext uri="{FF2B5EF4-FFF2-40B4-BE49-F238E27FC236}">
                <a16:creationId xmlns:a16="http://schemas.microsoft.com/office/drawing/2014/main" id="{FCBBBAB3-4C7D-DE78-E4D7-85B70916546F}"/>
              </a:ext>
            </a:extLst>
          </p:cNvPr>
          <p:cNvGrpSpPr/>
          <p:nvPr/>
        </p:nvGrpSpPr>
        <p:grpSpPr>
          <a:xfrm>
            <a:off x="7943445" y="1583051"/>
            <a:ext cx="521594" cy="842069"/>
            <a:chOff x="3364641" y="3590364"/>
            <a:chExt cx="521594" cy="842069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E43600A0-94DF-A7A4-8B1C-4B5DCF03CB31}"/>
                </a:ext>
              </a:extLst>
            </p:cNvPr>
            <p:cNvSpPr txBox="1"/>
            <p:nvPr/>
          </p:nvSpPr>
          <p:spPr>
            <a:xfrm>
              <a:off x="3364641" y="3590364"/>
              <a:ext cx="5215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Consolas" panose="020B0609020204030204" pitchFamily="49" charset="0"/>
                  <a:ea typeface="微软雅黑" panose="020B0503020204020204" pitchFamily="34" charset="-122"/>
                </a:rPr>
                <a:t>s</a:t>
              </a:r>
              <a:endParaRPr lang="zh-CN" altLang="en-US" dirty="0"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AC1565DC-807D-7E1A-AD1C-DB202088EEF5}"/>
                </a:ext>
              </a:extLst>
            </p:cNvPr>
            <p:cNvCxnSpPr>
              <a:cxnSpLocks/>
              <a:stCxn id="18" idx="2"/>
            </p:cNvCxnSpPr>
            <p:nvPr/>
          </p:nvCxnSpPr>
          <p:spPr>
            <a:xfrm>
              <a:off x="3625438" y="3959696"/>
              <a:ext cx="0" cy="47273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A243963B-B965-366D-993F-79D57BA9ADBA}"/>
              </a:ext>
            </a:extLst>
          </p:cNvPr>
          <p:cNvGrpSpPr/>
          <p:nvPr/>
        </p:nvGrpSpPr>
        <p:grpSpPr>
          <a:xfrm>
            <a:off x="7943445" y="4502207"/>
            <a:ext cx="521594" cy="792914"/>
            <a:chOff x="3364641" y="3166782"/>
            <a:chExt cx="521594" cy="792914"/>
          </a:xfrm>
        </p:grpSpPr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452C4502-6540-9D89-E18F-47B075D3B1EA}"/>
                </a:ext>
              </a:extLst>
            </p:cNvPr>
            <p:cNvSpPr txBox="1"/>
            <p:nvPr/>
          </p:nvSpPr>
          <p:spPr>
            <a:xfrm>
              <a:off x="3364641" y="3590364"/>
              <a:ext cx="5215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Consolas" panose="020B0609020204030204" pitchFamily="49" charset="0"/>
                  <a:ea typeface="微软雅黑" panose="020B0503020204020204" pitchFamily="34" charset="-122"/>
                </a:rPr>
                <a:t>t</a:t>
              </a:r>
              <a:endParaRPr lang="zh-CN" altLang="en-US" dirty="0"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DB0EA5F1-BCFF-FF39-00E5-16E337D92603}"/>
                </a:ext>
              </a:extLst>
            </p:cNvPr>
            <p:cNvCxnSpPr>
              <a:cxnSpLocks/>
              <a:stCxn id="21" idx="0"/>
            </p:cNvCxnSpPr>
            <p:nvPr/>
          </p:nvCxnSpPr>
          <p:spPr>
            <a:xfrm flipV="1">
              <a:off x="3625438" y="3166782"/>
              <a:ext cx="0" cy="42358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3C5F3C2F-FED4-4402-F040-69CE08698737}"/>
              </a:ext>
            </a:extLst>
          </p:cNvPr>
          <p:cNvSpPr txBox="1"/>
          <p:nvPr/>
        </p:nvSpPr>
        <p:spPr>
          <a:xfrm>
            <a:off x="4175969" y="5396341"/>
            <a:ext cx="4289070" cy="503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while </a:t>
            </a:r>
            <a:r>
              <a:rPr lang="en-US" altLang="zh-CN" sz="2000" b="1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(*s || *t) </a:t>
            </a:r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</a:rPr>
              <a:t>{ … }</a:t>
            </a:r>
            <a:endParaRPr lang="zh-CN" altLang="en-US" sz="2000" dirty="0"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89542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F2134-2740-1A29-E6E4-6A5D6741B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152C5A-D559-5FAD-0CDD-6A8EFB436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EDE4BB-5641-B75D-F90E-27EDCCADE0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从键盘输入一个字符串，判断其是否是回文</a:t>
            </a:r>
            <a:r>
              <a:rPr lang="en-US" altLang="zh-CN" dirty="0"/>
              <a:t>(palindrome)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例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lang="en-US" altLang="zh-CN" dirty="0"/>
              <a:t>aba</a:t>
            </a:r>
            <a:r>
              <a:rPr lang="zh-CN" altLang="en-US" dirty="0"/>
              <a:t>是回文，</a:t>
            </a:r>
            <a:r>
              <a:rPr lang="en-US" altLang="zh-CN" dirty="0" err="1"/>
              <a:t>abc</a:t>
            </a:r>
            <a:r>
              <a:rPr lang="zh-CN" altLang="en-US" dirty="0"/>
              <a:t>则不是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例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en-US" altLang="zh-CN" dirty="0"/>
              <a:t>abba</a:t>
            </a:r>
            <a:r>
              <a:rPr lang="zh-CN" altLang="en-US" dirty="0"/>
              <a:t>是回文，</a:t>
            </a:r>
            <a:r>
              <a:rPr lang="en-US" altLang="zh-CN" dirty="0" err="1"/>
              <a:t>abbc</a:t>
            </a:r>
            <a:r>
              <a:rPr lang="zh-CN" altLang="en-US" dirty="0"/>
              <a:t>则不是</a:t>
            </a:r>
            <a:endParaRPr lang="en-US" altLang="zh-CN" dirty="0"/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D8A57E70-EB69-E208-D901-49D9D1AC95E1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latin typeface="Consolas" panose="020B0609020204030204" pitchFamily="49" charset="0"/>
              </a:rPr>
              <a:t>palindrome.c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46957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字符串数组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二维字符数组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char </a:t>
            </a:r>
            <a:r>
              <a:rPr lang="en-US" altLang="zh-CN" dirty="0" err="1"/>
              <a:t>strs</a:t>
            </a:r>
            <a:r>
              <a:rPr lang="en-US" altLang="zh-CN" dirty="0"/>
              <a:t>[][5] = {"</a:t>
            </a:r>
            <a:r>
              <a:rPr lang="en-US" altLang="zh-CN" dirty="0" err="1"/>
              <a:t>abc</a:t>
            </a:r>
            <a:r>
              <a:rPr lang="en-US" altLang="zh-CN" dirty="0"/>
              <a:t>", "de", "</a:t>
            </a:r>
            <a:r>
              <a:rPr lang="en-US" altLang="zh-CN" dirty="0" err="1"/>
              <a:t>fghi</a:t>
            </a:r>
            <a:r>
              <a:rPr lang="en-US" altLang="zh-CN" dirty="0"/>
              <a:t>"}; 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7688437"/>
              </p:ext>
            </p:extLst>
          </p:nvPr>
        </p:nvGraphicFramePr>
        <p:xfrm>
          <a:off x="3591099" y="3086497"/>
          <a:ext cx="3499795" cy="17185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9959">
                  <a:extLst>
                    <a:ext uri="{9D8B030D-6E8A-4147-A177-3AD203B41FA5}">
                      <a16:colId xmlns:a16="http://schemas.microsoft.com/office/drawing/2014/main" val="2757909019"/>
                    </a:ext>
                  </a:extLst>
                </a:gridCol>
                <a:gridCol w="699959">
                  <a:extLst>
                    <a:ext uri="{9D8B030D-6E8A-4147-A177-3AD203B41FA5}">
                      <a16:colId xmlns:a16="http://schemas.microsoft.com/office/drawing/2014/main" val="438599146"/>
                    </a:ext>
                  </a:extLst>
                </a:gridCol>
                <a:gridCol w="699959">
                  <a:extLst>
                    <a:ext uri="{9D8B030D-6E8A-4147-A177-3AD203B41FA5}">
                      <a16:colId xmlns:a16="http://schemas.microsoft.com/office/drawing/2014/main" val="3388198820"/>
                    </a:ext>
                  </a:extLst>
                </a:gridCol>
                <a:gridCol w="699959">
                  <a:extLst>
                    <a:ext uri="{9D8B030D-6E8A-4147-A177-3AD203B41FA5}">
                      <a16:colId xmlns:a16="http://schemas.microsoft.com/office/drawing/2014/main" val="1993982631"/>
                    </a:ext>
                  </a:extLst>
                </a:gridCol>
                <a:gridCol w="699959">
                  <a:extLst>
                    <a:ext uri="{9D8B030D-6E8A-4147-A177-3AD203B41FA5}">
                      <a16:colId xmlns:a16="http://schemas.microsoft.com/office/drawing/2014/main" val="1998530533"/>
                    </a:ext>
                  </a:extLst>
                </a:gridCol>
              </a:tblGrid>
              <a:tr h="57285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effectLst/>
                          <a:latin typeface="Consolas" panose="020B0609020204030204" pitchFamily="49" charset="0"/>
                        </a:rPr>
                        <a:t>a</a:t>
                      </a:r>
                      <a:endParaRPr lang="zh-CN" altLang="en-US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effectLst/>
                          <a:latin typeface="Consolas" panose="020B0609020204030204" pitchFamily="49" charset="0"/>
                        </a:rPr>
                        <a:t>b</a:t>
                      </a:r>
                      <a:endParaRPr lang="zh-CN" altLang="en-US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effectLst/>
                          <a:latin typeface="Consolas" panose="020B0609020204030204" pitchFamily="49" charset="0"/>
                        </a:rPr>
                        <a:t>c</a:t>
                      </a:r>
                      <a:endParaRPr lang="zh-CN" altLang="en-US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effectLst/>
                          <a:latin typeface="Consolas" panose="020B0609020204030204" pitchFamily="49" charset="0"/>
                        </a:rPr>
                        <a:t>\0</a:t>
                      </a:r>
                      <a:endParaRPr lang="zh-CN" altLang="en-US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effectLst/>
                          <a:latin typeface="Consolas" panose="020B0609020204030204" pitchFamily="49" charset="0"/>
                        </a:rPr>
                        <a:t>\0</a:t>
                      </a:r>
                      <a:endParaRPr lang="zh-CN" altLang="en-US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93387"/>
                  </a:ext>
                </a:extLst>
              </a:tr>
              <a:tr h="57285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effectLst/>
                          <a:latin typeface="Consolas" panose="020B0609020204030204" pitchFamily="49" charset="0"/>
                        </a:rPr>
                        <a:t>d</a:t>
                      </a:r>
                      <a:endParaRPr lang="zh-CN" altLang="en-US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effectLst/>
                          <a:latin typeface="Consolas" panose="020B0609020204030204" pitchFamily="49" charset="0"/>
                        </a:rPr>
                        <a:t>e</a:t>
                      </a:r>
                      <a:endParaRPr lang="zh-CN" altLang="en-US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effectLst/>
                          <a:latin typeface="Consolas" panose="020B0609020204030204" pitchFamily="49" charset="0"/>
                        </a:rPr>
                        <a:t>\0</a:t>
                      </a:r>
                      <a:endParaRPr lang="zh-CN" altLang="en-US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effectLst/>
                          <a:latin typeface="Consolas" panose="020B0609020204030204" pitchFamily="49" charset="0"/>
                        </a:rPr>
                        <a:t>\0</a:t>
                      </a:r>
                      <a:endParaRPr lang="zh-CN" altLang="en-US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effectLst/>
                          <a:latin typeface="Consolas" panose="020B0609020204030204" pitchFamily="49" charset="0"/>
                        </a:rPr>
                        <a:t>\0</a:t>
                      </a:r>
                      <a:endParaRPr lang="zh-CN" altLang="en-US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2713013"/>
                  </a:ext>
                </a:extLst>
              </a:tr>
              <a:tr h="57285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effectLst/>
                          <a:latin typeface="Consolas" panose="020B0609020204030204" pitchFamily="49" charset="0"/>
                        </a:rPr>
                        <a:t>f</a:t>
                      </a:r>
                      <a:endParaRPr lang="zh-CN" altLang="en-US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effectLst/>
                          <a:latin typeface="Consolas" panose="020B0609020204030204" pitchFamily="49" charset="0"/>
                        </a:rPr>
                        <a:t>g</a:t>
                      </a:r>
                      <a:endParaRPr lang="zh-CN" altLang="en-US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effectLst/>
                          <a:latin typeface="Consolas" panose="020B0609020204030204" pitchFamily="49" charset="0"/>
                        </a:rPr>
                        <a:t>h</a:t>
                      </a:r>
                      <a:endParaRPr lang="zh-CN" altLang="en-US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endParaRPr lang="zh-CN" altLang="en-US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effectLst/>
                          <a:latin typeface="Consolas" panose="020B0609020204030204" pitchFamily="49" charset="0"/>
                        </a:rPr>
                        <a:t>\0</a:t>
                      </a:r>
                      <a:endParaRPr lang="zh-CN" altLang="en-US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520638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4711882"/>
              </p:ext>
            </p:extLst>
          </p:nvPr>
        </p:nvGraphicFramePr>
        <p:xfrm>
          <a:off x="3591099" y="2664967"/>
          <a:ext cx="3499795" cy="421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9959">
                  <a:extLst>
                    <a:ext uri="{9D8B030D-6E8A-4147-A177-3AD203B41FA5}">
                      <a16:colId xmlns:a16="http://schemas.microsoft.com/office/drawing/2014/main" val="194769566"/>
                    </a:ext>
                  </a:extLst>
                </a:gridCol>
                <a:gridCol w="699959">
                  <a:extLst>
                    <a:ext uri="{9D8B030D-6E8A-4147-A177-3AD203B41FA5}">
                      <a16:colId xmlns:a16="http://schemas.microsoft.com/office/drawing/2014/main" val="2521350389"/>
                    </a:ext>
                  </a:extLst>
                </a:gridCol>
                <a:gridCol w="699959">
                  <a:extLst>
                    <a:ext uri="{9D8B030D-6E8A-4147-A177-3AD203B41FA5}">
                      <a16:colId xmlns:a16="http://schemas.microsoft.com/office/drawing/2014/main" val="865664572"/>
                    </a:ext>
                  </a:extLst>
                </a:gridCol>
                <a:gridCol w="699959">
                  <a:extLst>
                    <a:ext uri="{9D8B030D-6E8A-4147-A177-3AD203B41FA5}">
                      <a16:colId xmlns:a16="http://schemas.microsoft.com/office/drawing/2014/main" val="1965078545"/>
                    </a:ext>
                  </a:extLst>
                </a:gridCol>
                <a:gridCol w="699959">
                  <a:extLst>
                    <a:ext uri="{9D8B030D-6E8A-4147-A177-3AD203B41FA5}">
                      <a16:colId xmlns:a16="http://schemas.microsoft.com/office/drawing/2014/main" val="2052863620"/>
                    </a:ext>
                  </a:extLst>
                </a:gridCol>
              </a:tblGrid>
              <a:tr h="4215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sz="16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sz="16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2</a:t>
                      </a:r>
                      <a:endParaRPr lang="zh-CN" altLang="en-US" sz="16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3</a:t>
                      </a:r>
                      <a:endParaRPr lang="zh-CN" altLang="en-US" sz="16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4</a:t>
                      </a:r>
                      <a:endParaRPr lang="zh-CN" altLang="en-US" sz="16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7718936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1629539"/>
              </p:ext>
            </p:extLst>
          </p:nvPr>
        </p:nvGraphicFramePr>
        <p:xfrm>
          <a:off x="3020918" y="3086497"/>
          <a:ext cx="585962" cy="171855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5962">
                  <a:extLst>
                    <a:ext uri="{9D8B030D-6E8A-4147-A177-3AD203B41FA5}">
                      <a16:colId xmlns:a16="http://schemas.microsoft.com/office/drawing/2014/main" val="194769566"/>
                    </a:ext>
                  </a:extLst>
                </a:gridCol>
              </a:tblGrid>
              <a:tr h="57285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sz="16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7718936"/>
                  </a:ext>
                </a:extLst>
              </a:tr>
              <a:tr h="57285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sz="16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2143647"/>
                  </a:ext>
                </a:extLst>
              </a:tr>
              <a:tr h="57285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2</a:t>
                      </a:r>
                      <a:endParaRPr lang="zh-CN" altLang="en-US" sz="16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2213695"/>
                  </a:ext>
                </a:extLst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4823808" y="4894620"/>
            <a:ext cx="1034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>
                <a:latin typeface="Consolas" panose="020B0609020204030204" pitchFamily="49" charset="0"/>
              </a:rPr>
              <a:t>strs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9" name="矩形标注 8"/>
          <p:cNvSpPr/>
          <p:nvPr/>
        </p:nvSpPr>
        <p:spPr>
          <a:xfrm>
            <a:off x="7559947" y="3450182"/>
            <a:ext cx="1668257" cy="991182"/>
          </a:xfrm>
          <a:prstGeom prst="wedgeRectCallout">
            <a:avLst>
              <a:gd name="adj1" fmla="val -64119"/>
              <a:gd name="adj2" fmla="val 20230"/>
            </a:avLst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此二维数组里的每一个单元都可以改变</a:t>
            </a: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995965EF-C508-48CB-E856-E097076DA54A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nsolas" panose="020B0609020204030204" pitchFamily="49" charset="0"/>
              </a:rPr>
              <a:t>planets1.c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1408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字符串数组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字符指针数组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char </a:t>
            </a:r>
            <a:r>
              <a:rPr lang="zh-CN" altLang="en-US" dirty="0"/>
              <a:t>*</a:t>
            </a:r>
            <a:r>
              <a:rPr lang="en-US" altLang="zh-CN" dirty="0" err="1"/>
              <a:t>strs</a:t>
            </a:r>
            <a:r>
              <a:rPr lang="en-US" altLang="zh-CN" dirty="0"/>
              <a:t>[] = {"</a:t>
            </a:r>
            <a:r>
              <a:rPr lang="en-US" altLang="zh-CN" dirty="0" err="1"/>
              <a:t>abc</a:t>
            </a:r>
            <a:r>
              <a:rPr lang="en-US" altLang="zh-CN" dirty="0"/>
              <a:t>", "de", "</a:t>
            </a:r>
            <a:r>
              <a:rPr lang="en-US" altLang="zh-CN" dirty="0" err="1"/>
              <a:t>fghi</a:t>
            </a:r>
            <a:r>
              <a:rPr lang="en-US" altLang="zh-CN" dirty="0"/>
              <a:t>"}; 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3269283"/>
              </p:ext>
            </p:extLst>
          </p:nvPr>
        </p:nvGraphicFramePr>
        <p:xfrm>
          <a:off x="3607273" y="3202407"/>
          <a:ext cx="629564" cy="17185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9564">
                  <a:extLst>
                    <a:ext uri="{9D8B030D-6E8A-4147-A177-3AD203B41FA5}">
                      <a16:colId xmlns:a16="http://schemas.microsoft.com/office/drawing/2014/main" val="2757909019"/>
                    </a:ext>
                  </a:extLst>
                </a:gridCol>
              </a:tblGrid>
              <a:tr h="572851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893387"/>
                  </a:ext>
                </a:extLst>
              </a:tr>
              <a:tr h="572851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2713013"/>
                  </a:ext>
                </a:extLst>
              </a:tr>
              <a:tr h="572851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1520638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9185614"/>
              </p:ext>
            </p:extLst>
          </p:nvPr>
        </p:nvGraphicFramePr>
        <p:xfrm>
          <a:off x="3037091" y="3202407"/>
          <a:ext cx="585962" cy="171855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5962">
                  <a:extLst>
                    <a:ext uri="{9D8B030D-6E8A-4147-A177-3AD203B41FA5}">
                      <a16:colId xmlns:a16="http://schemas.microsoft.com/office/drawing/2014/main" val="194769566"/>
                    </a:ext>
                  </a:extLst>
                </a:gridCol>
              </a:tblGrid>
              <a:tr h="57285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sz="16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7718936"/>
                  </a:ext>
                </a:extLst>
              </a:tr>
              <a:tr h="57285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sz="16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2143647"/>
                  </a:ext>
                </a:extLst>
              </a:tr>
              <a:tr h="57285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2</a:t>
                      </a:r>
                      <a:endParaRPr lang="zh-CN" altLang="en-US" sz="16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2213695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4155790"/>
              </p:ext>
            </p:extLst>
          </p:nvPr>
        </p:nvGraphicFramePr>
        <p:xfrm>
          <a:off x="5309613" y="2915981"/>
          <a:ext cx="2799836" cy="57285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9959">
                  <a:extLst>
                    <a:ext uri="{9D8B030D-6E8A-4147-A177-3AD203B41FA5}">
                      <a16:colId xmlns:a16="http://schemas.microsoft.com/office/drawing/2014/main" val="2757909019"/>
                    </a:ext>
                  </a:extLst>
                </a:gridCol>
                <a:gridCol w="699959">
                  <a:extLst>
                    <a:ext uri="{9D8B030D-6E8A-4147-A177-3AD203B41FA5}">
                      <a16:colId xmlns:a16="http://schemas.microsoft.com/office/drawing/2014/main" val="438599146"/>
                    </a:ext>
                  </a:extLst>
                </a:gridCol>
                <a:gridCol w="699959">
                  <a:extLst>
                    <a:ext uri="{9D8B030D-6E8A-4147-A177-3AD203B41FA5}">
                      <a16:colId xmlns:a16="http://schemas.microsoft.com/office/drawing/2014/main" val="3388198820"/>
                    </a:ext>
                  </a:extLst>
                </a:gridCol>
                <a:gridCol w="699959">
                  <a:extLst>
                    <a:ext uri="{9D8B030D-6E8A-4147-A177-3AD203B41FA5}">
                      <a16:colId xmlns:a16="http://schemas.microsoft.com/office/drawing/2014/main" val="1993982631"/>
                    </a:ext>
                  </a:extLst>
                </a:gridCol>
              </a:tblGrid>
              <a:tr h="57285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effectLst/>
                          <a:latin typeface="Consolas" panose="020B0609020204030204" pitchFamily="49" charset="0"/>
                        </a:rPr>
                        <a:t>a</a:t>
                      </a:r>
                      <a:endParaRPr lang="zh-CN" altLang="en-US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effectLst/>
                          <a:latin typeface="Consolas" panose="020B0609020204030204" pitchFamily="49" charset="0"/>
                        </a:rPr>
                        <a:t>b</a:t>
                      </a:r>
                      <a:endParaRPr lang="zh-CN" altLang="en-US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effectLst/>
                          <a:latin typeface="Consolas" panose="020B0609020204030204" pitchFamily="49" charset="0"/>
                        </a:rPr>
                        <a:t>c</a:t>
                      </a:r>
                      <a:endParaRPr lang="zh-CN" altLang="en-US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effectLst/>
                          <a:latin typeface="Consolas" panose="020B0609020204030204" pitchFamily="49" charset="0"/>
                        </a:rPr>
                        <a:t>\0</a:t>
                      </a:r>
                      <a:endParaRPr lang="zh-CN" altLang="en-US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93387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731749"/>
              </p:ext>
            </p:extLst>
          </p:nvPr>
        </p:nvGraphicFramePr>
        <p:xfrm>
          <a:off x="5309613" y="3775257"/>
          <a:ext cx="2099877" cy="57285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9959">
                  <a:extLst>
                    <a:ext uri="{9D8B030D-6E8A-4147-A177-3AD203B41FA5}">
                      <a16:colId xmlns:a16="http://schemas.microsoft.com/office/drawing/2014/main" val="2757909019"/>
                    </a:ext>
                  </a:extLst>
                </a:gridCol>
                <a:gridCol w="699959">
                  <a:extLst>
                    <a:ext uri="{9D8B030D-6E8A-4147-A177-3AD203B41FA5}">
                      <a16:colId xmlns:a16="http://schemas.microsoft.com/office/drawing/2014/main" val="438599146"/>
                    </a:ext>
                  </a:extLst>
                </a:gridCol>
                <a:gridCol w="699959">
                  <a:extLst>
                    <a:ext uri="{9D8B030D-6E8A-4147-A177-3AD203B41FA5}">
                      <a16:colId xmlns:a16="http://schemas.microsoft.com/office/drawing/2014/main" val="3388198820"/>
                    </a:ext>
                  </a:extLst>
                </a:gridCol>
              </a:tblGrid>
              <a:tr h="57285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effectLst/>
                          <a:latin typeface="Consolas" panose="020B0609020204030204" pitchFamily="49" charset="0"/>
                        </a:rPr>
                        <a:t>d</a:t>
                      </a:r>
                      <a:endParaRPr lang="zh-CN" altLang="en-US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effectLst/>
                          <a:latin typeface="Consolas" panose="020B0609020204030204" pitchFamily="49" charset="0"/>
                        </a:rPr>
                        <a:t>e</a:t>
                      </a:r>
                      <a:endParaRPr lang="zh-CN" altLang="en-US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effectLst/>
                          <a:latin typeface="Consolas" panose="020B0609020204030204" pitchFamily="49" charset="0"/>
                        </a:rPr>
                        <a:t>\0</a:t>
                      </a:r>
                      <a:endParaRPr lang="zh-CN" altLang="en-US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2713013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7278121"/>
              </p:ext>
            </p:extLst>
          </p:nvPr>
        </p:nvGraphicFramePr>
        <p:xfrm>
          <a:off x="5309613" y="4634534"/>
          <a:ext cx="3499795" cy="57285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9959">
                  <a:extLst>
                    <a:ext uri="{9D8B030D-6E8A-4147-A177-3AD203B41FA5}">
                      <a16:colId xmlns:a16="http://schemas.microsoft.com/office/drawing/2014/main" val="2757909019"/>
                    </a:ext>
                  </a:extLst>
                </a:gridCol>
                <a:gridCol w="699959">
                  <a:extLst>
                    <a:ext uri="{9D8B030D-6E8A-4147-A177-3AD203B41FA5}">
                      <a16:colId xmlns:a16="http://schemas.microsoft.com/office/drawing/2014/main" val="438599146"/>
                    </a:ext>
                  </a:extLst>
                </a:gridCol>
                <a:gridCol w="699959">
                  <a:extLst>
                    <a:ext uri="{9D8B030D-6E8A-4147-A177-3AD203B41FA5}">
                      <a16:colId xmlns:a16="http://schemas.microsoft.com/office/drawing/2014/main" val="3388198820"/>
                    </a:ext>
                  </a:extLst>
                </a:gridCol>
                <a:gridCol w="699959">
                  <a:extLst>
                    <a:ext uri="{9D8B030D-6E8A-4147-A177-3AD203B41FA5}">
                      <a16:colId xmlns:a16="http://schemas.microsoft.com/office/drawing/2014/main" val="1993982631"/>
                    </a:ext>
                  </a:extLst>
                </a:gridCol>
                <a:gridCol w="699959">
                  <a:extLst>
                    <a:ext uri="{9D8B030D-6E8A-4147-A177-3AD203B41FA5}">
                      <a16:colId xmlns:a16="http://schemas.microsoft.com/office/drawing/2014/main" val="1998530533"/>
                    </a:ext>
                  </a:extLst>
                </a:gridCol>
              </a:tblGrid>
              <a:tr h="57285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effectLst/>
                          <a:latin typeface="Consolas" panose="020B0609020204030204" pitchFamily="49" charset="0"/>
                        </a:rPr>
                        <a:t>f</a:t>
                      </a:r>
                      <a:endParaRPr lang="zh-CN" altLang="en-US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effectLst/>
                          <a:latin typeface="Consolas" panose="020B0609020204030204" pitchFamily="49" charset="0"/>
                        </a:rPr>
                        <a:t>g</a:t>
                      </a:r>
                      <a:endParaRPr lang="zh-CN" altLang="en-US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effectLst/>
                          <a:latin typeface="Consolas" panose="020B0609020204030204" pitchFamily="49" charset="0"/>
                        </a:rPr>
                        <a:t>h</a:t>
                      </a:r>
                      <a:endParaRPr lang="zh-CN" altLang="en-US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endParaRPr lang="zh-CN" altLang="en-US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effectLst/>
                          <a:latin typeface="Consolas" panose="020B0609020204030204" pitchFamily="49" charset="0"/>
                        </a:rPr>
                        <a:t>\0</a:t>
                      </a:r>
                      <a:endParaRPr lang="zh-CN" altLang="en-US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520638"/>
                  </a:ext>
                </a:extLst>
              </a:tr>
            </a:tbl>
          </a:graphicData>
        </a:graphic>
      </p:graphicFrame>
      <p:cxnSp>
        <p:nvCxnSpPr>
          <p:cNvPr id="9" name="直接箭头连接符 8"/>
          <p:cNvCxnSpPr>
            <a:endCxn id="6" idx="1"/>
          </p:cNvCxnSpPr>
          <p:nvPr/>
        </p:nvCxnSpPr>
        <p:spPr>
          <a:xfrm flipV="1">
            <a:off x="3922055" y="3202406"/>
            <a:ext cx="1387558" cy="286425"/>
          </a:xfrm>
          <a:prstGeom prst="straightConnector1">
            <a:avLst/>
          </a:prstGeom>
          <a:ln>
            <a:headEnd type="oval" w="med" len="med"/>
            <a:tailEnd type="triangl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>
            <a:endCxn id="7" idx="1"/>
          </p:cNvCxnSpPr>
          <p:nvPr/>
        </p:nvCxnSpPr>
        <p:spPr>
          <a:xfrm flipV="1">
            <a:off x="3922055" y="4061682"/>
            <a:ext cx="1387558" cy="1"/>
          </a:xfrm>
          <a:prstGeom prst="straightConnector1">
            <a:avLst/>
          </a:prstGeom>
          <a:ln>
            <a:headEnd type="oval" w="med" len="med"/>
            <a:tailEnd type="triangl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endCxn id="8" idx="1"/>
          </p:cNvCxnSpPr>
          <p:nvPr/>
        </p:nvCxnSpPr>
        <p:spPr>
          <a:xfrm>
            <a:off x="3922055" y="4634533"/>
            <a:ext cx="1387558" cy="286426"/>
          </a:xfrm>
          <a:prstGeom prst="straightConnector1">
            <a:avLst/>
          </a:prstGeom>
          <a:ln>
            <a:headEnd type="oval" w="med" len="med"/>
            <a:tailEnd type="triangl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3404867" y="2756875"/>
            <a:ext cx="1034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>
                <a:latin typeface="Consolas" panose="020B0609020204030204" pitchFamily="49" charset="0"/>
              </a:rPr>
              <a:t>strs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9" name="矩形标注 18"/>
          <p:cNvSpPr/>
          <p:nvPr/>
        </p:nvSpPr>
        <p:spPr>
          <a:xfrm>
            <a:off x="1130186" y="3566091"/>
            <a:ext cx="1668257" cy="991182"/>
          </a:xfrm>
          <a:prstGeom prst="wedgeRectCallout">
            <a:avLst>
              <a:gd name="adj1" fmla="val 74793"/>
              <a:gd name="adj2" fmla="val 4737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此一维数组里的每一个指针都可以改变</a:t>
            </a:r>
          </a:p>
        </p:txBody>
      </p:sp>
      <p:sp>
        <p:nvSpPr>
          <p:cNvPr id="20" name="矩形标注 19"/>
          <p:cNvSpPr/>
          <p:nvPr/>
        </p:nvSpPr>
        <p:spPr>
          <a:xfrm>
            <a:off x="9272296" y="3566091"/>
            <a:ext cx="1668257" cy="991182"/>
          </a:xfrm>
          <a:prstGeom prst="wedgeRectCallout">
            <a:avLst>
              <a:gd name="adj1" fmla="val -88387"/>
              <a:gd name="adj2" fmla="val -5122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但这些指向的数组不能改变</a:t>
            </a:r>
          </a:p>
        </p:txBody>
      </p:sp>
      <p:sp>
        <p:nvSpPr>
          <p:cNvPr id="10" name="箭头: 五边形 9">
            <a:extLst>
              <a:ext uri="{FF2B5EF4-FFF2-40B4-BE49-F238E27FC236}">
                <a16:creationId xmlns:a16="http://schemas.microsoft.com/office/drawing/2014/main" id="{7C0850B5-2A8F-7C44-A86F-215D15C9D1A2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nsolas" panose="020B0609020204030204" pitchFamily="49" charset="0"/>
              </a:rPr>
              <a:t>planets2.c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7026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 animBg="1"/>
      <p:bldP spid="2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命令行参数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main(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argc</a:t>
            </a:r>
            <a:r>
              <a:rPr lang="en-US" altLang="zh-CN" dirty="0"/>
              <a:t>, </a:t>
            </a:r>
            <a:r>
              <a:rPr lang="en-US" altLang="zh-CN" b="1" i="1" dirty="0">
                <a:solidFill>
                  <a:srgbClr val="FF0000"/>
                </a:solidFill>
              </a:rPr>
              <a:t>char *</a:t>
            </a:r>
            <a:r>
              <a:rPr lang="en-US" altLang="zh-CN" b="1" i="1" dirty="0" err="1">
                <a:solidFill>
                  <a:srgbClr val="FF0000"/>
                </a:solidFill>
              </a:rPr>
              <a:t>argv</a:t>
            </a:r>
            <a:r>
              <a:rPr lang="en-US" altLang="zh-CN" b="1" i="1" dirty="0">
                <a:solidFill>
                  <a:srgbClr val="FF0000"/>
                </a:solidFill>
              </a:rPr>
              <a:t>[]</a:t>
            </a:r>
            <a:r>
              <a:rPr lang="en-US" altLang="zh-CN" dirty="0"/>
              <a:t>);</a:t>
            </a:r>
          </a:p>
          <a:p>
            <a:pPr marL="0" indent="0">
              <a:buNone/>
            </a:pPr>
            <a:r>
              <a:rPr lang="zh-CN" altLang="en-US" dirty="0"/>
              <a:t>例如：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err="1"/>
              <a:t>gcc</a:t>
            </a:r>
            <a:r>
              <a:rPr lang="en-US" altLang="zh-CN" dirty="0"/>
              <a:t> –Wall </a:t>
            </a:r>
            <a:r>
              <a:rPr lang="en-US" altLang="zh-CN" dirty="0" err="1"/>
              <a:t>f.c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 err="1"/>
              <a:t>argc</a:t>
            </a:r>
            <a:r>
              <a:rPr lang="zh-CN" altLang="en-US" dirty="0"/>
              <a:t>等于</a:t>
            </a:r>
            <a:r>
              <a:rPr lang="en-US" altLang="zh-CN" dirty="0"/>
              <a:t>3</a:t>
            </a:r>
          </a:p>
          <a:p>
            <a:pPr marL="0" indent="0">
              <a:buNone/>
            </a:pP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5116576"/>
              </p:ext>
            </p:extLst>
          </p:nvPr>
        </p:nvGraphicFramePr>
        <p:xfrm>
          <a:off x="5069861" y="2867509"/>
          <a:ext cx="629564" cy="2291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9564">
                  <a:extLst>
                    <a:ext uri="{9D8B030D-6E8A-4147-A177-3AD203B41FA5}">
                      <a16:colId xmlns:a16="http://schemas.microsoft.com/office/drawing/2014/main" val="2757909019"/>
                    </a:ext>
                  </a:extLst>
                </a:gridCol>
              </a:tblGrid>
              <a:tr h="572851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93387"/>
                  </a:ext>
                </a:extLst>
              </a:tr>
              <a:tr h="572851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2713013"/>
                  </a:ext>
                </a:extLst>
              </a:tr>
              <a:tr h="572851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3612212"/>
                  </a:ext>
                </a:extLst>
              </a:tr>
              <a:tr h="57285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^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520638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8668090"/>
              </p:ext>
            </p:extLst>
          </p:nvPr>
        </p:nvGraphicFramePr>
        <p:xfrm>
          <a:off x="4499679" y="2867509"/>
          <a:ext cx="585962" cy="22914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5962">
                  <a:extLst>
                    <a:ext uri="{9D8B030D-6E8A-4147-A177-3AD203B41FA5}">
                      <a16:colId xmlns:a16="http://schemas.microsoft.com/office/drawing/2014/main" val="194769566"/>
                    </a:ext>
                  </a:extLst>
                </a:gridCol>
              </a:tblGrid>
              <a:tr h="57285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sz="16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7718936"/>
                  </a:ext>
                </a:extLst>
              </a:tr>
              <a:tr h="57285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sz="16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2143647"/>
                  </a:ext>
                </a:extLst>
              </a:tr>
              <a:tr h="57285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2</a:t>
                      </a:r>
                      <a:endParaRPr lang="zh-CN" altLang="en-US" sz="16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2213695"/>
                  </a:ext>
                </a:extLst>
              </a:tr>
              <a:tr h="57285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3</a:t>
                      </a:r>
                      <a:endParaRPr lang="zh-CN" altLang="en-US" sz="16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5170041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8692935"/>
              </p:ext>
            </p:extLst>
          </p:nvPr>
        </p:nvGraphicFramePr>
        <p:xfrm>
          <a:off x="6772201" y="2581083"/>
          <a:ext cx="2799836" cy="57285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9959">
                  <a:extLst>
                    <a:ext uri="{9D8B030D-6E8A-4147-A177-3AD203B41FA5}">
                      <a16:colId xmlns:a16="http://schemas.microsoft.com/office/drawing/2014/main" val="2757909019"/>
                    </a:ext>
                  </a:extLst>
                </a:gridCol>
                <a:gridCol w="699959">
                  <a:extLst>
                    <a:ext uri="{9D8B030D-6E8A-4147-A177-3AD203B41FA5}">
                      <a16:colId xmlns:a16="http://schemas.microsoft.com/office/drawing/2014/main" val="438599146"/>
                    </a:ext>
                  </a:extLst>
                </a:gridCol>
                <a:gridCol w="699959">
                  <a:extLst>
                    <a:ext uri="{9D8B030D-6E8A-4147-A177-3AD203B41FA5}">
                      <a16:colId xmlns:a16="http://schemas.microsoft.com/office/drawing/2014/main" val="3388198820"/>
                    </a:ext>
                  </a:extLst>
                </a:gridCol>
                <a:gridCol w="699959">
                  <a:extLst>
                    <a:ext uri="{9D8B030D-6E8A-4147-A177-3AD203B41FA5}">
                      <a16:colId xmlns:a16="http://schemas.microsoft.com/office/drawing/2014/main" val="1993982631"/>
                    </a:ext>
                  </a:extLst>
                </a:gridCol>
              </a:tblGrid>
              <a:tr h="57285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g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c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c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\0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93387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6430789"/>
              </p:ext>
            </p:extLst>
          </p:nvPr>
        </p:nvGraphicFramePr>
        <p:xfrm>
          <a:off x="6748591" y="4299634"/>
          <a:ext cx="2823448" cy="57285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05862">
                  <a:extLst>
                    <a:ext uri="{9D8B030D-6E8A-4147-A177-3AD203B41FA5}">
                      <a16:colId xmlns:a16="http://schemas.microsoft.com/office/drawing/2014/main" val="2757909019"/>
                    </a:ext>
                  </a:extLst>
                </a:gridCol>
                <a:gridCol w="705862">
                  <a:extLst>
                    <a:ext uri="{9D8B030D-6E8A-4147-A177-3AD203B41FA5}">
                      <a16:colId xmlns:a16="http://schemas.microsoft.com/office/drawing/2014/main" val="438599146"/>
                    </a:ext>
                  </a:extLst>
                </a:gridCol>
                <a:gridCol w="705862">
                  <a:extLst>
                    <a:ext uri="{9D8B030D-6E8A-4147-A177-3AD203B41FA5}">
                      <a16:colId xmlns:a16="http://schemas.microsoft.com/office/drawing/2014/main" val="2549032687"/>
                    </a:ext>
                  </a:extLst>
                </a:gridCol>
                <a:gridCol w="705862">
                  <a:extLst>
                    <a:ext uri="{9D8B030D-6E8A-4147-A177-3AD203B41FA5}">
                      <a16:colId xmlns:a16="http://schemas.microsoft.com/office/drawing/2014/main" val="3388198820"/>
                    </a:ext>
                  </a:extLst>
                </a:gridCol>
              </a:tblGrid>
              <a:tr h="57285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f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.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c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\0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2713013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0209312"/>
              </p:ext>
            </p:extLst>
          </p:nvPr>
        </p:nvGraphicFramePr>
        <p:xfrm>
          <a:off x="6748591" y="3440709"/>
          <a:ext cx="4272480" cy="57285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2080">
                  <a:extLst>
                    <a:ext uri="{9D8B030D-6E8A-4147-A177-3AD203B41FA5}">
                      <a16:colId xmlns:a16="http://schemas.microsoft.com/office/drawing/2014/main" val="2757909019"/>
                    </a:ext>
                  </a:extLst>
                </a:gridCol>
                <a:gridCol w="712080">
                  <a:extLst>
                    <a:ext uri="{9D8B030D-6E8A-4147-A177-3AD203B41FA5}">
                      <a16:colId xmlns:a16="http://schemas.microsoft.com/office/drawing/2014/main" val="438599146"/>
                    </a:ext>
                  </a:extLst>
                </a:gridCol>
                <a:gridCol w="712080">
                  <a:extLst>
                    <a:ext uri="{9D8B030D-6E8A-4147-A177-3AD203B41FA5}">
                      <a16:colId xmlns:a16="http://schemas.microsoft.com/office/drawing/2014/main" val="3388198820"/>
                    </a:ext>
                  </a:extLst>
                </a:gridCol>
                <a:gridCol w="712080">
                  <a:extLst>
                    <a:ext uri="{9D8B030D-6E8A-4147-A177-3AD203B41FA5}">
                      <a16:colId xmlns:a16="http://schemas.microsoft.com/office/drawing/2014/main" val="1993982631"/>
                    </a:ext>
                  </a:extLst>
                </a:gridCol>
                <a:gridCol w="712080">
                  <a:extLst>
                    <a:ext uri="{9D8B030D-6E8A-4147-A177-3AD203B41FA5}">
                      <a16:colId xmlns:a16="http://schemas.microsoft.com/office/drawing/2014/main" val="3701380201"/>
                    </a:ext>
                  </a:extLst>
                </a:gridCol>
                <a:gridCol w="712080">
                  <a:extLst>
                    <a:ext uri="{9D8B030D-6E8A-4147-A177-3AD203B41FA5}">
                      <a16:colId xmlns:a16="http://schemas.microsoft.com/office/drawing/2014/main" val="1998530533"/>
                    </a:ext>
                  </a:extLst>
                </a:gridCol>
              </a:tblGrid>
              <a:tr h="57285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-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W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a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l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l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Consolas" panose="020B0609020204030204" pitchFamily="49" charset="0"/>
                        </a:rPr>
                        <a:t>\0</a:t>
                      </a:r>
                      <a:endParaRPr lang="zh-CN" altLang="en-US" sz="200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520638"/>
                  </a:ext>
                </a:extLst>
              </a:tr>
            </a:tbl>
          </a:graphicData>
        </a:graphic>
      </p:graphicFrame>
      <p:cxnSp>
        <p:nvCxnSpPr>
          <p:cNvPr id="9" name="直接箭头连接符 8"/>
          <p:cNvCxnSpPr>
            <a:endCxn id="6" idx="1"/>
          </p:cNvCxnSpPr>
          <p:nvPr/>
        </p:nvCxnSpPr>
        <p:spPr>
          <a:xfrm flipV="1">
            <a:off x="5384643" y="2867508"/>
            <a:ext cx="1387558" cy="286425"/>
          </a:xfrm>
          <a:prstGeom prst="straightConnector1">
            <a:avLst/>
          </a:prstGeom>
          <a:ln>
            <a:headEnd type="oval" w="med" len="med"/>
            <a:tailEnd type="triangl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>
            <a:endCxn id="8" idx="1"/>
          </p:cNvCxnSpPr>
          <p:nvPr/>
        </p:nvCxnSpPr>
        <p:spPr>
          <a:xfrm>
            <a:off x="5384643" y="3726785"/>
            <a:ext cx="1363948" cy="349"/>
          </a:xfrm>
          <a:prstGeom prst="straightConnector1">
            <a:avLst/>
          </a:prstGeom>
          <a:ln>
            <a:headEnd type="oval" w="med" len="med"/>
            <a:tailEnd type="triangl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endCxn id="7" idx="1"/>
          </p:cNvCxnSpPr>
          <p:nvPr/>
        </p:nvCxnSpPr>
        <p:spPr>
          <a:xfrm>
            <a:off x="5421514" y="4299634"/>
            <a:ext cx="1327077" cy="286425"/>
          </a:xfrm>
          <a:prstGeom prst="straightConnector1">
            <a:avLst/>
          </a:prstGeom>
          <a:ln>
            <a:headEnd type="oval" w="med" len="med"/>
            <a:tailEnd type="triangl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4867455" y="2421977"/>
            <a:ext cx="1034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>
                <a:latin typeface="Consolas" panose="020B0609020204030204" pitchFamily="49" charset="0"/>
              </a:rPr>
              <a:t>argv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3" name="箭头: 五边形 12">
            <a:extLst>
              <a:ext uri="{FF2B5EF4-FFF2-40B4-BE49-F238E27FC236}">
                <a16:creationId xmlns:a16="http://schemas.microsoft.com/office/drawing/2014/main" id="{893E99CD-BD1C-45D7-FDFE-7C3E41DC32B2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latin typeface="Consolas" panose="020B0609020204030204" pitchFamily="49" charset="0"/>
              </a:rPr>
              <a:t>cmdline-args.c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3401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雅黑+Consolas">
      <a:majorFont>
        <a:latin typeface="Consolas"/>
        <a:ea typeface="微软雅黑"/>
        <a:cs typeface=""/>
      </a:majorFont>
      <a:minorFont>
        <a:latin typeface="Consolas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50000"/>
          </a:schemeClr>
        </a:solidFill>
        <a:ln>
          <a:noFill/>
        </a:ln>
      </a:spPr>
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002" dirty="0">
            <a:solidFill>
              <a:srgbClr val="7EC234"/>
            </a:solidFill>
            <a:latin typeface="Consolas" panose="020B0609020204030204" pitchFamily="49" charset="0"/>
            <a:ea typeface="微软雅黑" panose="020B0503020204020204" pitchFamily="34" charset="-122"/>
            <a:sym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ctr">
          <a:defRPr sz="2400" dirty="0" smtClean="0">
            <a:latin typeface="Consolas" panose="020B0609020204030204" pitchFamily="49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06-循环.pptx" id="{F03A9CFA-35F9-440A-966A-5E917513ECB4}" vid="{F942D14E-8283-4960-9D94-F40AD533D26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程算1</Template>
  <TotalTime>1048</TotalTime>
  <Words>1103</Words>
  <Application>Microsoft Office PowerPoint</Application>
  <PresentationFormat>宽屏</PresentationFormat>
  <Paragraphs>320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6" baseType="lpstr">
      <vt:lpstr>Arial</vt:lpstr>
      <vt:lpstr>Consolas</vt:lpstr>
      <vt:lpstr>Office 主题​​</vt:lpstr>
      <vt:lpstr>字符串</vt:lpstr>
      <vt:lpstr>字符串字面常量(String literal)</vt:lpstr>
      <vt:lpstr>C风格的字符串字面常量的存储</vt:lpstr>
      <vt:lpstr>C风格的字符串字面常量的存储</vt:lpstr>
      <vt:lpstr>思考</vt:lpstr>
      <vt:lpstr>字符串变量</vt:lpstr>
      <vt:lpstr>字符串变量</vt:lpstr>
      <vt:lpstr>字符串变量</vt:lpstr>
      <vt:lpstr>字符串的读写</vt:lpstr>
      <vt:lpstr>字符串作为函数参数</vt:lpstr>
      <vt:lpstr>C的字符串库</vt:lpstr>
      <vt:lpstr>课堂练习1</vt:lpstr>
      <vt:lpstr>Strlen</vt:lpstr>
      <vt:lpstr>Strcpy</vt:lpstr>
      <vt:lpstr>Strcat</vt:lpstr>
      <vt:lpstr>Strcmp：相等的情况</vt:lpstr>
      <vt:lpstr>Strcmp：不相等的情况</vt:lpstr>
      <vt:lpstr>Strcmp：策略</vt:lpstr>
      <vt:lpstr>Strcmp：策略-长度不同的情况</vt:lpstr>
      <vt:lpstr>课堂练习2</vt:lpstr>
      <vt:lpstr>字符串数组</vt:lpstr>
      <vt:lpstr>字符串数组</vt:lpstr>
      <vt:lpstr>命令行参数</vt:lpstr>
    </vt:vector>
  </TitlesOfParts>
  <Company>UESTC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关于类型</dc:title>
  <dc:creator>Bai Zhongjian</dc:creator>
  <cp:lastModifiedBy>Zhongjian Bai</cp:lastModifiedBy>
  <cp:revision>577</cp:revision>
  <dcterms:created xsi:type="dcterms:W3CDTF">2021-10-07T04:52:51Z</dcterms:created>
  <dcterms:modified xsi:type="dcterms:W3CDTF">2025-10-29T02:12:19Z</dcterms:modified>
</cp:coreProperties>
</file>