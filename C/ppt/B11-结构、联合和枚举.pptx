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4" r:id="rId8"/>
    <p:sldId id="267" r:id="rId9"/>
    <p:sldId id="262" r:id="rId10"/>
    <p:sldId id="263" r:id="rId11"/>
    <p:sldId id="268" r:id="rId12"/>
    <p:sldId id="265" r:id="rId13"/>
    <p:sldId id="295" r:id="rId14"/>
    <p:sldId id="266" r:id="rId15"/>
    <p:sldId id="269" r:id="rId16"/>
    <p:sldId id="270" r:id="rId17"/>
    <p:sldId id="271" r:id="rId18"/>
    <p:sldId id="274" r:id="rId19"/>
    <p:sldId id="284" r:id="rId20"/>
    <p:sldId id="296" r:id="rId21"/>
    <p:sldId id="287" r:id="rId22"/>
    <p:sldId id="288" r:id="rId23"/>
    <p:sldId id="290" r:id="rId24"/>
    <p:sldId id="289" r:id="rId25"/>
    <p:sldId id="291" r:id="rId26"/>
    <p:sldId id="29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3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7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0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85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995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5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348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4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41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95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26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96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10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结构</a:t>
            </a:r>
            <a:r>
              <a:rPr lang="zh-CN" altLang="en-US" dirty="0"/>
              <a:t>、联合和枚举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8289B-DAC6-4D84-906F-B45C499B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651F08-1AD3-4220-A490-E4892D2EF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请用</a:t>
            </a:r>
            <a:r>
              <a:rPr lang="en-US" altLang="zh-CN" dirty="0"/>
              <a:t>C</a:t>
            </a:r>
            <a:r>
              <a:rPr lang="zh-CN" altLang="en-US" dirty="0"/>
              <a:t>语言描述一名学生的基本情况（学号、姓名、性别、年龄）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unsigned long id;</a:t>
            </a:r>
          </a:p>
          <a:p>
            <a:pPr marL="0" indent="0">
              <a:buNone/>
            </a:pPr>
            <a:r>
              <a:rPr lang="en-US" altLang="zh-CN" dirty="0"/>
              <a:t>char name[50];</a:t>
            </a:r>
          </a:p>
          <a:p>
            <a:pPr marL="0" indent="0">
              <a:buNone/>
            </a:pPr>
            <a:r>
              <a:rPr lang="en-US" altLang="zh-CN" dirty="0"/>
              <a:t>char gender;</a:t>
            </a:r>
          </a:p>
          <a:p>
            <a:pPr marL="0" indent="0">
              <a:buNone/>
            </a:pPr>
            <a:r>
              <a:rPr lang="en-US" altLang="zh-CN" dirty="0"/>
              <a:t>int age;</a:t>
            </a:r>
          </a:p>
        </p:txBody>
      </p:sp>
    </p:spTree>
    <p:extLst>
      <p:ext uri="{BB962C8B-B14F-4D97-AF65-F5344CB8AC3E}">
        <p14:creationId xmlns:p14="http://schemas.microsoft.com/office/powerpoint/2010/main" val="312717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8289B-DAC6-4D84-906F-B45C499B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651F08-1AD3-4220-A490-E4892D2EF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假如有</a:t>
            </a:r>
            <a:r>
              <a:rPr lang="en-US" altLang="zh-CN" dirty="0"/>
              <a:t>45</a:t>
            </a:r>
            <a:r>
              <a:rPr lang="zh-CN" altLang="en-US" dirty="0"/>
              <a:t>名学生呢？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#define N 45</a:t>
            </a:r>
          </a:p>
          <a:p>
            <a:pPr marL="0" indent="0">
              <a:buNone/>
            </a:pPr>
            <a:r>
              <a:rPr lang="en-US" altLang="zh-CN" dirty="0"/>
              <a:t>unsigned long id[N];</a:t>
            </a:r>
          </a:p>
          <a:p>
            <a:pPr marL="0" indent="0">
              <a:buNone/>
            </a:pPr>
            <a:r>
              <a:rPr lang="en-US" altLang="zh-CN" dirty="0"/>
              <a:t>char name[N][50];</a:t>
            </a:r>
          </a:p>
          <a:p>
            <a:pPr marL="0" indent="0">
              <a:buNone/>
            </a:pPr>
            <a:r>
              <a:rPr lang="en-US" altLang="zh-CN" dirty="0"/>
              <a:t>char gender[N];</a:t>
            </a:r>
          </a:p>
          <a:p>
            <a:pPr marL="0" indent="0">
              <a:buNone/>
            </a:pPr>
            <a:r>
              <a:rPr lang="en-US" altLang="zh-CN" dirty="0"/>
              <a:t>int age[N];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5200270B-97D5-4CA0-83F1-664821D30717}"/>
              </a:ext>
            </a:extLst>
          </p:cNvPr>
          <p:cNvSpPr/>
          <p:nvPr/>
        </p:nvSpPr>
        <p:spPr>
          <a:xfrm>
            <a:off x="5038558" y="1665845"/>
            <a:ext cx="4210187" cy="795989"/>
          </a:xfrm>
          <a:prstGeom prst="wedgeRectCallout">
            <a:avLst>
              <a:gd name="adj1" fmla="val -59739"/>
              <a:gd name="adj2" fmla="val 42665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请对这些数据按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  <a:ea typeface="Fira Code" panose="020B0809050000020004" pitchFamily="49" charset="0"/>
              </a:rPr>
              <a:t>id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排序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57238120-6EBD-4750-B596-A82A56A3A5AA}"/>
              </a:ext>
            </a:extLst>
          </p:cNvPr>
          <p:cNvSpPr/>
          <p:nvPr/>
        </p:nvSpPr>
        <p:spPr>
          <a:xfrm>
            <a:off x="5038557" y="3094957"/>
            <a:ext cx="4210187" cy="795989"/>
          </a:xfrm>
          <a:prstGeom prst="wedgeRectCallout">
            <a:avLst>
              <a:gd name="adj1" fmla="val -61301"/>
              <a:gd name="adj2" fmla="val 2169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问题出在哪里？</a:t>
            </a:r>
          </a:p>
        </p:txBody>
      </p:sp>
    </p:spTree>
    <p:extLst>
      <p:ext uri="{BB962C8B-B14F-4D97-AF65-F5344CB8AC3E}">
        <p14:creationId xmlns:p14="http://schemas.microsoft.com/office/powerpoint/2010/main" val="108978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C8A96-1C2C-4816-8586-C79DDC1E5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数据的内聚性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EED1B0-B7F5-4AF5-AA02-393C3D709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一件事物的某项特征称为该事物的“</a:t>
            </a:r>
            <a:r>
              <a:rPr lang="zh-CN" altLang="en-US" b="1" dirty="0">
                <a:solidFill>
                  <a:srgbClr val="FF0000"/>
                </a:solidFill>
              </a:rPr>
              <a:t>属性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attribute/property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/>
              <a:t>事物的属性不止一项</a:t>
            </a:r>
            <a:endParaRPr lang="en-US" altLang="zh-CN" dirty="0"/>
          </a:p>
          <a:p>
            <a:r>
              <a:rPr lang="zh-CN" altLang="en-US" dirty="0"/>
              <a:t>这些属性间都有</a:t>
            </a:r>
            <a:r>
              <a:rPr lang="zh-CN" altLang="en-US" b="1" dirty="0">
                <a:solidFill>
                  <a:srgbClr val="FF0000"/>
                </a:solidFill>
              </a:rPr>
              <a:t>内在的联系</a:t>
            </a:r>
            <a:r>
              <a:rPr lang="zh-CN" altLang="en-US" dirty="0"/>
              <a:t>。这是数据的“</a:t>
            </a:r>
            <a:r>
              <a:rPr lang="zh-CN" altLang="en-US" b="1" dirty="0">
                <a:solidFill>
                  <a:srgbClr val="FF0000"/>
                </a:solidFill>
              </a:rPr>
              <a:t>内聚性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/>
              <a:t>零散的变量无法刻画它们之间的内聚性</a:t>
            </a:r>
            <a:endParaRPr lang="en-US" altLang="zh-CN" dirty="0"/>
          </a:p>
          <a:p>
            <a:r>
              <a:rPr lang="zh-CN" altLang="en-US" dirty="0"/>
              <a:t>解决方案：将它们“</a:t>
            </a:r>
            <a:r>
              <a:rPr lang="zh-CN" altLang="en-US" b="1" dirty="0">
                <a:solidFill>
                  <a:srgbClr val="FF0000"/>
                </a:solidFill>
              </a:rPr>
              <a:t>聚集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aggregate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”在一起</a:t>
            </a:r>
          </a:p>
        </p:txBody>
      </p:sp>
    </p:spTree>
    <p:extLst>
      <p:ext uri="{BB962C8B-B14F-4D97-AF65-F5344CB8AC3E}">
        <p14:creationId xmlns:p14="http://schemas.microsoft.com/office/powerpoint/2010/main" val="133421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1BFD3-2572-4BE8-B6E6-CFF1C640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结构：定义结构类型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53719-8D5D-4008-AB1C-4D56251C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是一种刻画事物属性内聚性的机制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struct</a:t>
            </a:r>
            <a:r>
              <a:rPr lang="en-US" altLang="zh-CN" dirty="0"/>
              <a:t> student {</a:t>
            </a:r>
          </a:p>
          <a:p>
            <a:pPr marL="457200" lvl="1" indent="0">
              <a:buNone/>
            </a:pPr>
            <a:r>
              <a:rPr lang="en-US" altLang="zh-CN" sz="2400" dirty="0"/>
              <a:t>unsigned long id;</a:t>
            </a:r>
          </a:p>
          <a:p>
            <a:pPr marL="457200" lvl="1" indent="0">
              <a:buNone/>
            </a:pPr>
            <a:r>
              <a:rPr lang="en-US" altLang="zh-CN" sz="2400" dirty="0"/>
              <a:t>char name[50];</a:t>
            </a:r>
          </a:p>
          <a:p>
            <a:pPr marL="457200" lvl="1" indent="0">
              <a:buNone/>
            </a:pPr>
            <a:r>
              <a:rPr lang="en-US" altLang="zh-CN" sz="2400" dirty="0"/>
              <a:t>char gender;</a:t>
            </a:r>
          </a:p>
          <a:p>
            <a:pPr marL="457200" lvl="1" indent="0">
              <a:buNone/>
            </a:pPr>
            <a:r>
              <a:rPr lang="en-US" altLang="zh-CN" sz="2400" dirty="0"/>
              <a:t>int age;	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r>
              <a:rPr lang="en-US" altLang="zh-CN" sz="2800" b="1" dirty="0">
                <a:solidFill>
                  <a:srgbClr val="FF0000"/>
                </a:solidFill>
              </a:rPr>
              <a:t>;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BCFA7E4E-ACFB-40BB-A87E-3501FE8BBE06}"/>
              </a:ext>
            </a:extLst>
          </p:cNvPr>
          <p:cNvSpPr/>
          <p:nvPr/>
        </p:nvSpPr>
        <p:spPr>
          <a:xfrm>
            <a:off x="4066465" y="1991963"/>
            <a:ext cx="4677256" cy="546008"/>
          </a:xfrm>
          <a:prstGeom prst="wedgeRectCallout">
            <a:avLst>
              <a:gd name="adj1" fmla="val -64859"/>
              <a:gd name="adj2" fmla="val 1821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C000"/>
                </a:solidFill>
                <a:latin typeface="Fira Code" panose="020B0809050000020004" pitchFamily="49" charset="0"/>
              </a:rPr>
              <a:t>结构标记</a:t>
            </a:r>
            <a:r>
              <a:rPr lang="en-US" altLang="zh-CN" sz="2000" b="1" dirty="0">
                <a:solidFill>
                  <a:srgbClr val="FFC000"/>
                </a:solidFill>
                <a:latin typeface="Fira Code" panose="020B0809050000020004" pitchFamily="49" charset="0"/>
              </a:rPr>
              <a:t>(tag)</a:t>
            </a:r>
            <a:r>
              <a:rPr lang="zh-CN" altLang="en-US" sz="2000" b="1" dirty="0">
                <a:solidFill>
                  <a:srgbClr val="FFC000"/>
                </a:solidFill>
                <a:latin typeface="Fira Code" panose="020B0809050000020004" pitchFamily="49" charset="0"/>
              </a:rPr>
              <a:t>名</a:t>
            </a:r>
            <a:r>
              <a:rPr lang="zh-CN" altLang="en-US" sz="2000" dirty="0">
                <a:latin typeface="Fira Code" panose="020B0809050000020004" pitchFamily="49" charset="0"/>
              </a:rPr>
              <a:t>，不是类型名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8815E7D9-766F-4264-9459-262E9675FBC6}"/>
              </a:ext>
            </a:extLst>
          </p:cNvPr>
          <p:cNvSpPr/>
          <p:nvPr/>
        </p:nvSpPr>
        <p:spPr>
          <a:xfrm>
            <a:off x="4066465" y="3102681"/>
            <a:ext cx="4677256" cy="546008"/>
          </a:xfrm>
          <a:prstGeom prst="wedgeRectCallout">
            <a:avLst>
              <a:gd name="adj1" fmla="val -60316"/>
              <a:gd name="adj2" fmla="val 1701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Fira Code" panose="020B0809050000020004" pitchFamily="49" charset="0"/>
              </a:rPr>
              <a:t>这四个是</a:t>
            </a:r>
            <a:r>
              <a:rPr lang="zh-CN" altLang="en-US" sz="2000" b="1" dirty="0">
                <a:solidFill>
                  <a:srgbClr val="FFC000"/>
                </a:solidFill>
                <a:latin typeface="Fira Code" panose="020B0809050000020004" pitchFamily="49" charset="0"/>
              </a:rPr>
              <a:t>成员</a:t>
            </a:r>
            <a:r>
              <a:rPr lang="en-US" altLang="zh-CN" sz="2000" b="1" dirty="0">
                <a:solidFill>
                  <a:srgbClr val="FFC000"/>
                </a:solidFill>
                <a:latin typeface="Fira Code" panose="020B0809050000020004" pitchFamily="49" charset="0"/>
              </a:rPr>
              <a:t>(member)</a:t>
            </a:r>
            <a:endParaRPr lang="zh-CN" altLang="en-US" sz="2000" dirty="0">
              <a:latin typeface="Fira Code" panose="020B0809050000020004" pitchFamily="49" charset="0"/>
            </a:endParaRP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343DB08B-938B-470B-B036-C7D9BBAD7108}"/>
              </a:ext>
            </a:extLst>
          </p:cNvPr>
          <p:cNvSpPr/>
          <p:nvPr/>
        </p:nvSpPr>
        <p:spPr>
          <a:xfrm>
            <a:off x="4066465" y="4272637"/>
            <a:ext cx="5688139" cy="546008"/>
          </a:xfrm>
          <a:prstGeom prst="wedgeRectCallout">
            <a:avLst>
              <a:gd name="adj1" fmla="val -60316"/>
              <a:gd name="adj2" fmla="val 1701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Fira Code" panose="020B0809050000020004" pitchFamily="49" charset="0"/>
              </a:rPr>
              <a:t>这是在声明一种</a:t>
            </a:r>
            <a:r>
              <a:rPr lang="zh-CN" altLang="en-US" sz="2000" b="1" dirty="0">
                <a:solidFill>
                  <a:srgbClr val="FFC000"/>
                </a:solidFill>
                <a:latin typeface="Fira Code" panose="020B0809050000020004" pitchFamily="49" charset="0"/>
              </a:rPr>
              <a:t>结构类型</a:t>
            </a:r>
            <a:r>
              <a:rPr lang="zh-CN" altLang="en-US" sz="2000" dirty="0">
                <a:solidFill>
                  <a:schemeClr val="bg1"/>
                </a:solidFill>
                <a:latin typeface="Fira Code" panose="020B0809050000020004" pitchFamily="49" charset="0"/>
              </a:rPr>
              <a:t>，而不是在定义变量</a:t>
            </a:r>
          </a:p>
        </p:txBody>
      </p:sp>
    </p:spTree>
    <p:extLst>
      <p:ext uri="{BB962C8B-B14F-4D97-AF65-F5344CB8AC3E}">
        <p14:creationId xmlns:p14="http://schemas.microsoft.com/office/powerpoint/2010/main" val="155487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66D74-059E-4511-9234-4A4554920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结构：定义结构变量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8B1948-A325-449B-B490-23206021D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定义结构变量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3200" b="1" i="1" dirty="0">
                <a:solidFill>
                  <a:srgbClr val="FF0000"/>
                </a:solidFill>
              </a:rPr>
              <a:t>struct student </a:t>
            </a:r>
            <a:r>
              <a:rPr lang="en-US" altLang="zh-CN" sz="3200" dirty="0"/>
              <a:t>s;</a:t>
            </a:r>
            <a:endParaRPr lang="zh-CN" altLang="en-US" sz="3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16EA720-9C12-408A-AA0C-50FFE358F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207255"/>
              </p:ext>
            </p:extLst>
          </p:nvPr>
        </p:nvGraphicFramePr>
        <p:xfrm>
          <a:off x="6695460" y="2482928"/>
          <a:ext cx="2990056" cy="25368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0056">
                  <a:extLst>
                    <a:ext uri="{9D8B030D-6E8A-4147-A177-3AD203B41FA5}">
                      <a16:colId xmlns:a16="http://schemas.microsoft.com/office/drawing/2014/main" val="1769750511"/>
                    </a:ext>
                  </a:extLst>
                </a:gridCol>
              </a:tblGrid>
              <a:tr h="634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Fira Code" panose="020B0809050000020004" pitchFamily="49" charset="0"/>
                        </a:rPr>
                        <a:t>id</a:t>
                      </a:r>
                      <a:endParaRPr lang="zh-CN" altLang="en-US" sz="2400" dirty="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2958"/>
                  </a:ext>
                </a:extLst>
              </a:tr>
              <a:tr h="634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Fira Code" panose="020B0809050000020004" pitchFamily="49" charset="0"/>
                        </a:rPr>
                        <a:t>name[]</a:t>
                      </a:r>
                      <a:endParaRPr lang="zh-CN" altLang="en-US" sz="2400" dirty="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111539"/>
                  </a:ext>
                </a:extLst>
              </a:tr>
              <a:tr h="634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Fira Code" panose="020B0809050000020004" pitchFamily="49" charset="0"/>
                        </a:rPr>
                        <a:t>gender</a:t>
                      </a:r>
                      <a:endParaRPr lang="zh-CN" altLang="en-US" sz="2400" dirty="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482392"/>
                  </a:ext>
                </a:extLst>
              </a:tr>
              <a:tr h="634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Fira Code" panose="020B0809050000020004" pitchFamily="49" charset="0"/>
                        </a:rPr>
                        <a:t>age</a:t>
                      </a:r>
                      <a:endParaRPr lang="zh-CN" altLang="en-US" sz="2400" dirty="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41047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45A2C43-E70B-420D-A4B0-A703FC4C7D37}"/>
              </a:ext>
            </a:extLst>
          </p:cNvPr>
          <p:cNvSpPr/>
          <p:nvPr/>
        </p:nvSpPr>
        <p:spPr>
          <a:xfrm>
            <a:off x="6695460" y="2482928"/>
            <a:ext cx="2990056" cy="2536828"/>
          </a:xfrm>
          <a:prstGeom prst="rect">
            <a:avLst/>
          </a:prstGeom>
          <a:noFill/>
          <a:ln w="412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83BF084B-C1B7-4416-A84F-2094E4CB3098}"/>
              </a:ext>
            </a:extLst>
          </p:cNvPr>
          <p:cNvSpPr/>
          <p:nvPr/>
        </p:nvSpPr>
        <p:spPr>
          <a:xfrm>
            <a:off x="1677217" y="3429000"/>
            <a:ext cx="4210187" cy="1920292"/>
          </a:xfrm>
          <a:prstGeom prst="wedgeRectCallout">
            <a:avLst>
              <a:gd name="adj1" fmla="val 66355"/>
              <a:gd name="adj2" fmla="val -242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注意：这只是一个示意。实际上，因为系统的要求，成员之间可能存在间隙！换句话说，结构变量的大小往往要大于所有成员大小之和。因此，最好用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sizeof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()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运算符来计算结构变量的实际大小。</a:t>
            </a:r>
          </a:p>
        </p:txBody>
      </p:sp>
    </p:spTree>
    <p:extLst>
      <p:ext uri="{BB962C8B-B14F-4D97-AF65-F5344CB8AC3E}">
        <p14:creationId xmlns:p14="http://schemas.microsoft.com/office/powerpoint/2010/main" val="188578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5957D-4976-43BC-BC53-076748B0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结构：选择结构变量的成员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4906C-76AC-4E53-A3C9-E43AA86EE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成员选择运算符 </a:t>
            </a:r>
            <a:r>
              <a:rPr lang="en-US" altLang="zh-CN" b="1" dirty="0">
                <a:solidFill>
                  <a:srgbClr val="FFC000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zh-CN" dirty="0" err="1"/>
              <a:t>s</a:t>
            </a:r>
            <a:r>
              <a:rPr lang="en-US" altLang="zh-CN" b="1" dirty="0" err="1">
                <a:solidFill>
                  <a:srgbClr val="FF0000"/>
                </a:solidFill>
              </a:rPr>
              <a:t>.</a:t>
            </a:r>
            <a:r>
              <a:rPr lang="en-US" altLang="zh-CN" dirty="0" err="1"/>
              <a:t>gender</a:t>
            </a:r>
            <a:r>
              <a:rPr lang="en-US" altLang="zh-CN" dirty="0"/>
              <a:t> = ‘F’;</a:t>
            </a:r>
          </a:p>
          <a:p>
            <a:pPr marL="0" indent="0">
              <a:buNone/>
            </a:pPr>
            <a:r>
              <a:rPr lang="en-US" altLang="zh-CN" dirty="0"/>
              <a:t>s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r>
              <a:rPr lang="en-US" altLang="zh-CN" dirty="0"/>
              <a:t>id = 2024091001;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++</a:t>
            </a:r>
            <a:r>
              <a:rPr lang="en-US" altLang="zh-CN" dirty="0" err="1"/>
              <a:t>s</a:t>
            </a:r>
            <a:r>
              <a:rPr lang="en-US" altLang="zh-CN" b="1" dirty="0" err="1">
                <a:solidFill>
                  <a:srgbClr val="FF0000"/>
                </a:solidFill>
              </a:rPr>
              <a:t>.</a:t>
            </a:r>
            <a:r>
              <a:rPr lang="en-US" altLang="zh-CN" dirty="0" err="1"/>
              <a:t>age</a:t>
            </a:r>
            <a:r>
              <a:rPr lang="en-US" altLang="zh-CN" dirty="0"/>
              <a:t>;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8051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8EA51-86E1-4574-8128-24AB7BEA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结构：结构变量的输入和输出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4AB3D7-D1E5-4ED5-8981-97D67F554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结构变量不能整体输入和输出，只能按成员来进行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printf</a:t>
            </a: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(“%</a:t>
            </a:r>
            <a:r>
              <a:rPr lang="en-US" altLang="zh-CN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lu</a:t>
            </a: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”, s); //error</a:t>
            </a:r>
          </a:p>
          <a:p>
            <a:pPr marL="457200" lvl="1" indent="0">
              <a:buNone/>
            </a:pPr>
            <a:r>
              <a:rPr lang="en-US" altLang="zh-CN" dirty="0" err="1"/>
              <a:t>printf</a:t>
            </a:r>
            <a:r>
              <a:rPr lang="en-US" altLang="zh-CN" dirty="0"/>
              <a:t>(“%</a:t>
            </a:r>
            <a:r>
              <a:rPr lang="en-US" altLang="zh-CN" dirty="0" err="1"/>
              <a:t>lu</a:t>
            </a:r>
            <a:r>
              <a:rPr lang="en-US" altLang="zh-CN" dirty="0"/>
              <a:t>”, s.id); //OK</a:t>
            </a:r>
          </a:p>
          <a:p>
            <a:pPr marL="457200" lvl="1" indent="0">
              <a:buNone/>
            </a:pPr>
            <a:r>
              <a:rPr lang="en-US" altLang="zh-CN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scanf</a:t>
            </a: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(“%</a:t>
            </a:r>
            <a:r>
              <a:rPr lang="en-US" altLang="zh-CN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lu</a:t>
            </a: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”, &amp;s); //error</a:t>
            </a:r>
          </a:p>
          <a:p>
            <a:pPr marL="457200" lvl="1" indent="0">
              <a:buNone/>
            </a:pPr>
            <a:r>
              <a:rPr lang="en-US" altLang="zh-CN" dirty="0" err="1"/>
              <a:t>scanf</a:t>
            </a:r>
            <a:r>
              <a:rPr lang="en-US" altLang="zh-CN" dirty="0"/>
              <a:t>(“%</a:t>
            </a:r>
            <a:r>
              <a:rPr lang="en-US" altLang="zh-CN" dirty="0" err="1"/>
              <a:t>lu</a:t>
            </a:r>
            <a:r>
              <a:rPr lang="en-US" altLang="zh-CN" dirty="0"/>
              <a:t>”, &amp;s.id); //OK</a:t>
            </a:r>
          </a:p>
          <a:p>
            <a:r>
              <a:rPr lang="zh-CN" altLang="en-US" dirty="0"/>
              <a:t>结构变量可以整体赋值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struct student s1 = {…}, s2;</a:t>
            </a:r>
          </a:p>
          <a:p>
            <a:pPr marL="0" indent="0">
              <a:buNone/>
            </a:pPr>
            <a:r>
              <a:rPr lang="en-US" altLang="zh-CN" dirty="0"/>
              <a:t>  s2 = s1; //s2</a:t>
            </a:r>
            <a:r>
              <a:rPr lang="zh-CN" altLang="en-US" dirty="0"/>
              <a:t>的内容与</a:t>
            </a:r>
            <a:r>
              <a:rPr lang="en-US" altLang="zh-CN" dirty="0"/>
              <a:t>s1</a:t>
            </a:r>
            <a:r>
              <a:rPr lang="zh-CN" altLang="en-US" dirty="0"/>
              <a:t>一样了。请注意：</a:t>
            </a:r>
            <a:r>
              <a:rPr lang="en-US" altLang="zh-CN" dirty="0"/>
              <a:t>student</a:t>
            </a:r>
            <a:r>
              <a:rPr lang="zh-CN" altLang="en-US" dirty="0"/>
              <a:t>里有数组成员</a:t>
            </a:r>
            <a:r>
              <a:rPr lang="en-US" altLang="zh-CN" dirty="0"/>
              <a:t> 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802B522D-7926-D0C6-08AB-A5D4950A0FF8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student1.c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62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AC1CC-B6F8-4531-AE2A-BE03019A0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结构：定义结构变量的其他方式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17D8B4-144B-4660-B624-1154082BD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定义结构变量的其他方式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E412E5-0F8B-4B43-966D-4F6D0020A72F}"/>
              </a:ext>
            </a:extLst>
          </p:cNvPr>
          <p:cNvSpPr/>
          <p:nvPr/>
        </p:nvSpPr>
        <p:spPr>
          <a:xfrm>
            <a:off x="1633033" y="2184435"/>
            <a:ext cx="3867151" cy="3173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struct </a:t>
            </a:r>
            <a:r>
              <a:rPr lang="en-US" altLang="zh-CN" sz="2400" b="1" i="1" dirty="0">
                <a:solidFill>
                  <a:srgbClr val="FF0000"/>
                </a:solidFill>
                <a:latin typeface="Consolas" panose="020B0609020204030204" pitchFamily="49" charset="0"/>
              </a:rPr>
              <a:t>student</a:t>
            </a:r>
            <a:r>
              <a:rPr lang="en-US" altLang="zh-CN" sz="2400" dirty="0">
                <a:latin typeface="Consolas" panose="020B0609020204030204" pitchFamily="49" charset="0"/>
              </a:rPr>
              <a:t> {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unsigned long id;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char name[50];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char gender;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int age;	</a:t>
            </a:r>
          </a:p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} </a:t>
            </a:r>
            <a:r>
              <a:rPr lang="en-US" altLang="zh-CN" sz="2400" b="1" i="1" dirty="0">
                <a:solidFill>
                  <a:srgbClr val="00B0F0"/>
                </a:solidFill>
                <a:latin typeface="Consolas" panose="020B0609020204030204" pitchFamily="49" charset="0"/>
              </a:rPr>
              <a:t>s</a:t>
            </a:r>
            <a:r>
              <a:rPr lang="en-US" altLang="zh-CN" sz="28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9E4E2A-CBEF-494F-BEC7-1A4F8C792C16}"/>
              </a:ext>
            </a:extLst>
          </p:cNvPr>
          <p:cNvSpPr/>
          <p:nvPr/>
        </p:nvSpPr>
        <p:spPr>
          <a:xfrm>
            <a:off x="6047874" y="2184435"/>
            <a:ext cx="3867151" cy="3173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struct {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unsigned long id;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char name[50];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char gender;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int age;	</a:t>
            </a:r>
          </a:p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2400" dirty="0">
                <a:latin typeface="Consolas" panose="020B0609020204030204" pitchFamily="49" charset="0"/>
              </a:rPr>
              <a:t>} </a:t>
            </a:r>
            <a:r>
              <a:rPr lang="en-US" altLang="zh-CN" sz="2400" b="1" i="1" dirty="0">
                <a:solidFill>
                  <a:srgbClr val="00B0F0"/>
                </a:solidFill>
                <a:latin typeface="Consolas" panose="020B0609020204030204" pitchFamily="49" charset="0"/>
              </a:rPr>
              <a:t>s</a:t>
            </a:r>
            <a:r>
              <a:rPr lang="en-US" altLang="zh-CN" sz="28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D16ED7DB-48FA-F2B5-BA0E-F88837CCEF34}"/>
              </a:ext>
            </a:extLst>
          </p:cNvPr>
          <p:cNvSpPr/>
          <p:nvPr/>
        </p:nvSpPr>
        <p:spPr>
          <a:xfrm>
            <a:off x="7819239" y="1663797"/>
            <a:ext cx="2694741" cy="1041275"/>
          </a:xfrm>
          <a:prstGeom prst="wedgeRectCallout">
            <a:avLst>
              <a:gd name="adj1" fmla="val -60402"/>
              <a:gd name="adj2" fmla="val 28355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Fira Code" panose="020B0809050000020004" pitchFamily="49" charset="0"/>
              </a:rPr>
              <a:t>这个结构没有</a:t>
            </a:r>
            <a:r>
              <a:rPr lang="en-US" altLang="zh-CN" sz="2000" dirty="0">
                <a:solidFill>
                  <a:schemeClr val="bg1"/>
                </a:solidFill>
                <a:latin typeface="Fira Code" panose="020B0809050000020004" pitchFamily="49" charset="0"/>
              </a:rPr>
              <a:t>tag name</a:t>
            </a:r>
            <a:r>
              <a:rPr lang="zh-CN" altLang="en-US" sz="2000" dirty="0">
                <a:solidFill>
                  <a:schemeClr val="bg1"/>
                </a:solidFill>
                <a:latin typeface="Fira Code" panose="020B0809050000020004" pitchFamily="49" charset="0"/>
              </a:rPr>
              <a:t>，是匿名的</a:t>
            </a:r>
          </a:p>
        </p:txBody>
      </p:sp>
    </p:spTree>
    <p:extLst>
      <p:ext uri="{BB962C8B-B14F-4D97-AF65-F5344CB8AC3E}">
        <p14:creationId xmlns:p14="http://schemas.microsoft.com/office/powerpoint/2010/main" val="1441924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8ED9C-38C3-4445-AE75-A3E6840D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结构：结构变量的初始化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7815C-BEA7-4F4A-9E9F-629D08DD7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结构变量的初始化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struct student s1 = {2021091001, “</a:t>
            </a:r>
            <a:r>
              <a:rPr lang="zh-CN" altLang="en-US" dirty="0"/>
              <a:t>张三</a:t>
            </a:r>
            <a:r>
              <a:rPr lang="en-US" altLang="zh-CN" dirty="0"/>
              <a:t>”, ‘M’, 18};</a:t>
            </a:r>
          </a:p>
          <a:p>
            <a:pPr marL="0" indent="0">
              <a:buNone/>
            </a:pPr>
            <a:r>
              <a:rPr lang="en-US" altLang="zh-CN" dirty="0"/>
              <a:t>struct student s2 = {2021091002, “</a:t>
            </a:r>
            <a:r>
              <a:rPr lang="zh-CN" altLang="en-US" dirty="0"/>
              <a:t>李四</a:t>
            </a:r>
            <a:r>
              <a:rPr lang="en-US" altLang="zh-CN" dirty="0"/>
              <a:t>”}; 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</a:rPr>
              <a:t>//0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</a:rPr>
              <a:t>初始化规则</a:t>
            </a:r>
            <a:endParaRPr lang="en-US" altLang="zh-CN" dirty="0">
              <a:solidFill>
                <a:schemeClr val="tx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/>
              <a:t>struct student s3 = {.name=“</a:t>
            </a:r>
            <a:r>
              <a:rPr lang="zh-CN" altLang="en-US" dirty="0"/>
              <a:t>王五</a:t>
            </a:r>
            <a:r>
              <a:rPr lang="en-US" altLang="zh-CN" dirty="0"/>
              <a:t>”}; 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</a:rPr>
              <a:t>//C99</a:t>
            </a:r>
            <a:endParaRPr lang="zh-CN" altLang="en-US" dirty="0">
              <a:solidFill>
                <a:schemeClr val="tx1">
                  <a:lumMod val="65000"/>
                </a:schemeClr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001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A2720-49A6-48B5-9509-483FA23E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结构：结构作为函数的参数和返回值类型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C3E300-2D34-4947-B88B-3D1C757DC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结构变量可以作为函数的参数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void </a:t>
            </a:r>
            <a:r>
              <a:rPr lang="en-US" altLang="zh-CN" dirty="0" err="1"/>
              <a:t>print_stu</a:t>
            </a:r>
            <a:r>
              <a:rPr lang="en-US" altLang="zh-CN" dirty="0"/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struct student s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结构类型可以作为函数的返回值类型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struct student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/>
              <a:t>make_student</a:t>
            </a:r>
            <a:r>
              <a:rPr lang="en-US" altLang="zh-CN" dirty="0"/>
              <a:t>(unsigned long id, char*name, char gender, int age) {</a:t>
            </a:r>
          </a:p>
          <a:p>
            <a:pPr marL="0" indent="0">
              <a:buNone/>
            </a:pPr>
            <a:r>
              <a:rPr lang="en-US" altLang="zh-CN" dirty="0"/>
              <a:t>    struct student s = {id, “”, gender, age};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strcpy</a:t>
            </a:r>
            <a:r>
              <a:rPr lang="en-US" altLang="zh-CN" dirty="0"/>
              <a:t>(s.name, name);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b="1" i="1" dirty="0">
                <a:solidFill>
                  <a:srgbClr val="FF0000"/>
                </a:solidFill>
              </a:rPr>
              <a:t>return s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AB02C654-E706-4758-B679-CE1259E423FF}"/>
              </a:ext>
            </a:extLst>
          </p:cNvPr>
          <p:cNvSpPr/>
          <p:nvPr/>
        </p:nvSpPr>
        <p:spPr>
          <a:xfrm>
            <a:off x="6869535" y="1199593"/>
            <a:ext cx="3147309" cy="795989"/>
          </a:xfrm>
          <a:prstGeom prst="wedgeRectCallout">
            <a:avLst>
              <a:gd name="adj1" fmla="val -59739"/>
              <a:gd name="adj2" fmla="val 42665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遵循“传值调用”原则</a:t>
            </a: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C739D81-D9FD-BFB9-5B10-D4C1350CF7B2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student2.c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28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70D49-C64C-4950-913B-BF021F9A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结构：使用</a:t>
            </a:r>
            <a:r>
              <a:rPr lang="en-US" altLang="zh-CN" dirty="0"/>
              <a:t>typedef</a:t>
            </a:r>
            <a:r>
              <a:rPr lang="zh-CN" altLang="en-US" dirty="0"/>
              <a:t>简化类型定义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A24D6F-704C-4188-831B-97B0655AE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一般情况下，结构变量的类型必须是</a:t>
            </a:r>
            <a:r>
              <a:rPr lang="zh-CN" altLang="en-US" b="1" dirty="0">
                <a:solidFill>
                  <a:srgbClr val="FF0000"/>
                </a:solidFill>
              </a:rPr>
              <a:t>关键字</a:t>
            </a:r>
            <a:r>
              <a:rPr lang="en-US" altLang="zh-CN" b="1" dirty="0">
                <a:solidFill>
                  <a:srgbClr val="FF0000"/>
                </a:solidFill>
              </a:rPr>
              <a:t>struct</a:t>
            </a:r>
            <a:r>
              <a:rPr lang="zh-CN" altLang="en-US" b="1" dirty="0">
                <a:solidFill>
                  <a:srgbClr val="FF0000"/>
                </a:solidFill>
              </a:rPr>
              <a:t>和结构标记名的组合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sz="2800" b="1" i="1" dirty="0">
                <a:solidFill>
                  <a:srgbClr val="FF0000"/>
                </a:solidFill>
              </a:rPr>
              <a:t>struct student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/>
              <a:t>s; //OK</a:t>
            </a:r>
          </a:p>
          <a:p>
            <a:pPr marL="457200" lvl="1" indent="0">
              <a:buNone/>
            </a:pPr>
            <a:r>
              <a:rPr lang="en-US" altLang="zh-CN" sz="2800" dirty="0"/>
              <a:t>student s; //error</a:t>
            </a:r>
          </a:p>
        </p:txBody>
      </p:sp>
    </p:spTree>
    <p:extLst>
      <p:ext uri="{BB962C8B-B14F-4D97-AF65-F5344CB8AC3E}">
        <p14:creationId xmlns:p14="http://schemas.microsoft.com/office/powerpoint/2010/main" val="3968628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9800-1C0C-270F-3483-41166BC73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44984-07D7-4548-E60D-2310409C2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结构：使用</a:t>
            </a:r>
            <a:r>
              <a:rPr lang="en-US" altLang="zh-CN" dirty="0"/>
              <a:t>typedef</a:t>
            </a:r>
            <a:r>
              <a:rPr lang="zh-CN" altLang="en-US" dirty="0"/>
              <a:t>简化类型定义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A1DC06-B554-896B-160E-D82E58C55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b="1" i="1" dirty="0">
                <a:solidFill>
                  <a:srgbClr val="FF0000"/>
                </a:solidFill>
              </a:rPr>
              <a:t>typedef </a:t>
            </a:r>
            <a:r>
              <a:rPr lang="en-US" altLang="zh-CN" sz="3600" b="1" i="1" dirty="0" err="1">
                <a:solidFill>
                  <a:srgbClr val="FF0000"/>
                </a:solidFill>
              </a:rPr>
              <a:t>old_typename</a:t>
            </a:r>
            <a:r>
              <a:rPr lang="en-US" altLang="zh-CN" sz="3600" b="1" i="1" dirty="0">
                <a:solidFill>
                  <a:srgbClr val="FF0000"/>
                </a:solidFill>
              </a:rPr>
              <a:t> alias; </a:t>
            </a:r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i="1" dirty="0">
                <a:solidFill>
                  <a:srgbClr val="FF0000"/>
                </a:solidFill>
              </a:rPr>
              <a:t>typedef int 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INT</a:t>
            </a:r>
            <a:r>
              <a:rPr lang="en-US" altLang="zh-CN" sz="2800" b="1" i="1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zh-CN" sz="2800" b="1" i="1" dirty="0">
                <a:solidFill>
                  <a:srgbClr val="FF0000"/>
                </a:solidFill>
              </a:rPr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; // </a:t>
            </a:r>
            <a:r>
              <a:rPr lang="en-US" altLang="zh-CN" sz="2800" dirty="0">
                <a:sym typeface="Wingdings" panose="05000000000000000000" pitchFamily="2" charset="2"/>
              </a:rPr>
              <a:t> int </a:t>
            </a:r>
            <a:r>
              <a:rPr lang="en-US" altLang="zh-CN" sz="2800" dirty="0" err="1">
                <a:sym typeface="Wingdings" panose="05000000000000000000" pitchFamily="2" charset="2"/>
              </a:rPr>
              <a:t>i</a:t>
            </a:r>
            <a:r>
              <a:rPr lang="en-US" altLang="zh-CN" sz="2800" dirty="0"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US" altLang="zh-CN" sz="2800" b="1" i="1" dirty="0">
                <a:solidFill>
                  <a:srgbClr val="FF0000"/>
                </a:solidFill>
                <a:sym typeface="Wingdings" panose="05000000000000000000" pitchFamily="2" charset="2"/>
              </a:rPr>
              <a:t>typedef char* STRING;</a:t>
            </a:r>
          </a:p>
          <a:p>
            <a:pPr marL="0" indent="0">
              <a:buNone/>
            </a:pPr>
            <a:r>
              <a:rPr lang="en-US" altLang="zh-CN" sz="2800" b="1" i="1" dirty="0">
                <a:solidFill>
                  <a:srgbClr val="FF0000"/>
                </a:solidFill>
                <a:sym typeface="Wingdings" panose="05000000000000000000" pitchFamily="2" charset="2"/>
              </a:rPr>
              <a:t>STRING</a:t>
            </a:r>
            <a:r>
              <a:rPr lang="en-US" altLang="zh-CN" sz="2800" dirty="0">
                <a:sym typeface="Wingdings" panose="05000000000000000000" pitchFamily="2" charset="2"/>
              </a:rPr>
              <a:t> s; //  char *s;</a:t>
            </a:r>
            <a:endParaRPr lang="en-US" altLang="zh-CN" sz="2800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3E356A97-E47D-CD20-0042-4C98070A79BD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typedef.c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82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70D49-C64C-4950-913B-BF021F9A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结构：使用</a:t>
            </a:r>
            <a:r>
              <a:rPr lang="en-US" altLang="zh-CN" dirty="0"/>
              <a:t>typedef</a:t>
            </a:r>
            <a:r>
              <a:rPr lang="zh-CN" altLang="en-US" dirty="0"/>
              <a:t>简化类型定义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A24D6F-704C-4188-831B-97B0655AE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定义结构类型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typedef</a:t>
            </a:r>
            <a:r>
              <a:rPr lang="en-US" altLang="zh-CN" sz="3200" dirty="0"/>
              <a:t> struct { …</a:t>
            </a:r>
            <a:r>
              <a:rPr lang="zh-CN" altLang="en-US" sz="3200" dirty="0"/>
              <a:t> </a:t>
            </a:r>
            <a:r>
              <a:rPr lang="en-US" altLang="zh-CN" sz="3200" dirty="0"/>
              <a:t>}</a:t>
            </a:r>
            <a:r>
              <a:rPr lang="zh-CN" altLang="en-US" sz="3200" dirty="0"/>
              <a:t> </a:t>
            </a:r>
            <a:r>
              <a:rPr lang="en-US" altLang="zh-CN" sz="3200" b="1" i="1" dirty="0">
                <a:solidFill>
                  <a:srgbClr val="FF0000"/>
                </a:solidFill>
              </a:rPr>
              <a:t>student</a:t>
            </a:r>
            <a:r>
              <a:rPr lang="en-US" altLang="zh-CN" sz="3200" dirty="0"/>
              <a:t>;</a:t>
            </a:r>
          </a:p>
          <a:p>
            <a:pPr marL="0" indent="0">
              <a:buNone/>
            </a:pPr>
            <a:r>
              <a:rPr lang="en-US" altLang="zh-CN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typedef</a:t>
            </a:r>
            <a:r>
              <a:rPr lang="en-US" altLang="zh-CN" sz="3200" dirty="0"/>
              <a:t> struct </a:t>
            </a:r>
            <a:r>
              <a:rPr lang="en-US" altLang="zh-CN" sz="3200" b="1" i="1" dirty="0">
                <a:solidFill>
                  <a:srgbClr val="92D050"/>
                </a:solidFill>
              </a:rPr>
              <a:t>student</a:t>
            </a:r>
            <a:r>
              <a:rPr lang="en-US" altLang="zh-CN" sz="3200" dirty="0"/>
              <a:t> { …</a:t>
            </a:r>
            <a:r>
              <a:rPr lang="zh-CN" altLang="en-US" sz="3200" dirty="0"/>
              <a:t> </a:t>
            </a:r>
            <a:r>
              <a:rPr lang="en-US" altLang="zh-CN" sz="3200" dirty="0"/>
              <a:t>}</a:t>
            </a:r>
            <a:r>
              <a:rPr lang="zh-CN" altLang="en-US" sz="3200" dirty="0"/>
              <a:t> </a:t>
            </a:r>
            <a:r>
              <a:rPr lang="en-US" altLang="zh-CN" sz="3200" b="1" i="1" dirty="0">
                <a:solidFill>
                  <a:srgbClr val="FF0000"/>
                </a:solidFill>
              </a:rPr>
              <a:t>student</a:t>
            </a:r>
            <a:r>
              <a:rPr lang="en-US" altLang="zh-CN" sz="3200" dirty="0"/>
              <a:t>;</a:t>
            </a:r>
          </a:p>
          <a:p>
            <a:pPr marL="0" indent="0">
              <a:buNone/>
            </a:pPr>
            <a:r>
              <a:rPr lang="en-US" altLang="zh-CN" sz="3200" b="1" i="1" dirty="0">
                <a:solidFill>
                  <a:srgbClr val="FF0000"/>
                </a:solidFill>
              </a:rPr>
              <a:t>student</a:t>
            </a:r>
            <a:r>
              <a:rPr lang="en-US" altLang="zh-CN" sz="3200" dirty="0"/>
              <a:t> s; //OK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B1AE8C64-79E6-4D96-872F-304CAE536E29}"/>
              </a:ext>
            </a:extLst>
          </p:cNvPr>
          <p:cNvSpPr/>
          <p:nvPr/>
        </p:nvSpPr>
        <p:spPr>
          <a:xfrm>
            <a:off x="7668766" y="1248189"/>
            <a:ext cx="1662079" cy="795989"/>
          </a:xfrm>
          <a:prstGeom prst="wedgeRectCallout">
            <a:avLst>
              <a:gd name="adj1" fmla="val -73687"/>
              <a:gd name="adj2" fmla="val 3862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类型名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7FEBEBE4-D85A-4E87-AC9C-8AAE17956CB7}"/>
              </a:ext>
            </a:extLst>
          </p:cNvPr>
          <p:cNvSpPr/>
          <p:nvPr/>
        </p:nvSpPr>
        <p:spPr>
          <a:xfrm>
            <a:off x="5107044" y="2977547"/>
            <a:ext cx="1795429" cy="795989"/>
          </a:xfrm>
          <a:prstGeom prst="wedgeRectCallout">
            <a:avLst>
              <a:gd name="adj1" fmla="val -39698"/>
              <a:gd name="adj2" fmla="val -73108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可选的标记名</a:t>
            </a: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E4B0D6E5-0621-BE42-92F8-86E736A29A20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student3.c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31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E6768C-A936-4A60-8B1F-EACE3F42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结构：嵌套定义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14CB-DF0E-40DA-8662-C5DF35019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结构的嵌套定义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C12D1F-EE03-421C-BFFF-C03C35899EBF}"/>
              </a:ext>
            </a:extLst>
          </p:cNvPr>
          <p:cNvSpPr/>
          <p:nvPr/>
        </p:nvSpPr>
        <p:spPr>
          <a:xfrm>
            <a:off x="1864853" y="2074965"/>
            <a:ext cx="3867151" cy="3275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dirty="0">
                <a:latin typeface="Consolas" panose="020B0609020204030204" pitchFamily="49" charset="0"/>
              </a:rPr>
              <a:t>typedef struct {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latin typeface="Consolas" panose="020B0609020204030204" pitchFamily="49" charset="0"/>
              </a:rPr>
              <a:t>unsigned long id;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latin typeface="Consolas" panose="020B0609020204030204" pitchFamily="49" charset="0"/>
              </a:rPr>
              <a:t>char name[50];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latin typeface="Consolas" panose="020B0609020204030204" pitchFamily="49" charset="0"/>
              </a:rPr>
              <a:t>char gender;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</a:rPr>
              <a:t>struct date {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</a:rPr>
              <a:t>   int year, month, day;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</a:rPr>
              <a:t>dob;	</a:t>
            </a:r>
          </a:p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dirty="0">
                <a:latin typeface="Consolas" panose="020B0609020204030204" pitchFamily="49" charset="0"/>
              </a:rPr>
              <a:t>}</a:t>
            </a:r>
            <a:r>
              <a:rPr lang="en-US" altLang="zh-CN" sz="2000" dirty="0">
                <a:latin typeface="Consolas" panose="020B0609020204030204" pitchFamily="49" charset="0"/>
              </a:rPr>
              <a:t> student;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796BBD-87F7-43EA-8C11-96ED1006B3D9}"/>
              </a:ext>
            </a:extLst>
          </p:cNvPr>
          <p:cNvSpPr/>
          <p:nvPr/>
        </p:nvSpPr>
        <p:spPr>
          <a:xfrm>
            <a:off x="6621772" y="2074965"/>
            <a:ext cx="3867151" cy="3735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</a:rPr>
              <a:t>typedef struct {</a:t>
            </a:r>
          </a:p>
          <a:p>
            <a:pPr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</a:rPr>
              <a:t>    int year, month, day;</a:t>
            </a:r>
          </a:p>
          <a:p>
            <a:pPr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</a:rPr>
              <a:t>} date;</a:t>
            </a:r>
          </a:p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dirty="0">
                <a:latin typeface="Consolas" panose="020B0609020204030204" pitchFamily="49" charset="0"/>
              </a:rPr>
              <a:t>typedef struct {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latin typeface="Consolas" panose="020B0609020204030204" pitchFamily="49" charset="0"/>
              </a:rPr>
              <a:t>unsigned long id;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latin typeface="Consolas" panose="020B0609020204030204" pitchFamily="49" charset="0"/>
              </a:rPr>
              <a:t>char name[50];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latin typeface="Consolas" panose="020B0609020204030204" pitchFamily="49" charset="0"/>
              </a:rPr>
              <a:t>char gender;</a:t>
            </a:r>
          </a:p>
          <a:p>
            <a:pPr lvl="1" algn="just" defTabSz="914400">
              <a:lnSpc>
                <a:spcPct val="120000"/>
              </a:lnSpc>
              <a:spcBef>
                <a:spcPts val="500"/>
              </a:spcBef>
              <a:buSzPct val="125000"/>
            </a:pPr>
            <a:r>
              <a:rPr lang="en-US" altLang="zh-CN" b="1" i="1" dirty="0">
                <a:solidFill>
                  <a:srgbClr val="FF0000"/>
                </a:solidFill>
                <a:latin typeface="Consolas" panose="020B0609020204030204" pitchFamily="49" charset="0"/>
              </a:rPr>
              <a:t>date</a:t>
            </a:r>
            <a:r>
              <a:rPr lang="en-US" altLang="zh-CN" dirty="0">
                <a:latin typeface="Consolas" panose="020B0609020204030204" pitchFamily="49" charset="0"/>
              </a:rPr>
              <a:t> dob;	</a:t>
            </a:r>
          </a:p>
          <a:p>
            <a:pPr lvl="0" algn="just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dirty="0">
                <a:latin typeface="Consolas" panose="020B0609020204030204" pitchFamily="49" charset="0"/>
              </a:rPr>
              <a:t>}</a:t>
            </a:r>
            <a:r>
              <a:rPr lang="en-US" altLang="zh-CN" sz="2000" dirty="0">
                <a:latin typeface="Consolas" panose="020B0609020204030204" pitchFamily="49" charset="0"/>
              </a:rPr>
              <a:t> student;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F5CE114-8B60-403A-840F-E5F3AC20FA3D}"/>
              </a:ext>
            </a:extLst>
          </p:cNvPr>
          <p:cNvSpPr/>
          <p:nvPr/>
        </p:nvSpPr>
        <p:spPr>
          <a:xfrm>
            <a:off x="5732004" y="3481836"/>
            <a:ext cx="611536" cy="5460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15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C387F-7E6A-4DF2-9D82-47D876912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结构：嵌套定义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A844E0-9146-4EE7-8938-143A924A8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结构的嵌套定义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3200" dirty="0"/>
              <a:t>student s;</a:t>
            </a:r>
          </a:p>
          <a:p>
            <a:pPr marL="0" indent="0">
              <a:buNone/>
            </a:pPr>
            <a:r>
              <a:rPr lang="en-US" altLang="zh-CN" sz="3200" b="1" i="1" dirty="0" err="1">
                <a:solidFill>
                  <a:srgbClr val="FF0000"/>
                </a:solidFill>
              </a:rPr>
              <a:t>s.dob.year</a:t>
            </a:r>
            <a:r>
              <a:rPr lang="en-US" altLang="zh-CN" sz="3200" b="1" i="1" dirty="0">
                <a:solidFill>
                  <a:srgbClr val="FF0000"/>
                </a:solidFill>
              </a:rPr>
              <a:t> </a:t>
            </a:r>
            <a:r>
              <a:rPr lang="en-US" altLang="zh-CN" sz="3200" dirty="0"/>
              <a:t>= 2006;</a:t>
            </a:r>
            <a:endParaRPr lang="zh-CN" altLang="en-US" sz="3200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494FC743-C0A2-F0D6-EDBF-029611E7A16C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student4.c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778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E1980-31DE-42ED-B166-52545A01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结构：结构数组及其初始化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630353-6E38-4C3C-BCD0-CAD8F4CB7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结构数组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3600" dirty="0"/>
              <a:t>student </a:t>
            </a:r>
            <a:r>
              <a:rPr lang="en-US" altLang="zh-CN" sz="3600" dirty="0" err="1"/>
              <a:t>stu</a:t>
            </a:r>
            <a:r>
              <a:rPr lang="en-US" altLang="zh-CN" sz="3600" b="1" i="1" dirty="0">
                <a:solidFill>
                  <a:srgbClr val="FF0000"/>
                </a:solidFill>
              </a:rPr>
              <a:t>[60]</a:t>
            </a:r>
            <a:r>
              <a:rPr lang="en-US" altLang="zh-CN" sz="3600" dirty="0">
                <a:solidFill>
                  <a:srgbClr val="FF0000"/>
                </a:solidFill>
              </a:rPr>
              <a:t> </a:t>
            </a:r>
            <a:r>
              <a:rPr lang="en-US" altLang="zh-CN" sz="3600" dirty="0"/>
              <a:t>= {</a:t>
            </a:r>
          </a:p>
          <a:p>
            <a:pPr marL="0" indent="0">
              <a:buNone/>
            </a:pPr>
            <a:r>
              <a:rPr lang="en-US" altLang="zh-CN" sz="3600" dirty="0"/>
              <a:t>    {2021091001, “</a:t>
            </a:r>
            <a:r>
              <a:rPr lang="zh-CN" altLang="en-US" sz="3600" dirty="0"/>
              <a:t>张三</a:t>
            </a:r>
            <a:r>
              <a:rPr lang="en-US" altLang="zh-CN" sz="3600" dirty="0"/>
              <a:t>”, ‘M’, 18},</a:t>
            </a:r>
          </a:p>
          <a:p>
            <a:pPr marL="0" indent="0">
              <a:buNone/>
            </a:pPr>
            <a:r>
              <a:rPr lang="en-US" altLang="zh-CN" sz="3600" dirty="0"/>
              <a:t>    {2021091002, “</a:t>
            </a:r>
            <a:r>
              <a:rPr lang="zh-CN" altLang="en-US" sz="3600" dirty="0"/>
              <a:t>李四</a:t>
            </a:r>
            <a:r>
              <a:rPr lang="en-US" altLang="zh-CN" sz="3600" dirty="0"/>
              <a:t>”, ‘F’, 18},</a:t>
            </a:r>
          </a:p>
          <a:p>
            <a:pPr marL="0" indent="0">
              <a:buNone/>
            </a:pPr>
            <a:r>
              <a:rPr lang="en-US" altLang="zh-CN" sz="3600" dirty="0"/>
              <a:t>    …</a:t>
            </a:r>
          </a:p>
          <a:p>
            <a:pPr marL="0" indent="0">
              <a:buNone/>
            </a:pPr>
            <a:r>
              <a:rPr lang="en-US" altLang="zh-CN" sz="36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48516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78BF6-51CC-40DE-A698-8F98F8BA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37D879-9FF1-4D76-87FB-2C3A05671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使用冒泡排序法对八大行星按某个关键字进行排序</a:t>
            </a:r>
            <a:endParaRPr lang="en-US" altLang="zh-CN" dirty="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C1951732-314F-540C-6830-E23513509D98}"/>
              </a:ext>
            </a:extLst>
          </p:cNvPr>
          <p:cNvSpPr/>
          <p:nvPr/>
        </p:nvSpPr>
        <p:spPr>
          <a:xfrm>
            <a:off x="0" y="6137338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planets.c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654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AC5D3-1F9C-429B-8611-EE992F4A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结构：和指针的关系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52DDCE-C6C0-4994-A318-3C5D07ED7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指向结构变量的指针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student s, </a:t>
            </a:r>
            <a:r>
              <a:rPr lang="en-US" altLang="zh-CN" b="1" i="1" dirty="0">
                <a:solidFill>
                  <a:srgbClr val="FF0000"/>
                </a:solidFill>
              </a:rPr>
              <a:t>*p = &amp;s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成员选择运算符</a:t>
            </a:r>
            <a:r>
              <a:rPr lang="en-US" altLang="zh-CN" dirty="0"/>
              <a:t>-&gt;</a:t>
            </a:r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p-&gt;id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= 2021091001</a:t>
            </a:r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p-&gt;</a:t>
            </a:r>
            <a:r>
              <a:rPr lang="en-US" altLang="zh-CN" b="1" i="1" dirty="0" err="1">
                <a:solidFill>
                  <a:srgbClr val="FF0000"/>
                </a:solidFill>
              </a:rPr>
              <a:t>dob.year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= 2006; </a:t>
            </a:r>
          </a:p>
          <a:p>
            <a:pPr marL="0" indent="0">
              <a:buNone/>
            </a:pPr>
            <a:r>
              <a:rPr lang="en-US" altLang="zh-CN" dirty="0"/>
              <a:t>//-&gt;</a:t>
            </a:r>
            <a:r>
              <a:rPr lang="zh-CN" altLang="en-US" dirty="0"/>
              <a:t>和</a:t>
            </a:r>
            <a:r>
              <a:rPr lang="en-US" altLang="zh-CN" dirty="0"/>
              <a:t>.</a:t>
            </a:r>
            <a:r>
              <a:rPr lang="zh-CN" altLang="en-US" dirty="0"/>
              <a:t>有相同的优先级，左结合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//  (p-&gt;dob).year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19C50F1-793F-4351-A6E2-D96780555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17174"/>
              </p:ext>
            </p:extLst>
          </p:nvPr>
        </p:nvGraphicFramePr>
        <p:xfrm>
          <a:off x="8206643" y="2046864"/>
          <a:ext cx="2571593" cy="21817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1593">
                  <a:extLst>
                    <a:ext uri="{9D8B030D-6E8A-4147-A177-3AD203B41FA5}">
                      <a16:colId xmlns:a16="http://schemas.microsoft.com/office/drawing/2014/main" val="1769750511"/>
                    </a:ext>
                  </a:extLst>
                </a:gridCol>
              </a:tblGrid>
              <a:tr h="5454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Fira Code" panose="020B0809050000020004" pitchFamily="49" charset="0"/>
                        </a:rPr>
                        <a:t>id</a:t>
                      </a:r>
                      <a:endParaRPr lang="zh-CN" altLang="en-US" sz="1800" dirty="0">
                        <a:latin typeface="Fira Code" panose="020B0809050000020004" pitchFamily="49" charset="0"/>
                      </a:endParaRPr>
                    </a:p>
                  </a:txBody>
                  <a:tcPr marL="78643" marR="78643" marT="39321" marB="39321"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2958"/>
                  </a:ext>
                </a:extLst>
              </a:tr>
              <a:tr h="5454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Fira Code" panose="020B0809050000020004" pitchFamily="49" charset="0"/>
                        </a:rPr>
                        <a:t>name[]</a:t>
                      </a:r>
                      <a:endParaRPr lang="zh-CN" altLang="en-US" sz="1800" dirty="0">
                        <a:latin typeface="Fira Code" panose="020B0809050000020004" pitchFamily="49" charset="0"/>
                      </a:endParaRPr>
                    </a:p>
                  </a:txBody>
                  <a:tcPr marL="78643" marR="78643" marT="39321" marB="39321"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111539"/>
                  </a:ext>
                </a:extLst>
              </a:tr>
              <a:tr h="5454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Fira Code" panose="020B0809050000020004" pitchFamily="49" charset="0"/>
                        </a:rPr>
                        <a:t>gender</a:t>
                      </a:r>
                      <a:endParaRPr lang="zh-CN" altLang="en-US" sz="1800" dirty="0">
                        <a:latin typeface="Fira Code" panose="020B0809050000020004" pitchFamily="49" charset="0"/>
                      </a:endParaRPr>
                    </a:p>
                  </a:txBody>
                  <a:tcPr marL="78643" marR="78643" marT="39321" marB="39321"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482392"/>
                  </a:ext>
                </a:extLst>
              </a:tr>
              <a:tr h="5454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Fira Code" panose="020B0809050000020004" pitchFamily="49" charset="0"/>
                        </a:rPr>
                        <a:t>age</a:t>
                      </a:r>
                      <a:endParaRPr lang="zh-CN" altLang="en-US" sz="1800" dirty="0">
                        <a:latin typeface="Fira Code" panose="020B0809050000020004" pitchFamily="49" charset="0"/>
                      </a:endParaRPr>
                    </a:p>
                  </a:txBody>
                  <a:tcPr marL="78643" marR="78643" marT="39321" marB="39321"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41047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6441FCF-5092-434C-B259-370D875D2C2A}"/>
              </a:ext>
            </a:extLst>
          </p:cNvPr>
          <p:cNvSpPr/>
          <p:nvPr/>
        </p:nvSpPr>
        <p:spPr>
          <a:xfrm>
            <a:off x="8206643" y="2046864"/>
            <a:ext cx="2571594" cy="2181796"/>
          </a:xfrm>
          <a:prstGeom prst="rect">
            <a:avLst/>
          </a:prstGeom>
          <a:noFill/>
          <a:ln w="412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06EBC9-04E8-413D-8958-E5D9277D8B11}"/>
              </a:ext>
            </a:extLst>
          </p:cNvPr>
          <p:cNvSpPr/>
          <p:nvPr/>
        </p:nvSpPr>
        <p:spPr>
          <a:xfrm>
            <a:off x="5944758" y="2339639"/>
            <a:ext cx="861773" cy="4539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4ED5C4-C094-4CBF-A2DA-53D0D7152563}"/>
              </a:ext>
            </a:extLst>
          </p:cNvPr>
          <p:cNvSpPr/>
          <p:nvPr/>
        </p:nvSpPr>
        <p:spPr>
          <a:xfrm>
            <a:off x="5944758" y="2793550"/>
            <a:ext cx="861773" cy="4539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</a:t>
            </a:r>
            <a:endParaRPr lang="zh-CN" altLang="en-US" dirty="0">
              <a:solidFill>
                <a:schemeClr val="tx1"/>
              </a:solidFill>
              <a:latin typeface="Fira Code" panose="020B0809050000020004" pitchFamily="49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B7084B2-A344-4754-810B-6E61360A3746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806531" y="2339639"/>
            <a:ext cx="1400112" cy="226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80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B06CA-D13B-7EAC-FDB3-23F8F3A4D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67DF97-4FEB-91AB-EEB7-4DAA9E3F7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 err="1"/>
              <a:t>planets.c</a:t>
            </a:r>
            <a:r>
              <a:rPr lang="zh-CN" altLang="en-US" dirty="0"/>
              <a:t>中，使用数组方式访问的代码改成使用指针。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A4260A6-1519-C9D2-16D6-EA5A5D931520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planets.c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615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C2A92-AE5D-4873-8550-594010AA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联合：定义联合类型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5A8469-B263-4642-9C1C-156F8B734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261928"/>
            <a:ext cx="9905999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/>
              <a:t>union {</a:t>
            </a:r>
          </a:p>
          <a:p>
            <a:pPr marL="0" indent="0">
              <a:buNone/>
            </a:pPr>
            <a:r>
              <a:rPr lang="en-US" altLang="zh-CN" sz="3200" dirty="0"/>
              <a:t>    int </a:t>
            </a:r>
            <a:r>
              <a:rPr lang="en-US" altLang="zh-CN" sz="3200" dirty="0" err="1"/>
              <a:t>i</a:t>
            </a:r>
            <a:r>
              <a:rPr lang="en-US" altLang="zh-CN" sz="3200" dirty="0"/>
              <a:t>;</a:t>
            </a:r>
          </a:p>
          <a:p>
            <a:pPr marL="0" indent="0">
              <a:buNone/>
            </a:pPr>
            <a:r>
              <a:rPr lang="en-US" altLang="zh-CN" sz="3200" dirty="0"/>
              <a:t>    double d;</a:t>
            </a:r>
          </a:p>
          <a:p>
            <a:pPr marL="0" indent="0">
              <a:buNone/>
            </a:pPr>
            <a:r>
              <a:rPr lang="en-US" altLang="zh-CN" sz="3200" dirty="0"/>
              <a:t>};</a:t>
            </a:r>
            <a:endParaRPr lang="zh-CN" altLang="en-US" sz="3200" dirty="0"/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84F354F0-4F74-4FE4-9D08-8875C3F638D3}"/>
              </a:ext>
            </a:extLst>
          </p:cNvPr>
          <p:cNvSpPr/>
          <p:nvPr/>
        </p:nvSpPr>
        <p:spPr>
          <a:xfrm>
            <a:off x="3959485" y="2382681"/>
            <a:ext cx="3265721" cy="795989"/>
          </a:xfrm>
          <a:prstGeom prst="wedgeRectCallout">
            <a:avLst>
              <a:gd name="adj1" fmla="val -62076"/>
              <a:gd name="adj2" fmla="val 492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成员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i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d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共享存储空间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1283241-E938-432B-DD00-4F74CB793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543594"/>
              </p:ext>
            </p:extLst>
          </p:nvPr>
        </p:nvGraphicFramePr>
        <p:xfrm>
          <a:off x="8150445" y="2476773"/>
          <a:ext cx="1504391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4391">
                  <a:extLst>
                    <a:ext uri="{9D8B030D-6E8A-4147-A177-3AD203B41FA5}">
                      <a16:colId xmlns:a16="http://schemas.microsoft.com/office/drawing/2014/main" val="3722726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98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25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85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889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72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27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07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315655"/>
                  </a:ext>
                </a:extLst>
              </a:tr>
            </a:tbl>
          </a:graphicData>
        </a:graphic>
      </p:graphicFrame>
      <p:sp>
        <p:nvSpPr>
          <p:cNvPr id="6" name="左大括号 5">
            <a:extLst>
              <a:ext uri="{FF2B5EF4-FFF2-40B4-BE49-F238E27FC236}">
                <a16:creationId xmlns:a16="http://schemas.microsoft.com/office/drawing/2014/main" id="{5A506266-2895-E487-A87B-B55DF85F2751}"/>
              </a:ext>
            </a:extLst>
          </p:cNvPr>
          <p:cNvSpPr/>
          <p:nvPr/>
        </p:nvSpPr>
        <p:spPr>
          <a:xfrm>
            <a:off x="7833710" y="2476773"/>
            <a:ext cx="138147" cy="145779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F098E72C-B266-0E1A-21DD-2F9C1E8416F0}"/>
              </a:ext>
            </a:extLst>
          </p:cNvPr>
          <p:cNvSpPr/>
          <p:nvPr/>
        </p:nvSpPr>
        <p:spPr>
          <a:xfrm>
            <a:off x="9833549" y="2476773"/>
            <a:ext cx="154594" cy="29667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4575C8-AF21-C909-ECC7-3FA63BA99F5D}"/>
              </a:ext>
            </a:extLst>
          </p:cNvPr>
          <p:cNvSpPr txBox="1"/>
          <p:nvPr/>
        </p:nvSpPr>
        <p:spPr>
          <a:xfrm>
            <a:off x="9909206" y="3775467"/>
            <a:ext cx="45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Fira Code" panose="020B0809050000020004" pitchFamily="49" charset="0"/>
                <a:ea typeface="Fira Code" panose="020B0809050000020004" pitchFamily="49" charset="0"/>
              </a:rPr>
              <a:t>d</a:t>
            </a:r>
            <a:endParaRPr lang="zh-CN" altLang="en-US" dirty="0">
              <a:latin typeface="Fira Code" panose="020B08090500000200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B0C64D-3403-71E5-C7A1-D7D225846793}"/>
              </a:ext>
            </a:extLst>
          </p:cNvPr>
          <p:cNvSpPr txBox="1"/>
          <p:nvPr/>
        </p:nvSpPr>
        <p:spPr>
          <a:xfrm>
            <a:off x="7428041" y="3021002"/>
            <a:ext cx="45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Fira Code" panose="020B0809050000020004" pitchFamily="49" charset="0"/>
                <a:ea typeface="Fira Code" panose="020B0809050000020004" pitchFamily="49" charset="0"/>
              </a:rPr>
              <a:t>i</a:t>
            </a:r>
            <a:endParaRPr lang="zh-CN" altLang="en-US" dirty="0">
              <a:latin typeface="Fira Code" panose="020B0809050000020004" pitchFamily="49" charset="0"/>
            </a:endParaRPr>
          </a:p>
        </p:txBody>
      </p:sp>
      <p:sp>
        <p:nvSpPr>
          <p:cNvPr id="11" name="对话气泡: 矩形 10">
            <a:extLst>
              <a:ext uri="{FF2B5EF4-FFF2-40B4-BE49-F238E27FC236}">
                <a16:creationId xmlns:a16="http://schemas.microsoft.com/office/drawing/2014/main" id="{8C948711-723A-3745-6D51-7AFAEE2A454A}"/>
              </a:ext>
            </a:extLst>
          </p:cNvPr>
          <p:cNvSpPr/>
          <p:nvPr/>
        </p:nvSpPr>
        <p:spPr>
          <a:xfrm>
            <a:off x="3959484" y="4757776"/>
            <a:ext cx="3265721" cy="795989"/>
          </a:xfrm>
          <a:prstGeom prst="wedgeRectCallout">
            <a:avLst>
              <a:gd name="adj1" fmla="val 58324"/>
              <a:gd name="adj2" fmla="val -47115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联合的大小是其最大成员的大小</a:t>
            </a:r>
          </a:p>
        </p:txBody>
      </p:sp>
    </p:spTree>
    <p:extLst>
      <p:ext uri="{BB962C8B-B14F-4D97-AF65-F5344CB8AC3E}">
        <p14:creationId xmlns:p14="http://schemas.microsoft.com/office/powerpoint/2010/main" val="94241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/>
      <p:bldP spid="10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07497-44D2-47AF-A6DB-B271AAC7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联合：和结构的比较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F9DC2D-7499-44AA-825F-DAC2CE871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和结构的比较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DC8BB5-AE14-4ACD-9B92-E538CA98FFBA}"/>
              </a:ext>
            </a:extLst>
          </p:cNvPr>
          <p:cNvSpPr/>
          <p:nvPr/>
        </p:nvSpPr>
        <p:spPr>
          <a:xfrm>
            <a:off x="579432" y="2142805"/>
            <a:ext cx="2418665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Fira Code" panose="020B0809050000020004" pitchFamily="49" charset="0"/>
                <a:ea typeface="Fira Code" panose="020B0809050000020004" pitchFamily="49" charset="0"/>
              </a:rPr>
              <a:t>union {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Fira Code" panose="020B0809050000020004" pitchFamily="49" charset="0"/>
                <a:ea typeface="Fira Code" panose="020B0809050000020004" pitchFamily="49" charset="0"/>
              </a:rPr>
              <a:t>    int </a:t>
            </a:r>
            <a:r>
              <a:rPr lang="en-US" altLang="zh-CN" sz="2000" dirty="0" err="1">
                <a:latin typeface="Fira Code" panose="020B0809050000020004" pitchFamily="49" charset="0"/>
                <a:ea typeface="Fira Code" panose="020B0809050000020004" pitchFamily="49" charset="0"/>
              </a:rPr>
              <a:t>i</a:t>
            </a:r>
            <a:r>
              <a:rPr lang="en-US" altLang="zh-CN" sz="2000" dirty="0">
                <a:latin typeface="Fira Code" panose="020B0809050000020004" pitchFamily="49" charset="0"/>
                <a:ea typeface="Fira Code" panose="020B08090500000200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Fira Code" panose="020B0809050000020004" pitchFamily="49" charset="0"/>
                <a:ea typeface="Fira Code" panose="020B0809050000020004" pitchFamily="49" charset="0"/>
              </a:rPr>
              <a:t>    double d;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Fira Code" panose="020B0809050000020004" pitchFamily="49" charset="0"/>
                <a:ea typeface="Fira Code" panose="020B0809050000020004" pitchFamily="49" charset="0"/>
              </a:rPr>
              <a:t>} u;</a:t>
            </a:r>
            <a:endParaRPr lang="zh-CN" altLang="en-US" sz="2000" dirty="0">
              <a:latin typeface="Fira Code" panose="020B08090500000200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7B838C-1E37-4747-95C5-A2F761135E30}"/>
              </a:ext>
            </a:extLst>
          </p:cNvPr>
          <p:cNvSpPr/>
          <p:nvPr/>
        </p:nvSpPr>
        <p:spPr>
          <a:xfrm>
            <a:off x="6652405" y="2142805"/>
            <a:ext cx="2418665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Fira Code" panose="020B0809050000020004" pitchFamily="49" charset="0"/>
                <a:ea typeface="Fira Code" panose="020B0809050000020004" pitchFamily="49" charset="0"/>
              </a:rPr>
              <a:t>struct {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Fira Code" panose="020B0809050000020004" pitchFamily="49" charset="0"/>
                <a:ea typeface="Fira Code" panose="020B0809050000020004" pitchFamily="49" charset="0"/>
              </a:rPr>
              <a:t>    int </a:t>
            </a:r>
            <a:r>
              <a:rPr lang="en-US" altLang="zh-CN" sz="2000" dirty="0" err="1">
                <a:latin typeface="Fira Code" panose="020B0809050000020004" pitchFamily="49" charset="0"/>
                <a:ea typeface="Fira Code" panose="020B0809050000020004" pitchFamily="49" charset="0"/>
              </a:rPr>
              <a:t>i</a:t>
            </a:r>
            <a:r>
              <a:rPr lang="en-US" altLang="zh-CN" sz="2000" dirty="0">
                <a:latin typeface="Fira Code" panose="020B0809050000020004" pitchFamily="49" charset="0"/>
                <a:ea typeface="Fira Code" panose="020B08090500000200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Fira Code" panose="020B0809050000020004" pitchFamily="49" charset="0"/>
                <a:ea typeface="Fira Code" panose="020B0809050000020004" pitchFamily="49" charset="0"/>
              </a:rPr>
              <a:t>    double d;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Fira Code" panose="020B0809050000020004" pitchFamily="49" charset="0"/>
                <a:ea typeface="Fira Code" panose="020B0809050000020004" pitchFamily="49" charset="0"/>
              </a:rPr>
              <a:t>} s;</a:t>
            </a:r>
            <a:endParaRPr lang="zh-CN" altLang="en-US" sz="2000" dirty="0">
              <a:latin typeface="Fira Code" panose="020B0809050000020004" pitchFamily="49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A514DBC-7532-429F-8281-19086B471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988915"/>
              </p:ext>
            </p:extLst>
          </p:nvPr>
        </p:nvGraphicFramePr>
        <p:xfrm>
          <a:off x="3624017" y="2272450"/>
          <a:ext cx="1504391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4391">
                  <a:extLst>
                    <a:ext uri="{9D8B030D-6E8A-4147-A177-3AD203B41FA5}">
                      <a16:colId xmlns:a16="http://schemas.microsoft.com/office/drawing/2014/main" val="3722726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98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25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85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889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72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27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07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315655"/>
                  </a:ext>
                </a:extLst>
              </a:tr>
            </a:tbl>
          </a:graphicData>
        </a:graphic>
      </p:graphicFrame>
      <p:sp>
        <p:nvSpPr>
          <p:cNvPr id="7" name="左大括号 6">
            <a:extLst>
              <a:ext uri="{FF2B5EF4-FFF2-40B4-BE49-F238E27FC236}">
                <a16:creationId xmlns:a16="http://schemas.microsoft.com/office/drawing/2014/main" id="{58D24489-03C6-4C77-A590-1E02BFBABDFB}"/>
              </a:ext>
            </a:extLst>
          </p:cNvPr>
          <p:cNvSpPr/>
          <p:nvPr/>
        </p:nvSpPr>
        <p:spPr>
          <a:xfrm>
            <a:off x="3307282" y="2272450"/>
            <a:ext cx="138147" cy="145779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F7029F-363D-4DE3-96AC-AC549367AB90}"/>
              </a:ext>
            </a:extLst>
          </p:cNvPr>
          <p:cNvSpPr txBox="1"/>
          <p:nvPr/>
        </p:nvSpPr>
        <p:spPr>
          <a:xfrm>
            <a:off x="2901738" y="2809262"/>
            <a:ext cx="45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Fira Code" panose="020B0809050000020004" pitchFamily="49" charset="0"/>
                <a:ea typeface="Fira Code" panose="020B0809050000020004" pitchFamily="49" charset="0"/>
              </a:rPr>
              <a:t>i</a:t>
            </a:r>
            <a:endParaRPr lang="zh-CN" altLang="en-US" dirty="0">
              <a:latin typeface="Fira Code" panose="020B0809050000020004" pitchFamily="49" charset="0"/>
            </a:endParaRPr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3DDD02B4-10E5-4D02-B3C9-C251D349D348}"/>
              </a:ext>
            </a:extLst>
          </p:cNvPr>
          <p:cNvSpPr/>
          <p:nvPr/>
        </p:nvSpPr>
        <p:spPr>
          <a:xfrm>
            <a:off x="5307121" y="2272450"/>
            <a:ext cx="154594" cy="29667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A40550-2154-4E8E-8286-64618494EADD}"/>
              </a:ext>
            </a:extLst>
          </p:cNvPr>
          <p:cNvSpPr txBox="1"/>
          <p:nvPr/>
        </p:nvSpPr>
        <p:spPr>
          <a:xfrm>
            <a:off x="5382778" y="3571144"/>
            <a:ext cx="45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Fira Code" panose="020B0809050000020004" pitchFamily="49" charset="0"/>
                <a:ea typeface="Fira Code" panose="020B0809050000020004" pitchFamily="49" charset="0"/>
              </a:rPr>
              <a:t>d</a:t>
            </a:r>
            <a:endParaRPr lang="zh-CN" altLang="en-US" dirty="0">
              <a:latin typeface="Fira Code" panose="020B0809050000020004" pitchFamily="49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40DE0C3-6DEA-47B2-AB74-7D64AFFB2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561095"/>
              </p:ext>
            </p:extLst>
          </p:nvPr>
        </p:nvGraphicFramePr>
        <p:xfrm>
          <a:off x="9591073" y="2272450"/>
          <a:ext cx="1504391" cy="950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4391">
                  <a:extLst>
                    <a:ext uri="{9D8B030D-6E8A-4147-A177-3AD203B41FA5}">
                      <a16:colId xmlns:a16="http://schemas.microsoft.com/office/drawing/2014/main" val="3722726718"/>
                    </a:ext>
                  </a:extLst>
                </a:gridCol>
              </a:tblGrid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98726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53388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851704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889775"/>
                  </a:ext>
                </a:extLst>
              </a:tr>
            </a:tbl>
          </a:graphicData>
        </a:graphic>
      </p:graphicFrame>
      <p:sp>
        <p:nvSpPr>
          <p:cNvPr id="12" name="左大括号 11">
            <a:extLst>
              <a:ext uri="{FF2B5EF4-FFF2-40B4-BE49-F238E27FC236}">
                <a16:creationId xmlns:a16="http://schemas.microsoft.com/office/drawing/2014/main" id="{BC719276-178A-4A4A-9B1F-1877F010D078}"/>
              </a:ext>
            </a:extLst>
          </p:cNvPr>
          <p:cNvSpPr/>
          <p:nvPr/>
        </p:nvSpPr>
        <p:spPr>
          <a:xfrm>
            <a:off x="9280543" y="2272450"/>
            <a:ext cx="164267" cy="90614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CB5EE1-7BC8-489A-B760-534D8F08EA6A}"/>
              </a:ext>
            </a:extLst>
          </p:cNvPr>
          <p:cNvSpPr txBox="1"/>
          <p:nvPr/>
        </p:nvSpPr>
        <p:spPr>
          <a:xfrm>
            <a:off x="8874999" y="2552711"/>
            <a:ext cx="45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Fira Code" panose="020B0809050000020004" pitchFamily="49" charset="0"/>
                <a:ea typeface="Fira Code" panose="020B0809050000020004" pitchFamily="49" charset="0"/>
              </a:rPr>
              <a:t>i</a:t>
            </a:r>
            <a:endParaRPr lang="zh-CN" altLang="en-US" dirty="0">
              <a:latin typeface="Fira Code" panose="020B0809050000020004" pitchFamily="49" charset="0"/>
            </a:endParaRPr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10CE5821-96C4-4B26-A0D3-777FD81CE32C}"/>
              </a:ext>
            </a:extLst>
          </p:cNvPr>
          <p:cNvSpPr/>
          <p:nvPr/>
        </p:nvSpPr>
        <p:spPr>
          <a:xfrm>
            <a:off x="11248112" y="3222710"/>
            <a:ext cx="167129" cy="19005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BA5D0E-EE19-4566-BD8C-48B4695EA19B}"/>
              </a:ext>
            </a:extLst>
          </p:cNvPr>
          <p:cNvSpPr txBox="1"/>
          <p:nvPr/>
        </p:nvSpPr>
        <p:spPr>
          <a:xfrm>
            <a:off x="11388511" y="3988304"/>
            <a:ext cx="45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Fira Code" panose="020B0809050000020004" pitchFamily="49" charset="0"/>
                <a:ea typeface="Fira Code" panose="020B0809050000020004" pitchFamily="49" charset="0"/>
              </a:rPr>
              <a:t>d</a:t>
            </a:r>
            <a:endParaRPr lang="zh-CN" altLang="en-US" dirty="0">
              <a:latin typeface="Fira Code" panose="020B0809050000020004" pitchFamily="49" charset="0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5929622-0AAF-4D09-9C82-F7DE75438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890862"/>
              </p:ext>
            </p:extLst>
          </p:nvPr>
        </p:nvGraphicFramePr>
        <p:xfrm>
          <a:off x="9591073" y="3224639"/>
          <a:ext cx="1504391" cy="1900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4391">
                  <a:extLst>
                    <a:ext uri="{9D8B030D-6E8A-4147-A177-3AD203B41FA5}">
                      <a16:colId xmlns:a16="http://schemas.microsoft.com/office/drawing/2014/main" val="3722726718"/>
                    </a:ext>
                  </a:extLst>
                </a:gridCol>
              </a:tblGrid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98726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53388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851704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889775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72039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274978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307745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endParaRPr lang="zh-CN" altLang="en-US" sz="5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15655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2C643A0E-8F27-493B-96B7-C7ACE1E0B6AF}"/>
              </a:ext>
            </a:extLst>
          </p:cNvPr>
          <p:cNvSpPr txBox="1"/>
          <p:nvPr/>
        </p:nvSpPr>
        <p:spPr>
          <a:xfrm>
            <a:off x="4149256" y="1935385"/>
            <a:ext cx="45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Fira Code" panose="020B0809050000020004" pitchFamily="49" charset="0"/>
                <a:ea typeface="Fira Code" panose="020B0809050000020004" pitchFamily="49" charset="0"/>
              </a:rPr>
              <a:t>u</a:t>
            </a:r>
            <a:endParaRPr lang="zh-CN" altLang="en-US" dirty="0">
              <a:latin typeface="Fira Code" panose="020B08090500000200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04283E9-2A2E-48F1-A2CF-A8D8F0B3CC93}"/>
              </a:ext>
            </a:extLst>
          </p:cNvPr>
          <p:cNvSpPr txBox="1"/>
          <p:nvPr/>
        </p:nvSpPr>
        <p:spPr>
          <a:xfrm>
            <a:off x="10084064" y="1931827"/>
            <a:ext cx="453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Fira Code" panose="020B0809050000020004" pitchFamily="49" charset="0"/>
                <a:ea typeface="Fira Code" panose="020B0809050000020004" pitchFamily="49" charset="0"/>
              </a:rPr>
              <a:t>s</a:t>
            </a:r>
            <a:endParaRPr lang="zh-CN" altLang="en-US" dirty="0"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78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8" grpId="0"/>
      <p:bldP spid="9" grpId="0" animBg="1"/>
      <p:bldP spid="10" grpId="0"/>
      <p:bldP spid="12" grpId="0" animBg="1"/>
      <p:bldP spid="13" grpId="0"/>
      <p:bldP spid="14" grpId="0" animBg="1"/>
      <p:bldP spid="15" grpId="0"/>
      <p:bldP spid="17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B4252-290B-46F2-B093-17C553C0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联合：用途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304A9-95E2-499F-B21F-E09A85789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联合的用途</a:t>
            </a:r>
            <a:endParaRPr lang="en-US" altLang="zh-CN" dirty="0"/>
          </a:p>
          <a:p>
            <a:pPr lvl="1"/>
            <a:r>
              <a:rPr lang="zh-CN" altLang="en-US" dirty="0"/>
              <a:t>构建一种“万能”类型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typedef struct {</a:t>
            </a:r>
          </a:p>
          <a:p>
            <a:pPr marL="457200" lvl="1" indent="0">
              <a:buNone/>
            </a:pPr>
            <a:r>
              <a:rPr lang="en-US" altLang="zh-CN" dirty="0"/>
              <a:t>	int kind;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类型标签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union {</a:t>
            </a:r>
          </a:p>
          <a:p>
            <a:pPr marL="457200" lvl="1" indent="0">
              <a:buNone/>
            </a:pPr>
            <a:r>
              <a:rPr lang="en-US" altLang="zh-CN" dirty="0"/>
              <a:t>		char</a:t>
            </a:r>
            <a:r>
              <a:rPr lang="zh-CN" altLang="en-US" dirty="0"/>
              <a:t> </a:t>
            </a:r>
            <a:r>
              <a:rPr lang="en-US" altLang="zh-CN" dirty="0"/>
              <a:t>c;</a:t>
            </a:r>
          </a:p>
          <a:p>
            <a:pPr marL="457200" lvl="1" indent="0">
              <a:buNone/>
            </a:pPr>
            <a:r>
              <a:rPr lang="en-US" altLang="zh-CN" dirty="0"/>
              <a:t>		int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457200" lvl="1" indent="0">
              <a:buNone/>
            </a:pPr>
            <a:r>
              <a:rPr lang="en-US" altLang="zh-CN" dirty="0"/>
              <a:t>		double d;</a:t>
            </a:r>
          </a:p>
          <a:p>
            <a:pPr marL="457200" lvl="1" indent="0">
              <a:buNone/>
            </a:pPr>
            <a:r>
              <a:rPr lang="en-US" altLang="zh-CN" dirty="0"/>
              <a:t>	}; //</a:t>
            </a:r>
            <a:r>
              <a:rPr lang="zh-CN" altLang="en-US" dirty="0"/>
              <a:t>匿名联合，它的成员被认为是外层结构的成员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} </a:t>
            </a:r>
            <a:r>
              <a:rPr lang="en-US" altLang="zh-CN" dirty="0" err="1"/>
              <a:t>unitype</a:t>
            </a:r>
            <a:r>
              <a:rPr lang="en-US" altLang="zh-C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32945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90642-2682-438D-BCD3-3A21DB75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627FF8-EEBF-4DFC-853F-887B14B22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为使用</a:t>
            </a:r>
            <a:r>
              <a:rPr lang="en-US" altLang="zh-CN" dirty="0" err="1"/>
              <a:t>unitype</a:t>
            </a:r>
            <a:r>
              <a:rPr lang="zh-CN" altLang="en-US" dirty="0"/>
              <a:t>，我们会定义这样的宏：</a:t>
            </a:r>
            <a:endParaRPr lang="en-US" altLang="zh-CN" dirty="0"/>
          </a:p>
          <a:p>
            <a:pPr marL="0" indent="0">
              <a:buNone/>
            </a:pPr>
            <a:r>
              <a:rPr lang="it-IT" altLang="zh-CN" dirty="0"/>
              <a:t>#define CHR     0</a:t>
            </a:r>
          </a:p>
          <a:p>
            <a:pPr marL="0" indent="0">
              <a:buNone/>
            </a:pPr>
            <a:r>
              <a:rPr lang="it-IT" altLang="zh-CN" dirty="0"/>
              <a:t>#define INT     1</a:t>
            </a:r>
          </a:p>
          <a:p>
            <a:pPr marL="0" indent="0">
              <a:buNone/>
            </a:pPr>
            <a:r>
              <a:rPr lang="it-IT" altLang="zh-CN" dirty="0"/>
              <a:t>#define DBL     2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BCB01A39-FACB-4D93-94D5-242AD8A29F77}"/>
              </a:ext>
            </a:extLst>
          </p:cNvPr>
          <p:cNvSpPr/>
          <p:nvPr/>
        </p:nvSpPr>
        <p:spPr>
          <a:xfrm>
            <a:off x="5592025" y="1960975"/>
            <a:ext cx="3265721" cy="795989"/>
          </a:xfrm>
          <a:prstGeom prst="wedgeRectCallout">
            <a:avLst>
              <a:gd name="adj1" fmla="val -76362"/>
              <a:gd name="adj2" fmla="val 3357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值域有限</a:t>
            </a:r>
          </a:p>
        </p:txBody>
      </p:sp>
    </p:spTree>
    <p:extLst>
      <p:ext uri="{BB962C8B-B14F-4D97-AF65-F5344CB8AC3E}">
        <p14:creationId xmlns:p14="http://schemas.microsoft.com/office/powerpoint/2010/main" val="221520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4BB3F-6F55-471D-9FB4-3E8EE4E4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枚举：定义枚举类型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7A3436-86AE-457A-819D-C30D55A81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为值域有限的变量提供的专用类型：枚举类型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enum</a:t>
            </a:r>
            <a:r>
              <a:rPr lang="en-US" altLang="zh-CN" dirty="0"/>
              <a:t> KIND {</a:t>
            </a:r>
            <a:r>
              <a:rPr lang="en-US" altLang="zh-CN" b="1" i="1" dirty="0">
                <a:solidFill>
                  <a:srgbClr val="FF0000"/>
                </a:solidFill>
              </a:rPr>
              <a:t>CHR, INT, DBL</a:t>
            </a: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31063F67-EC13-45F7-A8E7-9BBAD2AA3D51}"/>
              </a:ext>
            </a:extLst>
          </p:cNvPr>
          <p:cNvSpPr/>
          <p:nvPr/>
        </p:nvSpPr>
        <p:spPr>
          <a:xfrm>
            <a:off x="3423788" y="2626483"/>
            <a:ext cx="3265721" cy="795989"/>
          </a:xfrm>
          <a:prstGeom prst="wedgeRectCallout">
            <a:avLst>
              <a:gd name="adj1" fmla="val -36880"/>
              <a:gd name="adj2" fmla="val -97004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枚举常量</a:t>
            </a:r>
          </a:p>
        </p:txBody>
      </p:sp>
    </p:spTree>
    <p:extLst>
      <p:ext uri="{BB962C8B-B14F-4D97-AF65-F5344CB8AC3E}">
        <p14:creationId xmlns:p14="http://schemas.microsoft.com/office/powerpoint/2010/main" val="275303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4BB3F-6F55-471D-9FB4-3E8EE4E4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7A3436-86AE-457A-819D-C30D55A81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枚举作为整数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enum</a:t>
            </a:r>
            <a:r>
              <a:rPr lang="en-US" altLang="zh-CN" dirty="0"/>
              <a:t> KIND {</a:t>
            </a:r>
            <a:r>
              <a:rPr lang="en-US" altLang="zh-CN" b="1" i="1" dirty="0">
                <a:solidFill>
                  <a:srgbClr val="FF0000"/>
                </a:solidFill>
              </a:rPr>
              <a:t>CHR = 0, INT, DBL</a:t>
            </a:r>
            <a:r>
              <a:rPr lang="en-US" altLang="zh-CN" dirty="0"/>
              <a:t>};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8DF5FC95-4EEB-4BA6-B6A5-C65DCEF0009C}"/>
              </a:ext>
            </a:extLst>
          </p:cNvPr>
          <p:cNvSpPr/>
          <p:nvPr/>
        </p:nvSpPr>
        <p:spPr>
          <a:xfrm>
            <a:off x="4198817" y="2713139"/>
            <a:ext cx="3794365" cy="795989"/>
          </a:xfrm>
          <a:prstGeom prst="wedgeRectCallout">
            <a:avLst>
              <a:gd name="adj1" fmla="val -40009"/>
              <a:gd name="adj2" fmla="val -129236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INT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的值在前一个基础上加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1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。以后以此类推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8031EA0-6EFB-BBDB-180D-548311C907D2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unitype.c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59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1448</TotalTime>
  <Words>1205</Words>
  <Application>Microsoft Office PowerPoint</Application>
  <PresentationFormat>宽屏</PresentationFormat>
  <Paragraphs>211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1" baseType="lpstr">
      <vt:lpstr>Arial</vt:lpstr>
      <vt:lpstr>Consolas</vt:lpstr>
      <vt:lpstr>Fira Code</vt:lpstr>
      <vt:lpstr>Wingdings</vt:lpstr>
      <vt:lpstr>Office 主题​​</vt:lpstr>
      <vt:lpstr>结构、联合和枚举</vt:lpstr>
      <vt:lpstr>案例 </vt:lpstr>
      <vt:lpstr>案例 </vt:lpstr>
      <vt:lpstr>数据的内聚性</vt:lpstr>
      <vt:lpstr>结构：定义结构类型</vt:lpstr>
      <vt:lpstr>结构：定义结构变量</vt:lpstr>
      <vt:lpstr>结构：选择结构变量的成员</vt:lpstr>
      <vt:lpstr>结构：结构变量的输入和输出</vt:lpstr>
      <vt:lpstr>结构：定义结构变量的其他方式</vt:lpstr>
      <vt:lpstr>结构：结构变量的初始化</vt:lpstr>
      <vt:lpstr>结构：结构作为函数的参数和返回值类型</vt:lpstr>
      <vt:lpstr>结构：使用typedef简化类型定义</vt:lpstr>
      <vt:lpstr>结构：使用typedef简化类型定义</vt:lpstr>
      <vt:lpstr>结构：使用typedef简化类型定义</vt:lpstr>
      <vt:lpstr>结构：嵌套定义</vt:lpstr>
      <vt:lpstr>结构：嵌套定义</vt:lpstr>
      <vt:lpstr>结构：结构数组及其初始化</vt:lpstr>
      <vt:lpstr>课堂练习1</vt:lpstr>
      <vt:lpstr>结构：和指针的关系</vt:lpstr>
      <vt:lpstr>课堂练习2</vt:lpstr>
      <vt:lpstr>联合：定义联合类型</vt:lpstr>
      <vt:lpstr>联合：和结构的比较</vt:lpstr>
      <vt:lpstr>联合：用途</vt:lpstr>
      <vt:lpstr>枚举</vt:lpstr>
      <vt:lpstr>枚举：定义枚举类型</vt:lpstr>
      <vt:lpstr>枚举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787</cp:revision>
  <dcterms:created xsi:type="dcterms:W3CDTF">2021-10-07T04:52:51Z</dcterms:created>
  <dcterms:modified xsi:type="dcterms:W3CDTF">2025-01-04T01:57:31Z</dcterms:modified>
</cp:coreProperties>
</file>