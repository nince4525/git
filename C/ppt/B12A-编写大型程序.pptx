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9" r:id="rId3"/>
    <p:sldId id="277" r:id="rId4"/>
    <p:sldId id="275" r:id="rId5"/>
    <p:sldId id="278" r:id="rId6"/>
    <p:sldId id="257" r:id="rId7"/>
    <p:sldId id="280" r:id="rId8"/>
    <p:sldId id="281" r:id="rId9"/>
    <p:sldId id="282" r:id="rId10"/>
    <p:sldId id="261" r:id="rId11"/>
    <p:sldId id="258" r:id="rId12"/>
    <p:sldId id="260" r:id="rId13"/>
    <p:sldId id="263" r:id="rId14"/>
    <p:sldId id="264" r:id="rId15"/>
    <p:sldId id="265" r:id="rId16"/>
    <p:sldId id="266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5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586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0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5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0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1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8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78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3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5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7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3.tmp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编写大型程序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</a:t>
            </a:r>
            <a:r>
              <a:rPr lang="en-US" altLang="zh-CN" dirty="0"/>
              <a:t>C</a:t>
            </a:r>
            <a:r>
              <a:rPr lang="zh-CN" altLang="en-US" dirty="0"/>
              <a:t>语言代码、后缀名（扩展名）为</a:t>
            </a:r>
            <a:r>
              <a:rPr lang="en-US" altLang="zh-CN" dirty="0"/>
              <a:t>.c</a:t>
            </a:r>
            <a:r>
              <a:rPr lang="zh-CN" altLang="en-US" dirty="0"/>
              <a:t>的磁盘文件是“源文件”</a:t>
            </a:r>
            <a:endParaRPr lang="en-US" altLang="zh-CN" dirty="0"/>
          </a:p>
          <a:p>
            <a:r>
              <a:rPr lang="zh-CN" altLang="en-US" dirty="0"/>
              <a:t>一个源文件是一个“编译单元”，即编译器会编译此文件</a:t>
            </a:r>
            <a:endParaRPr lang="en-US" altLang="zh-CN" dirty="0"/>
          </a:p>
          <a:p>
            <a:pPr lvl="1"/>
            <a:r>
              <a:rPr lang="zh-CN" altLang="en-US" dirty="0"/>
              <a:t>后缀名为</a:t>
            </a:r>
            <a:r>
              <a:rPr lang="en-US" altLang="zh-CN" dirty="0"/>
              <a:t>.h</a:t>
            </a:r>
            <a:r>
              <a:rPr lang="zh-CN" altLang="en-US" dirty="0"/>
              <a:t>的文件也是源文件，但不是编译单元</a:t>
            </a:r>
            <a:endParaRPr lang="en-US" altLang="zh-CN" dirty="0"/>
          </a:p>
          <a:p>
            <a:r>
              <a:rPr lang="zh-CN" altLang="en-US" dirty="0"/>
              <a:t>一个应用程序代码规模可能比较大，因此应该不止一个源文件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739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1D99B-51B9-B7A6-5E25-DD6ED655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单源文件应用构建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6C9DB699-69DB-541E-E825-2E2D8F70AF3A}"/>
              </a:ext>
            </a:extLst>
          </p:cNvPr>
          <p:cNvSpPr/>
          <p:nvPr/>
        </p:nvSpPr>
        <p:spPr>
          <a:xfrm>
            <a:off x="2936384" y="2899920"/>
            <a:ext cx="985233" cy="1184856"/>
          </a:xfrm>
          <a:prstGeom prst="foldedCorne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25052065-7D56-CFF8-C87D-935F6FBCF4B1}"/>
              </a:ext>
            </a:extLst>
          </p:cNvPr>
          <p:cNvSpPr/>
          <p:nvPr/>
        </p:nvSpPr>
        <p:spPr>
          <a:xfrm>
            <a:off x="5555090" y="2899920"/>
            <a:ext cx="985233" cy="1184856"/>
          </a:xfrm>
          <a:prstGeom prst="foldedCorne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.o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FD8BD863-674C-46AE-2C39-6334C26C32B5}"/>
              </a:ext>
            </a:extLst>
          </p:cNvPr>
          <p:cNvSpPr/>
          <p:nvPr/>
        </p:nvSpPr>
        <p:spPr>
          <a:xfrm>
            <a:off x="8173796" y="2899920"/>
            <a:ext cx="985233" cy="1184856"/>
          </a:xfrm>
          <a:prstGeom prst="foldedCorne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可执行代码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7C91081-3A54-3699-E995-E87B4EA50887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921617" y="3492348"/>
            <a:ext cx="16334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1D29F4D-5C5B-E06E-5009-AE5275BB781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540323" y="3492348"/>
            <a:ext cx="16334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对话气泡: 矩形 13">
            <a:extLst>
              <a:ext uri="{FF2B5EF4-FFF2-40B4-BE49-F238E27FC236}">
                <a16:creationId xmlns:a16="http://schemas.microsoft.com/office/drawing/2014/main" id="{CFF8A11B-C182-FD3F-61F5-FEE4F3E6A9FD}"/>
              </a:ext>
            </a:extLst>
          </p:cNvPr>
          <p:cNvSpPr/>
          <p:nvPr/>
        </p:nvSpPr>
        <p:spPr>
          <a:xfrm>
            <a:off x="4171683" y="4168489"/>
            <a:ext cx="1133340" cy="804930"/>
          </a:xfrm>
          <a:prstGeom prst="wedgeRectCallout">
            <a:avLst>
              <a:gd name="adj1" fmla="val 190"/>
              <a:gd name="adj2" fmla="val -127967"/>
            </a:avLst>
          </a:prstGeom>
          <a:solidFill>
            <a:schemeClr val="tx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编译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编译器</a:t>
            </a:r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4F279245-596D-F8E9-152A-FEF0782CA1B1}"/>
              </a:ext>
            </a:extLst>
          </p:cNvPr>
          <p:cNvSpPr/>
          <p:nvPr/>
        </p:nvSpPr>
        <p:spPr>
          <a:xfrm>
            <a:off x="6912737" y="4168489"/>
            <a:ext cx="1133340" cy="804930"/>
          </a:xfrm>
          <a:prstGeom prst="wedgeRectCallout">
            <a:avLst>
              <a:gd name="adj1" fmla="val 190"/>
              <a:gd name="adj2" fmla="val -127967"/>
            </a:avLst>
          </a:prstGeom>
          <a:solidFill>
            <a:schemeClr val="tx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链接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链接器</a:t>
            </a:r>
          </a:p>
        </p:txBody>
      </p:sp>
      <p:sp>
        <p:nvSpPr>
          <p:cNvPr id="16" name="流程图: 磁盘 15">
            <a:extLst>
              <a:ext uri="{FF2B5EF4-FFF2-40B4-BE49-F238E27FC236}">
                <a16:creationId xmlns:a16="http://schemas.microsoft.com/office/drawing/2014/main" id="{E405EA50-32D2-367C-1CEA-29B8ABF7DED0}"/>
              </a:ext>
            </a:extLst>
          </p:cNvPr>
          <p:cNvSpPr/>
          <p:nvPr/>
        </p:nvSpPr>
        <p:spPr>
          <a:xfrm>
            <a:off x="6690577" y="1963544"/>
            <a:ext cx="1332964" cy="593934"/>
          </a:xfrm>
          <a:prstGeom prst="flowChartMagneticDisk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Lib &amp; </a:t>
            </a:r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资源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7EF3F84-970E-D52F-9C35-676603CD59A5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357059" y="2557478"/>
            <a:ext cx="0" cy="934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8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AD42DBA-318D-42B2-9864-3784503270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下面软件中，哪些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编译器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FE50F0-58D9-40AE-BCEB-FC875DE192E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C-Free</a:t>
            </a:r>
            <a:endParaRPr lang="zh-CN" altLang="en-US" sz="2600" dirty="0"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DD56FC-9151-45CF-8FFE-B324D59728C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Visual Studio</a:t>
            </a:r>
            <a:endParaRPr lang="zh-CN" altLang="en-US" sz="2600" dirty="0"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2CF6B1-9AB3-4195-B433-131D24864D4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DevC</a:t>
            </a:r>
            <a:r>
              <a:rPr lang="en-US" altLang="zh-CN" sz="2600" dirty="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++</a:t>
            </a:r>
            <a:endParaRPr lang="zh-CN" altLang="en-US" sz="2600" dirty="0"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13E19F-3DF8-449C-9038-631FDF6E1AB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gcc</a:t>
            </a:r>
            <a:endParaRPr lang="zh-CN" altLang="en-US" sz="2600" dirty="0"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14DD0C-2632-45B6-9C86-CC50445BF9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1320F6-CB70-40A3-9BF4-7D10078AB11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AAA128-6C47-487D-AC38-BA347E03450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513A3C-7109-4F47-978F-CC473CDAD57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4EF1CC-0CF7-4BE0-9092-2CBC9F35D13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670B7D-EF6B-40E7-B771-2197E654354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362025D-BE23-4557-8605-46B514287EA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DE79EF5-C0F9-4ED5-83FF-DDA452DD6C1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82F7587-FD26-4B5E-B8F2-7A573A5F221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AED6FC9-3959-4280-8C74-78E84F5129A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B9C18A5-790A-41F5-93B7-26747B94A6D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211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2083-F8DD-E401-AFD9-1B152444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ADF53-6D62-87D4-CB3F-7AD4BD1E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多源文件应用构建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40E16013-6B38-518F-0E81-FE9D514CFC50}"/>
              </a:ext>
            </a:extLst>
          </p:cNvPr>
          <p:cNvSpPr/>
          <p:nvPr/>
        </p:nvSpPr>
        <p:spPr>
          <a:xfrm>
            <a:off x="2942823" y="2226390"/>
            <a:ext cx="553789" cy="665995"/>
          </a:xfrm>
          <a:prstGeom prst="foldedCorne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737FD267-67ED-C6E8-8E65-393DB2F51344}"/>
              </a:ext>
            </a:extLst>
          </p:cNvPr>
          <p:cNvSpPr/>
          <p:nvPr/>
        </p:nvSpPr>
        <p:spPr>
          <a:xfrm>
            <a:off x="5561529" y="2226390"/>
            <a:ext cx="553789" cy="665995"/>
          </a:xfrm>
          <a:prstGeom prst="foldedCorne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.o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C0EA446D-4CE0-73C0-6E5D-C4DC9B12FFC6}"/>
              </a:ext>
            </a:extLst>
          </p:cNvPr>
          <p:cNvSpPr/>
          <p:nvPr/>
        </p:nvSpPr>
        <p:spPr>
          <a:xfrm>
            <a:off x="8180235" y="3085483"/>
            <a:ext cx="985233" cy="1184856"/>
          </a:xfrm>
          <a:prstGeom prst="foldedCorne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可执行代码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7CA9916-F162-CE65-4B65-EE11AE7F9B7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496612" y="2559388"/>
            <a:ext cx="20649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FC276B3-2949-5460-04A5-43F9B8EDB3C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115318" y="2559388"/>
            <a:ext cx="2064917" cy="11185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矩形: 折角 12">
            <a:extLst>
              <a:ext uri="{FF2B5EF4-FFF2-40B4-BE49-F238E27FC236}">
                <a16:creationId xmlns:a16="http://schemas.microsoft.com/office/drawing/2014/main" id="{0F504910-8098-8689-19EF-419B1D016694}"/>
              </a:ext>
            </a:extLst>
          </p:cNvPr>
          <p:cNvSpPr/>
          <p:nvPr/>
        </p:nvSpPr>
        <p:spPr>
          <a:xfrm>
            <a:off x="2942823" y="3370086"/>
            <a:ext cx="553789" cy="665995"/>
          </a:xfrm>
          <a:prstGeom prst="foldedCorne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矩形: 折角 15">
            <a:extLst>
              <a:ext uri="{FF2B5EF4-FFF2-40B4-BE49-F238E27FC236}">
                <a16:creationId xmlns:a16="http://schemas.microsoft.com/office/drawing/2014/main" id="{4B6840E8-01CE-6FD7-2EB7-ABE11A2FBAE9}"/>
              </a:ext>
            </a:extLst>
          </p:cNvPr>
          <p:cNvSpPr/>
          <p:nvPr/>
        </p:nvSpPr>
        <p:spPr>
          <a:xfrm>
            <a:off x="5561529" y="3370086"/>
            <a:ext cx="553789" cy="665995"/>
          </a:xfrm>
          <a:prstGeom prst="foldedCorne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.o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86D9316-8137-5DF4-6A3E-8F671CFFBADD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496612" y="3703084"/>
            <a:ext cx="20649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矩形: 折角 17">
            <a:extLst>
              <a:ext uri="{FF2B5EF4-FFF2-40B4-BE49-F238E27FC236}">
                <a16:creationId xmlns:a16="http://schemas.microsoft.com/office/drawing/2014/main" id="{8FE31E97-81CB-4691-444E-AAAD6425BDAE}"/>
              </a:ext>
            </a:extLst>
          </p:cNvPr>
          <p:cNvSpPr/>
          <p:nvPr/>
        </p:nvSpPr>
        <p:spPr>
          <a:xfrm>
            <a:off x="2942823" y="4513781"/>
            <a:ext cx="553789" cy="665995"/>
          </a:xfrm>
          <a:prstGeom prst="foldedCorne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73A2A483-7CC4-1C13-C13C-8B78757DD151}"/>
              </a:ext>
            </a:extLst>
          </p:cNvPr>
          <p:cNvSpPr/>
          <p:nvPr/>
        </p:nvSpPr>
        <p:spPr>
          <a:xfrm>
            <a:off x="5561529" y="4513781"/>
            <a:ext cx="553789" cy="665995"/>
          </a:xfrm>
          <a:prstGeom prst="foldedCorne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rPr>
              <a:t>.o</a:t>
            </a:r>
            <a:endParaRPr lang="zh-CN" alt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A620F4D-EB62-406F-3650-DAB28E0F6959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496612" y="4846779"/>
            <a:ext cx="20649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8045EB3-932F-6ADB-E654-8F98BA495B04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6115318" y="3677911"/>
            <a:ext cx="2064917" cy="25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7D46D7D-19E5-8D07-C882-E6CAC9671EBA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 flipV="1">
            <a:off x="6115318" y="3677911"/>
            <a:ext cx="2064917" cy="11688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流程图: 磁盘 28">
            <a:extLst>
              <a:ext uri="{FF2B5EF4-FFF2-40B4-BE49-F238E27FC236}">
                <a16:creationId xmlns:a16="http://schemas.microsoft.com/office/drawing/2014/main" id="{437F4E81-933B-C77E-1CC4-DFD3F352EEC2}"/>
              </a:ext>
            </a:extLst>
          </p:cNvPr>
          <p:cNvSpPr/>
          <p:nvPr/>
        </p:nvSpPr>
        <p:spPr>
          <a:xfrm>
            <a:off x="7231488" y="1898368"/>
            <a:ext cx="1332964" cy="593934"/>
          </a:xfrm>
          <a:prstGeom prst="flowChartMagneticDisk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Lib &amp; </a:t>
            </a:r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资源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D4A5635-2814-043C-9563-491F1EF2EF50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7418231" y="2492302"/>
            <a:ext cx="479739" cy="711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06D1E2B2-70E8-C2B8-8415-4589585D4756}"/>
              </a:ext>
            </a:extLst>
          </p:cNvPr>
          <p:cNvSpPr/>
          <p:nvPr/>
        </p:nvSpPr>
        <p:spPr>
          <a:xfrm>
            <a:off x="6488805" y="2662187"/>
            <a:ext cx="1219199" cy="2080169"/>
          </a:xfrm>
          <a:prstGeom prst="wedgeRectCallout">
            <a:avLst>
              <a:gd name="adj1" fmla="val 9281"/>
              <a:gd name="adj2" fmla="val -39967"/>
            </a:avLst>
          </a:prstGeom>
          <a:solidFill>
            <a:schemeClr val="tx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链接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CB397FC-39D3-FE45-44F4-940F4D1552E4}"/>
              </a:ext>
            </a:extLst>
          </p:cNvPr>
          <p:cNvSpPr txBox="1"/>
          <p:nvPr/>
        </p:nvSpPr>
        <p:spPr>
          <a:xfrm>
            <a:off x="4093777" y="2226390"/>
            <a:ext cx="8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编译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3DEEABA-3D33-8F91-B690-FD7A41AB3019}"/>
              </a:ext>
            </a:extLst>
          </p:cNvPr>
          <p:cNvSpPr txBox="1"/>
          <p:nvPr/>
        </p:nvSpPr>
        <p:spPr>
          <a:xfrm>
            <a:off x="4093776" y="3348059"/>
            <a:ext cx="8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编译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5496B41-01FA-8702-3410-1D6D8D6FACC8}"/>
              </a:ext>
            </a:extLst>
          </p:cNvPr>
          <p:cNvSpPr txBox="1"/>
          <p:nvPr/>
        </p:nvSpPr>
        <p:spPr>
          <a:xfrm>
            <a:off x="4092955" y="4531716"/>
            <a:ext cx="8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编译</a:t>
            </a:r>
          </a:p>
        </p:txBody>
      </p:sp>
    </p:spTree>
    <p:extLst>
      <p:ext uri="{BB962C8B-B14F-4D97-AF65-F5344CB8AC3E}">
        <p14:creationId xmlns:p14="http://schemas.microsoft.com/office/powerpoint/2010/main" val="217946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9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多源文件应用构建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为生成多源文件的应用，最好将它们组织在一个“项目</a:t>
            </a:r>
            <a:r>
              <a:rPr lang="en-US" altLang="zh-CN" dirty="0"/>
              <a:t>/</a:t>
            </a:r>
            <a:r>
              <a:rPr lang="zh-CN" altLang="en-US" dirty="0"/>
              <a:t>工程</a:t>
            </a:r>
            <a:r>
              <a:rPr lang="en-US" altLang="zh-CN" dirty="0"/>
              <a:t>(project)</a:t>
            </a:r>
            <a:r>
              <a:rPr lang="zh-CN" altLang="en-US" dirty="0"/>
              <a:t>”中（至少在逻辑上是这样）</a:t>
            </a:r>
            <a:endParaRPr lang="en-US" altLang="zh-CN" dirty="0"/>
          </a:p>
          <a:p>
            <a:pPr lvl="1"/>
            <a:r>
              <a:rPr lang="zh-CN" altLang="en-US" dirty="0"/>
              <a:t>在编译命令中指定多个源文件</a:t>
            </a:r>
            <a:endParaRPr lang="en-US" altLang="zh-CN" dirty="0"/>
          </a:p>
          <a:p>
            <a:pPr lvl="1"/>
            <a:r>
              <a:rPr lang="zh-CN" altLang="en-US" dirty="0"/>
              <a:t>借助</a:t>
            </a:r>
            <a:r>
              <a:rPr lang="en-US" altLang="zh-CN" dirty="0"/>
              <a:t>IDE</a:t>
            </a:r>
            <a:r>
              <a:rPr lang="zh-CN" altLang="en-US" dirty="0"/>
              <a:t>的功能，例如</a:t>
            </a:r>
            <a:r>
              <a:rPr lang="en-US" altLang="zh-CN" dirty="0"/>
              <a:t>C-Free</a:t>
            </a:r>
            <a:r>
              <a:rPr lang="zh-CN" altLang="en-US" dirty="0"/>
              <a:t>的“工程”、</a:t>
            </a:r>
            <a:r>
              <a:rPr lang="en-US" altLang="zh-CN" dirty="0"/>
              <a:t>Visual Studio</a:t>
            </a:r>
            <a:r>
              <a:rPr lang="zh-CN" altLang="en-US" dirty="0"/>
              <a:t>的“解决方案”</a:t>
            </a:r>
            <a:endParaRPr lang="en-US" altLang="zh-CN" dirty="0"/>
          </a:p>
          <a:p>
            <a:pPr lvl="1"/>
            <a:r>
              <a:rPr lang="zh-CN" altLang="en-US" dirty="0"/>
              <a:t>其他工具，例如</a:t>
            </a:r>
            <a:r>
              <a:rPr lang="en-US" altLang="zh-CN" dirty="0"/>
              <a:t>make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多源文件之间共享信息：头文件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15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E86E-F4FF-945A-F3F4-1B5FF198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93022-703B-3403-88F1-149909E8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头文件：接口和实现分离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980E0-31D6-B960-9B89-51B8BCAAD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第一步：将可复用对象的代码从使用它们的代码中剥离开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AEC44A-9061-C3E5-66E0-C9D4C15B2202}"/>
              </a:ext>
            </a:extLst>
          </p:cNvPr>
          <p:cNvSpPr txBox="1"/>
          <p:nvPr/>
        </p:nvSpPr>
        <p:spPr>
          <a:xfrm>
            <a:off x="1492529" y="2480191"/>
            <a:ext cx="3564229" cy="230832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对象及其操作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typedef struct {…} student;</a:t>
            </a:r>
          </a:p>
          <a:p>
            <a:pPr algn="l"/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b="1" i="1" dirty="0" err="1">
                <a:solidFill>
                  <a:srgbClr val="FFFF00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(…) {…}</a:t>
            </a:r>
          </a:p>
          <a:p>
            <a:pPr algn="l"/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int main() { //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对象的使用者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    student s;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    …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zh-CN" altLang="en-US" dirty="0" err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FFDC3C-583D-B874-A7CB-45EB576D27D7}"/>
              </a:ext>
            </a:extLst>
          </p:cNvPr>
          <p:cNvSpPr txBox="1"/>
          <p:nvPr/>
        </p:nvSpPr>
        <p:spPr>
          <a:xfrm>
            <a:off x="7124888" y="2470359"/>
            <a:ext cx="3564229" cy="9233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对象及其操作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typedef struct {…} student;</a:t>
            </a:r>
          </a:p>
          <a:p>
            <a:pPr algn="l"/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(…) {…}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A11C88-0936-1C36-44EB-E8334EFD1C25}"/>
              </a:ext>
            </a:extLst>
          </p:cNvPr>
          <p:cNvSpPr txBox="1"/>
          <p:nvPr/>
        </p:nvSpPr>
        <p:spPr>
          <a:xfrm>
            <a:off x="7124889" y="3588186"/>
            <a:ext cx="3564229" cy="120032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对象使用者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int main() {</a:t>
            </a:r>
          </a:p>
          <a:p>
            <a:pPr algn="l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    student s; …</a:t>
            </a:r>
          </a:p>
          <a:p>
            <a:pPr algn="l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zh-CN" altLang="en-US" dirty="0" err="1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133A049-DEC6-AC93-EAA2-8BC51E39B5E9}"/>
              </a:ext>
            </a:extLst>
          </p:cNvPr>
          <p:cNvSpPr/>
          <p:nvPr/>
        </p:nvSpPr>
        <p:spPr>
          <a:xfrm>
            <a:off x="5625014" y="3166403"/>
            <a:ext cx="940158" cy="8435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9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1094-0EBA-6847-17B9-F900E697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E2303-09E3-0AB8-21E9-CA012C35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头文件：接口和实现分离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3EB6B-2C76-938A-F3EF-3AE681D2F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第二步：将对象的声明和实现分散在不同源文件中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155F55-E465-AC46-3E94-8350EA511117}"/>
              </a:ext>
            </a:extLst>
          </p:cNvPr>
          <p:cNvSpPr txBox="1"/>
          <p:nvPr/>
        </p:nvSpPr>
        <p:spPr>
          <a:xfrm>
            <a:off x="1486090" y="3071429"/>
            <a:ext cx="3564229" cy="147732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typedef struct {…} student;</a:t>
            </a:r>
          </a:p>
          <a:p>
            <a:pPr algn="l"/>
            <a:endParaRPr lang="en-US" altLang="zh-CN" b="1" i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b="1" i="1" dirty="0" err="1">
                <a:solidFill>
                  <a:srgbClr val="FFFF00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b="1" i="1" dirty="0">
                <a:solidFill>
                  <a:srgbClr val="FFFF00"/>
                </a:solidFill>
                <a:latin typeface="Consolas" panose="020B0609020204030204" pitchFamily="49" charset="0"/>
              </a:rPr>
              <a:t>(…)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   …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4ACBBD-D20B-5A8E-1CF2-CD1A0C4E7CBA}"/>
              </a:ext>
            </a:extLst>
          </p:cNvPr>
          <p:cNvSpPr txBox="1"/>
          <p:nvPr/>
        </p:nvSpPr>
        <p:spPr>
          <a:xfrm>
            <a:off x="7118449" y="2705243"/>
            <a:ext cx="3564229" cy="9233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typedef struct {…} student;</a:t>
            </a:r>
          </a:p>
          <a:p>
            <a:pPr algn="l"/>
            <a:endParaRPr lang="en-US" altLang="zh-CN" b="1" i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b="1" i="1" dirty="0">
                <a:solidFill>
                  <a:schemeClr val="tx1"/>
                </a:solidFill>
                <a:latin typeface="Consolas" panose="020B0609020204030204" pitchFamily="49" charset="0"/>
              </a:rPr>
              <a:t>(…);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01230E-5CFB-268B-02BB-8BCE77B1A892}"/>
              </a:ext>
            </a:extLst>
          </p:cNvPr>
          <p:cNvSpPr txBox="1"/>
          <p:nvPr/>
        </p:nvSpPr>
        <p:spPr>
          <a:xfrm>
            <a:off x="7118449" y="4182575"/>
            <a:ext cx="3564229" cy="92333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(…) </a:t>
            </a: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   …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FB171C0-ED21-1C3E-6C59-F8557ECC653F}"/>
              </a:ext>
            </a:extLst>
          </p:cNvPr>
          <p:cNvSpPr/>
          <p:nvPr/>
        </p:nvSpPr>
        <p:spPr>
          <a:xfrm>
            <a:off x="5618575" y="3401287"/>
            <a:ext cx="940158" cy="8435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B87439-758B-A05A-25A2-0407CD686876}"/>
              </a:ext>
            </a:extLst>
          </p:cNvPr>
          <p:cNvSpPr txBox="1"/>
          <p:nvPr/>
        </p:nvSpPr>
        <p:spPr>
          <a:xfrm>
            <a:off x="7118449" y="2341469"/>
            <a:ext cx="1729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Consolas" panose="020B0609020204030204" pitchFamily="49" charset="0"/>
              </a:rPr>
              <a:t>student.h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08ACC4-DBB9-4043-13D3-0E0DDCD9C775}"/>
              </a:ext>
            </a:extLst>
          </p:cNvPr>
          <p:cNvSpPr txBox="1"/>
          <p:nvPr/>
        </p:nvSpPr>
        <p:spPr>
          <a:xfrm>
            <a:off x="7118449" y="3823070"/>
            <a:ext cx="1729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Consolas" panose="020B0609020204030204" pitchFamily="49" charset="0"/>
              </a:rPr>
              <a:t>student.c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4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8C23-9812-5DB5-E477-EB0615AA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A1D3-727A-CDE2-B131-E3FFE0B3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头文件：接口和实现分离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CC0A37-C873-EAC1-4D45-F31DAA02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第三步：在使用对象的代码中引入头文件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3218AB-47B4-E243-B9B3-53FBAC18E698}"/>
              </a:ext>
            </a:extLst>
          </p:cNvPr>
          <p:cNvSpPr txBox="1"/>
          <p:nvPr/>
        </p:nvSpPr>
        <p:spPr>
          <a:xfrm>
            <a:off x="6709457" y="2475882"/>
            <a:ext cx="3564229" cy="83099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#include “</a:t>
            </a:r>
            <a:r>
              <a:rPr lang="en-US" altLang="zh-CN" sz="1600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student.h</a:t>
            </a:r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”</a:t>
            </a:r>
          </a:p>
          <a:p>
            <a:pPr algn="l"/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int main() { student s; … }</a:t>
            </a:r>
            <a:endParaRPr lang="zh-CN" altLang="en-US" sz="1600" dirty="0" err="1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3FB706-459D-8066-B5F4-10B0C6BF49E3}"/>
              </a:ext>
            </a:extLst>
          </p:cNvPr>
          <p:cNvSpPr txBox="1"/>
          <p:nvPr/>
        </p:nvSpPr>
        <p:spPr>
          <a:xfrm>
            <a:off x="1598999" y="3064766"/>
            <a:ext cx="3564229" cy="86177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typedef struct {…} student;</a:t>
            </a:r>
          </a:p>
          <a:p>
            <a:pPr algn="l"/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(…);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EC2E1C-49F7-0573-18BE-390184F9A254}"/>
              </a:ext>
            </a:extLst>
          </p:cNvPr>
          <p:cNvSpPr txBox="1"/>
          <p:nvPr/>
        </p:nvSpPr>
        <p:spPr>
          <a:xfrm>
            <a:off x="6709457" y="3926540"/>
            <a:ext cx="3564229" cy="83099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#include “</a:t>
            </a:r>
            <a:r>
              <a:rPr lang="en-US" altLang="zh-CN" sz="1600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student.h</a:t>
            </a:r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”</a:t>
            </a:r>
          </a:p>
          <a:p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print_stu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(…) { … 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CB100B-9977-EF21-3BF8-E40A6601F5F6}"/>
              </a:ext>
            </a:extLst>
          </p:cNvPr>
          <p:cNvSpPr txBox="1"/>
          <p:nvPr/>
        </p:nvSpPr>
        <p:spPr>
          <a:xfrm>
            <a:off x="1598999" y="2654942"/>
            <a:ext cx="1729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Consolas" panose="020B0609020204030204" pitchFamily="49" charset="0"/>
              </a:rPr>
              <a:t>student.h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C56465-2BA7-5BAA-FE4A-436EDBC4B5F7}"/>
              </a:ext>
            </a:extLst>
          </p:cNvPr>
          <p:cNvSpPr txBox="1"/>
          <p:nvPr/>
        </p:nvSpPr>
        <p:spPr>
          <a:xfrm>
            <a:off x="6659576" y="2061129"/>
            <a:ext cx="1729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Consolas" panose="020B0609020204030204" pitchFamily="49" charset="0"/>
              </a:rPr>
              <a:t>main.c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189DBD-35F2-1483-242B-E5EA6D0D6EC6}"/>
              </a:ext>
            </a:extLst>
          </p:cNvPr>
          <p:cNvSpPr txBox="1"/>
          <p:nvPr/>
        </p:nvSpPr>
        <p:spPr>
          <a:xfrm>
            <a:off x="6648515" y="3562290"/>
            <a:ext cx="1729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Consolas" panose="020B0609020204030204" pitchFamily="49" charset="0"/>
              </a:rPr>
              <a:t>student.c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63A7856-15F3-31F7-8D30-724E05C3C544}"/>
              </a:ext>
            </a:extLst>
          </p:cNvPr>
          <p:cNvCxnSpPr>
            <a:stCxn id="5" idx="3"/>
            <a:endCxn id="4" idx="1"/>
          </p:cNvCxnSpPr>
          <p:nvPr/>
        </p:nvCxnSpPr>
        <p:spPr>
          <a:xfrm flipV="1">
            <a:off x="5163228" y="2891381"/>
            <a:ext cx="1546229" cy="604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1A714F6-7BB7-E54D-3F3D-4A3E0E29A59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163228" y="3495653"/>
            <a:ext cx="1546229" cy="846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E71F8997-C306-B447-DFB5-338281C3B187}"/>
              </a:ext>
            </a:extLst>
          </p:cNvPr>
          <p:cNvSpPr/>
          <p:nvPr/>
        </p:nvSpPr>
        <p:spPr>
          <a:xfrm>
            <a:off x="1598999" y="4178757"/>
            <a:ext cx="3564229" cy="932805"/>
          </a:xfrm>
          <a:prstGeom prst="wedgeRectCallout">
            <a:avLst>
              <a:gd name="adj1" fmla="val -4658"/>
              <a:gd name="adj2" fmla="val -6874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这个头文件可能在同一个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文件中，被不同的包含路径重复包含。为防止出错，需要设置头文件保护，以确保它在同一个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.c</a:t>
            </a:r>
            <a:r>
              <a:rPr lang="zh-CN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文件中只被包含一次</a:t>
            </a:r>
          </a:p>
        </p:txBody>
      </p:sp>
    </p:spTree>
    <p:extLst>
      <p:ext uri="{BB962C8B-B14F-4D97-AF65-F5344CB8AC3E}">
        <p14:creationId xmlns:p14="http://schemas.microsoft.com/office/powerpoint/2010/main" val="133090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9" grpId="0"/>
      <p:bldP spid="10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引入头文件：</a:t>
            </a:r>
            <a:r>
              <a:rPr lang="en-US" altLang="zh-CN" dirty="0"/>
              <a:t>#include</a:t>
            </a:r>
            <a:r>
              <a:rPr lang="zh-CN" altLang="en-US" dirty="0"/>
              <a:t>预处理指令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  #include &lt;</a:t>
            </a:r>
            <a:r>
              <a:rPr lang="en-US" altLang="zh-CN" b="1" i="1" dirty="0" err="1">
                <a:solidFill>
                  <a:srgbClr val="FF0000"/>
                </a:solidFill>
              </a:rPr>
              <a:t>stdio.h</a:t>
            </a:r>
            <a:r>
              <a:rPr lang="en-US" altLang="zh-CN" b="1" i="1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  #include “</a:t>
            </a:r>
            <a:r>
              <a:rPr lang="en-US" altLang="zh-CN" b="1" i="1" dirty="0" err="1">
                <a:solidFill>
                  <a:srgbClr val="FF0000"/>
                </a:solidFill>
              </a:rPr>
              <a:t>student.h</a:t>
            </a:r>
            <a:r>
              <a:rPr lang="en-US" altLang="zh-CN" b="1" i="1" dirty="0">
                <a:solidFill>
                  <a:srgbClr val="FF0000"/>
                </a:solidFill>
              </a:rPr>
              <a:t>”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&lt;&gt;</a:t>
            </a:r>
            <a:r>
              <a:rPr lang="zh-CN" altLang="en-US" dirty="0"/>
              <a:t>和</a:t>
            </a:r>
            <a:r>
              <a:rPr lang="en-US" altLang="zh-CN" dirty="0"/>
              <a:t>“”</a:t>
            </a:r>
          </a:p>
          <a:p>
            <a:pPr lvl="1"/>
            <a:r>
              <a:rPr lang="en-US" altLang="zh-CN" dirty="0"/>
              <a:t>&lt;&gt;</a:t>
            </a:r>
            <a:r>
              <a:rPr lang="zh-CN" altLang="en-US" dirty="0"/>
              <a:t>：在系统指定目录中搜索头文件。一般用于标准头文件</a:t>
            </a:r>
            <a:endParaRPr lang="en-US" altLang="zh-CN" dirty="0"/>
          </a:p>
          <a:p>
            <a:pPr lvl="1"/>
            <a:r>
              <a:rPr lang="en-US" altLang="zh-CN" dirty="0"/>
              <a:t>“”</a:t>
            </a:r>
            <a:r>
              <a:rPr lang="zh-CN" altLang="en-US" dirty="0"/>
              <a:t>：先在当前目录，然后在系统目录搜索头文件。一般用于自定义头文件</a:t>
            </a:r>
          </a:p>
        </p:txBody>
      </p:sp>
    </p:spTree>
    <p:extLst>
      <p:ext uri="{BB962C8B-B14F-4D97-AF65-F5344CB8AC3E}">
        <p14:creationId xmlns:p14="http://schemas.microsoft.com/office/powerpoint/2010/main" val="36003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头文件的内容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头文件中可以有：</a:t>
            </a:r>
            <a:endParaRPr lang="en-US" altLang="zh-CN" dirty="0"/>
          </a:p>
          <a:p>
            <a:pPr lvl="1"/>
            <a:r>
              <a:rPr lang="zh-CN" altLang="en-US" dirty="0"/>
              <a:t>编译设置，例如：头文件保护、条件编译、</a:t>
            </a:r>
            <a:r>
              <a:rPr lang="en-US" altLang="zh-CN" dirty="0"/>
              <a:t>#warning</a:t>
            </a:r>
            <a:r>
              <a:rPr lang="zh-CN" altLang="en-US" dirty="0"/>
              <a:t>等等</a:t>
            </a:r>
            <a:endParaRPr lang="en-US" altLang="zh-CN" dirty="0"/>
          </a:p>
          <a:p>
            <a:pPr lvl="1"/>
            <a:r>
              <a:rPr lang="zh-CN" altLang="en-US" dirty="0"/>
              <a:t>标准和</a:t>
            </a:r>
            <a:r>
              <a:rPr lang="en-US" altLang="zh-CN" dirty="0"/>
              <a:t>/</a:t>
            </a:r>
            <a:r>
              <a:rPr lang="zh-CN" altLang="en-US" dirty="0"/>
              <a:t>自定义头文件包含</a:t>
            </a:r>
            <a:endParaRPr lang="en-US" altLang="zh-CN" dirty="0"/>
          </a:p>
          <a:p>
            <a:pPr lvl="1"/>
            <a:r>
              <a:rPr lang="zh-CN" altLang="en-US" dirty="0"/>
              <a:t>宏定义：</a:t>
            </a:r>
            <a:r>
              <a:rPr lang="en-US" altLang="zh-CN" b="1" i="1" dirty="0">
                <a:solidFill>
                  <a:srgbClr val="FF0000"/>
                </a:solidFill>
              </a:rPr>
              <a:t>#define N 10</a:t>
            </a:r>
          </a:p>
          <a:p>
            <a:pPr lvl="1"/>
            <a:r>
              <a:rPr lang="zh-CN" altLang="en-US" dirty="0"/>
              <a:t>类型</a:t>
            </a:r>
            <a:r>
              <a:rPr lang="zh-CN" altLang="en-US" b="1" dirty="0">
                <a:solidFill>
                  <a:srgbClr val="FF0000"/>
                </a:solidFill>
              </a:rPr>
              <a:t>声明：</a:t>
            </a:r>
            <a:r>
              <a:rPr lang="en-US" altLang="zh-CN" b="1" i="1" dirty="0">
                <a:solidFill>
                  <a:srgbClr val="FF0000"/>
                </a:solidFill>
              </a:rPr>
              <a:t>typedef int 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/>
              <a:t>外部变量</a:t>
            </a:r>
            <a:r>
              <a:rPr lang="zh-CN" altLang="en-US" b="1" dirty="0">
                <a:solidFill>
                  <a:srgbClr val="FF0000"/>
                </a:solidFill>
              </a:rPr>
              <a:t>声明：</a:t>
            </a:r>
            <a:r>
              <a:rPr lang="en-US" altLang="zh-CN" b="1" i="1" dirty="0">
                <a:solidFill>
                  <a:srgbClr val="FF0000"/>
                </a:solidFill>
              </a:rPr>
              <a:t>extern int </a:t>
            </a:r>
            <a:r>
              <a:rPr lang="en-US" altLang="zh-CN" b="1" i="1" dirty="0" err="1">
                <a:solidFill>
                  <a:srgbClr val="FF0000"/>
                </a:solidFill>
              </a:rPr>
              <a:t>i</a:t>
            </a:r>
            <a:r>
              <a:rPr lang="en-US" altLang="zh-CN" b="1" i="1" dirty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/>
              <a:t>函数</a:t>
            </a:r>
            <a:r>
              <a:rPr lang="zh-CN" altLang="en-US" b="1" dirty="0">
                <a:solidFill>
                  <a:srgbClr val="FF0000"/>
                </a:solidFill>
              </a:rPr>
              <a:t>声明</a:t>
            </a:r>
            <a:r>
              <a:rPr lang="zh-CN" altLang="en-US" dirty="0"/>
              <a:t>（函数签名）：</a:t>
            </a:r>
            <a:r>
              <a:rPr lang="en-US" altLang="zh-CN" b="1" i="1" dirty="0">
                <a:solidFill>
                  <a:srgbClr val="00B0F0"/>
                </a:solidFill>
              </a:rPr>
              <a:t>extern</a:t>
            </a:r>
            <a:r>
              <a:rPr lang="en-US" altLang="zh-CN" b="1" i="1" dirty="0">
                <a:solidFill>
                  <a:srgbClr val="FFC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void </a:t>
            </a:r>
            <a:r>
              <a:rPr lang="en-US" altLang="zh-CN" b="1" i="1" dirty="0" err="1">
                <a:solidFill>
                  <a:srgbClr val="FF0000"/>
                </a:solidFill>
              </a:rPr>
              <a:t>print_date</a:t>
            </a:r>
            <a:r>
              <a:rPr lang="en-US" altLang="zh-CN" b="1" i="1" dirty="0">
                <a:solidFill>
                  <a:srgbClr val="FF0000"/>
                </a:solidFill>
              </a:rPr>
              <a:t>(date d);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2BFD6FF-D5ED-5EC3-66CD-F00441649274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student.h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43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头文件的内容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头文件</a:t>
            </a:r>
            <a:r>
              <a:rPr lang="zh-CN" altLang="en-US" b="1" dirty="0">
                <a:solidFill>
                  <a:srgbClr val="FF0000"/>
                </a:solidFill>
              </a:rPr>
              <a:t>不能</a:t>
            </a:r>
            <a:r>
              <a:rPr lang="zh-CN" altLang="en-US" dirty="0"/>
              <a:t>有</a:t>
            </a:r>
            <a:endParaRPr lang="en-US" altLang="zh-CN" dirty="0"/>
          </a:p>
          <a:p>
            <a:pPr lvl="1"/>
            <a:r>
              <a:rPr lang="zh-CN" altLang="en-US" dirty="0"/>
              <a:t>全局变量</a:t>
            </a:r>
            <a:r>
              <a:rPr lang="zh-CN" altLang="en-US" b="1" dirty="0">
                <a:solidFill>
                  <a:srgbClr val="FF0000"/>
                </a:solidFill>
              </a:rPr>
              <a:t>定义：</a:t>
            </a:r>
            <a:r>
              <a:rPr lang="en-US" altLang="zh-CN" i="1" dirty="0"/>
              <a:t>int count = 0;</a:t>
            </a:r>
          </a:p>
          <a:p>
            <a:pPr lvl="1"/>
            <a:r>
              <a:rPr lang="zh-CN" altLang="en-US" dirty="0"/>
              <a:t>函数</a:t>
            </a:r>
            <a:r>
              <a:rPr lang="zh-CN" altLang="en-US" b="1" dirty="0">
                <a:solidFill>
                  <a:srgbClr val="FF0000"/>
                </a:solidFill>
              </a:rPr>
              <a:t>定义：</a:t>
            </a:r>
            <a:r>
              <a:rPr lang="en-US" altLang="zh-CN" i="1" dirty="0"/>
              <a:t>double avg(double a, double b) { return (a + b) / 2.0; }</a:t>
            </a:r>
          </a:p>
        </p:txBody>
      </p:sp>
    </p:spTree>
    <p:extLst>
      <p:ext uri="{BB962C8B-B14F-4D97-AF65-F5344CB8AC3E}">
        <p14:creationId xmlns:p14="http://schemas.microsoft.com/office/powerpoint/2010/main" val="89857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编译：编译器编译源文件，生成目标文件（</a:t>
            </a:r>
            <a:r>
              <a:rPr lang="en-US" altLang="zh-CN" dirty="0"/>
              <a:t>.o</a:t>
            </a:r>
            <a:r>
              <a:rPr lang="zh-CN" altLang="en-US" dirty="0"/>
              <a:t>文件）</a:t>
            </a:r>
            <a:endParaRPr lang="en-US" altLang="zh-CN" dirty="0"/>
          </a:p>
          <a:p>
            <a:r>
              <a:rPr lang="zh-CN" altLang="en-US" dirty="0"/>
              <a:t>链接：链接器链接目标文件和运行时库，生成可执行程序</a:t>
            </a:r>
            <a:endParaRPr lang="en-US" altLang="zh-CN" dirty="0"/>
          </a:p>
          <a:p>
            <a:pPr lvl="1"/>
            <a:r>
              <a:rPr lang="en-US" altLang="zh-CN" dirty="0"/>
              <a:t>Windows</a:t>
            </a:r>
            <a:r>
              <a:rPr lang="zh-CN" altLang="en-US" dirty="0"/>
              <a:t>下，可执行程序有统一后缀名：</a:t>
            </a:r>
            <a:r>
              <a:rPr lang="en-US" altLang="zh-CN" dirty="0"/>
              <a:t>.exe</a:t>
            </a:r>
          </a:p>
          <a:p>
            <a:pPr lvl="2"/>
            <a:r>
              <a:rPr lang="zh-CN" altLang="en-US" dirty="0"/>
              <a:t>如没有指定可执行程序名，</a:t>
            </a:r>
            <a:r>
              <a:rPr lang="en-US" altLang="zh-CN" dirty="0" err="1"/>
              <a:t>gcc</a:t>
            </a:r>
            <a:r>
              <a:rPr lang="zh-CN" altLang="en-US" dirty="0"/>
              <a:t>生成的默认可执行程序的名字是：</a:t>
            </a:r>
            <a:r>
              <a:rPr lang="en-US" altLang="zh-CN" dirty="0"/>
              <a:t>a.exe</a:t>
            </a:r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下，可执行代码一般没有没有后缀</a:t>
            </a:r>
            <a:endParaRPr lang="en-US" altLang="zh-CN" dirty="0"/>
          </a:p>
          <a:p>
            <a:pPr lvl="2"/>
            <a:r>
              <a:rPr lang="zh-CN" altLang="en-US" dirty="0"/>
              <a:t>如没有指定可执行程序名，</a:t>
            </a:r>
            <a:r>
              <a:rPr lang="en-US" altLang="zh-CN" dirty="0" err="1"/>
              <a:t>gcc</a:t>
            </a:r>
            <a:r>
              <a:rPr lang="zh-CN" altLang="en-US" dirty="0"/>
              <a:t>生成的默认可执行程序的名字是：</a:t>
            </a:r>
            <a:r>
              <a:rPr lang="en-US" altLang="zh-CN" dirty="0" err="1"/>
              <a:t>a.out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397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构建应用：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IDE</a:t>
            </a:r>
            <a:r>
              <a:rPr lang="zh-CN" altLang="en-US" dirty="0"/>
              <a:t>的功能</a:t>
            </a:r>
            <a:endParaRPr lang="en-US" altLang="zh-CN" dirty="0"/>
          </a:p>
          <a:p>
            <a:pPr lvl="1"/>
            <a:r>
              <a:rPr lang="zh-CN" altLang="en-US" dirty="0"/>
              <a:t>创建</a:t>
            </a:r>
            <a:r>
              <a:rPr lang="en-US" altLang="zh-CN" dirty="0"/>
              <a:t>project</a:t>
            </a:r>
            <a:r>
              <a:rPr lang="zh-CN" altLang="en-US" dirty="0"/>
              <a:t>（包括</a:t>
            </a:r>
            <a:r>
              <a:rPr lang="en-US" altLang="zh-CN" dirty="0"/>
              <a:t>solution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将所有源文件（</a:t>
            </a:r>
            <a:r>
              <a:rPr lang="en-US" altLang="zh-CN" dirty="0"/>
              <a:t>.c</a:t>
            </a:r>
            <a:r>
              <a:rPr lang="zh-CN" altLang="en-US" dirty="0"/>
              <a:t>和</a:t>
            </a:r>
            <a:r>
              <a:rPr lang="en-US" altLang="zh-CN" dirty="0"/>
              <a:t>.h</a:t>
            </a:r>
            <a:r>
              <a:rPr lang="zh-CN" altLang="en-US" dirty="0"/>
              <a:t>）加入此</a:t>
            </a:r>
            <a:r>
              <a:rPr lang="en-US" altLang="zh-CN" dirty="0"/>
              <a:t>project</a:t>
            </a:r>
          </a:p>
          <a:p>
            <a:pPr lvl="1"/>
            <a:r>
              <a:rPr lang="zh-CN" altLang="en-US" dirty="0"/>
              <a:t>一键构建</a:t>
            </a:r>
            <a:r>
              <a:rPr lang="en-US" altLang="zh-CN" dirty="0"/>
              <a:t>project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993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构建应用：命令行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使用命令行（以</a:t>
            </a:r>
            <a:r>
              <a:rPr lang="en-US" altLang="zh-CN" dirty="0" err="1"/>
              <a:t>gcc</a:t>
            </a:r>
            <a:r>
              <a:rPr lang="zh-CN" altLang="en-US" dirty="0"/>
              <a:t>为例）</a:t>
            </a:r>
            <a:endParaRPr lang="en-US" altLang="zh-CN" dirty="0"/>
          </a:p>
          <a:p>
            <a:pPr lvl="1"/>
            <a:r>
              <a:rPr lang="zh-CN" altLang="en-US" dirty="0"/>
              <a:t>在命令行中指定所有源文件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 f1.c f2.c			</a:t>
            </a:r>
            <a:r>
              <a:rPr lang="zh-CN" altLang="en-US" dirty="0"/>
              <a:t>生成默认可执行文件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 f1.c f2.c -o f		</a:t>
            </a:r>
            <a:r>
              <a:rPr lang="zh-CN" altLang="en-US" dirty="0"/>
              <a:t>生成可执行程序</a:t>
            </a:r>
            <a:r>
              <a:rPr lang="en-US" altLang="zh-CN" dirty="0"/>
              <a:t>f</a:t>
            </a:r>
            <a:r>
              <a:rPr lang="zh-CN" altLang="en-US" dirty="0"/>
              <a:t>（</a:t>
            </a:r>
            <a:r>
              <a:rPr lang="en-US" altLang="zh-CN" dirty="0"/>
              <a:t>Windows</a:t>
            </a:r>
            <a:r>
              <a:rPr lang="zh-CN" altLang="en-US" dirty="0"/>
              <a:t>下是</a:t>
            </a:r>
            <a:r>
              <a:rPr lang="en-US" altLang="zh-CN" dirty="0"/>
              <a:t>f.exe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如果所有源文件都在同一个目录下，并且无其它不相关源文件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 *.c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sz="1800" dirty="0" err="1"/>
              <a:t>gcc</a:t>
            </a:r>
            <a:r>
              <a:rPr lang="en-US" altLang="zh-CN" sz="1800" dirty="0"/>
              <a:t> *.c -o f</a:t>
            </a:r>
          </a:p>
        </p:txBody>
      </p:sp>
    </p:spTree>
    <p:extLst>
      <p:ext uri="{BB962C8B-B14F-4D97-AF65-F5344CB8AC3E}">
        <p14:creationId xmlns:p14="http://schemas.microsoft.com/office/powerpoint/2010/main" val="115592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构建应用：</a:t>
            </a:r>
            <a:r>
              <a:rPr lang="en-US" altLang="zh-CN" dirty="0"/>
              <a:t>make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make</a:t>
            </a:r>
            <a:r>
              <a:rPr lang="zh-CN" altLang="en-US" dirty="0"/>
              <a:t>工具（强烈推荐）</a:t>
            </a:r>
            <a:endParaRPr lang="en-US" altLang="zh-CN" dirty="0"/>
          </a:p>
          <a:p>
            <a:pPr lvl="1"/>
            <a:r>
              <a:rPr lang="en-US" altLang="zh-CN" dirty="0"/>
              <a:t>make</a:t>
            </a:r>
            <a:r>
              <a:rPr lang="zh-CN" altLang="en-US" dirty="0"/>
              <a:t>依赖文件</a:t>
            </a:r>
            <a:endParaRPr lang="en-US" altLang="zh-CN" dirty="0"/>
          </a:p>
          <a:p>
            <a:pPr lvl="1"/>
            <a:r>
              <a:rPr lang="zh-CN" altLang="en-US" dirty="0"/>
              <a:t>默认依赖文件是</a:t>
            </a:r>
            <a:r>
              <a:rPr lang="en-US" altLang="zh-CN" dirty="0" err="1"/>
              <a:t>Makefile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构建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make</a:t>
            </a:r>
          </a:p>
          <a:p>
            <a:pPr lvl="1"/>
            <a:r>
              <a:rPr lang="zh-CN" altLang="en-US" dirty="0"/>
              <a:t>清理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make clean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47214" y="1720840"/>
            <a:ext cx="5415065" cy="34163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#for Linux</a:t>
            </a:r>
          </a:p>
          <a:p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</a:rPr>
              <a:t>sources = *.c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target = </a:t>
            </a:r>
            <a:r>
              <a:rPr lang="en-US" altLang="zh-CN" dirty="0" err="1">
                <a:latin typeface="Consolas" panose="020B0609020204030204" pitchFamily="49" charset="0"/>
              </a:rPr>
              <a:t>stu</a:t>
            </a:r>
            <a:endParaRPr lang="en-US" altLang="zh-CN" dirty="0">
              <a:latin typeface="Consolas" panose="020B0609020204030204" pitchFamily="49" charset="0"/>
            </a:endParaRPr>
          </a:p>
          <a:p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</a:rPr>
              <a:t>CCFLAG = -Wall -</a:t>
            </a:r>
            <a:r>
              <a:rPr lang="en-US" altLang="zh-CN" dirty="0" err="1">
                <a:latin typeface="Consolas" panose="020B0609020204030204" pitchFamily="49" charset="0"/>
              </a:rPr>
              <a:t>fsanitize</a:t>
            </a:r>
            <a:r>
              <a:rPr lang="en-US" altLang="zh-CN" dirty="0">
                <a:latin typeface="Consolas" panose="020B0609020204030204" pitchFamily="49" charset="0"/>
              </a:rPr>
              <a:t>=address -g</a:t>
            </a:r>
          </a:p>
          <a:p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</a:rPr>
              <a:t>all: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    </a:t>
            </a:r>
            <a:r>
              <a:rPr lang="en-US" altLang="zh-CN" dirty="0" err="1">
                <a:latin typeface="Consolas" panose="020B0609020204030204" pitchFamily="49" charset="0"/>
              </a:rPr>
              <a:t>gcc</a:t>
            </a:r>
            <a:r>
              <a:rPr lang="en-US" altLang="zh-CN" dirty="0">
                <a:latin typeface="Consolas" panose="020B0609020204030204" pitchFamily="49" charset="0"/>
              </a:rPr>
              <a:t> $(sources) $(CCFLAG) -o $(target)</a:t>
            </a:r>
          </a:p>
          <a:p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</a:rPr>
              <a:t>clean: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    </a:t>
            </a:r>
            <a:r>
              <a:rPr lang="en-US" altLang="zh-CN" dirty="0" err="1">
                <a:latin typeface="Consolas" panose="020B0609020204030204" pitchFamily="49" charset="0"/>
              </a:rPr>
              <a:t>rm</a:t>
            </a:r>
            <a:r>
              <a:rPr lang="en-US" altLang="zh-CN" dirty="0">
                <a:latin typeface="Consolas" panose="020B0609020204030204" pitchFamily="49" charset="0"/>
              </a:rPr>
              <a:t> $(target)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E51577FA-506E-D211-E822-83B8565CBCC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buildapp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37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8B6DE-01EC-7642-6242-1E01E045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跨平台工具：</a:t>
            </a:r>
            <a:r>
              <a:rPr lang="en-US" altLang="zh-CN" dirty="0" err="1"/>
              <a:t>Cmake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8330B-3B95-EBC5-C4FB-982F68DC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CMake</a:t>
            </a:r>
            <a:r>
              <a:rPr lang="zh-CN" altLang="en-US" dirty="0"/>
              <a:t>致力于同一</a:t>
            </a:r>
            <a:r>
              <a:rPr lang="en-US" altLang="zh-CN" dirty="0"/>
              <a:t>C/C++</a:t>
            </a:r>
            <a:r>
              <a:rPr lang="zh-CN" altLang="en-US" dirty="0"/>
              <a:t>应用的跨平台构建</a:t>
            </a:r>
            <a:endParaRPr lang="en-US" altLang="zh-CN" dirty="0"/>
          </a:p>
          <a:p>
            <a:pPr lvl="1"/>
            <a:r>
              <a:rPr lang="zh-CN" altLang="en-US" dirty="0"/>
              <a:t>自定义的配置文件</a:t>
            </a:r>
            <a:r>
              <a:rPr lang="en-US" altLang="zh-CN" b="1" i="1" dirty="0">
                <a:solidFill>
                  <a:srgbClr val="FF0000"/>
                </a:solidFill>
              </a:rPr>
              <a:t>CMakeLists.txt</a:t>
            </a:r>
          </a:p>
          <a:p>
            <a:r>
              <a:rPr lang="en-US" altLang="zh-CN" dirty="0" err="1"/>
              <a:t>CMake</a:t>
            </a:r>
            <a:r>
              <a:rPr lang="zh-CN" altLang="en-US" dirty="0"/>
              <a:t>生成的是</a:t>
            </a:r>
            <a:r>
              <a:rPr lang="en-US" altLang="zh-CN" dirty="0" err="1"/>
              <a:t>Makefile</a:t>
            </a:r>
            <a:r>
              <a:rPr lang="zh-CN" altLang="en-US" dirty="0"/>
              <a:t>，而不是可执行程序</a:t>
            </a:r>
            <a:endParaRPr lang="en-US" altLang="zh-CN" dirty="0"/>
          </a:p>
          <a:p>
            <a:pPr lvl="1"/>
            <a:r>
              <a:rPr lang="zh-CN" altLang="en-US" dirty="0"/>
              <a:t>只有在第一次或者</a:t>
            </a:r>
            <a:r>
              <a:rPr lang="en-US" altLang="zh-CN" dirty="0"/>
              <a:t>CMakeLists.txt</a:t>
            </a:r>
            <a:r>
              <a:rPr lang="zh-CN" altLang="en-US" dirty="0"/>
              <a:t>改变后才运行</a:t>
            </a:r>
            <a:r>
              <a:rPr lang="en-US" altLang="zh-CN" dirty="0" err="1"/>
              <a:t>cmake</a:t>
            </a:r>
            <a:endParaRPr lang="en-US" altLang="zh-CN" dirty="0"/>
          </a:p>
          <a:p>
            <a:pPr lvl="1"/>
            <a:r>
              <a:rPr lang="zh-CN" altLang="en-US" dirty="0"/>
              <a:t>运行</a:t>
            </a:r>
            <a:r>
              <a:rPr lang="en-US" altLang="zh-CN" dirty="0"/>
              <a:t>make</a:t>
            </a:r>
            <a:r>
              <a:rPr lang="zh-CN" altLang="en-US" dirty="0"/>
              <a:t>完成构建</a:t>
            </a:r>
          </a:p>
        </p:txBody>
      </p:sp>
    </p:spTree>
    <p:extLst>
      <p:ext uri="{BB962C8B-B14F-4D97-AF65-F5344CB8AC3E}">
        <p14:creationId xmlns:p14="http://schemas.microsoft.com/office/powerpoint/2010/main" val="18551376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1156</TotalTime>
  <Words>966</Words>
  <Application>Microsoft Office PowerPoint</Application>
  <PresentationFormat>宽屏</PresentationFormat>
  <Paragraphs>160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Consolas</vt:lpstr>
      <vt:lpstr>Office 主题​​</vt:lpstr>
      <vt:lpstr>编写大型程序</vt:lpstr>
      <vt:lpstr>源文件</vt:lpstr>
      <vt:lpstr>单源文件应用构建</vt:lpstr>
      <vt:lpstr>PowerPoint 演示文稿</vt:lpstr>
      <vt:lpstr>多源文件应用构建</vt:lpstr>
      <vt:lpstr>多源文件应用构建</vt:lpstr>
      <vt:lpstr>头文件：接口和实现分离</vt:lpstr>
      <vt:lpstr>头文件：接口和实现分离</vt:lpstr>
      <vt:lpstr>头文件：接口和实现分离</vt:lpstr>
      <vt:lpstr>引入头文件：#include预处理指令</vt:lpstr>
      <vt:lpstr>头文件的内容</vt:lpstr>
      <vt:lpstr>头文件的内容</vt:lpstr>
      <vt:lpstr>构建应用</vt:lpstr>
      <vt:lpstr>构建应用：IDE</vt:lpstr>
      <vt:lpstr>构建应用：命令行</vt:lpstr>
      <vt:lpstr>构建应用：make</vt:lpstr>
      <vt:lpstr>跨平台工具：Cmake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696</cp:revision>
  <dcterms:created xsi:type="dcterms:W3CDTF">2021-10-07T04:52:51Z</dcterms:created>
  <dcterms:modified xsi:type="dcterms:W3CDTF">2025-01-04T01:55:58Z</dcterms:modified>
</cp:coreProperties>
</file>