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60" r:id="rId4"/>
    <p:sldId id="283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90" r:id="rId13"/>
    <p:sldId id="291" r:id="rId14"/>
    <p:sldId id="274" r:id="rId15"/>
    <p:sldId id="284" r:id="rId16"/>
    <p:sldId id="275" r:id="rId17"/>
    <p:sldId id="285" r:id="rId18"/>
    <p:sldId id="287" r:id="rId19"/>
    <p:sldId id="286" r:id="rId20"/>
    <p:sldId id="288" r:id="rId21"/>
    <p:sldId id="289" r:id="rId22"/>
    <p:sldId id="276" r:id="rId23"/>
    <p:sldId id="280" r:id="rId24"/>
    <p:sldId id="281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92" autoAdjust="0"/>
    <p:restoredTop sz="94660"/>
  </p:normalViewPr>
  <p:slideViewPr>
    <p:cSldViewPr snapToGrid="0">
      <p:cViewPr varScale="1">
        <p:scale>
          <a:sx n="99" d="100"/>
          <a:sy n="99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6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490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95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1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72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1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71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8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68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6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62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1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B52E3-C54A-4264-A297-A73E9950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预备知识：动态内存分配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D2E9F-872C-4ACB-915D-84F30866F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动态内存分配函数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void *malloc(</a:t>
            </a:r>
            <a:r>
              <a:rPr lang="en-US" altLang="zh-CN" b="1" i="1" dirty="0" err="1">
                <a:solidFill>
                  <a:srgbClr val="FF0000"/>
                </a:solidFill>
              </a:rPr>
              <a:t>size_t</a:t>
            </a:r>
            <a:r>
              <a:rPr lang="en-US" altLang="zh-CN" b="1" i="1" dirty="0">
                <a:solidFill>
                  <a:srgbClr val="FF0000"/>
                </a:solidFill>
              </a:rPr>
              <a:t> size);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//</a:t>
            </a:r>
            <a:r>
              <a:rPr lang="zh-CN" altLang="en-US" dirty="0"/>
              <a:t>以字节计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功能：成功时返回内存块首地址；否则返回空指针</a:t>
            </a:r>
            <a:r>
              <a:rPr lang="en-US" altLang="zh-CN" b="1" i="1" dirty="0">
                <a:solidFill>
                  <a:srgbClr val="FF0000"/>
                </a:solidFill>
              </a:rPr>
              <a:t>NULL</a:t>
            </a:r>
          </a:p>
          <a:p>
            <a:pPr marL="0" indent="0">
              <a:buNone/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*p;</a:t>
            </a:r>
          </a:p>
          <a:p>
            <a:pPr marL="0" indent="0">
              <a:buNone/>
            </a:pPr>
            <a:r>
              <a:rPr lang="en-US" altLang="zh-CN" dirty="0"/>
              <a:t>p = </a:t>
            </a:r>
            <a:r>
              <a:rPr lang="en-US" altLang="zh-CN" b="1" i="1" dirty="0">
                <a:solidFill>
                  <a:srgbClr val="FF0000"/>
                </a:solidFill>
              </a:rPr>
              <a:t>(int *)</a:t>
            </a:r>
            <a:r>
              <a:rPr lang="en-US" altLang="zh-CN" dirty="0"/>
              <a:t>malloc(1000 * </a:t>
            </a:r>
            <a:r>
              <a:rPr lang="en-US" altLang="zh-CN" b="1" i="1" dirty="0" err="1">
                <a:solidFill>
                  <a:srgbClr val="FF0000"/>
                </a:solidFill>
              </a:rPr>
              <a:t>sizeof</a:t>
            </a:r>
            <a:r>
              <a:rPr lang="en-US" altLang="zh-CN" b="1" i="1" dirty="0">
                <a:solidFill>
                  <a:srgbClr val="FF0000"/>
                </a:solidFill>
              </a:rPr>
              <a:t>(int)</a:t>
            </a:r>
            <a:r>
              <a:rPr lang="en-US" altLang="zh-CN" dirty="0"/>
              <a:t>); //</a:t>
            </a:r>
            <a:r>
              <a:rPr lang="zh-CN" altLang="en-US" dirty="0"/>
              <a:t>分配</a:t>
            </a:r>
            <a:r>
              <a:rPr lang="en-US" altLang="zh-CN" dirty="0"/>
              <a:t>1000</a:t>
            </a:r>
            <a:r>
              <a:rPr lang="zh-CN" altLang="en-US" dirty="0"/>
              <a:t>个整数单元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(p == NULL) …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失败处理。等价于：</a:t>
            </a:r>
            <a:r>
              <a:rPr lang="en-US" altLang="zh-CN" dirty="0"/>
              <a:t>if (!p) …</a:t>
            </a:r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695469AC-7264-48BF-B7CB-84A44225884C}"/>
              </a:ext>
            </a:extLst>
          </p:cNvPr>
          <p:cNvSpPr/>
          <p:nvPr/>
        </p:nvSpPr>
        <p:spPr>
          <a:xfrm>
            <a:off x="3550152" y="4357692"/>
            <a:ext cx="5091695" cy="756518"/>
          </a:xfrm>
          <a:prstGeom prst="wedgeRectCallout">
            <a:avLst>
              <a:gd name="adj1" fmla="val -36466"/>
              <a:gd name="adj2" fmla="val 8876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动态分配的内存具有长至程序结束的生命期</a:t>
            </a:r>
          </a:p>
        </p:txBody>
      </p:sp>
    </p:spTree>
    <p:extLst>
      <p:ext uri="{BB962C8B-B14F-4D97-AF65-F5344CB8AC3E}">
        <p14:creationId xmlns:p14="http://schemas.microsoft.com/office/powerpoint/2010/main" val="413639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28163-6868-42D4-B7FD-384E2F66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预备知识：动态内存释放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90A3F-681F-4D3D-A255-5BCBFFF11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释放函数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void free(void *);</a:t>
            </a:r>
          </a:p>
          <a:p>
            <a:pPr marL="0" indent="0">
              <a:buNone/>
            </a:pPr>
            <a:r>
              <a:rPr lang="zh-CN" altLang="en-US" dirty="0"/>
              <a:t>功能：释放参数指针指向的内存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free(p);</a:t>
            </a:r>
          </a:p>
          <a:p>
            <a:r>
              <a:rPr lang="zh-CN" altLang="en-US" dirty="0"/>
              <a:t>动态分配的内存在不使用后应择机释放，否则会产生内存泄漏的错误</a:t>
            </a:r>
          </a:p>
        </p:txBody>
      </p:sp>
    </p:spTree>
    <p:extLst>
      <p:ext uri="{BB962C8B-B14F-4D97-AF65-F5344CB8AC3E}">
        <p14:creationId xmlns:p14="http://schemas.microsoft.com/office/powerpoint/2010/main" val="270812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CD8065-2057-47D5-AC43-72850935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背景知识：常犯的指针使用错误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5139A-0B3C-4FE2-9AAD-2D2B64DC4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using NULL pointer</a:t>
            </a:r>
          </a:p>
          <a:p>
            <a:pPr marL="457200" lvl="1" indent="0">
              <a:buNone/>
            </a:pPr>
            <a:r>
              <a:rPr lang="en-US" altLang="zh-CN" dirty="0"/>
              <a:t>int *p = NULL;</a:t>
            </a:r>
          </a:p>
          <a:p>
            <a:pPr marL="457200" lvl="1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*p = 1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wild pointer</a:t>
            </a:r>
          </a:p>
          <a:p>
            <a:pPr marL="457200" lvl="1" indent="0">
              <a:buNone/>
            </a:pPr>
            <a:r>
              <a:rPr lang="en-US" altLang="zh-CN" dirty="0"/>
              <a:t>int *p; //</a:t>
            </a:r>
            <a:r>
              <a:rPr lang="zh-CN" altLang="en-US" dirty="0"/>
              <a:t>未初始化的指针是个野指针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*p = 1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use-after-free</a:t>
            </a:r>
          </a:p>
          <a:p>
            <a:pPr marL="457200" lvl="1" indent="0">
              <a:buNone/>
            </a:pPr>
            <a:r>
              <a:rPr lang="en-US" altLang="zh-CN" dirty="0"/>
              <a:t>int *p = (int *)malloc(</a:t>
            </a:r>
            <a:r>
              <a:rPr lang="en-US" altLang="zh-CN" dirty="0" err="1"/>
              <a:t>sizeof</a:t>
            </a:r>
            <a:r>
              <a:rPr lang="en-US" altLang="zh-CN" dirty="0"/>
              <a:t>(int)); *p = 1; free(p);</a:t>
            </a:r>
          </a:p>
          <a:p>
            <a:pPr marL="457200" lvl="1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*p = 2</a:t>
            </a:r>
            <a:r>
              <a:rPr lang="en-US" altLang="zh-CN" dirty="0"/>
              <a:t>;  //use-after-free</a:t>
            </a:r>
          </a:p>
          <a:p>
            <a:pPr marL="457200" lvl="1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free(p)</a:t>
            </a:r>
            <a:r>
              <a:rPr lang="en-US" altLang="zh-CN" dirty="0"/>
              <a:t>; //double free</a:t>
            </a:r>
            <a:r>
              <a:rPr lang="zh-CN" altLang="en-US" dirty="0"/>
              <a:t>，也是一种</a:t>
            </a:r>
            <a:r>
              <a:rPr lang="en-US" altLang="zh-CN" dirty="0"/>
              <a:t>user-after-free</a:t>
            </a:r>
          </a:p>
        </p:txBody>
      </p:sp>
    </p:spTree>
    <p:extLst>
      <p:ext uri="{BB962C8B-B14F-4D97-AF65-F5344CB8AC3E}">
        <p14:creationId xmlns:p14="http://schemas.microsoft.com/office/powerpoint/2010/main" val="35281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5916D-2F8F-429A-8C0F-957F55C8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A91AB-DD9D-4C36-8614-9BB4CF07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非连续性存储</a:t>
            </a:r>
            <a:endParaRPr lang="en-US" altLang="zh-CN" dirty="0"/>
          </a:p>
          <a:p>
            <a:pPr lvl="1"/>
            <a:r>
              <a:rPr lang="zh-CN" altLang="en-US" dirty="0"/>
              <a:t>如何关联两个“相邻”单元？</a:t>
            </a:r>
            <a:endParaRPr lang="en-US" altLang="zh-CN" dirty="0"/>
          </a:p>
          <a:p>
            <a:pPr lvl="2"/>
            <a:r>
              <a:rPr lang="zh-CN" altLang="en-US" dirty="0"/>
              <a:t>使用指针指向（逻辑上的而非物理上的）下一个单元</a:t>
            </a:r>
            <a:endParaRPr lang="en-US" altLang="zh-CN" dirty="0"/>
          </a:p>
          <a:p>
            <a:pPr lvl="2"/>
            <a:r>
              <a:rPr lang="zh-CN" altLang="en-US" dirty="0"/>
              <a:t>存储数据和指针的单元成为“结点</a:t>
            </a:r>
            <a:r>
              <a:rPr lang="en-US" altLang="zh-CN" dirty="0"/>
              <a:t>(node)</a:t>
            </a:r>
            <a:r>
              <a:rPr lang="zh-CN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47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6C40A-4D45-49FC-BB91-F1BB2A96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166A8A-A93F-4061-BA7F-EEF602FCE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链表的结点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typedef int </a:t>
            </a:r>
            <a:r>
              <a:rPr lang="en-US" altLang="zh-CN" dirty="0" err="1"/>
              <a:t>elem_t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typedef </a:t>
            </a:r>
            <a:r>
              <a:rPr lang="en-US" altLang="zh-CN" b="1" i="1" dirty="0">
                <a:solidFill>
                  <a:srgbClr val="FF0000"/>
                </a:solidFill>
              </a:rPr>
              <a:t>struct node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elem_t</a:t>
            </a:r>
            <a:r>
              <a:rPr lang="en-US" altLang="zh-CN" dirty="0"/>
              <a:t> data;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struct node </a:t>
            </a:r>
            <a:r>
              <a:rPr lang="zh-CN" altLang="en-US" b="1" i="1" dirty="0">
                <a:solidFill>
                  <a:srgbClr val="FF0000"/>
                </a:solidFill>
              </a:rPr>
              <a:t>* </a:t>
            </a:r>
            <a:r>
              <a:rPr lang="en-US" altLang="zh-CN" dirty="0"/>
              <a:t>next; //</a:t>
            </a:r>
            <a:r>
              <a:rPr lang="zh-CN" altLang="en-US" dirty="0"/>
              <a:t>指向下一个结点的指针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} node, *</a:t>
            </a:r>
            <a:r>
              <a:rPr lang="en-US" altLang="zh-CN" dirty="0" err="1"/>
              <a:t>nodeptr</a:t>
            </a:r>
            <a:r>
              <a:rPr lang="en-US" altLang="zh-CN" dirty="0"/>
              <a:t>;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00EB114-1FF2-46A0-A370-29B260ABB6B3}"/>
              </a:ext>
            </a:extLst>
          </p:cNvPr>
          <p:cNvSpPr/>
          <p:nvPr/>
        </p:nvSpPr>
        <p:spPr>
          <a:xfrm>
            <a:off x="5140339" y="2096152"/>
            <a:ext cx="2420856" cy="756518"/>
          </a:xfrm>
          <a:prstGeom prst="wedgeRectCallout">
            <a:avLst>
              <a:gd name="adj1" fmla="val -60261"/>
              <a:gd name="adj2" fmla="val 8921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这个是递归定义吗？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1A789822-F8BC-E403-9C48-9C394ADAAAAB}"/>
              </a:ext>
            </a:extLst>
          </p:cNvPr>
          <p:cNvSpPr/>
          <p:nvPr/>
        </p:nvSpPr>
        <p:spPr>
          <a:xfrm>
            <a:off x="5140339" y="3858412"/>
            <a:ext cx="2420856" cy="756518"/>
          </a:xfrm>
          <a:prstGeom prst="wedgeRectCallout">
            <a:avLst>
              <a:gd name="adj1" fmla="val -61591"/>
              <a:gd name="adj2" fmla="val -41016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答案：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不是</a:t>
            </a:r>
          </a:p>
        </p:txBody>
      </p:sp>
    </p:spTree>
    <p:extLst>
      <p:ext uri="{BB962C8B-B14F-4D97-AF65-F5344CB8AC3E}">
        <p14:creationId xmlns:p14="http://schemas.microsoft.com/office/powerpoint/2010/main" val="35327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6C40A-4D45-49FC-BB91-F1BB2A96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166A8A-A93F-4061-BA7F-EEF602FCE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这个才是递归定义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typedef </a:t>
            </a:r>
            <a:r>
              <a:rPr lang="en-US" altLang="zh-CN" b="1" i="1" dirty="0">
                <a:solidFill>
                  <a:srgbClr val="FF0000"/>
                </a:solidFill>
              </a:rPr>
              <a:t>struct node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elem_t</a:t>
            </a:r>
            <a:r>
              <a:rPr lang="en-US" altLang="zh-CN" dirty="0"/>
              <a:t> data;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struct node </a:t>
            </a:r>
            <a:r>
              <a:rPr lang="en-US" altLang="zh-CN" dirty="0"/>
              <a:t>next;</a:t>
            </a:r>
          </a:p>
          <a:p>
            <a:pPr marL="0" indent="0">
              <a:buNone/>
            </a:pPr>
            <a:r>
              <a:rPr lang="en-US" altLang="zh-CN" dirty="0"/>
              <a:t>} node, *</a:t>
            </a:r>
            <a:r>
              <a:rPr lang="en-US" altLang="zh-CN" dirty="0" err="1"/>
              <a:t>nodeptr</a:t>
            </a:r>
            <a:r>
              <a:rPr lang="en-US" altLang="zh-CN" dirty="0"/>
              <a:t>;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00EB114-1FF2-46A0-A370-29B260ABB6B3}"/>
              </a:ext>
            </a:extLst>
          </p:cNvPr>
          <p:cNvSpPr/>
          <p:nvPr/>
        </p:nvSpPr>
        <p:spPr>
          <a:xfrm>
            <a:off x="5660265" y="1603420"/>
            <a:ext cx="5621628" cy="2552164"/>
          </a:xfrm>
          <a:prstGeom prst="wedgeRectCallout">
            <a:avLst>
              <a:gd name="adj1" fmla="val -64789"/>
              <a:gd name="adj2" fmla="val 149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编译器在编译一种类型的时候，需要确定这种类型（的变量）占据内存的大小。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algn="just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而这个类型的定义依赖于自身，从而形成了一个循环死套，因此编译器无法确定该类型的大小。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algn="just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实际上，这个类型是个“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未完成类型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”。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algn="just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但如果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  <a:ea typeface="Fira Code" panose="020B0809050000020004" pitchFamily="49" charset="0"/>
              </a:rPr>
              <a:t>next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是个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指针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，那么它的大小就是能够确定的，因此就不再是未完成类型了。</a:t>
            </a:r>
          </a:p>
        </p:txBody>
      </p:sp>
    </p:spTree>
    <p:extLst>
      <p:ext uri="{BB962C8B-B14F-4D97-AF65-F5344CB8AC3E}">
        <p14:creationId xmlns:p14="http://schemas.microsoft.com/office/powerpoint/2010/main" val="251324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EA6DF-C4BE-46B3-BC17-26C5F0B6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链表：图示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2DA457-A47D-4143-8806-E994222C6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链表的示意图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9CC73C8-E1E4-4369-B182-7211DC70E1EA}"/>
              </a:ext>
            </a:extLst>
          </p:cNvPr>
          <p:cNvGrpSpPr/>
          <p:nvPr/>
        </p:nvGrpSpPr>
        <p:grpSpPr>
          <a:xfrm>
            <a:off x="1111044" y="2513035"/>
            <a:ext cx="1238935" cy="915965"/>
            <a:chOff x="2736621" y="3353427"/>
            <a:chExt cx="1238935" cy="915965"/>
          </a:xfrm>
          <a:effectLst/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62E948F-B757-4921-9A9D-A6ABD8752CE2}"/>
                </a:ext>
              </a:extLst>
            </p:cNvPr>
            <p:cNvSpPr/>
            <p:nvPr/>
          </p:nvSpPr>
          <p:spPr>
            <a:xfrm>
              <a:off x="2769514" y="3690492"/>
              <a:ext cx="587018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1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8394C0D-0C4D-4BBB-AB9C-E57289EC2450}"/>
                </a:ext>
              </a:extLst>
            </p:cNvPr>
            <p:cNvSpPr/>
            <p:nvPr/>
          </p:nvSpPr>
          <p:spPr>
            <a:xfrm>
              <a:off x="33484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ECA48B5-A334-437A-8184-AADA33B55893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529B496-B840-4ACE-B0B9-8DD4D4312173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6E6857C-6A9D-47C1-B603-EF7C20DAB431}"/>
              </a:ext>
            </a:extLst>
          </p:cNvPr>
          <p:cNvGrpSpPr/>
          <p:nvPr/>
        </p:nvGrpSpPr>
        <p:grpSpPr>
          <a:xfrm>
            <a:off x="3026459" y="2514680"/>
            <a:ext cx="1238935" cy="915965"/>
            <a:chOff x="2736621" y="3353427"/>
            <a:chExt cx="1238935" cy="915965"/>
          </a:xfrm>
          <a:effectLst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862A165-1788-444D-A228-E9386E466EBE}"/>
                </a:ext>
              </a:extLst>
            </p:cNvPr>
            <p:cNvSpPr/>
            <p:nvPr/>
          </p:nvSpPr>
          <p:spPr>
            <a:xfrm>
              <a:off x="2769514" y="3690492"/>
              <a:ext cx="587018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2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F3EAB3-E279-4C6B-B17C-AA295325F684}"/>
                </a:ext>
              </a:extLst>
            </p:cNvPr>
            <p:cNvSpPr/>
            <p:nvPr/>
          </p:nvSpPr>
          <p:spPr>
            <a:xfrm>
              <a:off x="33484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9C0030E-03AE-422E-93BC-445D32D0DEC0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ADC0A76-BB0B-497C-8ACF-C7AD38C0C60A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46D18E4-8672-4982-9803-6104116CF26F}"/>
              </a:ext>
            </a:extLst>
          </p:cNvPr>
          <p:cNvGrpSpPr/>
          <p:nvPr/>
        </p:nvGrpSpPr>
        <p:grpSpPr>
          <a:xfrm>
            <a:off x="4941874" y="2513035"/>
            <a:ext cx="1238935" cy="915965"/>
            <a:chOff x="2736621" y="3353427"/>
            <a:chExt cx="1238935" cy="915965"/>
          </a:xfrm>
          <a:effectLst/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3AECB43-6082-4176-BC2C-63AE3F60C8CC}"/>
                </a:ext>
              </a:extLst>
            </p:cNvPr>
            <p:cNvSpPr/>
            <p:nvPr/>
          </p:nvSpPr>
          <p:spPr>
            <a:xfrm>
              <a:off x="2769513" y="3690492"/>
              <a:ext cx="594249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3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14E64A6-73B6-4549-AC66-13F6F5725032}"/>
                </a:ext>
              </a:extLst>
            </p:cNvPr>
            <p:cNvSpPr/>
            <p:nvPr/>
          </p:nvSpPr>
          <p:spPr>
            <a:xfrm>
              <a:off x="3363762" y="3690492"/>
              <a:ext cx="578902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4E45859-74F6-43FE-9F04-F64E3E0C3001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F5A3AA9-C903-49CC-8926-E1A9D126B046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FD2B27-947F-41A7-B89D-686CE19FCCB3}"/>
              </a:ext>
            </a:extLst>
          </p:cNvPr>
          <p:cNvGrpSpPr/>
          <p:nvPr/>
        </p:nvGrpSpPr>
        <p:grpSpPr>
          <a:xfrm>
            <a:off x="6923074" y="2513035"/>
            <a:ext cx="1238935" cy="915965"/>
            <a:chOff x="2736621" y="3353427"/>
            <a:chExt cx="1238935" cy="915965"/>
          </a:xfrm>
          <a:effectLst/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314375A-757D-4FFB-A08D-0EF4C5A2FBB1}"/>
                </a:ext>
              </a:extLst>
            </p:cNvPr>
            <p:cNvSpPr/>
            <p:nvPr/>
          </p:nvSpPr>
          <p:spPr>
            <a:xfrm>
              <a:off x="2769514" y="3690492"/>
              <a:ext cx="578899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4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6F696C6-C246-4607-9D6C-C304BCC9A28D}"/>
                </a:ext>
              </a:extLst>
            </p:cNvPr>
            <p:cNvSpPr/>
            <p:nvPr/>
          </p:nvSpPr>
          <p:spPr>
            <a:xfrm>
              <a:off x="3348413" y="3690492"/>
              <a:ext cx="594251" cy="5789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^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F5EFBF7-4375-4677-AE56-C5098E2720AE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E324415-519F-48EE-9712-C480E88D03CA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4873B7-A6A2-4907-85DC-72C599268B09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317087" y="3139550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3A75C59-D630-430B-8F6F-AADC113AC619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4232502" y="3139550"/>
            <a:ext cx="742264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828DB44-26CE-4190-ABD7-192E401701D0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6147917" y="3139550"/>
            <a:ext cx="808050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对话气泡: 矩形 31">
            <a:extLst>
              <a:ext uri="{FF2B5EF4-FFF2-40B4-BE49-F238E27FC236}">
                <a16:creationId xmlns:a16="http://schemas.microsoft.com/office/drawing/2014/main" id="{EBC34972-CE72-409C-B5B7-C65B9C96F49D}"/>
              </a:ext>
            </a:extLst>
          </p:cNvPr>
          <p:cNvSpPr/>
          <p:nvPr/>
        </p:nvSpPr>
        <p:spPr>
          <a:xfrm>
            <a:off x="1522195" y="3917761"/>
            <a:ext cx="2420856" cy="756518"/>
          </a:xfrm>
          <a:prstGeom prst="wedgeRectCallout">
            <a:avLst>
              <a:gd name="adj1" fmla="val -31575"/>
              <a:gd name="adj2" fmla="val -9906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Fira Code" panose="020B0809050000020004" pitchFamily="49" charset="0"/>
              </a:rPr>
              <a:t>每个结点的指针域保存下一个结点的地址</a:t>
            </a:r>
          </a:p>
        </p:txBody>
      </p:sp>
      <p:sp>
        <p:nvSpPr>
          <p:cNvPr id="33" name="对话气泡: 矩形 32">
            <a:extLst>
              <a:ext uri="{FF2B5EF4-FFF2-40B4-BE49-F238E27FC236}">
                <a16:creationId xmlns:a16="http://schemas.microsoft.com/office/drawing/2014/main" id="{E6AE7433-1E55-4153-8187-4C1D9EDC2E16}"/>
              </a:ext>
            </a:extLst>
          </p:cNvPr>
          <p:cNvSpPr/>
          <p:nvPr/>
        </p:nvSpPr>
        <p:spPr>
          <a:xfrm>
            <a:off x="5340967" y="3917761"/>
            <a:ext cx="3114877" cy="756518"/>
          </a:xfrm>
          <a:prstGeom prst="wedgeRectCallout">
            <a:avLst>
              <a:gd name="adj1" fmla="val 24403"/>
              <a:gd name="adj2" fmla="val -105149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Fira Code" panose="020B0809050000020004" pitchFamily="49" charset="0"/>
              </a:rPr>
              <a:t>最后一个结点的指针域是</a:t>
            </a:r>
            <a:r>
              <a:rPr lang="en-US" altLang="zh-CN" b="1" dirty="0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NULL</a:t>
            </a:r>
            <a:r>
              <a:rPr lang="zh-CN" altLang="en-US" dirty="0">
                <a:latin typeface="Fira Code" panose="020B0809050000020004" pitchFamily="49" charset="0"/>
              </a:rPr>
              <a:t>。这是链表的“哨兵”</a:t>
            </a:r>
          </a:p>
        </p:txBody>
      </p:sp>
      <p:graphicFrame>
        <p:nvGraphicFramePr>
          <p:cNvPr id="24" name="表格 26">
            <a:extLst>
              <a:ext uri="{FF2B5EF4-FFF2-40B4-BE49-F238E27FC236}">
                <a16:creationId xmlns:a16="http://schemas.microsoft.com/office/drawing/2014/main" id="{0658AF06-C1B1-A573-86F1-8179F7181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266644"/>
              </p:ext>
            </p:extLst>
          </p:nvPr>
        </p:nvGraphicFramePr>
        <p:xfrm>
          <a:off x="9850026" y="1248744"/>
          <a:ext cx="597978" cy="47957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7978">
                  <a:extLst>
                    <a:ext uri="{9D8B030D-6E8A-4147-A177-3AD203B41FA5}">
                      <a16:colId xmlns:a16="http://schemas.microsoft.com/office/drawing/2014/main" val="2741107742"/>
                    </a:ext>
                  </a:extLst>
                </a:gridCol>
              </a:tblGrid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092319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72422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1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40158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1100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906067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957921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09477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25095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2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612336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2000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961603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26118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39118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534282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78257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4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05862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^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11840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196446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57917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3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322238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1600</a:t>
                      </a:r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255045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660521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D48F1A84-E6FF-0E6A-1CDD-158E99223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834874"/>
              </p:ext>
            </p:extLst>
          </p:nvPr>
        </p:nvGraphicFramePr>
        <p:xfrm>
          <a:off x="9222884" y="1244956"/>
          <a:ext cx="619910" cy="4795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9910">
                  <a:extLst>
                    <a:ext uri="{9D8B030D-6E8A-4147-A177-3AD203B41FA5}">
                      <a16:colId xmlns:a16="http://schemas.microsoft.com/office/drawing/2014/main" val="2741107742"/>
                    </a:ext>
                  </a:extLst>
                </a:gridCol>
              </a:tblGrid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092319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72422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Fira Code" pitchFamily="1" charset="0"/>
                          <a:cs typeface="Fira Code" pitchFamily="1" charset="0"/>
                        </a:rPr>
                        <a:t>1000</a:t>
                      </a:r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540158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06067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957921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09477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25095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Fira Code" pitchFamily="1" charset="0"/>
                          <a:cs typeface="Fira Code" pitchFamily="1" charset="0"/>
                        </a:rPr>
                        <a:t>1100</a:t>
                      </a:r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612336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961603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26118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39118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534282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78257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Fira Code" pitchFamily="1" charset="0"/>
                          <a:cs typeface="Fira Code" pitchFamily="1" charset="0"/>
                        </a:rPr>
                        <a:t>1600</a:t>
                      </a:r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005862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18404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196446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57917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Fira Code" pitchFamily="1" charset="0"/>
                          <a:cs typeface="Fira Code" pitchFamily="1" charset="0"/>
                        </a:rPr>
                        <a:t>2000</a:t>
                      </a:r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322238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55045"/>
                  </a:ext>
                </a:extLst>
              </a:tr>
              <a:tr h="239787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Fira Code" pitchFamily="1" charset="0"/>
                        <a:cs typeface="Fira Code" pitchFamily="1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660521"/>
                  </a:ext>
                </a:extLst>
              </a:tr>
            </a:tbl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43AEB629-920F-A970-80E3-518B37C57EDB}"/>
              </a:ext>
            </a:extLst>
          </p:cNvPr>
          <p:cNvSpPr txBox="1"/>
          <p:nvPr/>
        </p:nvSpPr>
        <p:spPr>
          <a:xfrm>
            <a:off x="9198109" y="961752"/>
            <a:ext cx="644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latin typeface="+mn-ea"/>
              </a:rPr>
              <a:t>地址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24AD46D-B91A-6741-29FF-4BD92A949146}"/>
              </a:ext>
            </a:extLst>
          </p:cNvPr>
          <p:cNvSpPr txBox="1"/>
          <p:nvPr/>
        </p:nvSpPr>
        <p:spPr>
          <a:xfrm>
            <a:off x="9803319" y="961752"/>
            <a:ext cx="6446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latin typeface="+mn-ea"/>
              </a:rPr>
              <a:t>内存</a:t>
            </a:r>
          </a:p>
        </p:txBody>
      </p:sp>
      <p:sp>
        <p:nvSpPr>
          <p:cNvPr id="52" name="箭头: 右弧形 51">
            <a:extLst>
              <a:ext uri="{FF2B5EF4-FFF2-40B4-BE49-F238E27FC236}">
                <a16:creationId xmlns:a16="http://schemas.microsoft.com/office/drawing/2014/main" id="{AA21653B-C778-A405-F9B4-5355BE0B91E7}"/>
              </a:ext>
            </a:extLst>
          </p:cNvPr>
          <p:cNvSpPr/>
          <p:nvPr/>
        </p:nvSpPr>
        <p:spPr>
          <a:xfrm>
            <a:off x="10448005" y="2028423"/>
            <a:ext cx="250182" cy="972355"/>
          </a:xfrm>
          <a:prstGeom prst="curvedLeftArrow">
            <a:avLst>
              <a:gd name="adj1" fmla="val 0"/>
              <a:gd name="adj2" fmla="val 23496"/>
              <a:gd name="adj3" fmla="val 25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箭头: 右弧形 52">
            <a:extLst>
              <a:ext uri="{FF2B5EF4-FFF2-40B4-BE49-F238E27FC236}">
                <a16:creationId xmlns:a16="http://schemas.microsoft.com/office/drawing/2014/main" id="{67E903A2-03E9-9AC1-9020-5EE25D4EA75A}"/>
              </a:ext>
            </a:extLst>
          </p:cNvPr>
          <p:cNvSpPr/>
          <p:nvPr/>
        </p:nvSpPr>
        <p:spPr>
          <a:xfrm>
            <a:off x="10446650" y="3294279"/>
            <a:ext cx="313118" cy="2089090"/>
          </a:xfrm>
          <a:prstGeom prst="curvedLeftArrow">
            <a:avLst>
              <a:gd name="adj1" fmla="val 0"/>
              <a:gd name="adj2" fmla="val 23496"/>
              <a:gd name="adj3" fmla="val 25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箭头: 右弧形 53">
            <a:extLst>
              <a:ext uri="{FF2B5EF4-FFF2-40B4-BE49-F238E27FC236}">
                <a16:creationId xmlns:a16="http://schemas.microsoft.com/office/drawing/2014/main" id="{E03F7305-99A1-6111-9CB4-E6E27049664C}"/>
              </a:ext>
            </a:extLst>
          </p:cNvPr>
          <p:cNvSpPr/>
          <p:nvPr/>
        </p:nvSpPr>
        <p:spPr>
          <a:xfrm flipV="1">
            <a:off x="10431053" y="4384926"/>
            <a:ext cx="328716" cy="1285250"/>
          </a:xfrm>
          <a:prstGeom prst="curvedLeftArrow">
            <a:avLst>
              <a:gd name="adj1" fmla="val 0"/>
              <a:gd name="adj2" fmla="val 23496"/>
              <a:gd name="adj3" fmla="val 25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68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1" grpId="0"/>
      <p:bldP spid="34" grpId="0"/>
      <p:bldP spid="52" grpId="0" animBg="1"/>
      <p:bldP spid="53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1736D-F515-4B6E-8FE4-F58F69C0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链表：创建新结点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C8FBEE-5B1C-4E31-A138-8FB29FAC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创建结点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 err="1">
                <a:solidFill>
                  <a:srgbClr val="FF0000"/>
                </a:solidFill>
              </a:rPr>
              <a:t>nodeptr</a:t>
            </a:r>
            <a:r>
              <a:rPr lang="en-US" altLang="zh-CN" dirty="0"/>
              <a:t> p;</a:t>
            </a:r>
          </a:p>
          <a:p>
            <a:pPr marL="0" indent="0">
              <a:buNone/>
            </a:pPr>
            <a:r>
              <a:rPr lang="en-US" altLang="zh-CN" dirty="0"/>
              <a:t>p = (</a:t>
            </a:r>
            <a:r>
              <a:rPr lang="en-US" altLang="zh-CN" b="1" i="1" dirty="0" err="1">
                <a:solidFill>
                  <a:srgbClr val="FF0000"/>
                </a:solidFill>
              </a:rPr>
              <a:t>nodeptr</a:t>
            </a:r>
            <a:r>
              <a:rPr lang="en-US" altLang="zh-CN" dirty="0"/>
              <a:t>)malloc(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node</a:t>
            </a:r>
            <a:r>
              <a:rPr lang="en-US" altLang="zh-CN" dirty="0"/>
              <a:t>));</a:t>
            </a:r>
          </a:p>
          <a:p>
            <a:pPr marL="0" indent="0">
              <a:buNone/>
            </a:pPr>
            <a:r>
              <a:rPr lang="en-US" altLang="zh-CN" dirty="0"/>
              <a:t>p-&gt;data = 5;</a:t>
            </a:r>
          </a:p>
          <a:p>
            <a:pPr marL="0" indent="0">
              <a:buNone/>
            </a:pPr>
            <a:r>
              <a:rPr lang="en-US" altLang="zh-CN" dirty="0"/>
              <a:t>p-&gt;next = NULL;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49A1F1-8D7A-4706-9B89-64419AF83F52}"/>
              </a:ext>
            </a:extLst>
          </p:cNvPr>
          <p:cNvGrpSpPr/>
          <p:nvPr/>
        </p:nvGrpSpPr>
        <p:grpSpPr>
          <a:xfrm>
            <a:off x="8400639" y="2513035"/>
            <a:ext cx="1238935" cy="915965"/>
            <a:chOff x="2736621" y="3353427"/>
            <a:chExt cx="1238935" cy="91596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505F8D4-B40F-40F8-A2BC-552BEEF2F431}"/>
                </a:ext>
              </a:extLst>
            </p:cNvPr>
            <p:cNvSpPr/>
            <p:nvPr/>
          </p:nvSpPr>
          <p:spPr>
            <a:xfrm>
              <a:off x="2769513" y="3690492"/>
              <a:ext cx="604117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?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61FD5D-8188-4E08-854F-70E29A0B89B6}"/>
                </a:ext>
              </a:extLst>
            </p:cNvPr>
            <p:cNvSpPr/>
            <p:nvPr/>
          </p:nvSpPr>
          <p:spPr>
            <a:xfrm>
              <a:off x="3373630" y="3690492"/>
              <a:ext cx="569034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?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D7B92E1-FAB7-4231-857E-8C3E249E5506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0D3121C-30C5-4A09-A29F-C746EDFB1A7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CE7C076-EE3E-4AF0-A7C9-0E7BC1DDD577}"/>
              </a:ext>
            </a:extLst>
          </p:cNvPr>
          <p:cNvGrpSpPr/>
          <p:nvPr/>
        </p:nvGrpSpPr>
        <p:grpSpPr>
          <a:xfrm>
            <a:off x="8392964" y="2513035"/>
            <a:ext cx="1238935" cy="922404"/>
            <a:chOff x="2736621" y="3353427"/>
            <a:chExt cx="1238935" cy="922404"/>
          </a:xfrm>
          <a:effectLst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868F02-64D0-47BA-B97C-B91E611D10DF}"/>
                </a:ext>
              </a:extLst>
            </p:cNvPr>
            <p:cNvSpPr/>
            <p:nvPr/>
          </p:nvSpPr>
          <p:spPr>
            <a:xfrm>
              <a:off x="2776527" y="3696931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5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8A0C9F7-89BA-4FFD-B082-081727212246}"/>
                </a:ext>
              </a:extLst>
            </p:cNvPr>
            <p:cNvSpPr/>
            <p:nvPr/>
          </p:nvSpPr>
          <p:spPr>
            <a:xfrm>
              <a:off x="3378451" y="3696931"/>
              <a:ext cx="571225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^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E31A660-899F-454E-BB11-70329B0EA8B8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8AAC7EB-4CE0-4137-AF2A-BB9BA5236C64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4FF2293F-D35D-4C4E-AE85-C3AF34FCCAC2}"/>
              </a:ext>
            </a:extLst>
          </p:cNvPr>
          <p:cNvSpPr/>
          <p:nvPr/>
        </p:nvSpPr>
        <p:spPr>
          <a:xfrm>
            <a:off x="8659938" y="4308709"/>
            <a:ext cx="770771" cy="388281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Fira Code" panose="020B0809050000020004" pitchFamily="49" charset="0"/>
              </a:rPr>
              <a:t>?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9A0FDD-D085-48D1-A41A-623E391AD9CF}"/>
              </a:ext>
            </a:extLst>
          </p:cNvPr>
          <p:cNvSpPr txBox="1"/>
          <p:nvPr/>
        </p:nvSpPr>
        <p:spPr>
          <a:xfrm>
            <a:off x="8705439" y="4763008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467A45-020A-4B57-8341-ACD6A774FF14}"/>
              </a:ext>
            </a:extLst>
          </p:cNvPr>
          <p:cNvSpPr/>
          <p:nvPr/>
        </p:nvSpPr>
        <p:spPr>
          <a:xfrm>
            <a:off x="8659938" y="4308709"/>
            <a:ext cx="770771" cy="388281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6ECED13-55C2-45FB-8C49-04162D2802D8}"/>
              </a:ext>
            </a:extLst>
          </p:cNvPr>
          <p:cNvCxnSpPr>
            <a:cxnSpLocks/>
            <a:stCxn id="14" idx="0"/>
            <a:endCxn id="5" idx="2"/>
          </p:cNvCxnSpPr>
          <p:nvPr/>
        </p:nvCxnSpPr>
        <p:spPr>
          <a:xfrm flipH="1" flipV="1">
            <a:off x="8735590" y="3429000"/>
            <a:ext cx="309734" cy="879709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67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1736D-F515-4B6E-8FE4-F58F69C0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链表：两个结点链在一起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C8FBEE-5B1C-4E31-A138-8FB29FAC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相邻结点链在一起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node s = {4, NULL}, *t = &amp;s;</a:t>
            </a:r>
          </a:p>
          <a:p>
            <a:pPr marL="0" indent="0">
              <a:buNone/>
            </a:pPr>
            <a:r>
              <a:rPr lang="en-US" altLang="zh-CN" dirty="0"/>
              <a:t>t-&gt;next = p; </a:t>
            </a:r>
            <a:r>
              <a:rPr lang="en-US" altLang="zh-CN" sz="1800" dirty="0"/>
              <a:t>//</a:t>
            </a:r>
            <a:r>
              <a:rPr lang="zh-CN" altLang="en-US" sz="1800" dirty="0"/>
              <a:t>等价于</a:t>
            </a:r>
            <a:r>
              <a:rPr lang="en-US" altLang="zh-CN" sz="1800" dirty="0" err="1"/>
              <a:t>s.next</a:t>
            </a:r>
            <a:r>
              <a:rPr lang="en-US" altLang="zh-CN" sz="1800" dirty="0"/>
              <a:t> = p;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49A1F1-8D7A-4706-9B89-64419AF83F52}"/>
              </a:ext>
            </a:extLst>
          </p:cNvPr>
          <p:cNvGrpSpPr/>
          <p:nvPr/>
        </p:nvGrpSpPr>
        <p:grpSpPr>
          <a:xfrm>
            <a:off x="7139939" y="2971017"/>
            <a:ext cx="1238935" cy="915965"/>
            <a:chOff x="2736621" y="3353427"/>
            <a:chExt cx="1238935" cy="91596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505F8D4-B40F-40F8-A2BC-552BEEF2F431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5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61FD5D-8188-4E08-854F-70E29A0B89B6}"/>
                </a:ext>
              </a:extLst>
            </p:cNvPr>
            <p:cNvSpPr/>
            <p:nvPr/>
          </p:nvSpPr>
          <p:spPr>
            <a:xfrm>
              <a:off x="3359925" y="3690492"/>
              <a:ext cx="582739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^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D7B92E1-FAB7-4231-857E-8C3E249E5506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0D3121C-30C5-4A09-A29F-C746EDFB1A7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CE7C076-EE3E-4AF0-A7C9-0E7BC1DDD577}"/>
              </a:ext>
            </a:extLst>
          </p:cNvPr>
          <p:cNvGrpSpPr/>
          <p:nvPr/>
        </p:nvGrpSpPr>
        <p:grpSpPr>
          <a:xfrm>
            <a:off x="4294107" y="2971017"/>
            <a:ext cx="1238935" cy="915965"/>
            <a:chOff x="2736621" y="3353427"/>
            <a:chExt cx="1238935" cy="915965"/>
          </a:xfrm>
          <a:effectLst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868F02-64D0-47BA-B97C-B91E611D10DF}"/>
                </a:ext>
              </a:extLst>
            </p:cNvPr>
            <p:cNvSpPr/>
            <p:nvPr/>
          </p:nvSpPr>
          <p:spPr>
            <a:xfrm>
              <a:off x="2769513" y="3690492"/>
              <a:ext cx="601925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4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8A0C9F7-89BA-4FFD-B082-081727212246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^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E31A660-899F-454E-BB11-70329B0EA8B8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8AAC7EB-4CE0-4137-AF2A-BB9BA5236C64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C9A0FDD-D085-48D1-A41A-623E391AD9CF}"/>
              </a:ext>
            </a:extLst>
          </p:cNvPr>
          <p:cNvSpPr txBox="1"/>
          <p:nvPr/>
        </p:nvSpPr>
        <p:spPr>
          <a:xfrm>
            <a:off x="7139939" y="4794937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467A45-020A-4B57-8341-ACD6A774FF14}"/>
              </a:ext>
            </a:extLst>
          </p:cNvPr>
          <p:cNvSpPr/>
          <p:nvPr/>
        </p:nvSpPr>
        <p:spPr>
          <a:xfrm>
            <a:off x="7076895" y="4406656"/>
            <a:ext cx="770771" cy="388281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6ECED13-55C2-45FB-8C49-04162D2802D8}"/>
              </a:ext>
            </a:extLst>
          </p:cNvPr>
          <p:cNvCxnSpPr>
            <a:cxnSpLocks/>
            <a:stCxn id="16" idx="0"/>
            <a:endCxn id="5" idx="2"/>
          </p:cNvCxnSpPr>
          <p:nvPr/>
        </p:nvCxnSpPr>
        <p:spPr>
          <a:xfrm flipV="1">
            <a:off x="7462281" y="3886982"/>
            <a:ext cx="1" cy="519674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3DA7A1F-85B8-417A-86A8-1D638443B235}"/>
              </a:ext>
            </a:extLst>
          </p:cNvPr>
          <p:cNvSpPr txBox="1"/>
          <p:nvPr/>
        </p:nvSpPr>
        <p:spPr>
          <a:xfrm>
            <a:off x="4294108" y="4777078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t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2013F3-53F1-456D-B72D-93E993D8F1B0}"/>
              </a:ext>
            </a:extLst>
          </p:cNvPr>
          <p:cNvSpPr/>
          <p:nvPr/>
        </p:nvSpPr>
        <p:spPr>
          <a:xfrm>
            <a:off x="4231064" y="4388797"/>
            <a:ext cx="770771" cy="388281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84FB614-BD26-46DE-ABCA-E3AAA25D0D2D}"/>
              </a:ext>
            </a:extLst>
          </p:cNvPr>
          <p:cNvCxnSpPr>
            <a:cxnSpLocks/>
            <a:stCxn id="25" idx="0"/>
            <a:endCxn id="10" idx="2"/>
          </p:cNvCxnSpPr>
          <p:nvPr/>
        </p:nvCxnSpPr>
        <p:spPr>
          <a:xfrm flipV="1">
            <a:off x="4616450" y="3886982"/>
            <a:ext cx="11512" cy="50181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1463B05-289B-4A76-AAD0-D92B0C7CCA2D}"/>
              </a:ext>
            </a:extLst>
          </p:cNvPr>
          <p:cNvSpPr/>
          <p:nvPr/>
        </p:nvSpPr>
        <p:spPr>
          <a:xfrm>
            <a:off x="4928924" y="3308082"/>
            <a:ext cx="578901" cy="578900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15BE782-4B4B-44D8-9354-B7EF6B6DA205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5507825" y="3597532"/>
            <a:ext cx="166500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55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F965C-580E-477D-A4F3-DACD3684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链表：链表的两种表示法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886ED-31D4-401C-905B-4CFF94B4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342"/>
            <a:ext cx="10515600" cy="4963387"/>
          </a:xfrm>
        </p:spPr>
        <p:txBody>
          <a:bodyPr/>
          <a:lstStyle/>
          <a:p>
            <a:r>
              <a:rPr lang="zh-CN" altLang="en-US" dirty="0"/>
              <a:t>链表的“头”</a:t>
            </a:r>
            <a:endParaRPr lang="en-US" altLang="zh-CN" dirty="0"/>
          </a:p>
          <a:p>
            <a:pPr lvl="1"/>
            <a:r>
              <a:rPr lang="zh-CN" altLang="en-US" dirty="0"/>
              <a:t>头指针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头结点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2418E2-5365-485F-859A-14B0FB6F25C3}"/>
              </a:ext>
            </a:extLst>
          </p:cNvPr>
          <p:cNvGrpSpPr/>
          <p:nvPr/>
        </p:nvGrpSpPr>
        <p:grpSpPr>
          <a:xfrm>
            <a:off x="3758479" y="2066515"/>
            <a:ext cx="1238935" cy="915965"/>
            <a:chOff x="2736621" y="3353427"/>
            <a:chExt cx="1238935" cy="91596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1F2ACE2-0FAF-44AD-A903-5E0D0605D324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1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0FC78C2-C54F-4E4A-880A-631947B9C0CC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A4F052C-50F9-447E-944F-8CB93ED1DCB4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C69E71D-BCCC-4C8C-AB11-7961275D7A89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A32C5E8-06D7-4229-B89F-F58D7F3E7EEE}"/>
              </a:ext>
            </a:extLst>
          </p:cNvPr>
          <p:cNvGrpSpPr/>
          <p:nvPr/>
        </p:nvGrpSpPr>
        <p:grpSpPr>
          <a:xfrm>
            <a:off x="5673894" y="2068160"/>
            <a:ext cx="1238935" cy="915965"/>
            <a:chOff x="2736621" y="3353427"/>
            <a:chExt cx="1238935" cy="915965"/>
          </a:xfrm>
          <a:effectLst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04CBB7D-FD5C-4000-8738-73FF0C2DC99F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2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F443C16-C62E-46D7-90B6-EC29BE6AA6E0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091BFF2-E1E1-4BD1-B083-031423C6C6D8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56828AD-F59A-42F7-8D71-1E45559CBD9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6108CC6-0176-4894-B542-90495420868D}"/>
              </a:ext>
            </a:extLst>
          </p:cNvPr>
          <p:cNvGrpSpPr/>
          <p:nvPr/>
        </p:nvGrpSpPr>
        <p:grpSpPr>
          <a:xfrm>
            <a:off x="7589309" y="2066515"/>
            <a:ext cx="1238935" cy="915965"/>
            <a:chOff x="2736621" y="3353427"/>
            <a:chExt cx="1238935" cy="915965"/>
          </a:xfrm>
          <a:effectLst/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8B1DFA6-19E7-4097-AC18-92955062D897}"/>
                </a:ext>
              </a:extLst>
            </p:cNvPr>
            <p:cNvSpPr/>
            <p:nvPr/>
          </p:nvSpPr>
          <p:spPr>
            <a:xfrm>
              <a:off x="2769514" y="3690492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3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C992BB4-08DB-4526-9F4F-BF396E41F065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E6980E5-47BA-455C-B38D-8405F523BBAC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15C0BAE-60C6-49AA-9F45-F5314E183E8C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5B72A1E-7D18-4CDD-ACB8-A190F6BADAD1}"/>
              </a:ext>
            </a:extLst>
          </p:cNvPr>
          <p:cNvGrpSpPr/>
          <p:nvPr/>
        </p:nvGrpSpPr>
        <p:grpSpPr>
          <a:xfrm>
            <a:off x="9570509" y="2066515"/>
            <a:ext cx="1238935" cy="915965"/>
            <a:chOff x="2736621" y="3353427"/>
            <a:chExt cx="1238935" cy="915965"/>
          </a:xfrm>
          <a:effectLst/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D37C8E2-29AC-4892-9247-ADCB526708F7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4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E966EF6-CF7B-4FD1-A097-8FAB72408D85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^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B543781-66E5-4D9F-9D74-720A25E93D57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834CDED-980C-489B-9FD2-217F4EB88473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F346F47-474D-45C2-AFCF-E1DD9DED784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4964522" y="2693030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4C0F4D1-1D7F-428F-BDD6-F22921563669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6879937" y="2693030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7B5D722-305C-49D0-80CF-A67A5D1DD623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8795352" y="2693030"/>
            <a:ext cx="808050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A7B0189-31CE-4F3A-9958-0AD02929CF35}"/>
              </a:ext>
            </a:extLst>
          </p:cNvPr>
          <p:cNvGrpSpPr/>
          <p:nvPr/>
        </p:nvGrpSpPr>
        <p:grpSpPr>
          <a:xfrm>
            <a:off x="3758479" y="4382220"/>
            <a:ext cx="1238935" cy="915965"/>
            <a:chOff x="2736621" y="3353427"/>
            <a:chExt cx="1238935" cy="915965"/>
          </a:xfrm>
          <a:effectLst/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909B013-9C2C-4399-8DB6-F361B353733B}"/>
                </a:ext>
              </a:extLst>
            </p:cNvPr>
            <p:cNvSpPr/>
            <p:nvPr/>
          </p:nvSpPr>
          <p:spPr>
            <a:xfrm>
              <a:off x="2769514" y="3690492"/>
              <a:ext cx="578899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1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A1FCA21-6F69-4590-9700-B7570412B2E0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620F454-8C4E-4401-9EE8-99B75380F0C0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3B32621-F60F-4FE8-B06B-0566AECB744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18F36E4-317A-48F8-ACD5-EB6F53B441BF}"/>
              </a:ext>
            </a:extLst>
          </p:cNvPr>
          <p:cNvGrpSpPr/>
          <p:nvPr/>
        </p:nvGrpSpPr>
        <p:grpSpPr>
          <a:xfrm>
            <a:off x="5673894" y="4383865"/>
            <a:ext cx="1238935" cy="915965"/>
            <a:chOff x="2736621" y="3353427"/>
            <a:chExt cx="1238935" cy="915965"/>
          </a:xfrm>
          <a:effectLst/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7C04EE5-C207-44B6-8433-9B645DB70E95}"/>
                </a:ext>
              </a:extLst>
            </p:cNvPr>
            <p:cNvSpPr/>
            <p:nvPr/>
          </p:nvSpPr>
          <p:spPr>
            <a:xfrm>
              <a:off x="2769514" y="3690492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2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28AE8C7-1047-4C2E-ACC8-05CC9E688866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D8F4C4A-063C-4C2D-82D1-05B1197DD3CE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599FFE1-E77A-4A9C-AA80-C433978D4BC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D3FC794-35B4-408A-8E51-DFD6389D764A}"/>
              </a:ext>
            </a:extLst>
          </p:cNvPr>
          <p:cNvGrpSpPr/>
          <p:nvPr/>
        </p:nvGrpSpPr>
        <p:grpSpPr>
          <a:xfrm>
            <a:off x="7589309" y="4382220"/>
            <a:ext cx="1238935" cy="915965"/>
            <a:chOff x="2736621" y="3353427"/>
            <a:chExt cx="1238935" cy="915965"/>
          </a:xfrm>
          <a:effectLst/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181A9D5-2E63-4568-86C0-8629ADF980C7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3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CAE2DFD-6E1F-4C80-9ACE-8F8D8BF51380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930DDBE-1D0F-4708-8408-99F76D754258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D95FB2E-F6FE-434F-99F2-3AF39467D578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BF19731-9919-4B64-B73C-FBBD2A8C8D9F}"/>
              </a:ext>
            </a:extLst>
          </p:cNvPr>
          <p:cNvGrpSpPr/>
          <p:nvPr/>
        </p:nvGrpSpPr>
        <p:grpSpPr>
          <a:xfrm>
            <a:off x="9570509" y="4382220"/>
            <a:ext cx="1238935" cy="915965"/>
            <a:chOff x="2736621" y="3353427"/>
            <a:chExt cx="1238935" cy="915965"/>
          </a:xfrm>
          <a:effectLst/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097E82D-59F6-4128-A835-182116191C4F}"/>
                </a:ext>
              </a:extLst>
            </p:cNvPr>
            <p:cNvSpPr/>
            <p:nvPr/>
          </p:nvSpPr>
          <p:spPr>
            <a:xfrm>
              <a:off x="2769514" y="3690492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  <a:ea typeface="Fira Code" panose="020B0809050000020004" pitchFamily="49" charset="0"/>
                </a:rPr>
                <a:t>4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8345216-F5BA-4893-93AF-20BCF646F89D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ira Code" panose="020B0809050000020004" pitchFamily="49" charset="0"/>
                </a:rPr>
                <a:t>^</a:t>
              </a:r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79BADE5-80A9-4D58-9167-D485E35A1440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11EB35C-A410-4F32-A8BA-A79DF677C49D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8EA3C8C-E4B0-456A-8F50-35826BD07715}"/>
              </a:ext>
            </a:extLst>
          </p:cNvPr>
          <p:cNvCxnSpPr>
            <a:cxnSpLocks/>
            <a:stCxn id="29" idx="3"/>
            <a:endCxn id="33" idx="1"/>
          </p:cNvCxnSpPr>
          <p:nvPr/>
        </p:nvCxnSpPr>
        <p:spPr>
          <a:xfrm>
            <a:off x="4964522" y="5008735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01D929E-2E99-411D-B3FC-A69E7C7B569C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6879937" y="5008735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1D144E1-2C6E-45D0-87DA-7659A972061B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8795352" y="5008735"/>
            <a:ext cx="808050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1CD8CFB6-9AEA-48E5-ACE2-E94D131BBE28}"/>
              </a:ext>
            </a:extLst>
          </p:cNvPr>
          <p:cNvSpPr/>
          <p:nvPr/>
        </p:nvSpPr>
        <p:spPr>
          <a:xfrm>
            <a:off x="2356179" y="2403579"/>
            <a:ext cx="616413" cy="578899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A2BA3BD-2C14-48BD-B417-83EC54C898C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972592" y="2693029"/>
            <a:ext cx="808654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99063B2B-A162-473B-8215-B11671C64319}"/>
              </a:ext>
            </a:extLst>
          </p:cNvPr>
          <p:cNvSpPr txBox="1"/>
          <p:nvPr/>
        </p:nvSpPr>
        <p:spPr>
          <a:xfrm>
            <a:off x="2322429" y="2964151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head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39CCA15-FB74-403D-9B92-3959775744E0}"/>
              </a:ext>
            </a:extLst>
          </p:cNvPr>
          <p:cNvGrpSpPr/>
          <p:nvPr/>
        </p:nvGrpSpPr>
        <p:grpSpPr>
          <a:xfrm>
            <a:off x="1711494" y="4382220"/>
            <a:ext cx="1238935" cy="915965"/>
            <a:chOff x="2736621" y="3353427"/>
            <a:chExt cx="1238935" cy="915965"/>
          </a:xfrm>
          <a:effectLst/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17B190AF-9933-41C6-B666-A1B13C728F55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Fira Code" panose="020B0809050000020004" pitchFamily="49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BA2547B-3304-4EB1-A8CF-12B5A17913CC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028B9F01-0889-4BD5-848E-0251826CAE08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F9E3F1B-4EB6-452A-B2D1-89C982DCD5CC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Fira Code" panose="020B0809050000020004" pitchFamily="49" charset="0"/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latin typeface="Fira Code" panose="020B0809050000020004" pitchFamily="49" charset="0"/>
              </a:endParaRPr>
            </a:p>
          </p:txBody>
        </p:sp>
      </p:grp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AFFE675-7162-478C-9CC7-905D8C38CCD1}"/>
              </a:ext>
            </a:extLst>
          </p:cNvPr>
          <p:cNvCxnSpPr>
            <a:cxnSpLocks/>
            <a:stCxn id="58" idx="3"/>
            <a:endCxn id="28" idx="1"/>
          </p:cNvCxnSpPr>
          <p:nvPr/>
        </p:nvCxnSpPr>
        <p:spPr>
          <a:xfrm>
            <a:off x="2917537" y="5008735"/>
            <a:ext cx="873835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B53EB6D7-0AC0-4662-B001-586131F5C015}"/>
              </a:ext>
            </a:extLst>
          </p:cNvPr>
          <p:cNvSpPr txBox="1"/>
          <p:nvPr/>
        </p:nvSpPr>
        <p:spPr>
          <a:xfrm>
            <a:off x="1983401" y="5327473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head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1F50D61-8918-5527-75CD-F31B6E682064}"/>
              </a:ext>
            </a:extLst>
          </p:cNvPr>
          <p:cNvSpPr/>
          <p:nvPr/>
        </p:nvSpPr>
        <p:spPr>
          <a:xfrm>
            <a:off x="2260534" y="2289486"/>
            <a:ext cx="854358" cy="80492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32D3D47-502C-01F0-C79F-3C2F58FC4258}"/>
              </a:ext>
            </a:extLst>
          </p:cNvPr>
          <p:cNvSpPr/>
          <p:nvPr/>
        </p:nvSpPr>
        <p:spPr>
          <a:xfrm>
            <a:off x="4280644" y="2259633"/>
            <a:ext cx="854358" cy="80492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78FB653-8D15-2DE5-E364-CAC367350042}"/>
              </a:ext>
            </a:extLst>
          </p:cNvPr>
          <p:cNvSpPr/>
          <p:nvPr/>
        </p:nvSpPr>
        <p:spPr>
          <a:xfrm>
            <a:off x="1647142" y="4627790"/>
            <a:ext cx="1412391" cy="80492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0198E2A-EA15-89C6-06D7-10D26F76AA7D}"/>
              </a:ext>
            </a:extLst>
          </p:cNvPr>
          <p:cNvSpPr/>
          <p:nvPr/>
        </p:nvSpPr>
        <p:spPr>
          <a:xfrm>
            <a:off x="3667252" y="4597937"/>
            <a:ext cx="1412391" cy="80492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FF9F3B3-B470-7F1F-943F-5224771EE6F4}"/>
              </a:ext>
            </a:extLst>
          </p:cNvPr>
          <p:cNvSpPr txBox="1"/>
          <p:nvPr/>
        </p:nvSpPr>
        <p:spPr>
          <a:xfrm>
            <a:off x="838200" y="4867416"/>
            <a:ext cx="39155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L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48CD9EDA-ECE2-D744-0610-0206B62B5612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229753" y="5021305"/>
            <a:ext cx="513596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1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5" grpId="0"/>
      <p:bldP spid="64" grpId="0"/>
      <p:bldP spid="52" grpId="0" animBg="1"/>
      <p:bldP spid="53" grpId="0" animBg="1"/>
      <p:bldP spid="54" grpId="0" animBg="1"/>
      <p:bldP spid="62" grpId="0" animBg="1"/>
      <p:bldP spid="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D4AC5-FAE2-FE22-7B58-D2583204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DF5876-A73E-9A28-48CC-233B971BA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方案</a:t>
            </a:r>
            <a:r>
              <a:rPr lang="en-US" altLang="zh-CN" dirty="0"/>
              <a:t>1</a:t>
            </a:r>
            <a:r>
              <a:rPr lang="zh-CN" altLang="en-US" dirty="0"/>
              <a:t>：头指针法：结点即链表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typedef node* list;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list_init</a:t>
            </a:r>
            <a:r>
              <a:rPr lang="en-US" altLang="zh-CN" dirty="0"/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list *L</a:t>
            </a:r>
            <a:r>
              <a:rPr lang="en-US" altLang="zh-CN" dirty="0"/>
              <a:t>) { 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b="1" i="1" dirty="0">
                <a:solidFill>
                  <a:srgbClr val="FF0000"/>
                </a:solidFill>
              </a:rPr>
              <a:t>*L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= _</a:t>
            </a:r>
            <a:r>
              <a:rPr lang="en-US" altLang="zh-CN" dirty="0" err="1"/>
              <a:t>make_node</a:t>
            </a:r>
            <a:r>
              <a:rPr lang="en-US" altLang="zh-CN" dirty="0"/>
              <a:t>(ZERO);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list L;</a:t>
            </a:r>
          </a:p>
          <a:p>
            <a:pPr marL="0" indent="0">
              <a:buNone/>
            </a:pPr>
            <a:r>
              <a:rPr lang="en-US" altLang="zh-CN" dirty="0" err="1"/>
              <a:t>list_init</a:t>
            </a:r>
            <a:r>
              <a:rPr lang="en-US" altLang="zh-CN" dirty="0"/>
              <a:t>(&amp;L);</a:t>
            </a:r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B6E2C39-3614-7F70-1167-D36974179424}"/>
              </a:ext>
            </a:extLst>
          </p:cNvPr>
          <p:cNvGrpSpPr/>
          <p:nvPr/>
        </p:nvGrpSpPr>
        <p:grpSpPr>
          <a:xfrm>
            <a:off x="6982559" y="2322710"/>
            <a:ext cx="3603553" cy="2143328"/>
            <a:chOff x="6982559" y="2322710"/>
            <a:chExt cx="3603553" cy="2143328"/>
          </a:xfrm>
          <a:effectLst/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C01E556-E7A9-64F2-E397-CE79BD0DF0D8}"/>
                </a:ext>
              </a:extLst>
            </p:cNvPr>
            <p:cNvGrpSpPr/>
            <p:nvPr/>
          </p:nvGrpSpPr>
          <p:grpSpPr>
            <a:xfrm>
              <a:off x="9347177" y="2767719"/>
              <a:ext cx="1238935" cy="915965"/>
              <a:chOff x="2736621" y="3353427"/>
              <a:chExt cx="1238935" cy="91596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81F5A3E-17AE-A33C-EBD5-20C1E0284BFA}"/>
                  </a:ext>
                </a:extLst>
              </p:cNvPr>
              <p:cNvSpPr/>
              <p:nvPr/>
            </p:nvSpPr>
            <p:spPr>
              <a:xfrm>
                <a:off x="2769514" y="3690492"/>
                <a:ext cx="578900" cy="578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7004E63-2A0E-2302-552F-4296411FBB8D}"/>
                  </a:ext>
                </a:extLst>
              </p:cNvPr>
              <p:cNvSpPr/>
              <p:nvPr/>
            </p:nvSpPr>
            <p:spPr>
              <a:xfrm>
                <a:off x="3363764" y="3690492"/>
                <a:ext cx="578900" cy="578900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^</a:t>
                </a:r>
                <a:endParaRPr lang="zh-CN" altLang="en-US" dirty="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A3B6611-0990-3D49-1135-B323B8C222D7}"/>
                  </a:ext>
                </a:extLst>
              </p:cNvPr>
              <p:cNvSpPr txBox="1"/>
              <p:nvPr/>
            </p:nvSpPr>
            <p:spPr>
              <a:xfrm>
                <a:off x="2736621" y="3353427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>
                        <a:lumMod val="75000"/>
                      </a:schemeClr>
                    </a:solidFill>
                  </a:rPr>
                  <a:t>data</a:t>
                </a:r>
                <a:endParaRPr lang="zh-CN" altLang="en-US" sz="1400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5C206BD-1CD8-8D6D-CD83-61C7909E32D0}"/>
                  </a:ext>
                </a:extLst>
              </p:cNvPr>
              <p:cNvSpPr txBox="1"/>
              <p:nvPr/>
            </p:nvSpPr>
            <p:spPr>
              <a:xfrm>
                <a:off x="3330871" y="3353427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>
                        <a:lumMod val="75000"/>
                      </a:schemeClr>
                    </a:solidFill>
                  </a:rPr>
                  <a:t>next</a:t>
                </a:r>
                <a:endParaRPr lang="zh-CN" altLang="en-US" sz="1400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0CA7C53-AD8A-4F79-FCE5-C6CDDD4D3CD0}"/>
                </a:ext>
              </a:extLst>
            </p:cNvPr>
            <p:cNvGrpSpPr/>
            <p:nvPr/>
          </p:nvGrpSpPr>
          <p:grpSpPr>
            <a:xfrm>
              <a:off x="7300192" y="2767719"/>
              <a:ext cx="1238935" cy="915965"/>
              <a:chOff x="2736621" y="3353427"/>
              <a:chExt cx="1238935" cy="91596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4A1AA71-BEF0-EAC8-F5FF-843829F35B5A}"/>
                  </a:ext>
                </a:extLst>
              </p:cNvPr>
              <p:cNvSpPr/>
              <p:nvPr/>
            </p:nvSpPr>
            <p:spPr>
              <a:xfrm>
                <a:off x="2769514" y="3690492"/>
                <a:ext cx="578900" cy="5789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73582A2-ED42-123E-B57B-26A5B90D81CF}"/>
                  </a:ext>
                </a:extLst>
              </p:cNvPr>
              <p:cNvSpPr/>
              <p:nvPr/>
            </p:nvSpPr>
            <p:spPr>
              <a:xfrm>
                <a:off x="3363764" y="3690492"/>
                <a:ext cx="578900" cy="5789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71668C2-341E-E525-F8DE-29C4E2236DB3}"/>
                  </a:ext>
                </a:extLst>
              </p:cNvPr>
              <p:cNvSpPr txBox="1"/>
              <p:nvPr/>
            </p:nvSpPr>
            <p:spPr>
              <a:xfrm>
                <a:off x="2736621" y="3353427"/>
                <a:ext cx="644685" cy="30777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>
                        <a:lumMod val="75000"/>
                      </a:schemeClr>
                    </a:solidFill>
                  </a:rPr>
                  <a:t>data</a:t>
                </a:r>
                <a:endParaRPr lang="zh-CN" altLang="en-US" sz="1400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624F31D-2D10-8AB0-1AE8-F310CB24E953}"/>
                  </a:ext>
                </a:extLst>
              </p:cNvPr>
              <p:cNvSpPr txBox="1"/>
              <p:nvPr/>
            </p:nvSpPr>
            <p:spPr>
              <a:xfrm>
                <a:off x="3330871" y="3353427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>
                        <a:lumMod val="75000"/>
                      </a:schemeClr>
                    </a:solidFill>
                  </a:rPr>
                  <a:t>next</a:t>
                </a:r>
                <a:endParaRPr lang="zh-CN" altLang="en-US" sz="1400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0D40572-32F5-07DB-BAF8-D9AAE7B91039}"/>
                </a:ext>
              </a:extLst>
            </p:cNvPr>
            <p:cNvCxnSpPr>
              <a:cxnSpLocks/>
              <a:stCxn id="11" idx="3"/>
              <a:endCxn id="5" idx="1"/>
            </p:cNvCxnSpPr>
            <p:nvPr/>
          </p:nvCxnSpPr>
          <p:spPr>
            <a:xfrm>
              <a:off x="8506235" y="3394234"/>
              <a:ext cx="873835" cy="0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467247-4F9E-8308-AA8C-DE3CA3E90970}"/>
                </a:ext>
              </a:extLst>
            </p:cNvPr>
            <p:cNvSpPr txBox="1"/>
            <p:nvPr/>
          </p:nvSpPr>
          <p:spPr>
            <a:xfrm>
              <a:off x="7692391" y="4158261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L</a:t>
              </a:r>
              <a:endParaRPr lang="zh-CN" altLang="en-US" sz="1400" dirty="0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FAE4101-C638-1B51-CD37-97B0CE1E8530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H="1" flipV="1">
              <a:off x="7994397" y="3712972"/>
              <a:ext cx="20337" cy="445289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8CD99C7-2EFC-59CA-C2B2-3AE41FC91592}"/>
                </a:ext>
              </a:extLst>
            </p:cNvPr>
            <p:cNvSpPr/>
            <p:nvPr/>
          </p:nvSpPr>
          <p:spPr>
            <a:xfrm>
              <a:off x="6982559" y="2609890"/>
              <a:ext cx="1906010" cy="139597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3D80FB9-9616-9E41-1AF4-B26C8E2DF22A}"/>
                </a:ext>
              </a:extLst>
            </p:cNvPr>
            <p:cNvSpPr txBox="1"/>
            <p:nvPr/>
          </p:nvSpPr>
          <p:spPr>
            <a:xfrm>
              <a:off x="7604992" y="2322710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node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222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4606-3542-8076-11CB-6F2EA485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1E4BE-EB43-6A1B-8332-C1C341E2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5F4CD-31C2-F32D-1198-CF4B35B30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方案</a:t>
            </a:r>
            <a:r>
              <a:rPr lang="en-US" altLang="zh-CN" dirty="0"/>
              <a:t>2</a:t>
            </a:r>
            <a:r>
              <a:rPr lang="zh-CN" altLang="en-US" dirty="0"/>
              <a:t>：独立的链表结构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typedef struct {</a:t>
            </a:r>
          </a:p>
          <a:p>
            <a:pPr marL="0" indent="0">
              <a:buNone/>
            </a:pPr>
            <a:r>
              <a:rPr lang="en-US" altLang="zh-CN" dirty="0"/>
              <a:t>    node *head; 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unsigned length;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dirty="0"/>
              <a:t>} list, *</a:t>
            </a:r>
            <a:r>
              <a:rPr lang="en-US" altLang="zh-CN" dirty="0" err="1"/>
              <a:t>listptr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list l, *L = &amp;l;</a:t>
            </a:r>
            <a:endParaRPr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CE3E4D6-97EA-B3E6-9535-AB820AE6E15A}"/>
              </a:ext>
            </a:extLst>
          </p:cNvPr>
          <p:cNvGrpSpPr/>
          <p:nvPr/>
        </p:nvGrpSpPr>
        <p:grpSpPr>
          <a:xfrm>
            <a:off x="5381313" y="1700139"/>
            <a:ext cx="5533806" cy="3626485"/>
            <a:chOff x="5459285" y="2097088"/>
            <a:chExt cx="5533806" cy="3626485"/>
          </a:xfrm>
          <a:effectLst/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F8D07646-2F80-B721-9C88-90332981DBA7}"/>
                </a:ext>
              </a:extLst>
            </p:cNvPr>
            <p:cNvGrpSpPr/>
            <p:nvPr/>
          </p:nvGrpSpPr>
          <p:grpSpPr>
            <a:xfrm>
              <a:off x="5459285" y="2097088"/>
              <a:ext cx="5533806" cy="3626485"/>
              <a:chOff x="5794136" y="2097088"/>
              <a:chExt cx="5533806" cy="3626485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DE2F4988-2777-E463-7556-ABCD5A89EBE2}"/>
                  </a:ext>
                </a:extLst>
              </p:cNvPr>
              <p:cNvGrpSpPr/>
              <p:nvPr/>
            </p:nvGrpSpPr>
            <p:grpSpPr>
              <a:xfrm>
                <a:off x="8149441" y="2630576"/>
                <a:ext cx="1238935" cy="915965"/>
                <a:chOff x="2736621" y="3353427"/>
                <a:chExt cx="1238935" cy="91596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27542CA-2CC2-70BE-DAD1-D7A7B6BFEAEC}"/>
                    </a:ext>
                  </a:extLst>
                </p:cNvPr>
                <p:cNvSpPr/>
                <p:nvPr/>
              </p:nvSpPr>
              <p:spPr>
                <a:xfrm>
                  <a:off x="2769514" y="3690492"/>
                  <a:ext cx="594250" cy="5789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ea typeface="Fira Code" panose="020B0809050000020004" pitchFamily="49" charset="0"/>
                    </a:rPr>
                    <a:t>1</a:t>
                  </a:r>
                  <a:endParaRPr lang="zh-CN" altLang="en-US" dirty="0"/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44FD4506-968B-5FC2-D671-CC5B431E4CEE}"/>
                    </a:ext>
                  </a:extLst>
                </p:cNvPr>
                <p:cNvSpPr/>
                <p:nvPr/>
              </p:nvSpPr>
              <p:spPr>
                <a:xfrm>
                  <a:off x="3363764" y="3690492"/>
                  <a:ext cx="578900" cy="5789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B05BB04-5C54-3946-B493-650839042147}"/>
                    </a:ext>
                  </a:extLst>
                </p:cNvPr>
                <p:cNvSpPr txBox="1"/>
                <p:nvPr/>
              </p:nvSpPr>
              <p:spPr>
                <a:xfrm>
                  <a:off x="273662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data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62210F9-96AE-BE87-849A-8FEAF47EB89D}"/>
                    </a:ext>
                  </a:extLst>
                </p:cNvPr>
                <p:cNvSpPr txBox="1"/>
                <p:nvPr/>
              </p:nvSpPr>
              <p:spPr>
                <a:xfrm>
                  <a:off x="333087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next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0343D92-8B9A-CFBF-DBEC-091CB58F3889}"/>
                  </a:ext>
                </a:extLst>
              </p:cNvPr>
              <p:cNvGrpSpPr/>
              <p:nvPr/>
            </p:nvGrpSpPr>
            <p:grpSpPr>
              <a:xfrm>
                <a:off x="6102456" y="2630576"/>
                <a:ext cx="1238935" cy="915965"/>
                <a:chOff x="2736621" y="3353427"/>
                <a:chExt cx="1238935" cy="91596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E12450D-4792-55AE-C1D4-562BC5540448}"/>
                    </a:ext>
                  </a:extLst>
                </p:cNvPr>
                <p:cNvSpPr/>
                <p:nvPr/>
              </p:nvSpPr>
              <p:spPr>
                <a:xfrm>
                  <a:off x="2769514" y="3690492"/>
                  <a:ext cx="578900" cy="57890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C7667AA-B43F-103B-F958-5F2B18338BF4}"/>
                    </a:ext>
                  </a:extLst>
                </p:cNvPr>
                <p:cNvSpPr/>
                <p:nvPr/>
              </p:nvSpPr>
              <p:spPr>
                <a:xfrm>
                  <a:off x="3363764" y="3690492"/>
                  <a:ext cx="578900" cy="5789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9FBDAA2-3D14-760E-F091-6807386C48F2}"/>
                    </a:ext>
                  </a:extLst>
                </p:cNvPr>
                <p:cNvSpPr txBox="1"/>
                <p:nvPr/>
              </p:nvSpPr>
              <p:spPr>
                <a:xfrm>
                  <a:off x="273662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data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C27DCB5-D5EB-5408-B0B4-78A69FF3EEB0}"/>
                    </a:ext>
                  </a:extLst>
                </p:cNvPr>
                <p:cNvSpPr txBox="1"/>
                <p:nvPr/>
              </p:nvSpPr>
              <p:spPr>
                <a:xfrm>
                  <a:off x="333087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next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AC5C6819-299C-687B-1AF6-1590A947AF5D}"/>
                  </a:ext>
                </a:extLst>
              </p:cNvPr>
              <p:cNvCxnSpPr>
                <a:cxnSpLocks/>
                <a:stCxn id="11" idx="3"/>
                <a:endCxn id="5" idx="1"/>
              </p:cNvCxnSpPr>
              <p:nvPr/>
            </p:nvCxnSpPr>
            <p:spPr>
              <a:xfrm>
                <a:off x="7308499" y="3257091"/>
                <a:ext cx="873835" cy="0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824CAC42-A8FA-84EA-D396-99202D489C41}"/>
                  </a:ext>
                </a:extLst>
              </p:cNvPr>
              <p:cNvGrpSpPr/>
              <p:nvPr/>
            </p:nvGrpSpPr>
            <p:grpSpPr>
              <a:xfrm>
                <a:off x="7234042" y="4151813"/>
                <a:ext cx="1506765" cy="915965"/>
                <a:chOff x="2736621" y="3353427"/>
                <a:chExt cx="1506765" cy="91596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F0BD131-44E2-C467-AF13-9030228C44B8}"/>
                    </a:ext>
                  </a:extLst>
                </p:cNvPr>
                <p:cNvSpPr/>
                <p:nvPr/>
              </p:nvSpPr>
              <p:spPr>
                <a:xfrm>
                  <a:off x="2769514" y="3690492"/>
                  <a:ext cx="561357" cy="5789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839B8F74-4BF2-BA21-8BE6-66F0D170BDD8}"/>
                    </a:ext>
                  </a:extLst>
                </p:cNvPr>
                <p:cNvSpPr/>
                <p:nvPr/>
              </p:nvSpPr>
              <p:spPr>
                <a:xfrm>
                  <a:off x="3330871" y="3690492"/>
                  <a:ext cx="912515" cy="57890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23C92C2-A15A-C7E5-6B23-61316884B06A}"/>
                    </a:ext>
                  </a:extLst>
                </p:cNvPr>
                <p:cNvSpPr txBox="1"/>
                <p:nvPr/>
              </p:nvSpPr>
              <p:spPr>
                <a:xfrm>
                  <a:off x="273662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head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BA74F3-4912-BDE5-8123-AA97FF6FE223}"/>
                    </a:ext>
                  </a:extLst>
                </p:cNvPr>
                <p:cNvSpPr txBox="1"/>
                <p:nvPr/>
              </p:nvSpPr>
              <p:spPr>
                <a:xfrm>
                  <a:off x="3330871" y="3353427"/>
                  <a:ext cx="91251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</a:rPr>
                    <a:t>length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3F372997-7905-474F-FA31-8D6594905205}"/>
                  </a:ext>
                </a:extLst>
              </p:cNvPr>
              <p:cNvCxnSpPr>
                <a:cxnSpLocks/>
                <a:stCxn id="20" idx="1"/>
                <a:endCxn id="10" idx="2"/>
              </p:cNvCxnSpPr>
              <p:nvPr/>
            </p:nvCxnSpPr>
            <p:spPr>
              <a:xfrm flipH="1" flipV="1">
                <a:off x="6424799" y="3546541"/>
                <a:ext cx="842136" cy="1231787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31BA360E-8887-403D-5E05-21B167B3BC17}"/>
                  </a:ext>
                </a:extLst>
              </p:cNvPr>
              <p:cNvSpPr/>
              <p:nvPr/>
            </p:nvSpPr>
            <p:spPr>
              <a:xfrm>
                <a:off x="7019048" y="3990536"/>
                <a:ext cx="1906010" cy="1395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39FE7C2-1323-0829-397D-9D4733B74CA4}"/>
                  </a:ext>
                </a:extLst>
              </p:cNvPr>
              <p:cNvSpPr txBox="1"/>
              <p:nvPr/>
            </p:nvSpPr>
            <p:spPr>
              <a:xfrm>
                <a:off x="7639193" y="5415796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ea typeface="Fira Code" panose="020B0809050000020004" pitchFamily="49" charset="0"/>
                  </a:rPr>
                  <a:t>list</a:t>
                </a:r>
                <a:endParaRPr lang="zh-CN" altLang="en-US" sz="1400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5244340B-1FEB-5CF9-A15F-80821CA846C9}"/>
                  </a:ext>
                </a:extLst>
              </p:cNvPr>
              <p:cNvSpPr/>
              <p:nvPr/>
            </p:nvSpPr>
            <p:spPr>
              <a:xfrm>
                <a:off x="5794136" y="2390942"/>
                <a:ext cx="1906010" cy="1395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2CD200F-3AE4-20AB-1D67-9CD18A690672}"/>
                  </a:ext>
                </a:extLst>
              </p:cNvPr>
              <p:cNvSpPr txBox="1"/>
              <p:nvPr/>
            </p:nvSpPr>
            <p:spPr>
              <a:xfrm>
                <a:off x="6374363" y="2097088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ea typeface="Fira Code" panose="020B0809050000020004" pitchFamily="49" charset="0"/>
                  </a:rPr>
                  <a:t>node</a:t>
                </a:r>
                <a:endParaRPr lang="zh-CN" altLang="en-US" sz="1400" dirty="0"/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37C02DDB-A92F-4D9B-2EBF-15589451147E}"/>
                  </a:ext>
                </a:extLst>
              </p:cNvPr>
              <p:cNvGrpSpPr/>
              <p:nvPr/>
            </p:nvGrpSpPr>
            <p:grpSpPr>
              <a:xfrm>
                <a:off x="10089007" y="2630576"/>
                <a:ext cx="1238935" cy="915965"/>
                <a:chOff x="2736621" y="3353427"/>
                <a:chExt cx="1238935" cy="91596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87C69D1-CB94-3A76-AB62-0D082CC69F96}"/>
                    </a:ext>
                  </a:extLst>
                </p:cNvPr>
                <p:cNvSpPr/>
                <p:nvPr/>
              </p:nvSpPr>
              <p:spPr>
                <a:xfrm>
                  <a:off x="2769514" y="3690492"/>
                  <a:ext cx="578900" cy="5789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ea typeface="Fira Code" panose="020B0809050000020004" pitchFamily="49" charset="0"/>
                    </a:rPr>
                    <a:t>2</a:t>
                  </a:r>
                  <a:endParaRPr lang="zh-CN" altLang="en-US" dirty="0"/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5FD37CE5-FBF5-10E4-722F-6C6A258FA586}"/>
                    </a:ext>
                  </a:extLst>
                </p:cNvPr>
                <p:cNvSpPr/>
                <p:nvPr/>
              </p:nvSpPr>
              <p:spPr>
                <a:xfrm>
                  <a:off x="3363764" y="3690492"/>
                  <a:ext cx="578900" cy="578900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^</a:t>
                  </a:r>
                  <a:endParaRPr lang="zh-CN" altLang="en-US" dirty="0"/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4DE3B46-F7F7-E30E-D96C-16219D0A6789}"/>
                    </a:ext>
                  </a:extLst>
                </p:cNvPr>
                <p:cNvSpPr txBox="1"/>
                <p:nvPr/>
              </p:nvSpPr>
              <p:spPr>
                <a:xfrm>
                  <a:off x="273662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data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C7341F9-CF3A-B4AC-0574-50B6D792BEBF}"/>
                    </a:ext>
                  </a:extLst>
                </p:cNvPr>
                <p:cNvSpPr txBox="1"/>
                <p:nvPr/>
              </p:nvSpPr>
              <p:spPr>
                <a:xfrm>
                  <a:off x="3330871" y="3353427"/>
                  <a:ext cx="6446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tx1">
                          <a:lumMod val="75000"/>
                        </a:schemeClr>
                      </a:solidFill>
                      <a:ea typeface="Fira Code" panose="020B0809050000020004" pitchFamily="49" charset="0"/>
                    </a:rPr>
                    <a:t>next</a:t>
                  </a:r>
                  <a:endParaRPr lang="zh-CN" altLang="en-US" sz="14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1D766122-D917-E1E4-9BF1-EACA978B6DBB}"/>
                  </a:ext>
                </a:extLst>
              </p:cNvPr>
              <p:cNvCxnSpPr>
                <a:cxnSpLocks/>
                <a:stCxn id="6" idx="3"/>
                <a:endCxn id="34" idx="1"/>
              </p:cNvCxnSpPr>
              <p:nvPr/>
            </p:nvCxnSpPr>
            <p:spPr>
              <a:xfrm>
                <a:off x="9355484" y="3257091"/>
                <a:ext cx="766416" cy="0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BE36EBD-B8B2-2677-037E-C1FA15A057C2}"/>
                </a:ext>
              </a:extLst>
            </p:cNvPr>
            <p:cNvSpPr txBox="1"/>
            <p:nvPr/>
          </p:nvSpPr>
          <p:spPr>
            <a:xfrm>
              <a:off x="8917448" y="4624439"/>
              <a:ext cx="4261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L</a:t>
              </a:r>
              <a:endParaRPr lang="zh-CN" altLang="en-US" sz="1400" dirty="0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E865A99-4B79-3309-6B06-33030E576EC9}"/>
                </a:ext>
              </a:extLst>
            </p:cNvPr>
            <p:cNvCxnSpPr>
              <a:cxnSpLocks/>
              <a:stCxn id="44" idx="1"/>
              <a:endCxn id="21" idx="3"/>
            </p:cNvCxnSpPr>
            <p:nvPr/>
          </p:nvCxnSpPr>
          <p:spPr>
            <a:xfrm flipH="1">
              <a:off x="8405956" y="4778328"/>
              <a:ext cx="5114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596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1CAB6-3154-4E98-9C7D-1C497096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链表：在头结点后插入新结点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6D6D6-C9C9-434F-A0AB-712E60DB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在链表头部插入结点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>
                    <a:lumMod val="75000"/>
                  </a:schemeClr>
                </a:solidFill>
              </a:rPr>
              <a:t>  L</a:t>
            </a:r>
            <a:r>
              <a:rPr lang="zh-CN" altLang="en-US" sz="1800" dirty="0">
                <a:solidFill>
                  <a:schemeClr val="tx1">
                    <a:lumMod val="75000"/>
                  </a:schemeClr>
                </a:solidFill>
              </a:rPr>
              <a:t>是指向头结点的指针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AFA2A77-E4FD-462B-A6EF-2D5E89EEFC26}"/>
              </a:ext>
            </a:extLst>
          </p:cNvPr>
          <p:cNvGrpSpPr/>
          <p:nvPr/>
        </p:nvGrpSpPr>
        <p:grpSpPr>
          <a:xfrm>
            <a:off x="4022203" y="3412310"/>
            <a:ext cx="1238935" cy="915965"/>
            <a:chOff x="2736621" y="3353427"/>
            <a:chExt cx="1238935" cy="91596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E3D4F6-FCD0-452C-B338-6A29AF54F26A}"/>
                </a:ext>
              </a:extLst>
            </p:cNvPr>
            <p:cNvSpPr/>
            <p:nvPr/>
          </p:nvSpPr>
          <p:spPr>
            <a:xfrm>
              <a:off x="2769514" y="3690492"/>
              <a:ext cx="60247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9A9C97C-2BC3-47E1-BF44-40E5A17002E4}"/>
                </a:ext>
              </a:extLst>
            </p:cNvPr>
            <p:cNvSpPr/>
            <p:nvPr/>
          </p:nvSpPr>
          <p:spPr>
            <a:xfrm>
              <a:off x="3381306" y="3690492"/>
              <a:ext cx="561358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C2F0E44-DA6E-4365-B701-F176168DF47E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data</a:t>
              </a:r>
              <a:endParaRPr lang="zh-CN" altLang="en-US" sz="14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B48267A-B867-424D-A355-A52356FE9A32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next</a:t>
              </a:r>
              <a:endParaRPr lang="zh-CN" altLang="en-US" sz="1400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4146DA7-85B3-4ABB-B15A-DF2F1250395C}"/>
              </a:ext>
            </a:extLst>
          </p:cNvPr>
          <p:cNvGrpSpPr/>
          <p:nvPr/>
        </p:nvGrpSpPr>
        <p:grpSpPr>
          <a:xfrm>
            <a:off x="5937618" y="3413955"/>
            <a:ext cx="1238935" cy="915965"/>
            <a:chOff x="2736621" y="3353427"/>
            <a:chExt cx="1238935" cy="915965"/>
          </a:xfrm>
          <a:effectLst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ABFCF73-C225-4E54-AB3F-290DB531ECBE}"/>
                </a:ext>
              </a:extLst>
            </p:cNvPr>
            <p:cNvSpPr/>
            <p:nvPr/>
          </p:nvSpPr>
          <p:spPr>
            <a:xfrm>
              <a:off x="2769514" y="3690492"/>
              <a:ext cx="561357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2</a:t>
              </a:r>
              <a:endParaRPr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762D44-B028-410E-A86D-5F1595A95340}"/>
                </a:ext>
              </a:extLst>
            </p:cNvPr>
            <p:cNvSpPr/>
            <p:nvPr/>
          </p:nvSpPr>
          <p:spPr>
            <a:xfrm>
              <a:off x="3330871" y="3690492"/>
              <a:ext cx="611793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A734320-7ED0-4A9A-8F5C-A1A8F7C3CC6C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data</a:t>
              </a:r>
              <a:endParaRPr lang="zh-CN" altLang="en-US" sz="140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0B983E0-9649-430C-B499-8734C5670F4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next</a:t>
              </a:r>
              <a:endParaRPr lang="zh-CN" altLang="en-US" sz="140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3026365-A6F4-410D-A075-2CCF96846414}"/>
              </a:ext>
            </a:extLst>
          </p:cNvPr>
          <p:cNvGrpSpPr/>
          <p:nvPr/>
        </p:nvGrpSpPr>
        <p:grpSpPr>
          <a:xfrm>
            <a:off x="7853033" y="3412310"/>
            <a:ext cx="1238935" cy="915965"/>
            <a:chOff x="2736621" y="3353427"/>
            <a:chExt cx="1238935" cy="915965"/>
          </a:xfrm>
          <a:effectLst/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9FCF94D-0C53-4A98-AB36-147A2D887315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3</a:t>
              </a:r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5D23602-1C45-484E-AB01-E9DB57D6C08E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B3B3F1F-60BB-4247-BD44-D785E0EB5338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data</a:t>
              </a:r>
              <a:endParaRPr lang="zh-CN" altLang="en-US" sz="1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DE95FA3-02F5-4CFF-8EE3-B6042443C069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next</a:t>
              </a:r>
              <a:endParaRPr lang="zh-CN" altLang="en-US" sz="14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58F2DFC-13BA-4487-83C4-C9D435494D13}"/>
              </a:ext>
            </a:extLst>
          </p:cNvPr>
          <p:cNvGrpSpPr/>
          <p:nvPr/>
        </p:nvGrpSpPr>
        <p:grpSpPr>
          <a:xfrm>
            <a:off x="9834233" y="3412310"/>
            <a:ext cx="1238935" cy="915965"/>
            <a:chOff x="2736621" y="3353427"/>
            <a:chExt cx="1238935" cy="915965"/>
          </a:xfrm>
          <a:effectLst/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3D00CBC-14B4-4BFE-8067-5146BEB214FA}"/>
                </a:ext>
              </a:extLst>
            </p:cNvPr>
            <p:cNvSpPr/>
            <p:nvPr/>
          </p:nvSpPr>
          <p:spPr>
            <a:xfrm>
              <a:off x="2769514" y="3690492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4</a:t>
              </a:r>
              <a:endParaRPr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BA3CF81-187B-4316-8415-05543BEF6FA5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^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1F2FC6F-80FB-4939-9B91-34B107E138AE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data</a:t>
              </a:r>
              <a:endParaRPr lang="zh-CN" altLang="en-US" sz="14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14B59A4-5C8E-4FB2-B862-34A079DFBD3B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next</a:t>
              </a:r>
              <a:endParaRPr lang="zh-CN" altLang="en-US" sz="1400" dirty="0"/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594BD18-5D66-40B1-B002-91494898E41E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228246" y="4038825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00989CF-5BAB-4372-A9B2-9B3F0AC34918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7143661" y="4038825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D86A6CF-3B88-489B-9D84-0F784D6CA410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9059076" y="4038825"/>
            <a:ext cx="808050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F064DE4-1434-4161-B95A-0F69BA6CB07B}"/>
              </a:ext>
            </a:extLst>
          </p:cNvPr>
          <p:cNvGrpSpPr/>
          <p:nvPr/>
        </p:nvGrpSpPr>
        <p:grpSpPr>
          <a:xfrm>
            <a:off x="1975218" y="3412310"/>
            <a:ext cx="1238935" cy="915965"/>
            <a:chOff x="2736621" y="3353427"/>
            <a:chExt cx="1238935" cy="915965"/>
          </a:xfrm>
          <a:effectLst/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87C8E3-EFB1-431A-9D22-12E6E65AD65F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F6F469B-A140-42C5-AB6C-76A4098A31DE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2D01A84-97E7-4357-A4BE-49A5BF5BAFC7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data</a:t>
              </a:r>
              <a:endParaRPr lang="zh-CN" altLang="en-US" sz="1400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BF55CD9-36A9-405D-B97F-2F36B5886DAE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next</a:t>
              </a:r>
              <a:endParaRPr lang="zh-CN" altLang="en-US" sz="1400" dirty="0"/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1A3BBB6-A179-4AD8-B7B0-0AEFA975FD18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3181261" y="4038825"/>
            <a:ext cx="873835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C3E29B9-D0AA-45D2-A0FF-3909DF929FF8}"/>
              </a:ext>
            </a:extLst>
          </p:cNvPr>
          <p:cNvSpPr txBox="1"/>
          <p:nvPr/>
        </p:nvSpPr>
        <p:spPr>
          <a:xfrm>
            <a:off x="2300247" y="3174402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ea typeface="Fira Code" panose="020B0809050000020004" pitchFamily="49" charset="0"/>
              </a:rPr>
              <a:t>head</a:t>
            </a:r>
            <a:endParaRPr lang="zh-CN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B1B1C30-8D89-447F-862D-66E2AE435005}"/>
              </a:ext>
            </a:extLst>
          </p:cNvPr>
          <p:cNvGrpSpPr/>
          <p:nvPr/>
        </p:nvGrpSpPr>
        <p:grpSpPr>
          <a:xfrm>
            <a:off x="2998710" y="4703506"/>
            <a:ext cx="1238935" cy="915965"/>
            <a:chOff x="2736621" y="3353427"/>
            <a:chExt cx="1238935" cy="915965"/>
          </a:xfrm>
          <a:effectLst/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5829DCD-43FC-4877-9612-FF336D29569D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0</a:t>
              </a: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D2629A7-FFCC-42C2-91FA-322F6C74E3AD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FD819C0-9473-489D-A32D-62A96EE7FDAB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data</a:t>
              </a:r>
              <a:endParaRPr lang="zh-CN" altLang="en-US" sz="14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FC1BC4B-47E9-4CC0-B9F1-A623B8AC1FC8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ea typeface="Fira Code" panose="020B0809050000020004" pitchFamily="49" charset="0"/>
                </a:rPr>
                <a:t>next</a:t>
              </a:r>
              <a:endParaRPr lang="zh-CN" altLang="en-US" sz="1400" dirty="0"/>
            </a:p>
          </p:txBody>
        </p: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1D9472B-F453-4BD3-84AC-C993FBA7FBF1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261442" y="5324333"/>
            <a:ext cx="770161" cy="5688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05560F3-8605-4EA7-B1EE-95AD37894E92}"/>
              </a:ext>
            </a:extLst>
          </p:cNvPr>
          <p:cNvSpPr txBox="1"/>
          <p:nvPr/>
        </p:nvSpPr>
        <p:spPr>
          <a:xfrm>
            <a:off x="1685768" y="5170444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ea typeface="Fira Code" panose="020B0809050000020004" pitchFamily="49" charset="0"/>
              </a:rPr>
              <a:t>p</a:t>
            </a:r>
            <a:endParaRPr lang="zh-CN" altLang="en-US" sz="14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CA71FCA-AD2B-429F-A520-D9380A7F345F}"/>
              </a:ext>
            </a:extLst>
          </p:cNvPr>
          <p:cNvCxnSpPr>
            <a:cxnSpLocks/>
            <a:stCxn id="36" idx="0"/>
            <a:endCxn id="5" idx="2"/>
          </p:cNvCxnSpPr>
          <p:nvPr/>
        </p:nvCxnSpPr>
        <p:spPr>
          <a:xfrm flipV="1">
            <a:off x="3915303" y="4328275"/>
            <a:ext cx="441029" cy="712296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D3648A4-FAB3-4B64-9DE5-B19F17FD149F}"/>
              </a:ext>
            </a:extLst>
          </p:cNvPr>
          <p:cNvCxnSpPr>
            <a:cxnSpLocks/>
            <a:stCxn id="29" idx="2"/>
            <a:endCxn id="35" idx="0"/>
          </p:cNvCxnSpPr>
          <p:nvPr/>
        </p:nvCxnSpPr>
        <p:spPr>
          <a:xfrm>
            <a:off x="2891811" y="4328275"/>
            <a:ext cx="436917" cy="712296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2D53123-5CDA-46D3-86C0-0B1965352B4C}"/>
              </a:ext>
            </a:extLst>
          </p:cNvPr>
          <p:cNvSpPr txBox="1"/>
          <p:nvPr/>
        </p:nvSpPr>
        <p:spPr>
          <a:xfrm>
            <a:off x="5173490" y="1550817"/>
            <a:ext cx="6272211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 err="1">
                <a:ea typeface="Fira Code" panose="020B0809050000020004" pitchFamily="49" charset="0"/>
              </a:rPr>
              <a:t>nodeptr</a:t>
            </a:r>
            <a:r>
              <a:rPr lang="en-US" altLang="zh-CN" sz="1600" dirty="0">
                <a:ea typeface="Fira Code" panose="020B0809050000020004" pitchFamily="49" charset="0"/>
              </a:rPr>
              <a:t> p = (</a:t>
            </a:r>
            <a:r>
              <a:rPr lang="en-US" altLang="zh-CN" sz="1600" dirty="0" err="1">
                <a:ea typeface="Fira Code" panose="020B0809050000020004" pitchFamily="49" charset="0"/>
              </a:rPr>
              <a:t>nodeptr</a:t>
            </a:r>
            <a:r>
              <a:rPr lang="en-US" altLang="zh-CN" sz="1600" dirty="0">
                <a:ea typeface="Fira Code" panose="020B0809050000020004" pitchFamily="49" charset="0"/>
              </a:rPr>
              <a:t>)malloc(</a:t>
            </a:r>
            <a:r>
              <a:rPr lang="en-US" altLang="zh-CN" sz="1600" dirty="0" err="1">
                <a:ea typeface="Fira Code" panose="020B0809050000020004" pitchFamily="49" charset="0"/>
              </a:rPr>
              <a:t>sizeof</a:t>
            </a:r>
            <a:r>
              <a:rPr lang="en-US" altLang="zh-CN" sz="1600" dirty="0">
                <a:ea typeface="Fira Code" panose="020B0809050000020004" pitchFamily="49" charset="0"/>
              </a:rPr>
              <a:t>(node));</a:t>
            </a:r>
          </a:p>
          <a:p>
            <a:r>
              <a:rPr lang="en-US" altLang="zh-CN" sz="1600" dirty="0">
                <a:ea typeface="Fira Code" panose="020B0809050000020004" pitchFamily="49" charset="0"/>
              </a:rPr>
              <a:t>   p-&gt;data = 0;</a:t>
            </a:r>
            <a:endParaRPr lang="zh-CN" altLang="en-US" sz="16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2F5753E-5492-4D66-8E0A-D00FAE94DA39}"/>
              </a:ext>
            </a:extLst>
          </p:cNvPr>
          <p:cNvSpPr txBox="1"/>
          <p:nvPr/>
        </p:nvSpPr>
        <p:spPr>
          <a:xfrm>
            <a:off x="5173490" y="2231922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a typeface="Fira Code" panose="020B0809050000020004" pitchFamily="49" charset="0"/>
              </a:rPr>
              <a:t>2. p-&gt;next = L-&gt;next;</a:t>
            </a:r>
            <a:endParaRPr lang="zh-CN" altLang="en-US" sz="16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62A69A0-AC26-436E-A6C9-36D407E88F04}"/>
              </a:ext>
            </a:extLst>
          </p:cNvPr>
          <p:cNvSpPr txBox="1"/>
          <p:nvPr/>
        </p:nvSpPr>
        <p:spPr>
          <a:xfrm>
            <a:off x="5173490" y="2666806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a typeface="Fira Code" panose="020B0809050000020004" pitchFamily="49" charset="0"/>
              </a:rPr>
              <a:t>3. L-&gt;next = p;</a:t>
            </a:r>
            <a:endParaRPr lang="zh-CN" altLang="en-US" sz="16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A976DA3-797C-BAC9-6B46-9104784E61CD}"/>
              </a:ext>
            </a:extLst>
          </p:cNvPr>
          <p:cNvSpPr txBox="1"/>
          <p:nvPr/>
        </p:nvSpPr>
        <p:spPr>
          <a:xfrm>
            <a:off x="1102962" y="3884936"/>
            <a:ext cx="39155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ea typeface="Fira Code" panose="020B0809050000020004" pitchFamily="49" charset="0"/>
              </a:rPr>
              <a:t>L</a:t>
            </a:r>
            <a:endParaRPr lang="zh-CN" altLang="en-US" sz="1400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924FB45-8FDF-14F5-C39D-D4C1B12973A9}"/>
              </a:ext>
            </a:extLst>
          </p:cNvPr>
          <p:cNvCxnSpPr>
            <a:cxnSpLocks/>
            <a:stCxn id="41" idx="3"/>
            <a:endCxn id="28" idx="1"/>
          </p:cNvCxnSpPr>
          <p:nvPr/>
        </p:nvCxnSpPr>
        <p:spPr>
          <a:xfrm>
            <a:off x="1494515" y="4038825"/>
            <a:ext cx="513596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18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0" grpId="0"/>
      <p:bldP spid="51" grpId="0"/>
      <p:bldP spid="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1CAB6-3154-4E98-9C7D-1C497096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链表：在某个结点后插入新节点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6D6D6-C9C9-434F-A0AB-712E60DB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在结点</a:t>
            </a:r>
            <a:r>
              <a:rPr lang="en-US" altLang="zh-CN">
                <a:latin typeface="+mn-lt"/>
              </a:rPr>
              <a:t>pre</a:t>
            </a:r>
            <a:r>
              <a:rPr lang="zh-CN" altLang="en-US">
                <a:latin typeface="+mn-lt"/>
              </a:rPr>
              <a:t>后</a:t>
            </a:r>
            <a:r>
              <a:rPr lang="zh-CN" altLang="en-US" dirty="0">
                <a:latin typeface="+mn-lt"/>
              </a:rPr>
              <a:t>插入结点</a:t>
            </a:r>
            <a:r>
              <a:rPr lang="en-US" altLang="zh-CN" dirty="0">
                <a:latin typeface="+mn-lt"/>
              </a:rPr>
              <a:t>p</a:t>
            </a:r>
          </a:p>
          <a:p>
            <a:pPr marL="0" indent="0">
              <a:buNone/>
            </a:pPr>
            <a:r>
              <a:rPr lang="en-US" altLang="zh-CN" sz="1800">
                <a:solidFill>
                  <a:schemeClr val="tx1">
                    <a:lumMod val="75000"/>
                  </a:schemeClr>
                </a:solidFill>
                <a:latin typeface="+mn-lt"/>
              </a:rPr>
              <a:t>  pre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  <a:latin typeface="+mn-lt"/>
              </a:rPr>
              <a:t>和</a:t>
            </a:r>
            <a:r>
              <a:rPr lang="en-US" altLang="zh-CN" sz="18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p</a:t>
            </a:r>
            <a:r>
              <a:rPr lang="zh-CN" altLang="en-US" sz="18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都是指向结点的指针</a:t>
            </a:r>
            <a:endParaRPr lang="en-US" altLang="zh-CN" sz="18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AFA2A77-E4FD-462B-A6EF-2D5E89EEFC26}"/>
              </a:ext>
            </a:extLst>
          </p:cNvPr>
          <p:cNvGrpSpPr/>
          <p:nvPr/>
        </p:nvGrpSpPr>
        <p:grpSpPr>
          <a:xfrm>
            <a:off x="6624354" y="3265228"/>
            <a:ext cx="1238935" cy="915965"/>
            <a:chOff x="2736621" y="3353427"/>
            <a:chExt cx="1238935" cy="91596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E3D4F6-FCD0-452C-B338-6A29AF54F26A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y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9A9C97C-2BC3-47E1-BF44-40E5A17002E4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C2F0E44-DA6E-4365-B701-F176168DF47E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B48267A-B867-424D-A355-A52356FE9A32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594BD18-5D66-40B1-B002-91494898E41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830397" y="3891743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F064DE4-1434-4161-B95A-0F69BA6CB07B}"/>
              </a:ext>
            </a:extLst>
          </p:cNvPr>
          <p:cNvGrpSpPr/>
          <p:nvPr/>
        </p:nvGrpSpPr>
        <p:grpSpPr>
          <a:xfrm>
            <a:off x="4577369" y="3265228"/>
            <a:ext cx="1238935" cy="915965"/>
            <a:chOff x="2736621" y="3353427"/>
            <a:chExt cx="1238935" cy="915965"/>
          </a:xfrm>
          <a:effectLst/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87C8E3-EFB1-431A-9D22-12E6E65AD65F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F6F469B-A140-42C5-AB6C-76A4098A31DE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2D01A84-97E7-4357-A4BE-49A5BF5BAFC7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BF55CD9-36A9-405D-B97F-2F36B5886DAE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1A3BBB6-A179-4AD8-B7B0-0AEFA975FD18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5783412" y="3891743"/>
            <a:ext cx="873835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B1B1C30-8D89-447F-862D-66E2AE435005}"/>
              </a:ext>
            </a:extLst>
          </p:cNvPr>
          <p:cNvGrpSpPr/>
          <p:nvPr/>
        </p:nvGrpSpPr>
        <p:grpSpPr>
          <a:xfrm>
            <a:off x="5600861" y="4448968"/>
            <a:ext cx="1238935" cy="915965"/>
            <a:chOff x="2736621" y="3353427"/>
            <a:chExt cx="1238935" cy="915965"/>
          </a:xfrm>
          <a:effectLst/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5829DCD-43FC-4877-9612-FF336D29569D}"/>
                </a:ext>
              </a:extLst>
            </p:cNvPr>
            <p:cNvSpPr/>
            <p:nvPr/>
          </p:nvSpPr>
          <p:spPr>
            <a:xfrm>
              <a:off x="2769514" y="3690492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z</a:t>
              </a: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D2629A7-FFCC-42C2-91FA-322F6C74E3AD}"/>
                </a:ext>
              </a:extLst>
            </p:cNvPr>
            <p:cNvSpPr/>
            <p:nvPr/>
          </p:nvSpPr>
          <p:spPr>
            <a:xfrm>
              <a:off x="3364861" y="3690492"/>
              <a:ext cx="577804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FD819C0-9473-489D-A32D-62A96EE7FDAB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FC1BC4B-47E9-4CC0-B9F1-A623B8AC1FC8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405560F3-8605-4EA7-B1EE-95AD37894E92}"/>
              </a:ext>
            </a:extLst>
          </p:cNvPr>
          <p:cNvSpPr txBox="1"/>
          <p:nvPr/>
        </p:nvSpPr>
        <p:spPr>
          <a:xfrm>
            <a:off x="5600861" y="5668490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ea typeface="Fira Code" panose="020B0809050000020004" pitchFamily="49" charset="0"/>
              </a:rPr>
              <a:t>p</a:t>
            </a:r>
            <a:endParaRPr lang="zh-CN" altLang="en-US" sz="14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CA71FCA-AD2B-429F-A520-D9380A7F345F}"/>
              </a:ext>
            </a:extLst>
          </p:cNvPr>
          <p:cNvCxnSpPr>
            <a:cxnSpLocks/>
            <a:stCxn id="36" idx="0"/>
            <a:endCxn id="5" idx="2"/>
          </p:cNvCxnSpPr>
          <p:nvPr/>
        </p:nvCxnSpPr>
        <p:spPr>
          <a:xfrm flipV="1">
            <a:off x="6518003" y="4181193"/>
            <a:ext cx="436369" cy="60484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D3648A4-FAB3-4B64-9DE5-B19F17FD149F}"/>
              </a:ext>
            </a:extLst>
          </p:cNvPr>
          <p:cNvCxnSpPr>
            <a:cxnSpLocks/>
            <a:stCxn id="29" idx="2"/>
            <a:endCxn id="35" idx="0"/>
          </p:cNvCxnSpPr>
          <p:nvPr/>
        </p:nvCxnSpPr>
        <p:spPr>
          <a:xfrm>
            <a:off x="5493962" y="4181193"/>
            <a:ext cx="445688" cy="60484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2D53123-5CDA-46D3-86C0-0B1965352B4C}"/>
              </a:ext>
            </a:extLst>
          </p:cNvPr>
          <p:cNvSpPr txBox="1"/>
          <p:nvPr/>
        </p:nvSpPr>
        <p:spPr>
          <a:xfrm>
            <a:off x="5081589" y="1551760"/>
            <a:ext cx="6272211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 err="1">
                <a:ea typeface="Fira Code" panose="020B0809050000020004" pitchFamily="49" charset="0"/>
              </a:rPr>
              <a:t>nodeptr</a:t>
            </a:r>
            <a:r>
              <a:rPr lang="en-US" altLang="zh-CN" sz="1600" dirty="0">
                <a:ea typeface="Fira Code" panose="020B0809050000020004" pitchFamily="49" charset="0"/>
              </a:rPr>
              <a:t> p = (</a:t>
            </a:r>
            <a:r>
              <a:rPr lang="en-US" altLang="zh-CN" sz="1600" dirty="0" err="1">
                <a:ea typeface="Fira Code" panose="020B0809050000020004" pitchFamily="49" charset="0"/>
              </a:rPr>
              <a:t>nodeptr</a:t>
            </a:r>
            <a:r>
              <a:rPr lang="en-US" altLang="zh-CN" sz="1600" dirty="0">
                <a:ea typeface="Fira Code" panose="020B0809050000020004" pitchFamily="49" charset="0"/>
              </a:rPr>
              <a:t>)malloc(</a:t>
            </a:r>
            <a:r>
              <a:rPr lang="en-US" altLang="zh-CN" sz="1600" dirty="0" err="1">
                <a:ea typeface="Fira Code" panose="020B0809050000020004" pitchFamily="49" charset="0"/>
              </a:rPr>
              <a:t>sizeof</a:t>
            </a:r>
            <a:r>
              <a:rPr lang="en-US" altLang="zh-CN" sz="1600" dirty="0">
                <a:ea typeface="Fira Code" panose="020B0809050000020004" pitchFamily="49" charset="0"/>
              </a:rPr>
              <a:t>(node));</a:t>
            </a:r>
          </a:p>
          <a:p>
            <a:r>
              <a:rPr lang="en-US" altLang="zh-CN" sz="1600" dirty="0">
                <a:ea typeface="Fira Code" panose="020B0809050000020004" pitchFamily="49" charset="0"/>
              </a:rPr>
              <a:t>   p-&gt;data = z;</a:t>
            </a:r>
            <a:endParaRPr lang="zh-CN" altLang="en-US" sz="16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2F5753E-5492-4D66-8E0A-D00FAE94DA39}"/>
              </a:ext>
            </a:extLst>
          </p:cNvPr>
          <p:cNvSpPr txBox="1"/>
          <p:nvPr/>
        </p:nvSpPr>
        <p:spPr>
          <a:xfrm>
            <a:off x="5081589" y="2232865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a typeface="Fira Code" panose="020B0809050000020004" pitchFamily="49" charset="0"/>
              </a:rPr>
              <a:t>2. p-&gt;next = pre-&gt;next;</a:t>
            </a:r>
            <a:endParaRPr lang="zh-CN" altLang="en-US" sz="16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62A69A0-AC26-436E-A6C9-36D407E88F04}"/>
              </a:ext>
            </a:extLst>
          </p:cNvPr>
          <p:cNvSpPr txBox="1"/>
          <p:nvPr/>
        </p:nvSpPr>
        <p:spPr>
          <a:xfrm>
            <a:off x="5081589" y="2667749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a typeface="Fira Code" panose="020B0809050000020004" pitchFamily="49" charset="0"/>
              </a:rPr>
              <a:t>3</a:t>
            </a:r>
            <a:r>
              <a:rPr lang="en-US" altLang="zh-CN" sz="1600">
                <a:ea typeface="Fira Code" panose="020B0809050000020004" pitchFamily="49" charset="0"/>
              </a:rPr>
              <a:t>. pre-</a:t>
            </a:r>
            <a:r>
              <a:rPr lang="en-US" altLang="zh-CN" sz="1600" dirty="0">
                <a:ea typeface="Fira Code" panose="020B0809050000020004" pitchFamily="49" charset="0"/>
              </a:rPr>
              <a:t>&gt;next = p;</a:t>
            </a:r>
            <a:endParaRPr lang="zh-CN" altLang="en-US" sz="16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A68BC23-11AB-B4BD-884D-28BD8F14D545}"/>
              </a:ext>
            </a:extLst>
          </p:cNvPr>
          <p:cNvSpPr txBox="1"/>
          <p:nvPr/>
        </p:nvSpPr>
        <p:spPr>
          <a:xfrm>
            <a:off x="4577369" y="4490440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ea typeface="Fira Code" panose="020B0809050000020004" pitchFamily="49" charset="0"/>
              </a:rPr>
              <a:t>pre</a:t>
            </a:r>
            <a:endParaRPr lang="zh-CN" altLang="en-US" sz="1400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F112678-0C43-4AB1-FFA2-99419CA04F38}"/>
              </a:ext>
            </a:extLst>
          </p:cNvPr>
          <p:cNvCxnSpPr>
            <a:cxnSpLocks/>
            <a:stCxn id="43" idx="0"/>
            <a:endCxn id="35" idx="2"/>
          </p:cNvCxnSpPr>
          <p:nvPr/>
        </p:nvCxnSpPr>
        <p:spPr>
          <a:xfrm flipV="1">
            <a:off x="5923204" y="5364933"/>
            <a:ext cx="16446" cy="303557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BB25184-EAE6-ABDA-3D1E-4094A432F6DF}"/>
              </a:ext>
            </a:extLst>
          </p:cNvPr>
          <p:cNvCxnSpPr>
            <a:cxnSpLocks/>
            <a:stCxn id="41" idx="0"/>
            <a:endCxn id="28" idx="2"/>
          </p:cNvCxnSpPr>
          <p:nvPr/>
        </p:nvCxnSpPr>
        <p:spPr>
          <a:xfrm flipV="1">
            <a:off x="4899712" y="4181193"/>
            <a:ext cx="0" cy="309247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86A9337-1CB4-D275-0A64-90A2AE0C348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860322" y="3880607"/>
            <a:ext cx="749940" cy="11136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159A4506-FAFD-99A4-0843-8D31BE107E39}"/>
              </a:ext>
            </a:extLst>
          </p:cNvPr>
          <p:cNvSpPr/>
          <p:nvPr/>
        </p:nvSpPr>
        <p:spPr>
          <a:xfrm>
            <a:off x="1796620" y="4815087"/>
            <a:ext cx="2420856" cy="756518"/>
          </a:xfrm>
          <a:prstGeom prst="wedgeRectCallout">
            <a:avLst>
              <a:gd name="adj1" fmla="val 65291"/>
              <a:gd name="adj2" fmla="val -50378"/>
            </a:avLst>
          </a:pr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cs typeface="Fira Code" pitchFamily="1" charset="0"/>
              </a:rPr>
              <a:t>如果</a:t>
            </a:r>
            <a:r>
              <a:rPr lang="en-US" altLang="zh-CN">
                <a:solidFill>
                  <a:schemeClr val="tx1"/>
                </a:solidFill>
                <a:ea typeface="Fira Code" pitchFamily="1" charset="0"/>
                <a:cs typeface="Fira Code" pitchFamily="1" charset="0"/>
              </a:rPr>
              <a:t>pre</a:t>
            </a:r>
            <a:r>
              <a:rPr lang="zh-CN" altLang="en-US">
                <a:solidFill>
                  <a:schemeClr val="tx1"/>
                </a:solidFill>
                <a:cs typeface="Fira Code" pitchFamily="1" charset="0"/>
              </a:rPr>
              <a:t>是</a:t>
            </a:r>
            <a:r>
              <a:rPr lang="zh-CN" altLang="en-US" dirty="0">
                <a:solidFill>
                  <a:schemeClr val="tx1"/>
                </a:solidFill>
                <a:cs typeface="Fira Code" pitchFamily="1" charset="0"/>
              </a:rPr>
              <a:t>尾结点，结果如何？</a:t>
            </a:r>
          </a:p>
        </p:txBody>
      </p:sp>
    </p:spTree>
    <p:extLst>
      <p:ext uri="{BB962C8B-B14F-4D97-AF65-F5344CB8AC3E}">
        <p14:creationId xmlns:p14="http://schemas.microsoft.com/office/powerpoint/2010/main" val="360078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0" grpId="0"/>
      <p:bldP spid="51" grpId="0"/>
      <p:bldP spid="52" grpId="0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1CAB6-3154-4E98-9C7D-1C497096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链表：在某个结点后删除结点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6D6D6-C9C9-434F-A0AB-712E60DB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在结点</a:t>
            </a:r>
            <a:r>
              <a:rPr lang="en-US" altLang="zh-CN"/>
              <a:t>pre</a:t>
            </a:r>
            <a:r>
              <a:rPr lang="zh-CN" altLang="en-US"/>
              <a:t>后</a:t>
            </a:r>
            <a:r>
              <a:rPr lang="zh-CN" altLang="en-US" dirty="0"/>
              <a:t>删除结点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AFA2A77-E4FD-462B-A6EF-2D5E89EEFC26}"/>
              </a:ext>
            </a:extLst>
          </p:cNvPr>
          <p:cNvGrpSpPr/>
          <p:nvPr/>
        </p:nvGrpSpPr>
        <p:grpSpPr>
          <a:xfrm>
            <a:off x="5574108" y="3581641"/>
            <a:ext cx="1238935" cy="915965"/>
            <a:chOff x="2736621" y="3353427"/>
            <a:chExt cx="1238935" cy="91596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E3D4F6-FCD0-452C-B338-6A29AF54F26A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y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9A9C97C-2BC3-47E1-BF44-40E5A17002E4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C2F0E44-DA6E-4365-B701-F176168DF47E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B48267A-B867-424D-A355-A52356FE9A32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4146DA7-85B3-4ABB-B15A-DF2F1250395C}"/>
              </a:ext>
            </a:extLst>
          </p:cNvPr>
          <p:cNvGrpSpPr/>
          <p:nvPr/>
        </p:nvGrpSpPr>
        <p:grpSpPr>
          <a:xfrm>
            <a:off x="7489523" y="3583286"/>
            <a:ext cx="1238935" cy="915965"/>
            <a:chOff x="2736621" y="3353427"/>
            <a:chExt cx="1238935" cy="915965"/>
          </a:xfrm>
          <a:effectLst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ABFCF73-C225-4E54-AB3F-290DB531ECBE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a typeface="Fira Code" panose="020B0809050000020004" pitchFamily="49" charset="0"/>
                </a:rPr>
                <a:t>z</a:t>
              </a:r>
              <a:endParaRPr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762D44-B028-410E-A86D-5F1595A95340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A734320-7ED0-4A9A-8F5C-A1A8F7C3CC6C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0B983E0-9649-430C-B499-8734C5670F45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594BD18-5D66-40B1-B002-91494898E41E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6780151" y="4208156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00989CF-5BAB-4372-A9B2-9B3F0AC3491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695566" y="4208156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F064DE4-1434-4161-B95A-0F69BA6CB07B}"/>
              </a:ext>
            </a:extLst>
          </p:cNvPr>
          <p:cNvGrpSpPr/>
          <p:nvPr/>
        </p:nvGrpSpPr>
        <p:grpSpPr>
          <a:xfrm>
            <a:off x="3527123" y="3581641"/>
            <a:ext cx="1238935" cy="915965"/>
            <a:chOff x="2736621" y="3353427"/>
            <a:chExt cx="1238935" cy="915965"/>
          </a:xfrm>
          <a:effectLst/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87C8E3-EFB1-431A-9D22-12E6E65AD65F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F6F469B-A140-42C5-AB6C-76A4098A31DE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2D01A84-97E7-4357-A4BE-49A5BF5BAFC7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data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BF55CD9-36A9-405D-B97F-2F36B5886DAE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65000"/>
                    </a:schemeClr>
                  </a:solidFill>
                  <a:ea typeface="Fira Code" panose="020B0809050000020004" pitchFamily="49" charset="0"/>
                </a:rPr>
                <a:t>next</a:t>
              </a:r>
              <a:endParaRPr lang="zh-CN" altLang="en-US" sz="14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1A3BBB6-A179-4AD8-B7B0-0AEFA975FD18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4733166" y="4208156"/>
            <a:ext cx="873835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1D9472B-F453-4BD3-84AC-C993FBA7FBF1}"/>
              </a:ext>
            </a:extLst>
          </p:cNvPr>
          <p:cNvCxnSpPr>
            <a:cxnSpLocks/>
            <a:stCxn id="43" idx="0"/>
            <a:endCxn id="5" idx="2"/>
          </p:cNvCxnSpPr>
          <p:nvPr/>
        </p:nvCxnSpPr>
        <p:spPr>
          <a:xfrm flipV="1">
            <a:off x="5896450" y="4497606"/>
            <a:ext cx="1" cy="526778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05560F3-8605-4EA7-B1EE-95AD37894E92}"/>
              </a:ext>
            </a:extLst>
          </p:cNvPr>
          <p:cNvSpPr txBox="1"/>
          <p:nvPr/>
        </p:nvSpPr>
        <p:spPr>
          <a:xfrm>
            <a:off x="5574107" y="5024384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ea typeface="Fira Code" panose="020B0809050000020004" pitchFamily="49" charset="0"/>
              </a:rPr>
              <a:t>p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2D53123-5CDA-46D3-86C0-0B1965352B4C}"/>
              </a:ext>
            </a:extLst>
          </p:cNvPr>
          <p:cNvSpPr txBox="1"/>
          <p:nvPr/>
        </p:nvSpPr>
        <p:spPr>
          <a:xfrm>
            <a:off x="5147733" y="1822349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 err="1">
                <a:ea typeface="Fira Code" panose="020B0809050000020004" pitchFamily="49" charset="0"/>
              </a:rPr>
              <a:t>nodeptr</a:t>
            </a:r>
            <a:r>
              <a:rPr lang="en-US" altLang="zh-CN" sz="1600" dirty="0">
                <a:ea typeface="Fira Code" panose="020B0809050000020004" pitchFamily="49" charset="0"/>
              </a:rPr>
              <a:t> p </a:t>
            </a:r>
            <a:r>
              <a:rPr lang="en-US" altLang="zh-CN" sz="1600">
                <a:ea typeface="Fira Code" panose="020B0809050000020004" pitchFamily="49" charset="0"/>
              </a:rPr>
              <a:t>= pre-</a:t>
            </a:r>
            <a:r>
              <a:rPr lang="en-US" altLang="zh-CN" sz="1600" dirty="0">
                <a:ea typeface="Fira Code" panose="020B0809050000020004" pitchFamily="49" charset="0"/>
              </a:rPr>
              <a:t>&gt;next;</a:t>
            </a:r>
            <a:endParaRPr lang="zh-CN" altLang="en-US" sz="16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2F5753E-5492-4D66-8E0A-D00FAE94DA39}"/>
              </a:ext>
            </a:extLst>
          </p:cNvPr>
          <p:cNvSpPr txBox="1"/>
          <p:nvPr/>
        </p:nvSpPr>
        <p:spPr>
          <a:xfrm>
            <a:off x="5147733" y="2380343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a typeface="Fira Code" panose="020B0809050000020004" pitchFamily="49" charset="0"/>
              </a:rPr>
              <a:t>2</a:t>
            </a:r>
            <a:r>
              <a:rPr lang="en-US" altLang="zh-CN" sz="1600">
                <a:ea typeface="Fira Code" panose="020B0809050000020004" pitchFamily="49" charset="0"/>
              </a:rPr>
              <a:t>. pre-</a:t>
            </a:r>
            <a:r>
              <a:rPr lang="en-US" altLang="zh-CN" sz="1600" dirty="0">
                <a:ea typeface="Fira Code" panose="020B0809050000020004" pitchFamily="49" charset="0"/>
              </a:rPr>
              <a:t>&gt;next = p-&gt;next;</a:t>
            </a:r>
            <a:endParaRPr lang="zh-CN" altLang="en-US" sz="16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62A69A0-AC26-436E-A6C9-36D407E88F04}"/>
              </a:ext>
            </a:extLst>
          </p:cNvPr>
          <p:cNvSpPr txBox="1"/>
          <p:nvPr/>
        </p:nvSpPr>
        <p:spPr>
          <a:xfrm>
            <a:off x="5147733" y="2938338"/>
            <a:ext cx="627221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a typeface="Fira Code" panose="020B0809050000020004" pitchFamily="49" charset="0"/>
              </a:rPr>
              <a:t>3. free(p);</a:t>
            </a:r>
            <a:endParaRPr lang="zh-CN" altLang="en-US" sz="1600" dirty="0"/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C6EF8ECA-6EB8-467E-A4E2-F94EABD0EE94}"/>
              </a:ext>
            </a:extLst>
          </p:cNvPr>
          <p:cNvCxnSpPr>
            <a:cxnSpLocks/>
            <a:stCxn id="29" idx="2"/>
            <a:endCxn id="10" idx="2"/>
          </p:cNvCxnSpPr>
          <p:nvPr/>
        </p:nvCxnSpPr>
        <p:spPr>
          <a:xfrm rot="16200000" flipH="1">
            <a:off x="6126969" y="2814353"/>
            <a:ext cx="1645" cy="3368150"/>
          </a:xfrm>
          <a:prstGeom prst="curvedConnector3">
            <a:avLst>
              <a:gd name="adj1" fmla="val 20584742"/>
            </a:avLst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B20D595-1445-6B9F-3A9A-A0B82179DB84}"/>
              </a:ext>
            </a:extLst>
          </p:cNvPr>
          <p:cNvSpPr txBox="1"/>
          <p:nvPr/>
        </p:nvSpPr>
        <p:spPr>
          <a:xfrm>
            <a:off x="3527123" y="5024384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ea typeface="Fira Code" panose="020B0809050000020004" pitchFamily="49" charset="0"/>
              </a:rPr>
              <a:t>pre</a:t>
            </a:r>
            <a:endParaRPr lang="zh-CN" altLang="en-US" sz="14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CC9A230-04B0-4351-2ECD-364B57448E4E}"/>
              </a:ext>
            </a:extLst>
          </p:cNvPr>
          <p:cNvCxnSpPr>
            <a:cxnSpLocks/>
            <a:stCxn id="34" idx="0"/>
            <a:endCxn id="28" idx="2"/>
          </p:cNvCxnSpPr>
          <p:nvPr/>
        </p:nvCxnSpPr>
        <p:spPr>
          <a:xfrm flipV="1">
            <a:off x="3849466" y="4497606"/>
            <a:ext cx="0" cy="526778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E4F6262-3E7D-7971-4461-20D57C5B305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2802401" y="4208156"/>
            <a:ext cx="757615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对话气泡: 矩形 48">
            <a:extLst>
              <a:ext uri="{FF2B5EF4-FFF2-40B4-BE49-F238E27FC236}">
                <a16:creationId xmlns:a16="http://schemas.microsoft.com/office/drawing/2014/main" id="{CBE8CB2B-4C21-EFEA-6320-D0A41ECD664D}"/>
              </a:ext>
            </a:extLst>
          </p:cNvPr>
          <p:cNvSpPr/>
          <p:nvPr/>
        </p:nvSpPr>
        <p:spPr>
          <a:xfrm>
            <a:off x="8371623" y="2564331"/>
            <a:ext cx="2420856" cy="756518"/>
          </a:xfrm>
          <a:prstGeom prst="wedgeRectCallout">
            <a:avLst>
              <a:gd name="adj1" fmla="val -58974"/>
              <a:gd name="adj2" fmla="val 6553"/>
            </a:avLst>
          </a:pr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cs typeface="Fira Code" pitchFamily="1" charset="0"/>
              </a:rPr>
              <a:t>如果</a:t>
            </a:r>
            <a:r>
              <a:rPr lang="en-US" altLang="zh-CN" dirty="0">
                <a:solidFill>
                  <a:schemeClr val="tx1"/>
                </a:solidFill>
                <a:ea typeface="Fira Code" pitchFamily="1" charset="0"/>
                <a:cs typeface="Fira Code" pitchFamily="1" charset="0"/>
              </a:rPr>
              <a:t>p</a:t>
            </a:r>
            <a:r>
              <a:rPr lang="zh-CN" altLang="en-US" dirty="0">
                <a:solidFill>
                  <a:schemeClr val="tx1"/>
                </a:solidFill>
                <a:cs typeface="Fira Code" pitchFamily="1" charset="0"/>
              </a:rPr>
              <a:t>是尾结点，结果如何？</a:t>
            </a:r>
          </a:p>
        </p:txBody>
      </p:sp>
    </p:spTree>
    <p:extLst>
      <p:ext uri="{BB962C8B-B14F-4D97-AF65-F5344CB8AC3E}">
        <p14:creationId xmlns:p14="http://schemas.microsoft.com/office/powerpoint/2010/main" val="128099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50" grpId="0"/>
      <p:bldP spid="51" grpId="0"/>
      <p:bldP spid="52" grpId="0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7730A-3C36-4493-A36F-6118D3EB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链表：如何找到</a:t>
            </a:r>
            <a:r>
              <a:rPr lang="en-US" altLang="zh-CN" dirty="0"/>
              <a:t>pre</a:t>
            </a:r>
            <a:r>
              <a:rPr lang="zh-CN" altLang="en-US" dirty="0"/>
              <a:t>结点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8CC6C-90F0-47C7-8C1A-4D8DDAEE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插入和删除的关键问题：</a:t>
            </a:r>
            <a:r>
              <a:rPr lang="zh-CN" altLang="en-US" dirty="0"/>
              <a:t>如何定位</a:t>
            </a:r>
            <a:r>
              <a:rPr lang="en-US" altLang="zh-CN" dirty="0"/>
              <a:t>pre</a:t>
            </a:r>
            <a:r>
              <a:rPr lang="zh-CN" altLang="en-US" dirty="0"/>
              <a:t>结点？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pre</a:t>
            </a:r>
            <a:r>
              <a:rPr lang="zh-CN" altLang="en-US" dirty="0"/>
              <a:t>是头结点。这个很简单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pre</a:t>
            </a:r>
            <a:r>
              <a:rPr lang="zh-CN" altLang="en-US" dirty="0"/>
              <a:t>是尾结点（在尾结点后插入时）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zh-CN" altLang="en-US" dirty="0"/>
              <a:t>是尾结点的前一个（删除尾结点时）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pre</a:t>
            </a:r>
            <a:r>
              <a:rPr lang="zh-CN" altLang="en-US" dirty="0"/>
              <a:t>是除以上情况的任意结点。前提：给定插入位置</a:t>
            </a:r>
            <a:endParaRPr lang="en-US" altLang="zh-CN" dirty="0"/>
          </a:p>
          <a:p>
            <a:r>
              <a:rPr lang="zh-CN" altLang="en-US" dirty="0"/>
              <a:t>情况</a:t>
            </a:r>
            <a:r>
              <a:rPr lang="en-US" altLang="zh-CN" dirty="0"/>
              <a:t>2~4</a:t>
            </a:r>
          </a:p>
          <a:p>
            <a:pPr lvl="1"/>
            <a:r>
              <a:rPr lang="zh-CN" altLang="en-US" dirty="0"/>
              <a:t>链表的非顺序存储结构决定了它没有随机访问能力，因此只能从头开始遍历链表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7702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B890-0D8A-44FF-932B-96972FC9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</a:t>
            </a:r>
            <a:r>
              <a:rPr lang="zh-CN" altLang="en-US"/>
              <a:t>如何找到</a:t>
            </a:r>
            <a:r>
              <a:rPr lang="en-US" altLang="zh-CN"/>
              <a:t>pre</a:t>
            </a:r>
            <a:r>
              <a:rPr lang="zh-CN" altLang="en-US"/>
              <a:t>结点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CA8099-0E7D-4961-9E6F-F54B6AE8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定位指针</a:t>
            </a:r>
            <a:r>
              <a:rPr lang="en-US" altLang="zh-CN" dirty="0"/>
              <a:t>pre</a:t>
            </a:r>
            <a:r>
              <a:rPr lang="zh-CN" altLang="en-US" dirty="0"/>
              <a:t>到尾结点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nodeptr</a:t>
            </a:r>
            <a:r>
              <a:rPr lang="en-US" altLang="zh-CN" dirty="0"/>
              <a:t> pre = </a:t>
            </a:r>
            <a:r>
              <a:rPr lang="en-US" altLang="zh-CN" b="1" i="1" dirty="0">
                <a:solidFill>
                  <a:srgbClr val="FF0000"/>
                </a:solidFill>
              </a:rPr>
              <a:t>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while (</a:t>
            </a:r>
            <a:r>
              <a:rPr lang="en-US" altLang="zh-CN" b="1" i="1" dirty="0">
                <a:solidFill>
                  <a:srgbClr val="FF0000"/>
                </a:solidFill>
              </a:rPr>
              <a:t>pre-&gt;next </a:t>
            </a:r>
            <a:r>
              <a:rPr lang="en-US" altLang="zh-CN" dirty="0"/>
              <a:t>!= NULL)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C000"/>
                </a:solidFill>
              </a:rPr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pre = pre-&gt;next</a:t>
            </a:r>
            <a:r>
              <a:rPr lang="en-US" altLang="zh-CN" dirty="0"/>
              <a:t>;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7DA0BC2-5C2C-8550-72F5-B3A7EBEA3425}"/>
              </a:ext>
            </a:extLst>
          </p:cNvPr>
          <p:cNvGrpSpPr/>
          <p:nvPr/>
        </p:nvGrpSpPr>
        <p:grpSpPr>
          <a:xfrm>
            <a:off x="7174205" y="2061676"/>
            <a:ext cx="1964754" cy="2381108"/>
            <a:chOff x="7959816" y="2866605"/>
            <a:chExt cx="1964754" cy="2381108"/>
          </a:xfrm>
          <a:effectLst/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DE7A8CC-BD5D-C72B-A03C-F1CA814183E3}"/>
                </a:ext>
              </a:extLst>
            </p:cNvPr>
            <p:cNvGrpSpPr/>
            <p:nvPr/>
          </p:nvGrpSpPr>
          <p:grpSpPr>
            <a:xfrm>
              <a:off x="8685635" y="3451470"/>
              <a:ext cx="1238935" cy="1796243"/>
              <a:chOff x="8241314" y="3148816"/>
              <a:chExt cx="1238935" cy="1796243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C3E5E690-B40B-B0F9-4A1C-B5EEDB43EDF4}"/>
                  </a:ext>
                </a:extLst>
              </p:cNvPr>
              <p:cNvGrpSpPr/>
              <p:nvPr/>
            </p:nvGrpSpPr>
            <p:grpSpPr>
              <a:xfrm>
                <a:off x="8241314" y="3148816"/>
                <a:ext cx="1238935" cy="828045"/>
                <a:chOff x="2736621" y="3441347"/>
                <a:chExt cx="1238935" cy="82804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109AC3E-3DFC-4DE2-8560-18E26F8D7368}"/>
                    </a:ext>
                  </a:extLst>
                </p:cNvPr>
                <p:cNvSpPr/>
                <p:nvPr/>
              </p:nvSpPr>
              <p:spPr>
                <a:xfrm>
                  <a:off x="2769514" y="3690492"/>
                  <a:ext cx="578900" cy="578900"/>
                </a:xfrm>
                <a:prstGeom prst="rect">
                  <a:avLst/>
                </a:prstGeom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x</a:t>
                  </a:r>
                  <a:endParaRPr lang="zh-CN" altLang="en-US" dirty="0"/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2BBE8ED1-6B2D-A476-282B-18E009ADF4C1}"/>
                    </a:ext>
                  </a:extLst>
                </p:cNvPr>
                <p:cNvSpPr/>
                <p:nvPr/>
              </p:nvSpPr>
              <p:spPr>
                <a:xfrm>
                  <a:off x="3363764" y="3690492"/>
                  <a:ext cx="578900" cy="578900"/>
                </a:xfrm>
                <a:prstGeom prst="rect">
                  <a:avLst/>
                </a:prstGeom>
                <a:effectLst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^</a:t>
                  </a:r>
                  <a:endParaRPr lang="zh-CN" altLang="en-US" dirty="0"/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3396539-7EA5-913E-044F-78FF4EF853B0}"/>
                    </a:ext>
                  </a:extLst>
                </p:cNvPr>
                <p:cNvSpPr txBox="1"/>
                <p:nvPr/>
              </p:nvSpPr>
              <p:spPr>
                <a:xfrm>
                  <a:off x="2736621" y="3441347"/>
                  <a:ext cx="644685" cy="24622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solidFill>
                        <a:schemeClr val="tx1">
                          <a:lumMod val="75000"/>
                        </a:schemeClr>
                      </a:solidFill>
                    </a:rPr>
                    <a:t>data</a:t>
                  </a:r>
                  <a:endParaRPr lang="zh-CN" altLang="en-US" sz="10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EEF817D-509A-90DE-098C-5078C8CB115E}"/>
                    </a:ext>
                  </a:extLst>
                </p:cNvPr>
                <p:cNvSpPr txBox="1"/>
                <p:nvPr/>
              </p:nvSpPr>
              <p:spPr>
                <a:xfrm>
                  <a:off x="3330871" y="3441347"/>
                  <a:ext cx="644685" cy="24622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solidFill>
                        <a:schemeClr val="tx1">
                          <a:lumMod val="75000"/>
                        </a:schemeClr>
                      </a:solidFill>
                    </a:rPr>
                    <a:t>next</a:t>
                  </a:r>
                  <a:endParaRPr lang="zh-CN" altLang="en-US" sz="10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89E470B3-3BEF-BB02-FA8A-99B4479146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53107" y="3976861"/>
                <a:ext cx="0" cy="545106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9DABD9A-1604-715C-36A2-1A8223C8952D}"/>
                  </a:ext>
                </a:extLst>
              </p:cNvPr>
              <p:cNvSpPr txBox="1"/>
              <p:nvPr/>
            </p:nvSpPr>
            <p:spPr>
              <a:xfrm>
                <a:off x="8530764" y="4637282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pre</a:t>
                </a:r>
                <a:endParaRPr lang="zh-CN" altLang="en-US" sz="1400" dirty="0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081027D-1CE1-D084-42C0-AECBDE3A64D8}"/>
                </a:ext>
              </a:extLst>
            </p:cNvPr>
            <p:cNvSpPr txBox="1"/>
            <p:nvPr/>
          </p:nvSpPr>
          <p:spPr>
            <a:xfrm>
              <a:off x="8664549" y="2866605"/>
              <a:ext cx="122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/>
                <a:t>pre</a:t>
              </a:r>
              <a:r>
                <a:rPr lang="zh-CN" altLang="en-US" sz="1200"/>
                <a:t>指针</a:t>
              </a:r>
              <a:r>
                <a:rPr lang="zh-CN" altLang="en-US" sz="1200" dirty="0"/>
                <a:t>停下来的时候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160814B8-8C52-7837-8193-C46DC0B9BCD1}"/>
                </a:ext>
              </a:extLst>
            </p:cNvPr>
            <p:cNvCxnSpPr/>
            <p:nvPr/>
          </p:nvCxnSpPr>
          <p:spPr>
            <a:xfrm>
              <a:off x="7959816" y="3987780"/>
              <a:ext cx="742265" cy="1645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747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B890-0D8A-44FF-932B-96972FC9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</a:t>
            </a:r>
            <a:r>
              <a:rPr lang="zh-CN" altLang="en-US"/>
              <a:t>如何找到</a:t>
            </a:r>
            <a:r>
              <a:rPr lang="en-US" altLang="zh-CN"/>
              <a:t>pre</a:t>
            </a:r>
            <a:r>
              <a:rPr lang="zh-CN" altLang="en-US"/>
              <a:t>结点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CA8099-0E7D-4961-9E6F-F54B6AE82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008"/>
            <a:ext cx="10209211" cy="4856851"/>
          </a:xfrm>
        </p:spPr>
        <p:txBody>
          <a:bodyPr>
            <a:normAutofit/>
          </a:bodyPr>
          <a:lstStyle/>
          <a:p>
            <a:r>
              <a:rPr lang="zh-CN" altLang="en-US" dirty="0"/>
              <a:t>定位</a:t>
            </a:r>
            <a:r>
              <a:rPr lang="en-US" altLang="zh-CN" dirty="0"/>
              <a:t>pre</a:t>
            </a:r>
            <a:r>
              <a:rPr lang="zh-CN" altLang="en-US" dirty="0"/>
              <a:t>到尾结点的前一个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采用双指针（一种快慢指针）技术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err="1"/>
              <a:t>nodeptr</a:t>
            </a:r>
            <a:r>
              <a:rPr lang="en-US" altLang="zh-CN" dirty="0"/>
              <a:t> pre = </a:t>
            </a:r>
            <a:r>
              <a:rPr lang="en-US" altLang="zh-CN" b="1" i="1" dirty="0">
                <a:solidFill>
                  <a:srgbClr val="FF0000"/>
                </a:solidFill>
              </a:rPr>
              <a:t>L</a:t>
            </a:r>
            <a:r>
              <a:rPr lang="en-US" altLang="zh-CN" dirty="0"/>
              <a:t>, 	 //</a:t>
            </a:r>
            <a:r>
              <a:rPr lang="zh-CN" altLang="en-US" dirty="0"/>
              <a:t>慢指针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p = </a:t>
            </a:r>
            <a:r>
              <a:rPr lang="en-US" altLang="zh-CN" b="1" i="1" dirty="0">
                <a:solidFill>
                  <a:srgbClr val="FF0000"/>
                </a:solidFill>
              </a:rPr>
              <a:t>pre-&gt;next</a:t>
            </a:r>
            <a:r>
              <a:rPr lang="en-US" altLang="zh-CN" dirty="0"/>
              <a:t>; //</a:t>
            </a:r>
            <a:r>
              <a:rPr lang="zh-CN" altLang="en-US" dirty="0"/>
              <a:t>快指针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while (</a:t>
            </a:r>
            <a:r>
              <a:rPr lang="en-US" altLang="zh-CN" b="1" i="1" dirty="0">
                <a:solidFill>
                  <a:srgbClr val="FF0000"/>
                </a:solidFill>
              </a:rPr>
              <a:t>p-&gt;next</a:t>
            </a:r>
            <a:r>
              <a:rPr lang="en-US" altLang="zh-CN" b="1" i="1" dirty="0">
                <a:solidFill>
                  <a:srgbClr val="FFC000"/>
                </a:solidFill>
              </a:rPr>
              <a:t> </a:t>
            </a:r>
            <a:r>
              <a:rPr lang="en-US" altLang="zh-CN" dirty="0"/>
              <a:t>!= NULL) 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pre = pre-&gt;next</a:t>
            </a:r>
            <a:r>
              <a:rPr lang="en-US" altLang="zh-CN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	p = p-&gt;next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5B4806F-F52B-8EF5-0098-8645F97E752E}"/>
              </a:ext>
            </a:extLst>
          </p:cNvPr>
          <p:cNvGrpSpPr/>
          <p:nvPr/>
        </p:nvGrpSpPr>
        <p:grpSpPr>
          <a:xfrm>
            <a:off x="6875763" y="2416236"/>
            <a:ext cx="3469264" cy="2263766"/>
            <a:chOff x="7281448" y="2718890"/>
            <a:chExt cx="3469264" cy="2263766"/>
          </a:xfrm>
          <a:effectLst/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057EA82-6A83-873B-AA97-FA3AEFA10165}"/>
                </a:ext>
              </a:extLst>
            </p:cNvPr>
            <p:cNvGrpSpPr/>
            <p:nvPr/>
          </p:nvGrpSpPr>
          <p:grpSpPr>
            <a:xfrm>
              <a:off x="9511777" y="3186413"/>
              <a:ext cx="1238935" cy="1796243"/>
              <a:chOff x="8241314" y="3148816"/>
              <a:chExt cx="1238935" cy="1796243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43F17809-A424-7641-DC1B-B1BD367864B6}"/>
                  </a:ext>
                </a:extLst>
              </p:cNvPr>
              <p:cNvGrpSpPr/>
              <p:nvPr/>
            </p:nvGrpSpPr>
            <p:grpSpPr>
              <a:xfrm>
                <a:off x="8241314" y="3148816"/>
                <a:ext cx="1238935" cy="828045"/>
                <a:chOff x="2736621" y="3441347"/>
                <a:chExt cx="1238935" cy="82804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28670AD-73F1-3D5A-4AD4-78CC73A01819}"/>
                    </a:ext>
                  </a:extLst>
                </p:cNvPr>
                <p:cNvSpPr/>
                <p:nvPr/>
              </p:nvSpPr>
              <p:spPr>
                <a:xfrm>
                  <a:off x="2769513" y="3690492"/>
                  <a:ext cx="611787" cy="5789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y</a:t>
                  </a:r>
                  <a:endParaRPr lang="zh-CN" altLang="en-US" dirty="0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AA8BEA75-CB89-31E5-8983-66E37C25547F}"/>
                    </a:ext>
                  </a:extLst>
                </p:cNvPr>
                <p:cNvSpPr/>
                <p:nvPr/>
              </p:nvSpPr>
              <p:spPr>
                <a:xfrm>
                  <a:off x="3363764" y="3690492"/>
                  <a:ext cx="578900" cy="578900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^</a:t>
                  </a:r>
                  <a:endParaRPr lang="zh-CN" altLang="en-US" dirty="0"/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AAD8314-01F2-B338-72D5-6DE93D970635}"/>
                    </a:ext>
                  </a:extLst>
                </p:cNvPr>
                <p:cNvSpPr txBox="1"/>
                <p:nvPr/>
              </p:nvSpPr>
              <p:spPr>
                <a:xfrm>
                  <a:off x="2736621" y="3441347"/>
                  <a:ext cx="6446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solidFill>
                        <a:schemeClr val="tx1">
                          <a:lumMod val="75000"/>
                        </a:schemeClr>
                      </a:solidFill>
                    </a:rPr>
                    <a:t>data</a:t>
                  </a:r>
                  <a:endParaRPr lang="zh-CN" altLang="en-US" sz="10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BFCDC74-94F1-7321-3B5E-CEB6D55CD2D3}"/>
                    </a:ext>
                  </a:extLst>
                </p:cNvPr>
                <p:cNvSpPr txBox="1"/>
                <p:nvPr/>
              </p:nvSpPr>
              <p:spPr>
                <a:xfrm>
                  <a:off x="3330871" y="3441347"/>
                  <a:ext cx="6446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solidFill>
                        <a:schemeClr val="tx1">
                          <a:lumMod val="75000"/>
                        </a:schemeClr>
                      </a:solidFill>
                    </a:rPr>
                    <a:t>next</a:t>
                  </a:r>
                  <a:endParaRPr lang="zh-CN" altLang="en-US" sz="10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0997C3FC-D985-5C5F-286A-76584092DF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53107" y="3976861"/>
                <a:ext cx="0" cy="545106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585FA6C-F778-6DFD-B2DD-10D824007B28}"/>
                  </a:ext>
                </a:extLst>
              </p:cNvPr>
              <p:cNvSpPr txBox="1"/>
              <p:nvPr/>
            </p:nvSpPr>
            <p:spPr>
              <a:xfrm>
                <a:off x="8530764" y="4637282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p</a:t>
                </a:r>
                <a:endParaRPr lang="zh-CN" altLang="en-US" sz="1400" dirty="0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EAC695C-80E4-1CC6-04E8-F56BFB1EDF4B}"/>
                </a:ext>
              </a:extLst>
            </p:cNvPr>
            <p:cNvSpPr txBox="1"/>
            <p:nvPr/>
          </p:nvSpPr>
          <p:spPr>
            <a:xfrm>
              <a:off x="7597884" y="2718890"/>
              <a:ext cx="3066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/>
                <a:t>pre</a:t>
              </a:r>
              <a:r>
                <a:rPr lang="zh-CN" altLang="en-US" sz="1200"/>
                <a:t>指针</a:t>
              </a:r>
              <a:r>
                <a:rPr lang="zh-CN" altLang="en-US" sz="1200" dirty="0"/>
                <a:t>停下来的时候</a:t>
              </a: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0B2555F4-AE12-1194-FB86-377F1CE7FDB6}"/>
                </a:ext>
              </a:extLst>
            </p:cNvPr>
            <p:cNvGrpSpPr/>
            <p:nvPr/>
          </p:nvGrpSpPr>
          <p:grpSpPr>
            <a:xfrm>
              <a:off x="7793591" y="3186413"/>
              <a:ext cx="1238935" cy="1796243"/>
              <a:chOff x="8241314" y="3148816"/>
              <a:chExt cx="1238935" cy="1796243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3AB1C70E-C8C1-2C43-7D92-499B03E546DB}"/>
                  </a:ext>
                </a:extLst>
              </p:cNvPr>
              <p:cNvGrpSpPr/>
              <p:nvPr/>
            </p:nvGrpSpPr>
            <p:grpSpPr>
              <a:xfrm>
                <a:off x="8241314" y="3148816"/>
                <a:ext cx="1238935" cy="828045"/>
                <a:chOff x="2736621" y="3441347"/>
                <a:chExt cx="1238935" cy="82804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69BA4C1E-3C04-1F36-4BE4-4118810098AA}"/>
                    </a:ext>
                  </a:extLst>
                </p:cNvPr>
                <p:cNvSpPr/>
                <p:nvPr/>
              </p:nvSpPr>
              <p:spPr>
                <a:xfrm>
                  <a:off x="2769515" y="3690492"/>
                  <a:ext cx="578898" cy="5789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x</a:t>
                  </a:r>
                  <a:endParaRPr lang="zh-CN" altLang="en-US" dirty="0"/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B90D6440-27A7-670F-3614-6645A9A6B165}"/>
                    </a:ext>
                  </a:extLst>
                </p:cNvPr>
                <p:cNvSpPr/>
                <p:nvPr/>
              </p:nvSpPr>
              <p:spPr>
                <a:xfrm>
                  <a:off x="3348413" y="3690492"/>
                  <a:ext cx="594251" cy="5789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^</a:t>
                  </a:r>
                  <a:endParaRPr lang="zh-CN" altLang="en-US" dirty="0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AF91C72-BBCF-8A65-1576-ADE31AFD9F21}"/>
                    </a:ext>
                  </a:extLst>
                </p:cNvPr>
                <p:cNvSpPr txBox="1"/>
                <p:nvPr/>
              </p:nvSpPr>
              <p:spPr>
                <a:xfrm>
                  <a:off x="2736621" y="3441347"/>
                  <a:ext cx="6446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solidFill>
                        <a:schemeClr val="tx1">
                          <a:lumMod val="75000"/>
                        </a:schemeClr>
                      </a:solidFill>
                    </a:rPr>
                    <a:t>data</a:t>
                  </a:r>
                  <a:endParaRPr lang="zh-CN" altLang="en-US" sz="10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463269A-9EEF-FD15-29B7-4CE40AA77103}"/>
                    </a:ext>
                  </a:extLst>
                </p:cNvPr>
                <p:cNvSpPr txBox="1"/>
                <p:nvPr/>
              </p:nvSpPr>
              <p:spPr>
                <a:xfrm>
                  <a:off x="3330871" y="3441347"/>
                  <a:ext cx="6446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solidFill>
                        <a:schemeClr val="tx1">
                          <a:lumMod val="75000"/>
                        </a:schemeClr>
                      </a:solidFill>
                    </a:rPr>
                    <a:t>next</a:t>
                  </a:r>
                  <a:endParaRPr lang="zh-CN" altLang="en-US" sz="10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BA827E7E-20FA-EDEB-E17D-93B53AD257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53107" y="3976861"/>
                <a:ext cx="0" cy="545106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D4C3566-34B7-1955-F85F-8A33CE84DCD2}"/>
                  </a:ext>
                </a:extLst>
              </p:cNvPr>
              <p:cNvSpPr txBox="1"/>
              <p:nvPr/>
            </p:nvSpPr>
            <p:spPr>
              <a:xfrm>
                <a:off x="8530764" y="4637282"/>
                <a:ext cx="6446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pre</a:t>
                </a:r>
                <a:endParaRPr lang="zh-CN" altLang="en-US" sz="1400" dirty="0"/>
              </a:p>
            </p:txBody>
          </p:sp>
        </p:grp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3A5D815-CF39-F669-26A6-77FEF8C13DFD}"/>
                </a:ext>
              </a:extLst>
            </p:cNvPr>
            <p:cNvCxnSpPr>
              <a:cxnSpLocks/>
              <a:stCxn id="20" idx="3"/>
              <a:endCxn id="11" idx="1"/>
            </p:cNvCxnSpPr>
            <p:nvPr/>
          </p:nvCxnSpPr>
          <p:spPr>
            <a:xfrm>
              <a:off x="8999634" y="3725008"/>
              <a:ext cx="545035" cy="0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9A97B90A-9D53-5553-FDCA-DBA619612D56}"/>
                </a:ext>
              </a:extLst>
            </p:cNvPr>
            <p:cNvCxnSpPr>
              <a:cxnSpLocks/>
            </p:cNvCxnSpPr>
            <p:nvPr/>
          </p:nvCxnSpPr>
          <p:spPr>
            <a:xfrm>
              <a:off x="7281448" y="3725008"/>
              <a:ext cx="545036" cy="0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711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B890-0D8A-44FF-932B-96972FC9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</a:t>
            </a:r>
            <a:r>
              <a:rPr lang="zh-CN" altLang="en-US"/>
              <a:t>如何找到</a:t>
            </a:r>
            <a:r>
              <a:rPr lang="en-US" altLang="zh-CN"/>
              <a:t>pre</a:t>
            </a:r>
            <a:r>
              <a:rPr lang="zh-CN" altLang="en-US"/>
              <a:t>结点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CA8099-0E7D-4961-9E6F-F54B6AE8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定位指针</a:t>
            </a:r>
            <a:r>
              <a:rPr lang="en-US" altLang="zh-CN" dirty="0"/>
              <a:t>pre</a:t>
            </a:r>
            <a:r>
              <a:rPr lang="zh-CN" altLang="en-US" dirty="0"/>
              <a:t>到指定插入位置</a:t>
            </a:r>
            <a:r>
              <a:rPr lang="en-US" altLang="zh-CN" dirty="0"/>
              <a:t>pos</a:t>
            </a:r>
          </a:p>
          <a:p>
            <a:pPr lvl="1"/>
            <a:r>
              <a:rPr lang="en-US" altLang="zh-CN" sz="1600" dirty="0"/>
              <a:t>pos</a:t>
            </a:r>
            <a:r>
              <a:rPr lang="zh-CN" altLang="en-US" sz="1600" dirty="0"/>
              <a:t>从</a:t>
            </a:r>
            <a:r>
              <a:rPr lang="en-US" altLang="zh-CN" sz="1600" dirty="0"/>
              <a:t>1</a:t>
            </a:r>
            <a:r>
              <a:rPr lang="zh-CN" altLang="en-US" sz="1600" dirty="0"/>
              <a:t>算起</a:t>
            </a:r>
            <a:endParaRPr lang="en-US" altLang="zh-CN" sz="1600" dirty="0"/>
          </a:p>
          <a:p>
            <a:pPr lvl="1"/>
            <a:r>
              <a:rPr lang="zh-CN" altLang="en-US" sz="1600" dirty="0"/>
              <a:t>原来在</a:t>
            </a:r>
            <a:r>
              <a:rPr lang="en-US" altLang="zh-CN" sz="1600" dirty="0"/>
              <a:t>pos</a:t>
            </a:r>
            <a:r>
              <a:rPr lang="zh-CN" altLang="en-US" sz="1600" dirty="0"/>
              <a:t>位置的结点在插入后成为第</a:t>
            </a:r>
            <a:r>
              <a:rPr lang="en-US" altLang="zh-CN" sz="1600" dirty="0"/>
              <a:t>pos+1</a:t>
            </a:r>
            <a:r>
              <a:rPr lang="zh-CN" altLang="en-US" sz="1600" dirty="0"/>
              <a:t>个结点</a:t>
            </a:r>
            <a:endParaRPr lang="en-US" altLang="zh-CN" sz="1600" dirty="0"/>
          </a:p>
          <a:p>
            <a:pPr lvl="1"/>
            <a:r>
              <a:rPr lang="zh-CN" altLang="en-US" sz="1600" b="1" dirty="0">
                <a:solidFill>
                  <a:srgbClr val="FF0000"/>
                </a:solidFill>
              </a:rPr>
              <a:t>则</a:t>
            </a:r>
            <a:r>
              <a:rPr lang="en-US" altLang="zh-CN" sz="1600" b="1" dirty="0">
                <a:solidFill>
                  <a:srgbClr val="FF0000"/>
                </a:solidFill>
              </a:rPr>
              <a:t>pre</a:t>
            </a:r>
            <a:r>
              <a:rPr lang="zh-CN" altLang="en-US" sz="1600" b="1" dirty="0">
                <a:solidFill>
                  <a:srgbClr val="FF0000"/>
                </a:solidFill>
              </a:rPr>
              <a:t>从</a:t>
            </a:r>
            <a:r>
              <a:rPr lang="en-US" altLang="zh-CN" sz="1600" b="1" dirty="0">
                <a:solidFill>
                  <a:srgbClr val="FF0000"/>
                </a:solidFill>
              </a:rPr>
              <a:t>L</a:t>
            </a:r>
            <a:r>
              <a:rPr lang="zh-CN" altLang="en-US" sz="1600" b="1" dirty="0">
                <a:solidFill>
                  <a:srgbClr val="FF0000"/>
                </a:solidFill>
              </a:rPr>
              <a:t>开始，要移动</a:t>
            </a:r>
            <a:r>
              <a:rPr lang="en-US" altLang="zh-CN" sz="1600" b="1" dirty="0">
                <a:solidFill>
                  <a:srgbClr val="FF0000"/>
                </a:solidFill>
              </a:rPr>
              <a:t>pos-1</a:t>
            </a:r>
            <a:r>
              <a:rPr lang="zh-CN" altLang="en-US" sz="1600" b="1" dirty="0">
                <a:solidFill>
                  <a:srgbClr val="FF0000"/>
                </a:solidFill>
              </a:rPr>
              <a:t>次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8C990D2-CCDA-AAA5-1CC1-FEFFBD6EC0E2}"/>
              </a:ext>
            </a:extLst>
          </p:cNvPr>
          <p:cNvGrpSpPr/>
          <p:nvPr/>
        </p:nvGrpSpPr>
        <p:grpSpPr>
          <a:xfrm>
            <a:off x="3551685" y="3489267"/>
            <a:ext cx="1238935" cy="915965"/>
            <a:chOff x="2736621" y="3353427"/>
            <a:chExt cx="1238935" cy="915965"/>
          </a:xfrm>
          <a:effectLst/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AC7C341-4DB9-6B71-1633-E64CBAAE6D4C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D6ABBA-4E4D-7A7F-49EB-BB3BBA89F671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C91D0A0-1961-27E7-D0ED-47B8DB639FBC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data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527803A-3C07-6173-294C-199E6F91DF7A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next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D7D3F7-D36A-19B1-2949-1D64DD540622}"/>
              </a:ext>
            </a:extLst>
          </p:cNvPr>
          <p:cNvGrpSpPr/>
          <p:nvPr/>
        </p:nvGrpSpPr>
        <p:grpSpPr>
          <a:xfrm>
            <a:off x="5467100" y="3490912"/>
            <a:ext cx="1238935" cy="915965"/>
            <a:chOff x="2736621" y="3353427"/>
            <a:chExt cx="1238935" cy="915965"/>
          </a:xfrm>
          <a:effectLst/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2405F54-5301-5068-139B-C35058B59D8F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2AD95B7-4E11-31AD-0DF2-6FB1B844BC66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F755B50-4BF1-B779-29CE-09EAEA519877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data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B07D19D-13C5-73FF-D3B3-557D01D9C2F6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next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EB1E9F2-655C-154B-4487-2373EB2AAF11}"/>
              </a:ext>
            </a:extLst>
          </p:cNvPr>
          <p:cNvGrpSpPr/>
          <p:nvPr/>
        </p:nvGrpSpPr>
        <p:grpSpPr>
          <a:xfrm>
            <a:off x="7382515" y="3489267"/>
            <a:ext cx="1238935" cy="915965"/>
            <a:chOff x="2736621" y="3353427"/>
            <a:chExt cx="1238935" cy="915965"/>
          </a:xfrm>
          <a:effectLst/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5698E41-CA1B-21EE-E00A-476191832B9E}"/>
                </a:ext>
              </a:extLst>
            </p:cNvPr>
            <p:cNvSpPr/>
            <p:nvPr/>
          </p:nvSpPr>
          <p:spPr>
            <a:xfrm>
              <a:off x="2769514" y="3690492"/>
              <a:ext cx="594250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09EE1CF-45C8-1E06-A66E-644AE29E2759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15A7BAA-CF4B-8B04-1673-061DC10EC9AA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data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9A00DC7-0ADA-C85B-5ACA-50596198FA61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next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EF15970-5677-FA8E-2C67-7521FF35623F}"/>
              </a:ext>
            </a:extLst>
          </p:cNvPr>
          <p:cNvGrpSpPr/>
          <p:nvPr/>
        </p:nvGrpSpPr>
        <p:grpSpPr>
          <a:xfrm>
            <a:off x="9363715" y="3489267"/>
            <a:ext cx="1238935" cy="915965"/>
            <a:chOff x="2736621" y="3353427"/>
            <a:chExt cx="1238935" cy="915965"/>
          </a:xfrm>
          <a:effectLst/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413EE2C-5DED-F032-16B6-9FE944B4A5ED}"/>
                </a:ext>
              </a:extLst>
            </p:cNvPr>
            <p:cNvSpPr/>
            <p:nvPr/>
          </p:nvSpPr>
          <p:spPr>
            <a:xfrm>
              <a:off x="2769514" y="3690492"/>
              <a:ext cx="611792" cy="578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015E638-DAB4-77E0-5104-057EC0A3A5BC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^</a:t>
              </a:r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1538D9A-F62D-46A8-DF01-2CED090869B1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data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BF7BE73-261B-3F67-3436-656C3F8ECA93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next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952D92A-A309-F19D-8202-0C02C9BE6E9E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4757728" y="4115782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A870787-15A5-6700-B4E0-EE3829D7A07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6673143" y="4115782"/>
            <a:ext cx="742265" cy="1645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8F96B51-9785-0F26-6812-157A0E07E4EB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8588558" y="4115782"/>
            <a:ext cx="808050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E327A1F-AC5D-452D-CCF9-2E934FD4D3FE}"/>
              </a:ext>
            </a:extLst>
          </p:cNvPr>
          <p:cNvGrpSpPr/>
          <p:nvPr/>
        </p:nvGrpSpPr>
        <p:grpSpPr>
          <a:xfrm>
            <a:off x="1504700" y="3489267"/>
            <a:ext cx="1238935" cy="915965"/>
            <a:chOff x="2736621" y="3353427"/>
            <a:chExt cx="1238935" cy="915965"/>
          </a:xfrm>
          <a:effectLst/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3EAE876-2787-C03A-8AAF-C3FD9A997CE2}"/>
                </a:ext>
              </a:extLst>
            </p:cNvPr>
            <p:cNvSpPr/>
            <p:nvPr/>
          </p:nvSpPr>
          <p:spPr>
            <a:xfrm>
              <a:off x="276951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745A143-D726-BBC5-8C3D-C403EEE7614F}"/>
                </a:ext>
              </a:extLst>
            </p:cNvPr>
            <p:cNvSpPr/>
            <p:nvPr/>
          </p:nvSpPr>
          <p:spPr>
            <a:xfrm>
              <a:off x="3363764" y="3690492"/>
              <a:ext cx="578900" cy="578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4AFBF33-4658-95F5-1445-1675FF0CE0A1}"/>
                </a:ext>
              </a:extLst>
            </p:cNvPr>
            <p:cNvSpPr txBox="1"/>
            <p:nvPr/>
          </p:nvSpPr>
          <p:spPr>
            <a:xfrm>
              <a:off x="273662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data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4BDD2C6-9F4D-F8EA-E4E2-1FE33E560431}"/>
                </a:ext>
              </a:extLst>
            </p:cNvPr>
            <p:cNvSpPr txBox="1"/>
            <p:nvPr/>
          </p:nvSpPr>
          <p:spPr>
            <a:xfrm>
              <a:off x="3330871" y="3353427"/>
              <a:ext cx="64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</a:rPr>
                <a:t>next</a:t>
              </a:r>
              <a:endParaRPr lang="zh-CN" altLang="en-US" sz="1400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A03953F-4C4F-8AD0-FE51-A922D4C0D4C1}"/>
              </a:ext>
            </a:extLst>
          </p:cNvPr>
          <p:cNvCxnSpPr>
            <a:cxnSpLocks/>
            <a:stCxn id="40" idx="3"/>
            <a:endCxn id="16" idx="1"/>
          </p:cNvCxnSpPr>
          <p:nvPr/>
        </p:nvCxnSpPr>
        <p:spPr>
          <a:xfrm>
            <a:off x="2710743" y="4115782"/>
            <a:ext cx="873835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D75217-5BF3-1C6D-C8CC-2BD3A393E10E}"/>
              </a:ext>
            </a:extLst>
          </p:cNvPr>
          <p:cNvSpPr txBox="1"/>
          <p:nvPr/>
        </p:nvSpPr>
        <p:spPr>
          <a:xfrm>
            <a:off x="1794150" y="4752014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L</a:t>
            </a:r>
            <a:endParaRPr lang="zh-CN" altLang="en-US" sz="14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C33FE83-EC3D-095D-757E-8AD77AFDB36C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2116493" y="4415856"/>
            <a:ext cx="0" cy="336158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ED47723-465F-304F-4BF2-641C91FF8AA3}"/>
              </a:ext>
            </a:extLst>
          </p:cNvPr>
          <p:cNvSpPr txBox="1"/>
          <p:nvPr/>
        </p:nvSpPr>
        <p:spPr>
          <a:xfrm>
            <a:off x="7373743" y="2752093"/>
            <a:ext cx="120604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插入位置</a:t>
            </a:r>
            <a:r>
              <a:rPr lang="en-US" altLang="zh-CN" dirty="0"/>
              <a:t>pos=3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864FF3C-5D42-5BC4-79C9-E677C945A83E}"/>
              </a:ext>
            </a:extLst>
          </p:cNvPr>
          <p:cNvSpPr txBox="1"/>
          <p:nvPr/>
        </p:nvSpPr>
        <p:spPr>
          <a:xfrm>
            <a:off x="5771900" y="4752014"/>
            <a:ext cx="644685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pre</a:t>
            </a:r>
            <a:endParaRPr lang="zh-CN" altLang="en-US" sz="1400" dirty="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E0464485-0C85-2C58-7F05-6C31AC29643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6094243" y="4415856"/>
            <a:ext cx="0" cy="336158"/>
          </a:xfrm>
          <a:prstGeom prst="straightConnector1">
            <a:avLst/>
          </a:prstGeom>
          <a:ln>
            <a:headEnd type="oval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对话气泡: 矩形 53">
            <a:extLst>
              <a:ext uri="{FF2B5EF4-FFF2-40B4-BE49-F238E27FC236}">
                <a16:creationId xmlns:a16="http://schemas.microsoft.com/office/drawing/2014/main" id="{913B0F30-8B9E-3645-8F6A-55BDFAC2D40D}"/>
              </a:ext>
            </a:extLst>
          </p:cNvPr>
          <p:cNvSpPr/>
          <p:nvPr/>
        </p:nvSpPr>
        <p:spPr>
          <a:xfrm>
            <a:off x="4767173" y="5203834"/>
            <a:ext cx="2689224" cy="501506"/>
          </a:xfrm>
          <a:prstGeom prst="wedgeRectCallout">
            <a:avLst>
              <a:gd name="adj1" fmla="val 1572"/>
              <a:gd name="adj2" fmla="val -77878"/>
            </a:avLst>
          </a:pr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cs typeface="Fira Code" pitchFamily="1" charset="0"/>
              </a:rPr>
              <a:t>那么</a:t>
            </a:r>
            <a:r>
              <a:rPr lang="en-US" altLang="zh-CN" sz="1600">
                <a:solidFill>
                  <a:schemeClr val="tx1"/>
                </a:solidFill>
                <a:cs typeface="Fira Code" pitchFamily="1" charset="0"/>
              </a:rPr>
              <a:t>pre</a:t>
            </a:r>
            <a:r>
              <a:rPr lang="zh-CN" altLang="en-US" sz="1600">
                <a:solidFill>
                  <a:schemeClr val="tx1"/>
                </a:solidFill>
                <a:cs typeface="Fira Code" pitchFamily="1" charset="0"/>
              </a:rPr>
              <a:t>要</a:t>
            </a:r>
            <a:r>
              <a:rPr lang="zh-CN" altLang="en-US" sz="1600" dirty="0">
                <a:solidFill>
                  <a:schemeClr val="tx1"/>
                </a:solidFill>
                <a:cs typeface="Fira Code" pitchFamily="1" charset="0"/>
              </a:rPr>
              <a:t>定位到这里</a:t>
            </a:r>
          </a:p>
        </p:txBody>
      </p:sp>
    </p:spTree>
    <p:extLst>
      <p:ext uri="{BB962C8B-B14F-4D97-AF65-F5344CB8AC3E}">
        <p14:creationId xmlns:p14="http://schemas.microsoft.com/office/powerpoint/2010/main" val="384619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0" grpId="0"/>
      <p:bldP spid="52" grpId="0"/>
      <p:bldP spid="5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B890-0D8A-44FF-932B-96972FC9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</a:t>
            </a:r>
            <a:r>
              <a:rPr lang="zh-CN" altLang="en-US"/>
              <a:t>如何找到</a:t>
            </a:r>
            <a:r>
              <a:rPr lang="en-US" altLang="zh-CN"/>
              <a:t>pre</a:t>
            </a:r>
            <a:r>
              <a:rPr lang="zh-CN" altLang="en-US"/>
              <a:t>结点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CA8099-0E7D-4961-9E6F-F54B6AE82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417"/>
            <a:ext cx="10209211" cy="4953442"/>
          </a:xfrm>
        </p:spPr>
        <p:txBody>
          <a:bodyPr>
            <a:normAutofit/>
          </a:bodyPr>
          <a:lstStyle/>
          <a:p>
            <a:r>
              <a:rPr lang="zh-CN" altLang="en-US" dirty="0"/>
              <a:t>定位指针</a:t>
            </a:r>
            <a:r>
              <a:rPr lang="en-US" altLang="zh-CN" dirty="0"/>
              <a:t>pre</a:t>
            </a:r>
            <a:r>
              <a:rPr lang="zh-CN" altLang="en-US" dirty="0"/>
              <a:t>到指定插入位置</a:t>
            </a:r>
            <a:r>
              <a:rPr lang="en-US" altLang="zh-CN" dirty="0"/>
              <a:t>pos</a:t>
            </a:r>
          </a:p>
          <a:p>
            <a:pPr marL="0" indent="0">
              <a:buNone/>
            </a:pPr>
            <a:r>
              <a:rPr lang="en-US" altLang="zh-CN" dirty="0" err="1"/>
              <a:t>nodeptr</a:t>
            </a:r>
            <a:r>
              <a:rPr lang="en-US" altLang="zh-CN" dirty="0"/>
              <a:t> pre = </a:t>
            </a:r>
            <a:r>
              <a:rPr lang="en-US" altLang="zh-CN" b="1" i="1" dirty="0">
                <a:solidFill>
                  <a:srgbClr val="FF0000"/>
                </a:solidFill>
              </a:rPr>
              <a:t>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 err="1"/>
              <a:t>size_t</a:t>
            </a:r>
            <a:r>
              <a:rPr lang="en-US" altLang="zh-CN" dirty="0"/>
              <a:t> k = 1; //</a:t>
            </a:r>
            <a:r>
              <a:rPr lang="zh-CN" altLang="en-US" dirty="0"/>
              <a:t>计数器，从</a:t>
            </a:r>
            <a:r>
              <a:rPr lang="en-US" altLang="zh-CN" dirty="0"/>
              <a:t>1</a:t>
            </a:r>
            <a:r>
              <a:rPr lang="zh-CN" altLang="en-US" dirty="0"/>
              <a:t>开始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while (</a:t>
            </a:r>
            <a:r>
              <a:rPr lang="en-US" altLang="zh-CN" b="1" i="1" dirty="0">
                <a:solidFill>
                  <a:srgbClr val="FF0000"/>
                </a:solidFill>
              </a:rPr>
              <a:t>pre-&gt;next </a:t>
            </a:r>
            <a:r>
              <a:rPr lang="en-US" altLang="zh-CN" dirty="0"/>
              <a:t>!= NULL &amp;&amp; </a:t>
            </a:r>
            <a:r>
              <a:rPr lang="en-US" altLang="zh-CN" b="1" i="1" dirty="0">
                <a:solidFill>
                  <a:srgbClr val="FF0000"/>
                </a:solidFill>
              </a:rPr>
              <a:t>k &lt; pos</a:t>
            </a:r>
            <a:r>
              <a:rPr lang="en-US" altLang="zh-CN" dirty="0"/>
              <a:t>) 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pre = pre-&gt;next</a:t>
            </a:r>
            <a:r>
              <a:rPr lang="en-US" altLang="zh-CN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++k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if (</a:t>
            </a:r>
            <a:r>
              <a:rPr lang="en-US" altLang="zh-CN" b="1" i="1" dirty="0">
                <a:solidFill>
                  <a:srgbClr val="FF0000"/>
                </a:solidFill>
              </a:rPr>
              <a:t>k &lt; pos</a:t>
            </a:r>
            <a:r>
              <a:rPr lang="en-US" altLang="zh-CN" dirty="0"/>
              <a:t>) error(“</a:t>
            </a:r>
            <a:r>
              <a:rPr lang="zh-CN" altLang="en-US" dirty="0"/>
              <a:t>插入位置错误</a:t>
            </a:r>
            <a:r>
              <a:rPr lang="en-US" altLang="zh-CN" dirty="0"/>
              <a:t>”);</a:t>
            </a:r>
          </a:p>
        </p:txBody>
      </p:sp>
    </p:spTree>
    <p:extLst>
      <p:ext uri="{BB962C8B-B14F-4D97-AF65-F5344CB8AC3E}">
        <p14:creationId xmlns:p14="http://schemas.microsoft.com/office/powerpoint/2010/main" val="1146091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7730A-3C36-4493-A36F-6118D3EB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8CC6C-90F0-47C7-8C1A-4D8DDAEE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链表的遍历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 err="1">
                <a:solidFill>
                  <a:srgbClr val="FF0000"/>
                </a:solidFill>
              </a:rPr>
              <a:t>nodeptr</a:t>
            </a:r>
            <a:r>
              <a:rPr lang="en-US" altLang="zh-CN" b="1" i="1" dirty="0">
                <a:solidFill>
                  <a:srgbClr val="FF0000"/>
                </a:solidFill>
              </a:rPr>
              <a:t> p = L-&gt;next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dirty="0"/>
              <a:t>while (p != NULL) {</a:t>
            </a:r>
          </a:p>
          <a:p>
            <a:pPr marL="0" indent="0">
              <a:buNone/>
            </a:pPr>
            <a:r>
              <a:rPr lang="en-US" altLang="zh-CN" dirty="0"/>
              <a:t>	visit(p-&gt;data);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b="1" i="1" dirty="0">
                <a:solidFill>
                  <a:srgbClr val="FF0000"/>
                </a:solidFill>
              </a:rPr>
              <a:t>p = p-&gt;next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7622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EA5AB-8FF5-41AB-B4C8-659F1F76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链表：创建链表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E6C26-FFDC-489E-B05C-7E6FFC8F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创建链表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 err="1">
                <a:solidFill>
                  <a:srgbClr val="FF0000"/>
                </a:solidFill>
              </a:rPr>
              <a:t>nodeptr</a:t>
            </a:r>
            <a:r>
              <a:rPr lang="en-US" altLang="zh-CN" b="1" i="1" dirty="0">
                <a:solidFill>
                  <a:srgbClr val="FF0000"/>
                </a:solidFill>
              </a:rPr>
              <a:t> L = NULL;</a:t>
            </a:r>
          </a:p>
          <a:p>
            <a:pPr marL="0" indent="0">
              <a:buNone/>
            </a:pPr>
            <a:r>
              <a:rPr lang="zh-CN" altLang="en-US" dirty="0"/>
              <a:t>创建头结点，并用</a:t>
            </a:r>
            <a:r>
              <a:rPr lang="en-US" altLang="zh-CN" dirty="0"/>
              <a:t>L</a:t>
            </a:r>
            <a:r>
              <a:rPr lang="zh-CN" altLang="en-US" dirty="0"/>
              <a:t>指向它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zh-CN" altLang="en-US" dirty="0"/>
              <a:t>用头插法或尾插法在插入一系列新结点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4295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7B74D-B0C5-419A-B6AC-C6DA27F69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链表：销毁链表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BF9502-72C1-44B1-BC95-F13DCBA9A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链表的销毁</a:t>
            </a:r>
            <a:endParaRPr lang="en-US" altLang="zh-CN" dirty="0"/>
          </a:p>
          <a:p>
            <a:pPr lvl="1"/>
            <a:r>
              <a:rPr lang="zh-CN" altLang="en-US" dirty="0"/>
              <a:t>原因：动态分配的内存在不用后应该立即销毁</a:t>
            </a:r>
            <a:endParaRPr lang="en-US" altLang="zh-CN" dirty="0"/>
          </a:p>
          <a:p>
            <a:pPr lvl="1"/>
            <a:r>
              <a:rPr lang="zh-CN" altLang="en-US" dirty="0"/>
              <a:t>思路：从头到尾遍历链表，依次释放结点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900" dirty="0" err="1"/>
              <a:t>nodeptr</a:t>
            </a:r>
            <a:r>
              <a:rPr lang="en-US" altLang="zh-CN" sz="1900" dirty="0"/>
              <a:t> p = L;</a:t>
            </a:r>
          </a:p>
          <a:p>
            <a:pPr marL="0" indent="0">
              <a:buNone/>
            </a:pPr>
            <a:r>
              <a:rPr lang="en-US" altLang="zh-CN" sz="1900" dirty="0"/>
              <a:t>while (p != NULL) {</a:t>
            </a:r>
          </a:p>
          <a:p>
            <a:pPr marL="0" indent="0">
              <a:buNone/>
            </a:pPr>
            <a:r>
              <a:rPr lang="en-US" altLang="zh-CN" sz="1900" dirty="0"/>
              <a:t>	free(p);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900" dirty="0"/>
              <a:t>	p = p-&gt;next;</a:t>
            </a:r>
          </a:p>
          <a:p>
            <a:pPr marL="0" indent="0">
              <a:buNone/>
            </a:pPr>
            <a:r>
              <a:rPr lang="en-US" altLang="zh-CN" sz="1900" dirty="0"/>
              <a:t>}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AF3ED392-9457-4F4B-B0A7-88A44ECC8C17}"/>
              </a:ext>
            </a:extLst>
          </p:cNvPr>
          <p:cNvSpPr/>
          <p:nvPr/>
        </p:nvSpPr>
        <p:spPr>
          <a:xfrm>
            <a:off x="4104985" y="3050741"/>
            <a:ext cx="2037628" cy="756518"/>
          </a:xfrm>
          <a:prstGeom prst="wedgeRectCallout">
            <a:avLst>
              <a:gd name="adj1" fmla="val -71305"/>
              <a:gd name="adj2" fmla="val 1375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这段代码可行吗？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192468-A638-4D79-AF97-B647B3F77CBA}"/>
              </a:ext>
            </a:extLst>
          </p:cNvPr>
          <p:cNvSpPr/>
          <p:nvPr/>
        </p:nvSpPr>
        <p:spPr>
          <a:xfrm>
            <a:off x="6930865" y="2359004"/>
            <a:ext cx="4422935" cy="2550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ea typeface="Fira Code" panose="020B0809050000020004" pitchFamily="49" charset="0"/>
              </a:rPr>
              <a:t>nodeptr</a:t>
            </a:r>
            <a:r>
              <a:rPr lang="en-US" altLang="zh-CN" dirty="0">
                <a:ea typeface="Fira Code" panose="020B0809050000020004" pitchFamily="49" charset="0"/>
              </a:rPr>
              <a:t> p = L,</a:t>
            </a:r>
            <a:r>
              <a:rPr lang="zh-CN" altLang="en-US" dirty="0">
                <a:ea typeface="Fira Code" panose="020B0809050000020004" pitchFamily="49" charset="0"/>
              </a:rPr>
              <a:t> </a:t>
            </a:r>
            <a:r>
              <a:rPr lang="en-US" altLang="zh-CN" dirty="0">
                <a:ea typeface="Fira Code" panose="020B0809050000020004" pitchFamily="49" charset="0"/>
              </a:rPr>
              <a:t>q;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Fira Code" panose="020B0809050000020004" pitchFamily="49" charset="0"/>
              </a:rPr>
              <a:t>while (p != NULL)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Fira Code" panose="020B0809050000020004" pitchFamily="49" charset="0"/>
              </a:rPr>
              <a:t>	q = p;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Fira Code" panose="020B0809050000020004" pitchFamily="49" charset="0"/>
              </a:rPr>
              <a:t>	p = p-&gt;next;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Fira Code" panose="020B0809050000020004" pitchFamily="49" charset="0"/>
              </a:rPr>
              <a:t>	free(q);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Fira Code" panose="020B0809050000020004" pitchFamily="49" charset="0"/>
              </a:rPr>
              <a:t>}</a:t>
            </a:r>
          </a:p>
        </p:txBody>
      </p:sp>
      <p:sp>
        <p:nvSpPr>
          <p:cNvPr id="6" name="乘号 5">
            <a:extLst>
              <a:ext uri="{FF2B5EF4-FFF2-40B4-BE49-F238E27FC236}">
                <a16:creationId xmlns:a16="http://schemas.microsoft.com/office/drawing/2014/main" id="{3D252A40-85AB-5724-7DE0-21650478B4C7}"/>
              </a:ext>
            </a:extLst>
          </p:cNvPr>
          <p:cNvSpPr/>
          <p:nvPr/>
        </p:nvSpPr>
        <p:spPr>
          <a:xfrm>
            <a:off x="1509386" y="2933258"/>
            <a:ext cx="1627094" cy="1613647"/>
          </a:xfrm>
          <a:prstGeom prst="mathMultiply">
            <a:avLst>
              <a:gd name="adj1" fmla="val 1333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15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C90B5-8B7B-4EFA-A8A7-4CE003F7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链表：需要注意的问题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608EE-606D-4CFD-9E65-AE4FC7E0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链表操作需要注意的问题</a:t>
            </a:r>
            <a:endParaRPr lang="en-US" altLang="zh-CN" dirty="0"/>
          </a:p>
          <a:p>
            <a:pPr lvl="1"/>
            <a:r>
              <a:rPr lang="zh-CN" altLang="en-US" dirty="0"/>
              <a:t>链表为空</a:t>
            </a:r>
            <a:endParaRPr lang="en-US" altLang="zh-CN" dirty="0"/>
          </a:p>
          <a:p>
            <a:pPr lvl="1"/>
            <a:r>
              <a:rPr lang="zh-CN" altLang="en-US" dirty="0"/>
              <a:t>链表只有</a:t>
            </a:r>
            <a:r>
              <a:rPr lang="en-US" altLang="zh-CN" dirty="0"/>
              <a:t>1</a:t>
            </a:r>
            <a:r>
              <a:rPr lang="zh-CN" altLang="en-US" dirty="0"/>
              <a:t>个结点</a:t>
            </a:r>
          </a:p>
        </p:txBody>
      </p:sp>
    </p:spTree>
    <p:extLst>
      <p:ext uri="{BB962C8B-B14F-4D97-AF65-F5344CB8AC3E}">
        <p14:creationId xmlns:p14="http://schemas.microsoft.com/office/powerpoint/2010/main" val="3237031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1812</TotalTime>
  <Words>1488</Words>
  <Application>Microsoft Office PowerPoint</Application>
  <PresentationFormat>宽屏</PresentationFormat>
  <Paragraphs>362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Arial</vt:lpstr>
      <vt:lpstr>Consolas</vt:lpstr>
      <vt:lpstr>Fira Code</vt:lpstr>
      <vt:lpstr>Office 主题​​</vt:lpstr>
      <vt:lpstr>链表</vt:lpstr>
      <vt:lpstr>预备知识：动态内存分配</vt:lpstr>
      <vt:lpstr>预备知识：动态内存释放</vt:lpstr>
      <vt:lpstr>背景知识：常犯的指针使用错误</vt:lpstr>
      <vt:lpstr>链表：定义</vt:lpstr>
      <vt:lpstr>链表：定义</vt:lpstr>
      <vt:lpstr>链表：定义</vt:lpstr>
      <vt:lpstr>链表：图示</vt:lpstr>
      <vt:lpstr>链表：创建新结点</vt:lpstr>
      <vt:lpstr>链表：两个结点链在一起</vt:lpstr>
      <vt:lpstr>链表：链表的两种表示法</vt:lpstr>
      <vt:lpstr>链表的设计</vt:lpstr>
      <vt:lpstr>链表的设计</vt:lpstr>
      <vt:lpstr>链表：在头结点后插入新结点</vt:lpstr>
      <vt:lpstr>链表：在某个结点后插入新节点</vt:lpstr>
      <vt:lpstr>链表：在某个结点后删除结点</vt:lpstr>
      <vt:lpstr>链表：如何找到pre结点</vt:lpstr>
      <vt:lpstr>链表：如何找到pre结点</vt:lpstr>
      <vt:lpstr>链表：如何找到pre结点</vt:lpstr>
      <vt:lpstr>链表：如何找到pre结点</vt:lpstr>
      <vt:lpstr>链表：如何找到pre结点</vt:lpstr>
      <vt:lpstr>链表：遍历</vt:lpstr>
      <vt:lpstr>链表：创建链表</vt:lpstr>
      <vt:lpstr>链表：销毁链表</vt:lpstr>
      <vt:lpstr>链表：需要注意的问题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1079</cp:revision>
  <dcterms:created xsi:type="dcterms:W3CDTF">2021-10-07T04:52:51Z</dcterms:created>
  <dcterms:modified xsi:type="dcterms:W3CDTF">2025-01-04T02:51:53Z</dcterms:modified>
</cp:coreProperties>
</file>