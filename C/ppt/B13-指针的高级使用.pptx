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87" r:id="rId3"/>
    <p:sldId id="286" r:id="rId4"/>
    <p:sldId id="258" r:id="rId5"/>
    <p:sldId id="259" r:id="rId6"/>
    <p:sldId id="261" r:id="rId7"/>
    <p:sldId id="292" r:id="rId8"/>
    <p:sldId id="288" r:id="rId9"/>
    <p:sldId id="282" r:id="rId10"/>
    <p:sldId id="284" r:id="rId11"/>
    <p:sldId id="285" r:id="rId12"/>
    <p:sldId id="293" r:id="rId13"/>
    <p:sldId id="289" r:id="rId14"/>
    <p:sldId id="270" r:id="rId15"/>
    <p:sldId id="271" r:id="rId16"/>
    <p:sldId id="272" r:id="rId17"/>
    <p:sldId id="267" r:id="rId18"/>
    <p:sldId id="268" r:id="rId19"/>
    <p:sldId id="269" r:id="rId20"/>
    <p:sldId id="290" r:id="rId21"/>
    <p:sldId id="273" r:id="rId22"/>
    <p:sldId id="291" r:id="rId23"/>
    <p:sldId id="29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92" autoAdjust="0"/>
    <p:restoredTop sz="94660"/>
  </p:normalViewPr>
  <p:slideViewPr>
    <p:cSldViewPr snapToGrid="0">
      <p:cViewPr varScale="1">
        <p:scale>
          <a:sx n="99" d="100"/>
          <a:sy n="99" d="100"/>
        </p:scale>
        <p:origin x="3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47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904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4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29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04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17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51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76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7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56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74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指针的高级应用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52C7913B-657B-2501-4FE0-F92D9FF9800F}"/>
              </a:ext>
            </a:extLst>
          </p:cNvPr>
          <p:cNvSpPr/>
          <p:nvPr/>
        </p:nvSpPr>
        <p:spPr>
          <a:xfrm>
            <a:off x="3925909" y="2572555"/>
            <a:ext cx="4340181" cy="17128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/>
              <a:t>内存重解释</a:t>
            </a:r>
          </a:p>
        </p:txBody>
      </p:sp>
    </p:spTree>
    <p:extLst>
      <p:ext uri="{BB962C8B-B14F-4D97-AF65-F5344CB8AC3E}">
        <p14:creationId xmlns:p14="http://schemas.microsoft.com/office/powerpoint/2010/main" val="382257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D9895-88FA-8372-F77E-21298CFD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内存重解释：使用指针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64B733-1142-3167-E0EE-EF116B5AA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int n = 1;</a:t>
            </a:r>
          </a:p>
          <a:p>
            <a:pPr marL="0" indent="0">
              <a:buNone/>
            </a:pPr>
            <a:r>
              <a:rPr lang="en-US" altLang="zh-CN" sz="2000" dirty="0"/>
              <a:t>float *p = (float *)&amp;n;</a:t>
            </a:r>
            <a:endParaRPr lang="zh-CN" altLang="en-US" sz="2000" dirty="0"/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B80A88C-83A8-5769-BC13-90A10A8995DB}"/>
              </a:ext>
            </a:extLst>
          </p:cNvPr>
          <p:cNvGrpSpPr/>
          <p:nvPr/>
        </p:nvGrpSpPr>
        <p:grpSpPr>
          <a:xfrm>
            <a:off x="6242192" y="2112135"/>
            <a:ext cx="2087027" cy="1719329"/>
            <a:chOff x="5050900" y="2962142"/>
            <a:chExt cx="2087027" cy="171932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00781F0-C100-63BA-A649-E93976BFDD2F}"/>
                </a:ext>
              </a:extLst>
            </p:cNvPr>
            <p:cNvSpPr/>
            <p:nvPr/>
          </p:nvSpPr>
          <p:spPr>
            <a:xfrm>
              <a:off x="5050906" y="2962142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F0385AE-9851-69E4-8DF4-F86A8C39DFF3}"/>
                </a:ext>
              </a:extLst>
            </p:cNvPr>
            <p:cNvSpPr/>
            <p:nvPr/>
          </p:nvSpPr>
          <p:spPr>
            <a:xfrm>
              <a:off x="5050903" y="3371852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610514B-2BB7-8D62-AD15-F70E3E09337D}"/>
                </a:ext>
              </a:extLst>
            </p:cNvPr>
            <p:cNvSpPr/>
            <p:nvPr/>
          </p:nvSpPr>
          <p:spPr>
            <a:xfrm>
              <a:off x="5050903" y="3801684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0B9DF20-0570-F657-773F-F9324F58B91F}"/>
                </a:ext>
              </a:extLst>
            </p:cNvPr>
            <p:cNvSpPr/>
            <p:nvPr/>
          </p:nvSpPr>
          <p:spPr>
            <a:xfrm>
              <a:off x="5050903" y="4231516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6682253-D329-899B-43F0-C564F9A4BD5D}"/>
                </a:ext>
              </a:extLst>
            </p:cNvPr>
            <p:cNvSpPr/>
            <p:nvPr/>
          </p:nvSpPr>
          <p:spPr>
            <a:xfrm>
              <a:off x="5050900" y="2962142"/>
              <a:ext cx="2087021" cy="171932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C8AD63CD-6722-B14D-21C1-BF9DBFAC45CA}"/>
              </a:ext>
            </a:extLst>
          </p:cNvPr>
          <p:cNvSpPr txBox="1"/>
          <p:nvPr/>
        </p:nvSpPr>
        <p:spPr>
          <a:xfrm>
            <a:off x="8909144" y="2767011"/>
            <a:ext cx="20185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a typeface="Fira Code" pitchFamily="1" charset="0"/>
                <a:cs typeface="Fira Code" pitchFamily="1" charset="0"/>
              </a:rPr>
              <a:t>n</a:t>
            </a: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32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位整数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cs typeface="Fira Code" pitchFamily="1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内存是整数的映像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6D9CFB50-D0FC-3EB1-435E-C958FF32624A}"/>
              </a:ext>
            </a:extLst>
          </p:cNvPr>
          <p:cNvSpPr/>
          <p:nvPr/>
        </p:nvSpPr>
        <p:spPr>
          <a:xfrm>
            <a:off x="8467855" y="2112135"/>
            <a:ext cx="302654" cy="169920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ED8061C9-E29A-6B60-0222-1F7F42807133}"/>
              </a:ext>
            </a:extLst>
          </p:cNvPr>
          <p:cNvSpPr/>
          <p:nvPr/>
        </p:nvSpPr>
        <p:spPr>
          <a:xfrm>
            <a:off x="5879202" y="2112135"/>
            <a:ext cx="224348" cy="1719329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C633C3-CFB9-539C-65BB-352F2CE25712}"/>
              </a:ext>
            </a:extLst>
          </p:cNvPr>
          <p:cNvSpPr txBox="1"/>
          <p:nvPr/>
        </p:nvSpPr>
        <p:spPr>
          <a:xfrm>
            <a:off x="4269346" y="2767011"/>
            <a:ext cx="14613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ea typeface="Fira Code" pitchFamily="1" charset="0"/>
                <a:cs typeface="Fira Code" pitchFamily="1" charset="0"/>
              </a:rPr>
              <a:t>p</a:t>
            </a:r>
          </a:p>
          <a:p>
            <a:pPr algn="r"/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+mn-ea"/>
                <a:cs typeface="Fira Code" pitchFamily="1" charset="0"/>
              </a:rPr>
              <a:t>32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+mn-ea"/>
                <a:cs typeface="Fira Code" pitchFamily="1" charset="0"/>
              </a:rPr>
              <a:t>位浮点数</a:t>
            </a:r>
            <a:endParaRPr lang="en-US" altLang="zh-CN" sz="1400" dirty="0">
              <a:solidFill>
                <a:schemeClr val="accent5">
                  <a:lumMod val="50000"/>
                </a:schemeClr>
              </a:solidFill>
              <a:latin typeface="+mn-ea"/>
              <a:cs typeface="Fira Code" pitchFamily="1" charset="0"/>
            </a:endParaRPr>
          </a:p>
          <a:p>
            <a:pPr algn="r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+mn-ea"/>
                <a:cs typeface="Fira Code" pitchFamily="1" charset="0"/>
              </a:rPr>
              <a:t>内存是浮点映像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2596818F-B32A-2645-D936-5EDBCB892DCF}"/>
              </a:ext>
            </a:extLst>
          </p:cNvPr>
          <p:cNvSpPr/>
          <p:nvPr/>
        </p:nvSpPr>
        <p:spPr>
          <a:xfrm>
            <a:off x="3928056" y="4450069"/>
            <a:ext cx="4089042" cy="800219"/>
          </a:xfrm>
          <a:prstGeom prst="wedgeRoundRectCallout">
            <a:avLst>
              <a:gd name="adj1" fmla="val -19640"/>
              <a:gd name="adj2" fmla="val -148334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/>
              <a:t>这个重解释是安全的，因为重解释后的内存大小没有超出已知安全内存（</a:t>
            </a:r>
            <a:r>
              <a:rPr lang="en-US" altLang="zh-CN" sz="1400" dirty="0"/>
              <a:t>n</a:t>
            </a:r>
            <a:r>
              <a:rPr lang="zh-CN" altLang="en-US" sz="1400" dirty="0"/>
              <a:t>的内存）的范围。</a:t>
            </a:r>
          </a:p>
        </p:txBody>
      </p:sp>
      <p:sp>
        <p:nvSpPr>
          <p:cNvPr id="15" name="箭头: 五边形 14">
            <a:extLst>
              <a:ext uri="{FF2B5EF4-FFF2-40B4-BE49-F238E27FC236}">
                <a16:creationId xmlns:a16="http://schemas.microsoft.com/office/drawing/2014/main" id="{C6A12A12-0F7B-5C81-6886-24BDD30F26E3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reinterpret.c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648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71CC6A9-1549-C574-9AF1-26C70B1EF6ED}"/>
              </a:ext>
            </a:extLst>
          </p:cNvPr>
          <p:cNvSpPr txBox="1"/>
          <p:nvPr/>
        </p:nvSpPr>
        <p:spPr>
          <a:xfrm>
            <a:off x="8864068" y="2640346"/>
            <a:ext cx="20185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a typeface="Fira Code" pitchFamily="1" charset="0"/>
                <a:cs typeface="Fira Code" pitchFamily="1" charset="0"/>
              </a:rPr>
              <a:t>n</a:t>
            </a: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32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位整数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cs typeface="Fira Code" pitchFamily="1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内存是整数的映像</a:t>
            </a: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E98FA2F9-2E81-5D7A-E735-79022E32D190}"/>
              </a:ext>
            </a:extLst>
          </p:cNvPr>
          <p:cNvSpPr/>
          <p:nvPr/>
        </p:nvSpPr>
        <p:spPr>
          <a:xfrm>
            <a:off x="8422779" y="1985470"/>
            <a:ext cx="302654" cy="169920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BD52910A-AF66-C6EB-C8C8-9045FD632329}"/>
              </a:ext>
            </a:extLst>
          </p:cNvPr>
          <p:cNvSpPr/>
          <p:nvPr/>
        </p:nvSpPr>
        <p:spPr>
          <a:xfrm>
            <a:off x="5824266" y="1985470"/>
            <a:ext cx="234208" cy="3400022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FB6E62-F5EC-1D6A-7105-2F1C1065DD82}"/>
              </a:ext>
            </a:extLst>
          </p:cNvPr>
          <p:cNvSpPr txBox="1"/>
          <p:nvPr/>
        </p:nvSpPr>
        <p:spPr>
          <a:xfrm>
            <a:off x="4199143" y="3240019"/>
            <a:ext cx="14613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ea typeface="Fira Code" pitchFamily="1" charset="0"/>
                <a:cs typeface="Fira Code" pitchFamily="1" charset="0"/>
              </a:rPr>
              <a:t>p</a:t>
            </a:r>
          </a:p>
          <a:p>
            <a:pPr algn="r"/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+mn-ea"/>
                <a:cs typeface="Fira Code" pitchFamily="1" charset="0"/>
              </a:rPr>
              <a:t>64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+mn-ea"/>
                <a:cs typeface="Fira Code" pitchFamily="1" charset="0"/>
              </a:rPr>
              <a:t>位浮点数</a:t>
            </a:r>
            <a:endParaRPr lang="en-US" altLang="zh-CN" sz="1400" dirty="0">
              <a:solidFill>
                <a:schemeClr val="accent5">
                  <a:lumMod val="50000"/>
                </a:schemeClr>
              </a:solidFill>
              <a:latin typeface="+mn-ea"/>
              <a:cs typeface="Fira Code" pitchFamily="1" charset="0"/>
            </a:endParaRPr>
          </a:p>
          <a:p>
            <a:pPr algn="r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+mn-ea"/>
                <a:cs typeface="Fira Code" pitchFamily="1" charset="0"/>
              </a:rPr>
              <a:t>内存是浮点映像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200D0B-D619-661E-6A1D-3C694C5A26B4}"/>
              </a:ext>
            </a:extLst>
          </p:cNvPr>
          <p:cNvSpPr/>
          <p:nvPr/>
        </p:nvSpPr>
        <p:spPr>
          <a:xfrm>
            <a:off x="6200530" y="3695543"/>
            <a:ext cx="2087021" cy="4298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4B6F6A-B6B1-F94B-D401-BC038DAAABF9}"/>
              </a:ext>
            </a:extLst>
          </p:cNvPr>
          <p:cNvSpPr/>
          <p:nvPr/>
        </p:nvSpPr>
        <p:spPr>
          <a:xfrm>
            <a:off x="6200530" y="4125375"/>
            <a:ext cx="2087021" cy="40045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1E7948-CDDF-E21A-F7D4-1871CAF1940A}"/>
              </a:ext>
            </a:extLst>
          </p:cNvPr>
          <p:cNvSpPr/>
          <p:nvPr/>
        </p:nvSpPr>
        <p:spPr>
          <a:xfrm>
            <a:off x="6200530" y="4525827"/>
            <a:ext cx="2087021" cy="4298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021B92-6108-CA25-2FF0-3427E103B5AD}"/>
              </a:ext>
            </a:extLst>
          </p:cNvPr>
          <p:cNvSpPr/>
          <p:nvPr/>
        </p:nvSpPr>
        <p:spPr>
          <a:xfrm>
            <a:off x="6200530" y="4955660"/>
            <a:ext cx="2087021" cy="4298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1E929D0-7EEA-5AD6-A2DB-F78D3917120E}"/>
              </a:ext>
            </a:extLst>
          </p:cNvPr>
          <p:cNvGrpSpPr/>
          <p:nvPr/>
        </p:nvGrpSpPr>
        <p:grpSpPr>
          <a:xfrm>
            <a:off x="6197116" y="1985470"/>
            <a:ext cx="2087027" cy="1719329"/>
            <a:chOff x="5050900" y="2962142"/>
            <a:chExt cx="2087027" cy="171932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5B4BEB8-9D8F-D702-F5FF-9D9AF7025799}"/>
                </a:ext>
              </a:extLst>
            </p:cNvPr>
            <p:cNvSpPr/>
            <p:nvPr/>
          </p:nvSpPr>
          <p:spPr>
            <a:xfrm>
              <a:off x="5050906" y="2962142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C06F72B-4E81-4A09-E352-6767B01BBF28}"/>
                </a:ext>
              </a:extLst>
            </p:cNvPr>
            <p:cNvSpPr/>
            <p:nvPr/>
          </p:nvSpPr>
          <p:spPr>
            <a:xfrm>
              <a:off x="5050903" y="3371852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426D67B-4747-53A1-31F8-EAA3A83D2437}"/>
                </a:ext>
              </a:extLst>
            </p:cNvPr>
            <p:cNvSpPr/>
            <p:nvPr/>
          </p:nvSpPr>
          <p:spPr>
            <a:xfrm>
              <a:off x="5050903" y="3801684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3797078-BA38-5300-E243-52B6627B3002}"/>
                </a:ext>
              </a:extLst>
            </p:cNvPr>
            <p:cNvSpPr/>
            <p:nvPr/>
          </p:nvSpPr>
          <p:spPr>
            <a:xfrm>
              <a:off x="5050903" y="4231516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813C69F-6B1F-DBF6-2279-3C7ED50286EA}"/>
                </a:ext>
              </a:extLst>
            </p:cNvPr>
            <p:cNvSpPr/>
            <p:nvPr/>
          </p:nvSpPr>
          <p:spPr>
            <a:xfrm>
              <a:off x="5050900" y="2962142"/>
              <a:ext cx="2087021" cy="171932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DA7FB578-8A72-A210-D427-E8A174EFD949}"/>
              </a:ext>
            </a:extLst>
          </p:cNvPr>
          <p:cNvSpPr/>
          <p:nvPr/>
        </p:nvSpPr>
        <p:spPr>
          <a:xfrm>
            <a:off x="3618963" y="4430308"/>
            <a:ext cx="2066661" cy="693315"/>
          </a:xfrm>
          <a:prstGeom prst="wedgeRoundRectCallout">
            <a:avLst>
              <a:gd name="adj1" fmla="val 30309"/>
              <a:gd name="adj2" fmla="val -98862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/>
              <a:t>这显然是个错误，可能会造成内存非法访问</a:t>
            </a:r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AD3FB92A-C18B-0A4B-CDF2-03BD07C76E24}"/>
              </a:ext>
            </a:extLst>
          </p:cNvPr>
          <p:cNvSpPr/>
          <p:nvPr/>
        </p:nvSpPr>
        <p:spPr>
          <a:xfrm>
            <a:off x="8448534" y="3704799"/>
            <a:ext cx="302654" cy="1699206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9BD6CE-06E3-4A7E-EE3E-26670C6D2A00}"/>
              </a:ext>
            </a:extLst>
          </p:cNvPr>
          <p:cNvSpPr txBox="1"/>
          <p:nvPr/>
        </p:nvSpPr>
        <p:spPr>
          <a:xfrm>
            <a:off x="8905729" y="4292792"/>
            <a:ext cx="2018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  <a:cs typeface="Fira Code" pitchFamily="1" charset="0"/>
              </a:rPr>
              <a:t>这段内存的合法性是未知的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333AFCD7-C46B-FEB5-3796-0E0314FE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内存重解释：使用指针</a:t>
            </a: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4D482A52-4F7E-534B-2A4F-5B19F4B1E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+mn-lt"/>
              </a:rPr>
              <a:t>int n = 1;</a:t>
            </a:r>
          </a:p>
          <a:p>
            <a:pPr marL="0" indent="0">
              <a:buNone/>
            </a:pPr>
            <a:r>
              <a:rPr lang="en-US" altLang="zh-CN" sz="2000" dirty="0">
                <a:latin typeface="+mn-lt"/>
              </a:rPr>
              <a:t>double *p = (double *)&amp;n;</a:t>
            </a:r>
            <a:endParaRPr lang="zh-CN" altLang="en-US" sz="2000" dirty="0">
              <a:latin typeface="+mn-lt"/>
            </a:endParaRPr>
          </a:p>
          <a:p>
            <a:pPr marL="0" indent="0">
              <a:buNone/>
            </a:pPr>
            <a:endParaRPr lang="zh-CN" altLang="en-US" dirty="0">
              <a:latin typeface="+mn-lt"/>
            </a:endParaRPr>
          </a:p>
        </p:txBody>
      </p:sp>
      <p:sp>
        <p:nvSpPr>
          <p:cNvPr id="23" name="箭头: 五边形 22">
            <a:extLst>
              <a:ext uri="{FF2B5EF4-FFF2-40B4-BE49-F238E27FC236}">
                <a16:creationId xmlns:a16="http://schemas.microsoft.com/office/drawing/2014/main" id="{E774E1BB-516E-156D-0981-458308D0E88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reinterpret.c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34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C1E929D0-7EEA-5AD6-A2DB-F78D3917120E}"/>
              </a:ext>
            </a:extLst>
          </p:cNvPr>
          <p:cNvGrpSpPr/>
          <p:nvPr/>
        </p:nvGrpSpPr>
        <p:grpSpPr>
          <a:xfrm>
            <a:off x="6033469" y="2921696"/>
            <a:ext cx="2087027" cy="1719329"/>
            <a:chOff x="5050900" y="2962142"/>
            <a:chExt cx="2087027" cy="171932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5B4BEB8-9D8F-D702-F5FF-9D9AF7025799}"/>
                </a:ext>
              </a:extLst>
            </p:cNvPr>
            <p:cNvSpPr/>
            <p:nvPr/>
          </p:nvSpPr>
          <p:spPr>
            <a:xfrm>
              <a:off x="5050906" y="2962142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0x4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C06F72B-4E81-4A09-E352-6767B01BBF28}"/>
                </a:ext>
              </a:extLst>
            </p:cNvPr>
            <p:cNvSpPr/>
            <p:nvPr/>
          </p:nvSpPr>
          <p:spPr>
            <a:xfrm>
              <a:off x="5050903" y="3371852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0x3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426D67B-4747-53A1-31F8-EAA3A83D2437}"/>
                </a:ext>
              </a:extLst>
            </p:cNvPr>
            <p:cNvSpPr/>
            <p:nvPr/>
          </p:nvSpPr>
          <p:spPr>
            <a:xfrm>
              <a:off x="5050903" y="3801684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0x2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3797078-BA38-5300-E243-52B6627B3002}"/>
                </a:ext>
              </a:extLst>
            </p:cNvPr>
            <p:cNvSpPr/>
            <p:nvPr/>
          </p:nvSpPr>
          <p:spPr>
            <a:xfrm>
              <a:off x="5050903" y="4231516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0x1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813C69F-6B1F-DBF6-2279-3C7ED50286EA}"/>
                </a:ext>
              </a:extLst>
            </p:cNvPr>
            <p:cNvSpPr/>
            <p:nvPr/>
          </p:nvSpPr>
          <p:spPr>
            <a:xfrm>
              <a:off x="5050900" y="2962142"/>
              <a:ext cx="2087021" cy="171932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71CC6A9-1549-C574-9AF1-26C70B1EF6ED}"/>
              </a:ext>
            </a:extLst>
          </p:cNvPr>
          <p:cNvSpPr txBox="1"/>
          <p:nvPr/>
        </p:nvSpPr>
        <p:spPr>
          <a:xfrm>
            <a:off x="8700421" y="3576572"/>
            <a:ext cx="20185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a typeface="Fira Code" pitchFamily="1" charset="0"/>
                <a:cs typeface="Fira Code" pitchFamily="1" charset="0"/>
              </a:rPr>
              <a:t>n</a:t>
            </a: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32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位整数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cs typeface="Fira Code" pitchFamily="1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内存是整数的映像</a:t>
            </a: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E98FA2F9-2E81-5D7A-E735-79022E32D190}"/>
              </a:ext>
            </a:extLst>
          </p:cNvPr>
          <p:cNvSpPr/>
          <p:nvPr/>
        </p:nvSpPr>
        <p:spPr>
          <a:xfrm>
            <a:off x="8259132" y="2921696"/>
            <a:ext cx="302654" cy="169920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BD52910A-AF66-C6EB-C8C8-9045FD632329}"/>
              </a:ext>
            </a:extLst>
          </p:cNvPr>
          <p:cNvSpPr/>
          <p:nvPr/>
        </p:nvSpPr>
        <p:spPr>
          <a:xfrm>
            <a:off x="5670478" y="2921696"/>
            <a:ext cx="224349" cy="839542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FB6E62-F5EC-1D6A-7105-2F1C1065DD82}"/>
              </a:ext>
            </a:extLst>
          </p:cNvPr>
          <p:cNvSpPr txBox="1"/>
          <p:nvPr/>
        </p:nvSpPr>
        <p:spPr>
          <a:xfrm>
            <a:off x="3463354" y="3136612"/>
            <a:ext cx="2093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cs typeface="Fira Code" pitchFamily="1" charset="0"/>
              </a:rPr>
              <a:t>p[]</a:t>
            </a:r>
          </a:p>
          <a:p>
            <a:pPr algn="r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cs typeface="Fira Code" pitchFamily="1" charset="0"/>
              </a:rPr>
              <a:t>长度未知的字节数组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177D8F3-4601-A48B-98A7-E8233CCC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内存重解释：使用指针</a:t>
            </a:r>
          </a:p>
        </p:txBody>
      </p:sp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8C09651E-C19B-5E9A-44EF-6D639F45F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int n = 0x01020304;</a:t>
            </a:r>
          </a:p>
          <a:p>
            <a:pPr marL="0" indent="0">
              <a:buNone/>
            </a:pPr>
            <a:r>
              <a:rPr lang="en-US" altLang="zh-CN" sz="2000" dirty="0"/>
              <a:t>void *p = (void *)&amp;n;</a:t>
            </a:r>
            <a:endParaRPr lang="zh-CN" altLang="en-US" sz="20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DF955741-0E95-505D-1A49-27FCC41B0C41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reinterpret.c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30EAAAA-32B2-CA8D-AD26-A259348A019E}"/>
              </a:ext>
            </a:extLst>
          </p:cNvPr>
          <p:cNvSpPr txBox="1"/>
          <p:nvPr/>
        </p:nvSpPr>
        <p:spPr>
          <a:xfrm>
            <a:off x="5567742" y="3158282"/>
            <a:ext cx="429819" cy="476071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bg1"/>
                </a:solidFill>
                <a:ea typeface="Fira Code" pitchFamily="1" charset="0"/>
                <a:cs typeface="Fira Code" pitchFamily="1" charset="0"/>
              </a:rPr>
              <a:t>?</a:t>
            </a:r>
            <a:endParaRPr lang="zh-CN" altLang="en-US" sz="1600" b="1" dirty="0">
              <a:solidFill>
                <a:schemeClr val="bg1"/>
              </a:solidFill>
              <a:cs typeface="Fira Code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91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71CC6A9-1549-C574-9AF1-26C70B1EF6ED}"/>
              </a:ext>
            </a:extLst>
          </p:cNvPr>
          <p:cNvSpPr txBox="1"/>
          <p:nvPr/>
        </p:nvSpPr>
        <p:spPr>
          <a:xfrm>
            <a:off x="8336034" y="2458724"/>
            <a:ext cx="20185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cs typeface="Fira Code" pitchFamily="1" charset="0"/>
              </a:rPr>
              <a:t>u.n</a:t>
            </a:r>
            <a:endParaRPr lang="en-US" altLang="zh-CN" dirty="0">
              <a:cs typeface="Fira Code" pitchFamily="1" charset="0"/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32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位整数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cs typeface="Fira Code" pitchFamily="1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内存是整数的映像</a:t>
            </a: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E98FA2F9-2E81-5D7A-E735-79022E32D190}"/>
              </a:ext>
            </a:extLst>
          </p:cNvPr>
          <p:cNvSpPr/>
          <p:nvPr/>
        </p:nvSpPr>
        <p:spPr>
          <a:xfrm>
            <a:off x="7894745" y="1803848"/>
            <a:ext cx="302654" cy="169920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BD52910A-AF66-C6EB-C8C8-9045FD632329}"/>
              </a:ext>
            </a:extLst>
          </p:cNvPr>
          <p:cNvSpPr/>
          <p:nvPr/>
        </p:nvSpPr>
        <p:spPr>
          <a:xfrm>
            <a:off x="5296232" y="1803848"/>
            <a:ext cx="234208" cy="3400022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FB6E62-F5EC-1D6A-7105-2F1C1065DD82}"/>
              </a:ext>
            </a:extLst>
          </p:cNvPr>
          <p:cNvSpPr txBox="1"/>
          <p:nvPr/>
        </p:nvSpPr>
        <p:spPr>
          <a:xfrm>
            <a:off x="3671109" y="3058397"/>
            <a:ext cx="146136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err="1">
                <a:cs typeface="Fira Code" pitchFamily="1" charset="0"/>
              </a:rPr>
              <a:t>u.d</a:t>
            </a:r>
            <a:endParaRPr lang="en-US" altLang="zh-CN" dirty="0">
              <a:cs typeface="Fira Code" pitchFamily="1" charset="0"/>
            </a:endParaRPr>
          </a:p>
          <a:p>
            <a:pPr algn="r"/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cs typeface="Fira Code" pitchFamily="1" charset="0"/>
              </a:rPr>
              <a:t>64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cs typeface="Fira Code" pitchFamily="1" charset="0"/>
              </a:rPr>
              <a:t>位浮点数</a:t>
            </a:r>
            <a:endParaRPr lang="en-US" altLang="zh-CN" sz="1400" dirty="0">
              <a:solidFill>
                <a:schemeClr val="accent5">
                  <a:lumMod val="50000"/>
                </a:schemeClr>
              </a:solidFill>
              <a:cs typeface="Fira Code" pitchFamily="1" charset="0"/>
            </a:endParaRPr>
          </a:p>
          <a:p>
            <a:pPr algn="r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cs typeface="Fira Code" pitchFamily="1" charset="0"/>
              </a:rPr>
              <a:t>内存是浮点映像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200D0B-D619-661E-6A1D-3C694C5A26B4}"/>
              </a:ext>
            </a:extLst>
          </p:cNvPr>
          <p:cNvSpPr/>
          <p:nvPr/>
        </p:nvSpPr>
        <p:spPr>
          <a:xfrm>
            <a:off x="5672496" y="3517888"/>
            <a:ext cx="2087021" cy="4298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4B6F6A-B6B1-F94B-D401-BC038DAAABF9}"/>
              </a:ext>
            </a:extLst>
          </p:cNvPr>
          <p:cNvSpPr/>
          <p:nvPr/>
        </p:nvSpPr>
        <p:spPr>
          <a:xfrm>
            <a:off x="5672496" y="3946398"/>
            <a:ext cx="2087021" cy="40045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1E7948-CDDF-E21A-F7D4-1871CAF1940A}"/>
              </a:ext>
            </a:extLst>
          </p:cNvPr>
          <p:cNvSpPr/>
          <p:nvPr/>
        </p:nvSpPr>
        <p:spPr>
          <a:xfrm>
            <a:off x="5672496" y="4345528"/>
            <a:ext cx="2087021" cy="4298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021B92-6108-CA25-2FF0-3427E103B5AD}"/>
              </a:ext>
            </a:extLst>
          </p:cNvPr>
          <p:cNvSpPr/>
          <p:nvPr/>
        </p:nvSpPr>
        <p:spPr>
          <a:xfrm>
            <a:off x="5672496" y="4774038"/>
            <a:ext cx="2087021" cy="4298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B4BEB8-9D8F-D702-F5FF-9D9AF7025799}"/>
              </a:ext>
            </a:extLst>
          </p:cNvPr>
          <p:cNvSpPr/>
          <p:nvPr/>
        </p:nvSpPr>
        <p:spPr>
          <a:xfrm>
            <a:off x="5669088" y="1803848"/>
            <a:ext cx="2087021" cy="42983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06F72B-4E81-4A09-E352-6767B01BBF28}"/>
              </a:ext>
            </a:extLst>
          </p:cNvPr>
          <p:cNvSpPr/>
          <p:nvPr/>
        </p:nvSpPr>
        <p:spPr>
          <a:xfrm>
            <a:off x="5669085" y="2232358"/>
            <a:ext cx="2087021" cy="42983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6D67B-4747-53A1-31F8-EAA3A83D2437}"/>
              </a:ext>
            </a:extLst>
          </p:cNvPr>
          <p:cNvSpPr/>
          <p:nvPr/>
        </p:nvSpPr>
        <p:spPr>
          <a:xfrm>
            <a:off x="5669085" y="2660868"/>
            <a:ext cx="2087021" cy="42983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797078-BA38-5300-E243-52B6627B3002}"/>
              </a:ext>
            </a:extLst>
          </p:cNvPr>
          <p:cNvSpPr/>
          <p:nvPr/>
        </p:nvSpPr>
        <p:spPr>
          <a:xfrm>
            <a:off x="5669085" y="3089378"/>
            <a:ext cx="2087021" cy="42983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13C69F-6B1F-DBF6-2279-3C7ED50286EA}"/>
              </a:ext>
            </a:extLst>
          </p:cNvPr>
          <p:cNvSpPr/>
          <p:nvPr/>
        </p:nvSpPr>
        <p:spPr>
          <a:xfrm>
            <a:off x="5669082" y="1803848"/>
            <a:ext cx="2087021" cy="341853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7D6453D7-645B-5A4A-4EFA-5AFACB97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内存重解释：使用联合</a:t>
            </a:r>
          </a:p>
        </p:txBody>
      </p:sp>
      <p:sp>
        <p:nvSpPr>
          <p:cNvPr id="19" name="内容占位符 15">
            <a:extLst>
              <a:ext uri="{FF2B5EF4-FFF2-40B4-BE49-F238E27FC236}">
                <a16:creationId xmlns:a16="http://schemas.microsoft.com/office/drawing/2014/main" id="{D288DE44-ADA4-AC90-EDB8-DF8FB19A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/>
              <a:t>union { </a:t>
            </a:r>
          </a:p>
          <a:p>
            <a:pPr marL="0" indent="0">
              <a:buNone/>
            </a:pPr>
            <a:r>
              <a:rPr lang="en-US" altLang="zh-CN" sz="2000" dirty="0"/>
              <a:t>  int n; </a:t>
            </a:r>
          </a:p>
          <a:p>
            <a:pPr marL="0" indent="0">
              <a:buNone/>
            </a:pPr>
            <a:r>
              <a:rPr lang="en-US" altLang="zh-CN" sz="2000" dirty="0"/>
              <a:t>  double d; </a:t>
            </a:r>
          </a:p>
          <a:p>
            <a:pPr marL="0" indent="0">
              <a:buNone/>
            </a:pPr>
            <a:r>
              <a:rPr lang="en-US" altLang="zh-CN" sz="2000" dirty="0"/>
              <a:t>} u;</a:t>
            </a:r>
            <a:endParaRPr lang="zh-CN" altLang="en-US" sz="2000" dirty="0"/>
          </a:p>
        </p:txBody>
      </p:sp>
      <p:sp>
        <p:nvSpPr>
          <p:cNvPr id="21" name="箭头: 五边形 20">
            <a:extLst>
              <a:ext uri="{FF2B5EF4-FFF2-40B4-BE49-F238E27FC236}">
                <a16:creationId xmlns:a16="http://schemas.microsoft.com/office/drawing/2014/main" id="{16E81067-02F9-57A4-06D2-70FD829F04DE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reinterpret.c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754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33B24-192A-AE99-4008-E3AAE7B6B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49F423F-C3A2-C8B6-9A88-6962265D1DCC}"/>
              </a:ext>
            </a:extLst>
          </p:cNvPr>
          <p:cNvGrpSpPr/>
          <p:nvPr/>
        </p:nvGrpSpPr>
        <p:grpSpPr>
          <a:xfrm>
            <a:off x="6558995" y="2846230"/>
            <a:ext cx="2087027" cy="1719329"/>
            <a:chOff x="5050900" y="2962142"/>
            <a:chExt cx="2087027" cy="171932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DF468FD-1705-07D5-06AF-047596903F4D}"/>
                </a:ext>
              </a:extLst>
            </p:cNvPr>
            <p:cNvSpPr/>
            <p:nvPr/>
          </p:nvSpPr>
          <p:spPr>
            <a:xfrm>
              <a:off x="5050906" y="2962142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0x4</a:t>
              </a:r>
              <a:endParaRPr lang="zh-CN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4259470-276E-EDBF-5819-25107B55CFF7}"/>
                </a:ext>
              </a:extLst>
            </p:cNvPr>
            <p:cNvSpPr/>
            <p:nvPr/>
          </p:nvSpPr>
          <p:spPr>
            <a:xfrm>
              <a:off x="5050903" y="3371852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0x3</a:t>
              </a:r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C078418-C1EE-1BDD-E920-076118D7BBC6}"/>
                </a:ext>
              </a:extLst>
            </p:cNvPr>
            <p:cNvSpPr/>
            <p:nvPr/>
          </p:nvSpPr>
          <p:spPr>
            <a:xfrm>
              <a:off x="5050903" y="3801684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0x2</a:t>
              </a:r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B739E02-C460-0F0C-DCB3-0A8D3BAD0EDA}"/>
                </a:ext>
              </a:extLst>
            </p:cNvPr>
            <p:cNvSpPr/>
            <p:nvPr/>
          </p:nvSpPr>
          <p:spPr>
            <a:xfrm>
              <a:off x="5050903" y="4231516"/>
              <a:ext cx="2087021" cy="429832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0x1</a:t>
              </a:r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9C00690-0FE2-A57F-B980-AE383EE1C891}"/>
                </a:ext>
              </a:extLst>
            </p:cNvPr>
            <p:cNvSpPr/>
            <p:nvPr/>
          </p:nvSpPr>
          <p:spPr>
            <a:xfrm>
              <a:off x="5050900" y="2962142"/>
              <a:ext cx="2087021" cy="171932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F8083654-C5DF-B31A-A73E-16581120E8A8}"/>
              </a:ext>
            </a:extLst>
          </p:cNvPr>
          <p:cNvSpPr txBox="1"/>
          <p:nvPr/>
        </p:nvSpPr>
        <p:spPr>
          <a:xfrm>
            <a:off x="9225947" y="3501106"/>
            <a:ext cx="20185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cs typeface="Fira Code" pitchFamily="1" charset="0"/>
              </a:rPr>
              <a:t>u.n</a:t>
            </a:r>
            <a:endParaRPr lang="en-US" altLang="zh-CN" dirty="0">
              <a:cs typeface="Fira Code" pitchFamily="1" charset="0"/>
            </a:endParaRPr>
          </a:p>
          <a:p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32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位整数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cs typeface="Fira Code" pitchFamily="1" charset="0"/>
            </a:endParaRPr>
          </a:p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cs typeface="Fira Code" pitchFamily="1" charset="0"/>
              </a:rPr>
              <a:t>内存是整数的映像</a:t>
            </a: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51A17B96-04AF-1B42-38C2-342D5D675165}"/>
              </a:ext>
            </a:extLst>
          </p:cNvPr>
          <p:cNvSpPr/>
          <p:nvPr/>
        </p:nvSpPr>
        <p:spPr>
          <a:xfrm>
            <a:off x="8784658" y="2846230"/>
            <a:ext cx="302654" cy="169920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11235B33-8FA2-B53D-7A87-6AA7E8ED3FB2}"/>
              </a:ext>
            </a:extLst>
          </p:cNvPr>
          <p:cNvSpPr/>
          <p:nvPr/>
        </p:nvSpPr>
        <p:spPr>
          <a:xfrm>
            <a:off x="6196004" y="2846230"/>
            <a:ext cx="276899" cy="1699205"/>
          </a:xfrm>
          <a:prstGeom prst="lef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CC033F-47D2-A72B-005B-90D1622FDB6A}"/>
              </a:ext>
            </a:extLst>
          </p:cNvPr>
          <p:cNvSpPr txBox="1"/>
          <p:nvPr/>
        </p:nvSpPr>
        <p:spPr>
          <a:xfrm>
            <a:off x="3963670" y="3501106"/>
            <a:ext cx="2093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err="1">
                <a:cs typeface="Fira Code" pitchFamily="1" charset="0"/>
              </a:rPr>
              <a:t>u.c</a:t>
            </a:r>
            <a:endParaRPr lang="en-US" altLang="zh-CN" dirty="0">
              <a:cs typeface="Fira Code" pitchFamily="1" charset="0"/>
            </a:endParaRPr>
          </a:p>
          <a:p>
            <a:pPr algn="r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cs typeface="Fira Code" pitchFamily="1" charset="0"/>
              </a:rPr>
              <a:t>长度为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cs typeface="Fira Code" pitchFamily="1" charset="0"/>
              </a:rPr>
              <a:t>4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cs typeface="Fira Code" pitchFamily="1" charset="0"/>
              </a:rPr>
              <a:t>的字符数组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04531FB-92A3-B998-0904-CFE69541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内存重解释：使用联合</a:t>
            </a:r>
          </a:p>
        </p:txBody>
      </p:sp>
      <p:sp>
        <p:nvSpPr>
          <p:cNvPr id="16" name="内容占位符 15">
            <a:extLst>
              <a:ext uri="{FF2B5EF4-FFF2-40B4-BE49-F238E27FC236}">
                <a16:creationId xmlns:a16="http://schemas.microsoft.com/office/drawing/2014/main" id="{85112F34-92F8-9F3C-5246-5F919F6D3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46220"/>
            <a:ext cx="10209210" cy="463210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union { </a:t>
            </a:r>
          </a:p>
          <a:p>
            <a:pPr marL="0" indent="0">
              <a:buNone/>
            </a:pPr>
            <a:r>
              <a:rPr lang="en-US" altLang="zh-CN" sz="2000" dirty="0"/>
              <a:t>  int n; </a:t>
            </a:r>
          </a:p>
          <a:p>
            <a:pPr marL="0" indent="0">
              <a:buNone/>
            </a:pPr>
            <a:r>
              <a:rPr lang="en-US" altLang="zh-CN" sz="2000" dirty="0"/>
              <a:t>  char c[</a:t>
            </a:r>
            <a:r>
              <a:rPr lang="en-US" altLang="zh-CN" sz="2000" dirty="0" err="1"/>
              <a:t>sizeof</a:t>
            </a:r>
            <a:r>
              <a:rPr lang="en-US" altLang="zh-CN" sz="2000" dirty="0"/>
              <a:t>(int)]; </a:t>
            </a:r>
          </a:p>
          <a:p>
            <a:pPr marL="0" indent="0">
              <a:buNone/>
            </a:pPr>
            <a:r>
              <a:rPr lang="en-US" altLang="zh-CN" sz="2000" dirty="0"/>
              <a:t>} u;</a:t>
            </a:r>
          </a:p>
          <a:p>
            <a:pPr marL="0" indent="0">
              <a:buNone/>
            </a:pPr>
            <a:r>
              <a:rPr lang="en-US" altLang="zh-CN" sz="2000" dirty="0" err="1"/>
              <a:t>u.n</a:t>
            </a:r>
            <a:r>
              <a:rPr lang="en-US" altLang="zh-CN" sz="2000" dirty="0"/>
              <a:t> = 0x01020304;</a:t>
            </a:r>
            <a:endParaRPr lang="zh-CN" altLang="en-US" sz="20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6CC9A631-6173-DFA2-C605-944442033BE2}"/>
              </a:ext>
            </a:extLst>
          </p:cNvPr>
          <p:cNvSpPr/>
          <p:nvPr/>
        </p:nvSpPr>
        <p:spPr>
          <a:xfrm>
            <a:off x="0" y="613678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reinterpret.c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94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7D5FF-60AD-47F7-C08F-32553298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6FA55A36-365A-9721-935F-8CDD44F3C123}"/>
              </a:ext>
            </a:extLst>
          </p:cNvPr>
          <p:cNvSpPr/>
          <p:nvPr/>
        </p:nvSpPr>
        <p:spPr>
          <a:xfrm>
            <a:off x="3925909" y="2572555"/>
            <a:ext cx="4340181" cy="17128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/>
              <a:t>指向指针的指针</a:t>
            </a:r>
          </a:p>
        </p:txBody>
      </p:sp>
    </p:spTree>
    <p:extLst>
      <p:ext uri="{BB962C8B-B14F-4D97-AF65-F5344CB8AC3E}">
        <p14:creationId xmlns:p14="http://schemas.microsoft.com/office/powerpoint/2010/main" val="68597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BDB06-F939-4789-98AC-74CE6E36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指向指针的指针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725D7-FBE7-4461-BC9B-AC03ABE57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void</a:t>
            </a:r>
            <a:r>
              <a:rPr lang="en-US" altLang="zh-CN" dirty="0"/>
              <a:t> </a:t>
            </a:r>
            <a:r>
              <a:rPr lang="en-US" altLang="zh-CN" dirty="0" err="1"/>
              <a:t>make_ptr</a:t>
            </a:r>
            <a:r>
              <a:rPr lang="en-US" altLang="zh-CN" dirty="0"/>
              <a:t>(</a:t>
            </a:r>
            <a:r>
              <a:rPr lang="en-US" altLang="zh-CN" i="1" dirty="0"/>
              <a:t>int</a:t>
            </a:r>
            <a:r>
              <a:rPr lang="en-US" altLang="zh-CN" dirty="0"/>
              <a:t> *</a:t>
            </a:r>
            <a:r>
              <a:rPr lang="en-US" altLang="zh-CN" i="1" dirty="0"/>
              <a:t>q</a:t>
            </a:r>
            <a:r>
              <a:rPr lang="en-US" altLang="zh-CN" dirty="0"/>
              <a:t>) {</a:t>
            </a:r>
          </a:p>
          <a:p>
            <a:pPr marL="0" indent="0">
              <a:buNone/>
            </a:pPr>
            <a:r>
              <a:rPr lang="en-US" altLang="zh-CN" dirty="0"/>
              <a:t>    </a:t>
            </a:r>
            <a:r>
              <a:rPr lang="en-US" altLang="zh-CN" i="1" dirty="0"/>
              <a:t>q</a:t>
            </a:r>
            <a:r>
              <a:rPr lang="en-US" altLang="zh-CN" dirty="0"/>
              <a:t> = (</a:t>
            </a:r>
            <a:r>
              <a:rPr lang="en-US" altLang="zh-CN" i="1" dirty="0"/>
              <a:t>int</a:t>
            </a:r>
            <a:r>
              <a:rPr lang="en-US" altLang="zh-CN" dirty="0"/>
              <a:t> *)malloc(</a:t>
            </a:r>
            <a:r>
              <a:rPr lang="en-US" altLang="zh-CN" dirty="0" err="1"/>
              <a:t>sizeof</a:t>
            </a:r>
            <a:r>
              <a:rPr lang="en-US" altLang="zh-CN" dirty="0"/>
              <a:t>(</a:t>
            </a:r>
            <a:r>
              <a:rPr lang="en-US" altLang="zh-CN" i="1" dirty="0"/>
              <a:t>int</a:t>
            </a:r>
            <a:r>
              <a:rPr lang="en-US" altLang="zh-CN" dirty="0"/>
              <a:t>) * 10);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int *p = NULL;</a:t>
            </a:r>
          </a:p>
          <a:p>
            <a:pPr marL="0" indent="0">
              <a:buNone/>
            </a:pPr>
            <a:r>
              <a:rPr lang="en-US" altLang="zh-CN" dirty="0" err="1"/>
              <a:t>make_ptr</a:t>
            </a:r>
            <a:r>
              <a:rPr lang="en-US" altLang="zh-CN" dirty="0"/>
              <a:t>(p);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EBB4C4B5-244E-45A5-A75B-DE317A16B8B2}"/>
              </a:ext>
            </a:extLst>
          </p:cNvPr>
          <p:cNvSpPr/>
          <p:nvPr/>
        </p:nvSpPr>
        <p:spPr>
          <a:xfrm>
            <a:off x="4015059" y="3128230"/>
            <a:ext cx="3026535" cy="756518"/>
          </a:xfrm>
          <a:prstGeom prst="wedgeRectCallout">
            <a:avLst>
              <a:gd name="adj1" fmla="val -79948"/>
              <a:gd name="adj2" fmla="val 58516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p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ira Code" panose="020B0809050000020004" pitchFamily="49" charset="0"/>
              </a:rPr>
              <a:t>会指向有效内存吗？</a:t>
            </a:r>
          </a:p>
        </p:txBody>
      </p:sp>
    </p:spTree>
    <p:extLst>
      <p:ext uri="{BB962C8B-B14F-4D97-AF65-F5344CB8AC3E}">
        <p14:creationId xmlns:p14="http://schemas.microsoft.com/office/powerpoint/2010/main" val="281673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174D5-91E5-4CAB-94D0-B9117633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指向指针的指针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D8DCA6-C0B5-4BE1-B18C-B7D19CAF0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指针作为参数，依然遵循“传值调用”的规则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void</a:t>
            </a:r>
            <a:r>
              <a:rPr lang="en-US" altLang="zh-CN" dirty="0"/>
              <a:t> </a:t>
            </a:r>
            <a:r>
              <a:rPr lang="en-US" altLang="zh-CN" dirty="0" err="1"/>
              <a:t>make_ptr</a:t>
            </a:r>
            <a:r>
              <a:rPr lang="en-US" altLang="zh-CN" dirty="0"/>
              <a:t>(</a:t>
            </a:r>
            <a:r>
              <a:rPr lang="en-US" altLang="zh-CN" i="1" dirty="0"/>
              <a:t>int</a:t>
            </a:r>
            <a:r>
              <a:rPr lang="en-US" altLang="zh-CN" dirty="0"/>
              <a:t> *</a:t>
            </a:r>
            <a:r>
              <a:rPr lang="en-US" altLang="zh-CN" i="1" dirty="0"/>
              <a:t>q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 err="1"/>
              <a:t>make_ptr</a:t>
            </a:r>
            <a:r>
              <a:rPr lang="en-US" altLang="zh-CN" dirty="0"/>
              <a:t>(p);</a:t>
            </a:r>
          </a:p>
          <a:p>
            <a:pPr marL="0" indent="0">
              <a:buNone/>
            </a:pPr>
            <a:r>
              <a:rPr lang="zh-CN" altLang="en-US" dirty="0"/>
              <a:t>这里，形参</a:t>
            </a:r>
            <a:r>
              <a:rPr lang="en-US" altLang="zh-CN" dirty="0"/>
              <a:t>q</a:t>
            </a:r>
            <a:r>
              <a:rPr lang="zh-CN" altLang="en-US" dirty="0"/>
              <a:t>是实参</a:t>
            </a:r>
            <a:r>
              <a:rPr lang="en-US" altLang="zh-CN" dirty="0"/>
              <a:t>p</a:t>
            </a:r>
            <a:r>
              <a:rPr lang="zh-CN" altLang="en-US" dirty="0"/>
              <a:t>的副本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因此，在函数中改变了</a:t>
            </a:r>
            <a:r>
              <a:rPr lang="en-US" altLang="zh-CN" dirty="0"/>
              <a:t>q</a:t>
            </a:r>
            <a:r>
              <a:rPr lang="zh-CN" altLang="en-US" dirty="0"/>
              <a:t>，对</a:t>
            </a:r>
            <a:r>
              <a:rPr lang="en-US" altLang="zh-CN" dirty="0"/>
              <a:t>p</a:t>
            </a:r>
            <a:r>
              <a:rPr lang="zh-CN" altLang="en-US" dirty="0"/>
              <a:t>没有影响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9A7AA2-D81B-4334-8A44-CEB2C051BF5B}"/>
              </a:ext>
            </a:extLst>
          </p:cNvPr>
          <p:cNvSpPr/>
          <p:nvPr/>
        </p:nvSpPr>
        <p:spPr>
          <a:xfrm>
            <a:off x="9608026" y="3835380"/>
            <a:ext cx="616413" cy="5788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FCCBBE1-81FC-449C-AC79-33FA8D96B335}"/>
              </a:ext>
            </a:extLst>
          </p:cNvPr>
          <p:cNvCxnSpPr>
            <a:cxnSpLocks/>
            <a:stCxn id="4" idx="0"/>
            <a:endCxn id="11" idx="2"/>
          </p:cNvCxnSpPr>
          <p:nvPr/>
        </p:nvCxnSpPr>
        <p:spPr>
          <a:xfrm flipH="1" flipV="1">
            <a:off x="9916231" y="3290274"/>
            <a:ext cx="2" cy="545106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F3DF958-8325-4205-9594-25FAC0476298}"/>
              </a:ext>
            </a:extLst>
          </p:cNvPr>
          <p:cNvSpPr txBox="1"/>
          <p:nvPr/>
        </p:nvSpPr>
        <p:spPr>
          <a:xfrm>
            <a:off x="9593889" y="4432311"/>
            <a:ext cx="644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ea typeface="Fira Code" panose="020B0809050000020004" pitchFamily="49" charset="0"/>
              </a:rPr>
              <a:t>q</a:t>
            </a:r>
            <a:endParaRPr lang="zh-CN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0F8980-7AC5-4553-A6E5-1FFF1C40D6E6}"/>
              </a:ext>
            </a:extLst>
          </p:cNvPr>
          <p:cNvSpPr/>
          <p:nvPr/>
        </p:nvSpPr>
        <p:spPr>
          <a:xfrm>
            <a:off x="7850491" y="3835380"/>
            <a:ext cx="616413" cy="5788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9F55929-422E-4FA0-BFC4-616C4E001104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flipV="1">
            <a:off x="8158698" y="3298325"/>
            <a:ext cx="0" cy="537055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5CBF298-7C3A-4365-BBB3-F472412DF1F7}"/>
              </a:ext>
            </a:extLst>
          </p:cNvPr>
          <p:cNvSpPr txBox="1"/>
          <p:nvPr/>
        </p:nvSpPr>
        <p:spPr>
          <a:xfrm>
            <a:off x="7836354" y="4432311"/>
            <a:ext cx="644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ea typeface="Fira Code" panose="020B0809050000020004" pitchFamily="49" charset="0"/>
              </a:rPr>
              <a:t>p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DE2FE5-A6D8-48E9-A836-A2B057BCE0BC}"/>
              </a:ext>
            </a:extLst>
          </p:cNvPr>
          <p:cNvSpPr/>
          <p:nvPr/>
        </p:nvSpPr>
        <p:spPr>
          <a:xfrm>
            <a:off x="7850491" y="2719426"/>
            <a:ext cx="616413" cy="5788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NULL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EB8E76-ED12-40B8-95E7-15963E709904}"/>
              </a:ext>
            </a:extLst>
          </p:cNvPr>
          <p:cNvSpPr/>
          <p:nvPr/>
        </p:nvSpPr>
        <p:spPr>
          <a:xfrm>
            <a:off x="9608024" y="2711375"/>
            <a:ext cx="616413" cy="57889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D290243-1D8F-4D6B-A9FA-A0B719FD2D68}"/>
              </a:ext>
            </a:extLst>
          </p:cNvPr>
          <p:cNvCxnSpPr>
            <a:cxnSpLocks/>
            <a:stCxn id="4" idx="0"/>
            <a:endCxn id="10" idx="2"/>
          </p:cNvCxnSpPr>
          <p:nvPr/>
        </p:nvCxnSpPr>
        <p:spPr>
          <a:xfrm flipH="1" flipV="1">
            <a:off x="8158698" y="3298325"/>
            <a:ext cx="1757535" cy="537055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408EFB99-38F2-8DED-F9E8-53A074D071D7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ptr-2-ptr.c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2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/>
      <p:bldP spid="6" grpId="1"/>
      <p:bldP spid="7" grpId="0" animBg="1"/>
      <p:bldP spid="9" grpId="0"/>
      <p:bldP spid="10" grpId="0"/>
      <p:bldP spid="11" grpId="0" animBg="1"/>
      <p:bldP spid="1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174D5-91E5-4CAB-94D0-B9117633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指向指针的指针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D8DCA6-C0B5-4BE1-B18C-B7D19CAF0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解决方案：传递实参的地址</a:t>
            </a:r>
            <a:endParaRPr lang="en-US" altLang="zh-CN" dirty="0"/>
          </a:p>
          <a:p>
            <a:pPr lvl="1"/>
            <a:r>
              <a:rPr lang="zh-CN" altLang="en-US" dirty="0"/>
              <a:t>因为实参</a:t>
            </a:r>
            <a:r>
              <a:rPr lang="en-US" altLang="zh-CN" dirty="0"/>
              <a:t>p</a:t>
            </a:r>
            <a:r>
              <a:rPr lang="zh-CN" altLang="en-US" dirty="0"/>
              <a:t>是个指针，因此它的地址就是“</a:t>
            </a:r>
            <a:r>
              <a:rPr lang="zh-CN" altLang="en-US" b="1" dirty="0">
                <a:solidFill>
                  <a:srgbClr val="FF0000"/>
                </a:solidFill>
              </a:rPr>
              <a:t>指向指针的指针</a:t>
            </a:r>
            <a:r>
              <a:rPr lang="zh-CN" altLang="en-US" dirty="0"/>
              <a:t>”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make_ptr</a:t>
            </a:r>
            <a:r>
              <a:rPr lang="en-US" altLang="zh-CN" dirty="0"/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int **q</a:t>
            </a:r>
            <a:r>
              <a:rPr lang="en-US" altLang="zh-CN" dirty="0"/>
              <a:t>) {</a:t>
            </a:r>
          </a:p>
          <a:p>
            <a:pPr marL="457200" lvl="1" indent="0">
              <a:buNone/>
            </a:pPr>
            <a:r>
              <a:rPr lang="en-US" altLang="zh-CN" dirty="0"/>
              <a:t>   </a:t>
            </a:r>
            <a:r>
              <a:rPr lang="en-US" altLang="zh-CN" b="1" i="1" dirty="0">
                <a:solidFill>
                  <a:srgbClr val="FF0000"/>
                </a:solidFill>
              </a:rPr>
              <a:t>*q</a:t>
            </a:r>
            <a:r>
              <a:rPr lang="en-US" altLang="zh-CN" dirty="0"/>
              <a:t> = (int *)malloc(…);</a:t>
            </a:r>
          </a:p>
          <a:p>
            <a:pPr marL="457200" lvl="1" indent="0">
              <a:buNone/>
            </a:pPr>
            <a:r>
              <a:rPr lang="en-US" altLang="zh-CN" dirty="0"/>
              <a:t>}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 err="1"/>
              <a:t>make_ptr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&amp;p</a:t>
            </a:r>
            <a:r>
              <a:rPr lang="en-US" altLang="zh-CN" dirty="0"/>
              <a:t>);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9A7AA2-D81B-4334-8A44-CEB2C051BF5B}"/>
              </a:ext>
            </a:extLst>
          </p:cNvPr>
          <p:cNvSpPr/>
          <p:nvPr/>
        </p:nvSpPr>
        <p:spPr>
          <a:xfrm>
            <a:off x="9259390" y="3909158"/>
            <a:ext cx="616413" cy="5788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Fira Code" panose="020B0809050000020004" pitchFamily="49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FCCBBE1-81FC-449C-AC79-33FA8D96B335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7810062" y="3364052"/>
            <a:ext cx="1757533" cy="545106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F3DF958-8325-4205-9594-25FAC0476298}"/>
              </a:ext>
            </a:extLst>
          </p:cNvPr>
          <p:cNvSpPr txBox="1"/>
          <p:nvPr/>
        </p:nvSpPr>
        <p:spPr>
          <a:xfrm>
            <a:off x="9245253" y="4506089"/>
            <a:ext cx="644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Fira Code" panose="020B0809050000020004" pitchFamily="49" charset="0"/>
                <a:ea typeface="Fira Code" panose="020B0809050000020004" pitchFamily="49" charset="0"/>
              </a:rPr>
              <a:t>q</a:t>
            </a:r>
            <a:endParaRPr lang="zh-CN" altLang="en-US" sz="1400" dirty="0">
              <a:latin typeface="Fira Code" panose="020B08090500000200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0F8980-7AC5-4553-A6E5-1FFF1C40D6E6}"/>
              </a:ext>
            </a:extLst>
          </p:cNvPr>
          <p:cNvSpPr/>
          <p:nvPr/>
        </p:nvSpPr>
        <p:spPr>
          <a:xfrm>
            <a:off x="7501855" y="3909158"/>
            <a:ext cx="616413" cy="57889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Fira Code" panose="020B0809050000020004" pitchFamily="49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9F55929-422E-4FA0-BFC4-616C4E001104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flipV="1">
            <a:off x="7810062" y="3372103"/>
            <a:ext cx="0" cy="537055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5CBF298-7C3A-4365-BBB3-F472412DF1F7}"/>
              </a:ext>
            </a:extLst>
          </p:cNvPr>
          <p:cNvSpPr txBox="1"/>
          <p:nvPr/>
        </p:nvSpPr>
        <p:spPr>
          <a:xfrm>
            <a:off x="7487718" y="4506089"/>
            <a:ext cx="644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Fira Code" panose="020B0809050000020004" pitchFamily="49" charset="0"/>
                <a:ea typeface="Fira Code" panose="020B0809050000020004" pitchFamily="49" charset="0"/>
              </a:rPr>
              <a:t>p</a:t>
            </a:r>
            <a:endParaRPr lang="zh-CN" altLang="en-US" sz="1400" dirty="0">
              <a:latin typeface="Fira Code" panose="020B08090500000200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DE2FE5-A6D8-48E9-A836-A2B057BCE0BC}"/>
              </a:ext>
            </a:extLst>
          </p:cNvPr>
          <p:cNvSpPr/>
          <p:nvPr/>
        </p:nvSpPr>
        <p:spPr>
          <a:xfrm>
            <a:off x="7501855" y="2793204"/>
            <a:ext cx="616413" cy="5788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Fira Code" panose="020B0809050000020004" pitchFamily="49" charset="0"/>
              </a:rPr>
              <a:t>NULL</a:t>
            </a:r>
            <a:endParaRPr lang="zh-CN" altLang="en-US" sz="1200" dirty="0">
              <a:solidFill>
                <a:schemeClr val="tx1"/>
              </a:solidFill>
              <a:latin typeface="Fira Code" panose="020B08090500000200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EB8E76-ED12-40B8-95E7-15963E709904}"/>
              </a:ext>
            </a:extLst>
          </p:cNvPr>
          <p:cNvSpPr/>
          <p:nvPr/>
        </p:nvSpPr>
        <p:spPr>
          <a:xfrm>
            <a:off x="9259388" y="2785153"/>
            <a:ext cx="616413" cy="57889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Fira Code" panose="020B0809050000020004" pitchFamily="49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D290243-1D8F-4D6B-A9FA-A0B719FD2D68}"/>
              </a:ext>
            </a:extLst>
          </p:cNvPr>
          <p:cNvCxnSpPr>
            <a:cxnSpLocks/>
            <a:stCxn id="4" idx="1"/>
            <a:endCxn id="7" idx="3"/>
          </p:cNvCxnSpPr>
          <p:nvPr/>
        </p:nvCxnSpPr>
        <p:spPr>
          <a:xfrm flipH="1">
            <a:off x="8118268" y="4198608"/>
            <a:ext cx="1141122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9EE19444-4418-24A4-EC0D-6A9225F69E7E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ptr-2-ptr.c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01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/>
      <p:bldP spid="6" grpId="1"/>
      <p:bldP spid="7" grpId="0" animBg="1"/>
      <p:bldP spid="9" grpId="0"/>
      <p:bldP spid="10" grpId="0"/>
      <p:bldP spid="10" grpId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020F-7738-57AA-EC4A-8A02814E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7432A5-7127-DCC3-89B5-C0A3D501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指向指针的指针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C5153-BE06-3594-9588-6153942FA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另一种解决方案：函数返回指针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int*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/>
              <a:t>make_ptr</a:t>
            </a:r>
            <a:r>
              <a:rPr lang="en-US" altLang="zh-CN" dirty="0"/>
              <a:t>() {</a:t>
            </a:r>
          </a:p>
          <a:p>
            <a:pPr marL="457200" lvl="1" indent="0">
              <a:buNone/>
            </a:pPr>
            <a:r>
              <a:rPr lang="en-US" altLang="zh-CN" dirty="0"/>
              <a:t>   </a:t>
            </a:r>
            <a:r>
              <a:rPr lang="en-US" altLang="zh-CN" b="1" i="1" dirty="0">
                <a:solidFill>
                  <a:srgbClr val="FF0000"/>
                </a:solidFill>
              </a:rPr>
              <a:t>return</a:t>
            </a:r>
            <a:r>
              <a:rPr lang="en-US" altLang="zh-CN" b="1" i="1" dirty="0">
                <a:solidFill>
                  <a:srgbClr val="FFC000"/>
                </a:solidFill>
              </a:rPr>
              <a:t> </a:t>
            </a:r>
            <a:r>
              <a:rPr lang="en-US" altLang="zh-CN" dirty="0"/>
              <a:t>(int *)malloc(…);</a:t>
            </a:r>
          </a:p>
          <a:p>
            <a:pPr marL="457200" lvl="1" indent="0">
              <a:buNone/>
            </a:pPr>
            <a:r>
              <a:rPr lang="en-US" altLang="zh-CN" dirty="0"/>
              <a:t>}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p = </a:t>
            </a:r>
            <a:r>
              <a:rPr lang="en-US" altLang="zh-CN" dirty="0" err="1"/>
              <a:t>make_ptr</a:t>
            </a:r>
            <a:r>
              <a:rPr lang="en-US" altLang="zh-CN" dirty="0"/>
              <a:t>();</a:t>
            </a:r>
          </a:p>
        </p:txBody>
      </p:sp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425CB74B-B90B-2A77-F134-D52ABCFDD259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ptr-2-ptr.c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02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24E4C-1467-7DA0-5A21-A42834A1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可选过程 5">
            <a:extLst>
              <a:ext uri="{FF2B5EF4-FFF2-40B4-BE49-F238E27FC236}">
                <a16:creationId xmlns:a16="http://schemas.microsoft.com/office/drawing/2014/main" id="{3B8B19A0-6BD0-BFC2-4DE7-6A3F5D961C2E}"/>
              </a:ext>
            </a:extLst>
          </p:cNvPr>
          <p:cNvSpPr/>
          <p:nvPr/>
        </p:nvSpPr>
        <p:spPr>
          <a:xfrm>
            <a:off x="3925909" y="2572555"/>
            <a:ext cx="4340181" cy="17128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/>
              <a:t>指向函数的指针</a:t>
            </a:r>
          </a:p>
        </p:txBody>
      </p:sp>
    </p:spTree>
    <p:extLst>
      <p:ext uri="{BB962C8B-B14F-4D97-AF65-F5344CB8AC3E}">
        <p14:creationId xmlns:p14="http://schemas.microsoft.com/office/powerpoint/2010/main" val="405329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B4C92-70FC-432F-8D89-CE6DCCC8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1A0729-75D4-4C80-A82A-2E014DD0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例如有函数定义：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f(int</a:t>
            </a:r>
            <a:r>
              <a:rPr lang="zh-CN" altLang="en-US" dirty="0"/>
              <a:t> </a:t>
            </a:r>
            <a:r>
              <a:rPr lang="en-US" altLang="zh-CN" dirty="0"/>
              <a:t>a) { return ++a; }</a:t>
            </a:r>
          </a:p>
          <a:p>
            <a:pPr marL="0" indent="0">
              <a:buNone/>
            </a:pPr>
            <a:r>
              <a:rPr lang="zh-CN" altLang="en-US" dirty="0"/>
              <a:t>那么函数</a:t>
            </a:r>
            <a:r>
              <a:rPr lang="en-US" altLang="zh-CN" dirty="0"/>
              <a:t>f</a:t>
            </a:r>
            <a:r>
              <a:rPr lang="zh-CN" altLang="en-US" dirty="0"/>
              <a:t>的类型就是：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3200" b="1" i="1" dirty="0">
                <a:solidFill>
                  <a:srgbClr val="FF0000"/>
                </a:solidFill>
              </a:rPr>
              <a:t>int (int)</a:t>
            </a:r>
          </a:p>
        </p:txBody>
      </p:sp>
    </p:spTree>
    <p:extLst>
      <p:ext uri="{BB962C8B-B14F-4D97-AF65-F5344CB8AC3E}">
        <p14:creationId xmlns:p14="http://schemas.microsoft.com/office/powerpoint/2010/main" val="426210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B4C92-70FC-432F-8D89-CE6DCCC8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函数类型：</a:t>
            </a:r>
            <a:r>
              <a:rPr lang="en-US" altLang="zh-CN" dirty="0"/>
              <a:t>typedef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1A0729-75D4-4C80-A82A-2E014DD0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200" dirty="0"/>
              <a:t>用</a:t>
            </a:r>
            <a:r>
              <a:rPr lang="en-US" altLang="zh-CN" sz="2200" dirty="0"/>
              <a:t>typedef</a:t>
            </a:r>
            <a:r>
              <a:rPr lang="zh-CN" altLang="en-US" sz="2200" dirty="0"/>
              <a:t>定义函数类型：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3200" b="1" i="1" dirty="0">
                <a:solidFill>
                  <a:srgbClr val="00B0F0"/>
                </a:solidFill>
              </a:rPr>
              <a:t>typedef</a:t>
            </a:r>
            <a:r>
              <a:rPr lang="en-US" altLang="zh-CN" sz="3200" b="1" i="1" dirty="0">
                <a:solidFill>
                  <a:srgbClr val="FFC000"/>
                </a:solidFill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</a:rPr>
              <a:t>int</a:t>
            </a:r>
            <a:r>
              <a:rPr lang="en-US" altLang="zh-CN" sz="3200" b="1" i="1" dirty="0">
                <a:solidFill>
                  <a:srgbClr val="FFC000"/>
                </a:solidFill>
              </a:rPr>
              <a:t> </a:t>
            </a:r>
            <a:r>
              <a:rPr lang="en-US" altLang="zh-CN" sz="3200" b="1" i="1" dirty="0">
                <a:solidFill>
                  <a:srgbClr val="92D050"/>
                </a:solidFill>
              </a:rPr>
              <a:t>FN</a:t>
            </a:r>
            <a:r>
              <a:rPr lang="en-US" altLang="zh-CN" sz="3200" b="1" i="1" dirty="0">
                <a:solidFill>
                  <a:srgbClr val="FF0000"/>
                </a:solidFill>
              </a:rPr>
              <a:t>(int);</a:t>
            </a:r>
          </a:p>
          <a:p>
            <a:pPr marL="0" indent="0">
              <a:buNone/>
            </a:pPr>
            <a:r>
              <a:rPr lang="zh-CN" altLang="en-US" sz="2200" dirty="0"/>
              <a:t>在这个类型定义中：</a:t>
            </a:r>
            <a:endParaRPr lang="en-US" altLang="zh-CN" sz="2200" dirty="0"/>
          </a:p>
          <a:p>
            <a:r>
              <a:rPr lang="zh-CN" altLang="en-US" sz="2200" dirty="0"/>
              <a:t>新名字是</a:t>
            </a:r>
            <a:r>
              <a:rPr lang="en-US" altLang="zh-CN" sz="2200" b="1" dirty="0">
                <a:solidFill>
                  <a:srgbClr val="FF0000"/>
                </a:solidFill>
              </a:rPr>
              <a:t>FN</a:t>
            </a:r>
            <a:r>
              <a:rPr lang="zh-CN" altLang="en-US" sz="2200" dirty="0"/>
              <a:t>，这是一种</a:t>
            </a:r>
            <a:r>
              <a:rPr lang="zh-CN" altLang="en-US" sz="2200" b="1" dirty="0">
                <a:solidFill>
                  <a:srgbClr val="FF0000"/>
                </a:solidFill>
              </a:rPr>
              <a:t>类型</a:t>
            </a:r>
            <a:r>
              <a:rPr lang="zh-CN" altLang="en-US" sz="2200" dirty="0"/>
              <a:t>的名字</a:t>
            </a:r>
            <a:endParaRPr lang="en-US" altLang="zh-CN" sz="2200" dirty="0"/>
          </a:p>
          <a:p>
            <a:r>
              <a:rPr lang="zh-CN" altLang="en-US" sz="2200" dirty="0"/>
              <a:t>去掉</a:t>
            </a:r>
            <a:r>
              <a:rPr lang="en-US" altLang="zh-CN" sz="2200" dirty="0"/>
              <a:t>FN</a:t>
            </a:r>
            <a:r>
              <a:rPr lang="zh-CN" altLang="en-US" sz="2200" dirty="0"/>
              <a:t>后，剩下的部分是：</a:t>
            </a:r>
            <a:r>
              <a:rPr lang="en-US" altLang="zh-CN" sz="2200" b="1" i="1" dirty="0">
                <a:solidFill>
                  <a:srgbClr val="FF0000"/>
                </a:solidFill>
              </a:rPr>
              <a:t>int (int)</a:t>
            </a:r>
            <a:r>
              <a:rPr lang="zh-CN" altLang="en-US" sz="2200" dirty="0"/>
              <a:t>，这就是</a:t>
            </a:r>
            <a:r>
              <a:rPr lang="en-US" altLang="zh-CN" sz="2200" dirty="0"/>
              <a:t>FN</a:t>
            </a:r>
            <a:r>
              <a:rPr lang="zh-CN" altLang="en-US" sz="2200" dirty="0"/>
              <a:t>代表的原类型。很明显，这是一种函数类型</a:t>
            </a:r>
            <a:endParaRPr lang="en-US" altLang="zh-CN" sz="2200" dirty="0"/>
          </a:p>
          <a:p>
            <a:r>
              <a:rPr lang="zh-CN" altLang="en-US" sz="2200" dirty="0"/>
              <a:t>综上，</a:t>
            </a:r>
            <a:r>
              <a:rPr lang="en-US" altLang="zh-CN" sz="2200" dirty="0"/>
              <a:t>FN</a:t>
            </a:r>
            <a:r>
              <a:rPr lang="zh-CN" altLang="en-US" sz="2200" dirty="0"/>
              <a:t>就是</a:t>
            </a:r>
            <a:r>
              <a:rPr lang="zh-CN" altLang="en-US" sz="2200" b="1" dirty="0">
                <a:solidFill>
                  <a:srgbClr val="FF0000"/>
                </a:solidFill>
              </a:rPr>
              <a:t>函数类型。</a:t>
            </a:r>
            <a:endParaRPr lang="en-US" altLang="zh-CN" sz="2200" b="1" dirty="0">
              <a:solidFill>
                <a:srgbClr val="FF0000"/>
              </a:solidFill>
            </a:endParaRPr>
          </a:p>
          <a:p>
            <a:r>
              <a:rPr lang="zh-CN" altLang="en-US" sz="2200" dirty="0"/>
              <a:t>属于这种类型的函数有这样的特征：</a:t>
            </a:r>
            <a:r>
              <a:rPr lang="zh-CN" altLang="en-US" sz="2200" b="1" dirty="0">
                <a:solidFill>
                  <a:srgbClr val="FF0000"/>
                </a:solidFill>
              </a:rPr>
              <a:t>有一个整型参数，返回类型为整型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FFC3FD41-7B3F-D4B3-BDAD-EF703AF7B09F}"/>
              </a:ext>
            </a:extLst>
          </p:cNvPr>
          <p:cNvSpPr/>
          <p:nvPr/>
        </p:nvSpPr>
        <p:spPr>
          <a:xfrm>
            <a:off x="6445876" y="1427386"/>
            <a:ext cx="2955701" cy="1167706"/>
          </a:xfrm>
          <a:prstGeom prst="wedgeRectCallout">
            <a:avLst>
              <a:gd name="adj1" fmla="val -70251"/>
              <a:gd name="adj2" fmla="val 8141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不能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定义函数类型的变量，例如：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algn="just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FN f; // error!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4EC50936-0ABA-986A-0681-9869F18A2C03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ptr-2-function.c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73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B4C92-70FC-432F-8D89-CE6DCCC8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1A0729-75D4-4C80-A82A-2E014DD0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函数类型常作为函数的参数类型。例如：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int g(</a:t>
            </a:r>
            <a:r>
              <a:rPr lang="en-US" altLang="zh-CN" sz="2000" b="1" i="1" dirty="0">
                <a:solidFill>
                  <a:srgbClr val="FF0000"/>
                </a:solidFill>
              </a:rPr>
              <a:t>int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fn</a:t>
            </a:r>
            <a:r>
              <a:rPr lang="en-US" altLang="zh-CN" sz="2000" b="1" i="1" dirty="0">
                <a:solidFill>
                  <a:srgbClr val="FF0000"/>
                </a:solidFill>
              </a:rPr>
              <a:t>(int)</a:t>
            </a:r>
            <a:r>
              <a:rPr lang="en-US" altLang="zh-CN" sz="2000" dirty="0"/>
              <a:t>, int x) { //</a:t>
            </a:r>
            <a:r>
              <a:rPr lang="zh-CN" altLang="en-US" sz="2000" dirty="0"/>
              <a:t>参数</a:t>
            </a:r>
            <a:r>
              <a:rPr lang="en-US" altLang="zh-CN" sz="2000" dirty="0" err="1"/>
              <a:t>fn</a:t>
            </a:r>
            <a:r>
              <a:rPr lang="zh-CN" altLang="en-US" sz="2000" dirty="0"/>
              <a:t>是个函数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return </a:t>
            </a:r>
            <a:r>
              <a:rPr lang="en-US" altLang="zh-CN" sz="2000" dirty="0" err="1"/>
              <a:t>fn</a:t>
            </a:r>
            <a:r>
              <a:rPr lang="en-US" altLang="zh-CN" sz="2000" dirty="0"/>
              <a:t>(x); //</a:t>
            </a:r>
            <a:r>
              <a:rPr lang="zh-CN" altLang="en-US" sz="2000" dirty="0"/>
              <a:t>调用参数</a:t>
            </a:r>
            <a:r>
              <a:rPr lang="en-US" altLang="zh-CN" sz="2000" dirty="0" err="1"/>
              <a:t>fn</a:t>
            </a:r>
            <a:r>
              <a:rPr lang="zh-CN" altLang="en-US" sz="2000" dirty="0"/>
              <a:t>代表的函数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}</a:t>
            </a:r>
          </a:p>
          <a:p>
            <a:r>
              <a:rPr lang="zh-CN" altLang="en-US" dirty="0"/>
              <a:t>参数</a:t>
            </a:r>
            <a:r>
              <a:rPr lang="en-US" altLang="zh-CN" dirty="0" err="1"/>
              <a:t>fn</a:t>
            </a:r>
            <a:r>
              <a:rPr lang="zh-CN" altLang="en-US" dirty="0"/>
              <a:t>的等价声明方式如下：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int g(</a:t>
            </a:r>
            <a:r>
              <a:rPr lang="en-US" altLang="zh-CN" sz="2000" b="1" i="1" dirty="0">
                <a:solidFill>
                  <a:srgbClr val="FF0000"/>
                </a:solidFill>
              </a:rPr>
              <a:t>FN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fn</a:t>
            </a:r>
            <a:r>
              <a:rPr lang="en-US" altLang="zh-CN" sz="2000" dirty="0"/>
              <a:t>, int x) { …</a:t>
            </a:r>
            <a:r>
              <a:rPr lang="zh-CN" altLang="en-US" sz="2000" dirty="0"/>
              <a:t> </a:t>
            </a:r>
            <a:r>
              <a:rPr lang="en-US" altLang="zh-CN" sz="2000" dirty="0"/>
              <a:t>}</a:t>
            </a:r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36AA86FB-89D1-CC14-C414-D3942DA4DFF2}"/>
              </a:ext>
            </a:extLst>
          </p:cNvPr>
          <p:cNvSpPr/>
          <p:nvPr/>
        </p:nvSpPr>
        <p:spPr>
          <a:xfrm>
            <a:off x="7057623" y="2376152"/>
            <a:ext cx="3561007" cy="2105695"/>
          </a:xfrm>
          <a:prstGeom prst="wedgeRectCallout">
            <a:avLst>
              <a:gd name="adj1" fmla="val -46560"/>
              <a:gd name="adj2" fmla="val 26835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 </a:t>
            </a:r>
            <a:r>
              <a:rPr lang="en-US" altLang="zh-CN" sz="2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(int a) {</a:t>
            </a:r>
          </a:p>
          <a:p>
            <a:pPr algn="just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return ++a;</a:t>
            </a:r>
          </a:p>
          <a:p>
            <a:pPr algn="just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</a:t>
            </a:r>
          </a:p>
          <a:p>
            <a:pPr algn="just"/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algn="just"/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g(</a:t>
            </a:r>
            <a:r>
              <a:rPr lang="en-US" altLang="zh-CN" sz="2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 1); //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将函数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传递给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g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FAB3AB3B-14DA-6410-1B99-CD9A052C8FF4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ptr-2-function.c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4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FB717-73F5-4DBD-B26B-D4F21ECB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95940-FE5F-4A37-BA1F-825BFA947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函数可以视为是一种对象，因此有地址，所以可以用指针指向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前面提得到的</a:t>
            </a:r>
            <a:r>
              <a:rPr lang="en-US" altLang="zh-CN" dirty="0"/>
              <a:t>f</a:t>
            </a:r>
            <a:r>
              <a:rPr lang="zh-CN" altLang="en-US" dirty="0"/>
              <a:t>函数的类型是：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3200" b="1" i="1" dirty="0">
                <a:solidFill>
                  <a:srgbClr val="FF0000"/>
                </a:solidFill>
              </a:rPr>
              <a:t>int (int)</a:t>
            </a:r>
          </a:p>
          <a:p>
            <a:pPr marL="0" indent="0">
              <a:buNone/>
            </a:pPr>
            <a:r>
              <a:rPr lang="zh-CN" altLang="en-US" dirty="0"/>
              <a:t>如果有指针指向这种类型的函数，那么该指针的针的基类型就是上述类型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CF232BFC-624B-5DE6-CE9B-3536F7111779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ptr-2-function.c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408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FB717-73F5-4DBD-B26B-D4F21ECBC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95940-FE5F-4A37-BA1F-825BFA947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定义指向函数的指针类型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3200" b="1" i="1" dirty="0">
                <a:solidFill>
                  <a:srgbClr val="FF0000"/>
                </a:solidFill>
              </a:rPr>
              <a:t>typedef int (*FPTR)(int);</a:t>
            </a:r>
          </a:p>
          <a:p>
            <a:pPr marL="0" indent="0">
              <a:buNone/>
            </a:pPr>
            <a:r>
              <a:rPr lang="zh-CN" altLang="en-US" dirty="0"/>
              <a:t>在这个类型定义中：</a:t>
            </a:r>
            <a:endParaRPr lang="en-US" altLang="zh-CN" dirty="0"/>
          </a:p>
          <a:p>
            <a:r>
              <a:rPr lang="zh-CN" altLang="en-US" dirty="0"/>
              <a:t>新名字是</a:t>
            </a:r>
            <a:r>
              <a:rPr lang="en-US" altLang="zh-CN" b="1" dirty="0">
                <a:solidFill>
                  <a:srgbClr val="FF0000"/>
                </a:solidFill>
              </a:rPr>
              <a:t>FPTR</a:t>
            </a:r>
            <a:r>
              <a:rPr lang="zh-CN" altLang="en-US" dirty="0"/>
              <a:t>，这是一种</a:t>
            </a:r>
            <a:r>
              <a:rPr lang="zh-CN" altLang="en-US" b="1" dirty="0">
                <a:solidFill>
                  <a:srgbClr val="FF0000"/>
                </a:solidFill>
              </a:rPr>
              <a:t>类型</a:t>
            </a:r>
            <a:r>
              <a:rPr lang="zh-CN" altLang="en-US" dirty="0"/>
              <a:t>的名字</a:t>
            </a:r>
            <a:endParaRPr lang="en-US" altLang="zh-CN" dirty="0"/>
          </a:p>
          <a:p>
            <a:r>
              <a:rPr lang="zh-CN" altLang="en-US" dirty="0"/>
              <a:t>这个名字因括起它的</a:t>
            </a:r>
            <a:r>
              <a:rPr lang="en-US" altLang="zh-CN" dirty="0"/>
              <a:t>()</a:t>
            </a:r>
            <a:r>
              <a:rPr lang="zh-CN" altLang="en-US" dirty="0"/>
              <a:t>的原因，先和</a:t>
            </a:r>
            <a:r>
              <a:rPr lang="en-US" altLang="zh-CN" b="1" i="1" dirty="0">
                <a:solidFill>
                  <a:srgbClr val="FF0000"/>
                </a:solidFill>
              </a:rPr>
              <a:t>*</a:t>
            </a:r>
            <a:r>
              <a:rPr lang="zh-CN" altLang="en-US" dirty="0"/>
              <a:t>结合，因此是一种</a:t>
            </a:r>
            <a:r>
              <a:rPr lang="zh-CN" altLang="en-US" b="1" dirty="0">
                <a:solidFill>
                  <a:srgbClr val="FF0000"/>
                </a:solidFill>
              </a:rPr>
              <a:t>指针类型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去掉</a:t>
            </a:r>
            <a:r>
              <a:rPr lang="en-US" altLang="zh-CN" dirty="0"/>
              <a:t>(*FPTR)</a:t>
            </a:r>
            <a:r>
              <a:rPr lang="zh-CN" altLang="en-US" dirty="0"/>
              <a:t>后，剩下的部分是：</a:t>
            </a:r>
            <a:r>
              <a:rPr lang="en-US" altLang="zh-CN" dirty="0"/>
              <a:t>int (int)</a:t>
            </a:r>
            <a:r>
              <a:rPr lang="zh-CN" altLang="en-US" dirty="0"/>
              <a:t>，这就是指针类型的基类型。很明显，这是一种函数类型</a:t>
            </a:r>
            <a:endParaRPr lang="en-US" altLang="zh-CN" dirty="0"/>
          </a:p>
          <a:p>
            <a:r>
              <a:rPr lang="zh-CN" altLang="en-US" dirty="0"/>
              <a:t>综上，</a:t>
            </a:r>
            <a:r>
              <a:rPr lang="en-US" altLang="zh-CN" dirty="0"/>
              <a:t>FPTR</a:t>
            </a:r>
            <a:r>
              <a:rPr lang="zh-CN" altLang="en-US" dirty="0"/>
              <a:t>就是</a:t>
            </a:r>
            <a:r>
              <a:rPr lang="zh-CN" altLang="en-US" b="1" dirty="0">
                <a:solidFill>
                  <a:srgbClr val="FF0000"/>
                </a:solidFill>
              </a:rPr>
              <a:t>指向函数的指针类型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F470EEE8-C875-DBA8-577D-2ECFDF5122A8}"/>
              </a:ext>
            </a:extLst>
          </p:cNvPr>
          <p:cNvSpPr/>
          <p:nvPr/>
        </p:nvSpPr>
        <p:spPr>
          <a:xfrm>
            <a:off x="0" y="6143777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ptr-2-function.c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02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ED3F2-E7A4-4E76-8056-249DB1B8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A7D7D-0DA7-427C-801F-7B683034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可以定义函数指针类型的变量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int f(int a) { return ++a; 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FPTR </a:t>
            </a:r>
            <a:r>
              <a:rPr lang="en-US" altLang="zh-CN" b="1" i="1" dirty="0" err="1">
                <a:solidFill>
                  <a:srgbClr val="FF0000"/>
                </a:solidFill>
              </a:rPr>
              <a:t>fp</a:t>
            </a:r>
            <a:r>
              <a:rPr lang="en-US" altLang="zh-CN" b="1" i="1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altLang="zh-CN" dirty="0" err="1"/>
              <a:t>fp</a:t>
            </a:r>
            <a:r>
              <a:rPr lang="en-US" altLang="zh-CN" dirty="0"/>
              <a:t> = f;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en-US" altLang="zh-CN" dirty="0" err="1"/>
              <a:t>fp</a:t>
            </a:r>
            <a:r>
              <a:rPr lang="zh-CN" altLang="en-US" dirty="0"/>
              <a:t>指向了函数</a:t>
            </a:r>
            <a:r>
              <a:rPr lang="en-US" altLang="zh-CN" dirty="0"/>
              <a:t>f</a:t>
            </a:r>
            <a:r>
              <a:rPr lang="zh-CN" altLang="en-US" dirty="0"/>
              <a:t>，等价于 </a:t>
            </a:r>
            <a:r>
              <a:rPr lang="en-US" altLang="zh-CN" dirty="0" err="1"/>
              <a:t>fp</a:t>
            </a:r>
            <a:r>
              <a:rPr lang="en-US" altLang="zh-CN" dirty="0"/>
              <a:t> = &amp;f;</a:t>
            </a:r>
          </a:p>
          <a:p>
            <a:pPr marL="0" indent="0">
              <a:buNone/>
            </a:pPr>
            <a:r>
              <a:rPr lang="en-US" altLang="zh-CN" dirty="0" err="1"/>
              <a:t>fp</a:t>
            </a:r>
            <a:r>
              <a:rPr lang="en-US" altLang="zh-CN" dirty="0"/>
              <a:t>(1);  //</a:t>
            </a:r>
            <a:r>
              <a:rPr lang="zh-CN" altLang="en-US" dirty="0"/>
              <a:t>通过调用</a:t>
            </a:r>
            <a:r>
              <a:rPr lang="en-US" altLang="zh-CN" dirty="0" err="1"/>
              <a:t>fp</a:t>
            </a:r>
            <a:r>
              <a:rPr lang="zh-CN" altLang="en-US" dirty="0"/>
              <a:t>调用</a:t>
            </a:r>
            <a:r>
              <a:rPr lang="en-US" altLang="zh-CN" dirty="0"/>
              <a:t>f</a:t>
            </a:r>
            <a:r>
              <a:rPr lang="zh-CN" altLang="en-US" dirty="0"/>
              <a:t>函数。等价于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(*</a:t>
            </a:r>
            <a:r>
              <a:rPr lang="en-US" altLang="zh-CN" dirty="0" err="1">
                <a:sym typeface="Wingdings" panose="05000000000000000000" pitchFamily="2" charset="2"/>
              </a:rPr>
              <a:t>fp</a:t>
            </a:r>
            <a:r>
              <a:rPr lang="en-US" altLang="zh-CN" dirty="0">
                <a:sym typeface="Wingdings" panose="05000000000000000000" pitchFamily="2" charset="2"/>
              </a:rPr>
              <a:t>)(1)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72741773-B7E3-C785-1AC8-7F81E68DF2B7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ptr-2-function.c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927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2ABB6-7DEA-4258-625E-39B4B081A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6128C-D46D-CD36-1C76-9B256EC6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730CE-BAFA-3F74-E93E-49C24FF2E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指向函数的指针类型可以作为参数类型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g(</a:t>
            </a:r>
            <a:r>
              <a:rPr lang="en-US" altLang="zh-CN" b="1" i="1" dirty="0">
                <a:solidFill>
                  <a:srgbClr val="FF0000"/>
                </a:solidFill>
              </a:rPr>
              <a:t>FPTR</a:t>
            </a:r>
            <a:r>
              <a:rPr lang="en-US" altLang="zh-CN" dirty="0"/>
              <a:t> </a:t>
            </a:r>
            <a:r>
              <a:rPr lang="en-US" altLang="zh-CN" dirty="0" err="1"/>
              <a:t>fn</a:t>
            </a:r>
            <a:r>
              <a:rPr lang="en-US" altLang="zh-CN" dirty="0"/>
              <a:t>, int x) { return </a:t>
            </a:r>
            <a:r>
              <a:rPr lang="en-US" altLang="zh-CN" dirty="0" err="1"/>
              <a:t>fn</a:t>
            </a:r>
            <a:r>
              <a:rPr lang="en-US" altLang="zh-CN" dirty="0"/>
              <a:t>(x); }</a:t>
            </a:r>
          </a:p>
          <a:p>
            <a:pPr marL="0" indent="0">
              <a:buNone/>
            </a:pPr>
            <a:r>
              <a:rPr lang="en-US" altLang="zh-CN" dirty="0"/>
              <a:t>g(f, 1); //</a:t>
            </a:r>
            <a:r>
              <a:rPr lang="zh-CN" altLang="en-US" dirty="0"/>
              <a:t>将函数</a:t>
            </a:r>
            <a:r>
              <a:rPr lang="en-US" altLang="zh-CN" dirty="0"/>
              <a:t>f</a:t>
            </a:r>
            <a:r>
              <a:rPr lang="zh-CN" altLang="en-US" dirty="0"/>
              <a:t>作为参数传递给</a:t>
            </a:r>
            <a:r>
              <a:rPr lang="en-US" altLang="zh-CN" dirty="0"/>
              <a:t>g</a:t>
            </a:r>
            <a:r>
              <a:rPr lang="zh-CN" altLang="en-US" dirty="0"/>
              <a:t>函数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80EC34F1-023D-153A-8A11-814559D0CEB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ptr-2-function.c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52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ED3F2-E7A4-4E76-8056-249DB1B8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A7D7D-0DA7-427C-801F-7B6830341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函数参数和函数指针参数是等价的：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g(</a:t>
            </a:r>
            <a:r>
              <a:rPr lang="en-US" altLang="zh-CN" b="1" i="1" dirty="0">
                <a:solidFill>
                  <a:srgbClr val="FF0000"/>
                </a:solidFill>
              </a:rPr>
              <a:t>int </a:t>
            </a:r>
            <a:r>
              <a:rPr lang="en-US" altLang="zh-CN" b="1" i="1" dirty="0" err="1">
                <a:solidFill>
                  <a:srgbClr val="FF0000"/>
                </a:solidFill>
              </a:rPr>
              <a:t>fn</a:t>
            </a:r>
            <a:r>
              <a:rPr lang="en-US" altLang="zh-CN" b="1" i="1" dirty="0">
                <a:solidFill>
                  <a:srgbClr val="FF0000"/>
                </a:solidFill>
              </a:rPr>
              <a:t>(int)</a:t>
            </a:r>
            <a:r>
              <a:rPr lang="en-US" altLang="zh-CN" dirty="0"/>
              <a:t>, int x); //</a:t>
            </a:r>
            <a:r>
              <a:rPr lang="zh-CN" altLang="en-US" dirty="0"/>
              <a:t>函数参数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g(</a:t>
            </a:r>
            <a:r>
              <a:rPr lang="en-US" altLang="zh-CN" b="1" i="1" dirty="0">
                <a:solidFill>
                  <a:srgbClr val="FF0000"/>
                </a:solidFill>
              </a:rPr>
              <a:t>int (*</a:t>
            </a:r>
            <a:r>
              <a:rPr lang="en-US" altLang="zh-CN" b="1" i="1" dirty="0" err="1">
                <a:solidFill>
                  <a:srgbClr val="FF0000"/>
                </a:solidFill>
              </a:rPr>
              <a:t>fn</a:t>
            </a:r>
            <a:r>
              <a:rPr lang="en-US" altLang="zh-CN" b="1" i="1" dirty="0">
                <a:solidFill>
                  <a:srgbClr val="FF0000"/>
                </a:solidFill>
              </a:rPr>
              <a:t>)(int)</a:t>
            </a:r>
            <a:r>
              <a:rPr lang="en-US" altLang="zh-CN" dirty="0"/>
              <a:t>, int x); //</a:t>
            </a:r>
            <a:r>
              <a:rPr lang="zh-CN" altLang="en-US" dirty="0"/>
              <a:t>函数指针参数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g(</a:t>
            </a:r>
            <a:r>
              <a:rPr lang="en-US" altLang="zh-CN" b="1" i="1" dirty="0">
                <a:solidFill>
                  <a:srgbClr val="FF0000"/>
                </a:solidFill>
              </a:rPr>
              <a:t>FN </a:t>
            </a:r>
            <a:r>
              <a:rPr lang="en-US" altLang="zh-CN" b="1" i="1" dirty="0" err="1">
                <a:solidFill>
                  <a:srgbClr val="FF0000"/>
                </a:solidFill>
              </a:rPr>
              <a:t>fn</a:t>
            </a:r>
            <a:r>
              <a:rPr lang="en-US" altLang="zh-CN" dirty="0"/>
              <a:t>, int x);   //FN -&gt; int (int)</a:t>
            </a:r>
            <a:r>
              <a:rPr lang="zh-CN" altLang="en-US" dirty="0"/>
              <a:t>，函数参数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g(</a:t>
            </a:r>
            <a:r>
              <a:rPr lang="en-US" altLang="zh-CN" b="1" i="1" dirty="0">
                <a:solidFill>
                  <a:srgbClr val="FF0000"/>
                </a:solidFill>
              </a:rPr>
              <a:t>FPTR </a:t>
            </a:r>
            <a:r>
              <a:rPr lang="en-US" altLang="zh-CN" b="1" i="1" dirty="0" err="1">
                <a:solidFill>
                  <a:srgbClr val="FF0000"/>
                </a:solidFill>
              </a:rPr>
              <a:t>fn</a:t>
            </a:r>
            <a:r>
              <a:rPr lang="en-US" altLang="zh-CN" dirty="0"/>
              <a:t>, int x); //FPTR -&gt; int (*)(int)</a:t>
            </a:r>
            <a:r>
              <a:rPr lang="zh-CN" altLang="en-US" dirty="0"/>
              <a:t>，函数指针参数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A9DBD76A-A311-6B8F-C305-90A87A4A1BB2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ptr-2-function.c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65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9507-6B16-6477-80E6-4CB409CB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BAF91-80EE-3136-390E-F0A2CEBC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B230FF-81C2-FB0C-4BFB-417DC53FB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函数指针类型可以作为函数的返回值类型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FPTR</a:t>
            </a:r>
            <a:r>
              <a:rPr lang="en-US" altLang="zh-CN" dirty="0"/>
              <a:t> </a:t>
            </a:r>
            <a:r>
              <a:rPr lang="en-US" altLang="zh-CN" dirty="0" err="1"/>
              <a:t>get_f</a:t>
            </a:r>
            <a:r>
              <a:rPr lang="en-US" altLang="zh-CN" dirty="0"/>
              <a:t>() {</a:t>
            </a:r>
          </a:p>
          <a:p>
            <a:pPr marL="0" indent="0">
              <a:buNone/>
            </a:pPr>
            <a:r>
              <a:rPr lang="en-US" altLang="zh-CN" dirty="0"/>
              <a:t>    return </a:t>
            </a:r>
            <a:r>
              <a:rPr lang="en-US" altLang="zh-CN" b="1" i="1" dirty="0">
                <a:solidFill>
                  <a:srgbClr val="FF0000"/>
                </a:solidFill>
              </a:rPr>
              <a:t>f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i="1" dirty="0" err="1">
                <a:solidFill>
                  <a:srgbClr val="FF0000"/>
                </a:solidFill>
              </a:rPr>
              <a:t>get_f</a:t>
            </a:r>
            <a:r>
              <a:rPr lang="en-US" altLang="zh-CN" b="1" i="1" dirty="0">
                <a:solidFill>
                  <a:srgbClr val="FF0000"/>
                </a:solidFill>
              </a:rPr>
              <a:t>()</a:t>
            </a:r>
            <a:r>
              <a:rPr lang="en-US" altLang="zh-CN" dirty="0"/>
              <a:t>(1);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0924C5F8-E4AF-6048-D644-C14E65BCB556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ptr-2-function.c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26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C79F5-DE6F-ADDD-9255-E06B3E69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回调函数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71D23-1607-B501-6A08-662C7A446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215"/>
            <a:ext cx="10515600" cy="4963387"/>
          </a:xfrm>
        </p:spPr>
        <p:txBody>
          <a:bodyPr/>
          <a:lstStyle/>
          <a:p>
            <a:r>
              <a:rPr lang="zh-CN" altLang="en-US" dirty="0"/>
              <a:t>作为参数的函数往往称为“</a:t>
            </a:r>
            <a:r>
              <a:rPr lang="zh-CN" altLang="en-US" b="1" dirty="0">
                <a:solidFill>
                  <a:srgbClr val="FF0000"/>
                </a:solidFill>
              </a:rPr>
              <a:t>回调函数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callback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回调函数的一个常用场景是：用作数组</a:t>
            </a:r>
            <a:r>
              <a:rPr lang="en-US" altLang="zh-CN" dirty="0"/>
              <a:t>/</a:t>
            </a:r>
            <a:r>
              <a:rPr lang="zh-CN" altLang="en-US" dirty="0"/>
              <a:t>链表遍历时访问元素</a:t>
            </a:r>
            <a:r>
              <a:rPr lang="en-US" altLang="zh-CN" dirty="0"/>
              <a:t>/</a:t>
            </a:r>
            <a:r>
              <a:rPr lang="zh-CN" altLang="en-US" dirty="0"/>
              <a:t>结点的函数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4391D17-8724-D842-E637-F8C04DBFC516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callback.c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2151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1785</TotalTime>
  <Words>1164</Words>
  <Application>Microsoft Office PowerPoint</Application>
  <PresentationFormat>宽屏</PresentationFormat>
  <Paragraphs>184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Arial</vt:lpstr>
      <vt:lpstr>Consolas</vt:lpstr>
      <vt:lpstr>Fira Code</vt:lpstr>
      <vt:lpstr>Wingdings</vt:lpstr>
      <vt:lpstr>Office 主题​​</vt:lpstr>
      <vt:lpstr>指针的高级应用</vt:lpstr>
      <vt:lpstr>PowerPoint 演示文稿</vt:lpstr>
      <vt:lpstr>内存重解释：使用指针</vt:lpstr>
      <vt:lpstr>内存重解释：使用指针</vt:lpstr>
      <vt:lpstr>内存重解释：使用指针</vt:lpstr>
      <vt:lpstr>内存重解释：使用联合</vt:lpstr>
      <vt:lpstr>内存重解释：使用联合</vt:lpstr>
      <vt:lpstr>PowerPoint 演示文稿</vt:lpstr>
      <vt:lpstr>指向指针的指针</vt:lpstr>
      <vt:lpstr>指向指针的指针</vt:lpstr>
      <vt:lpstr>指向指针的指针</vt:lpstr>
      <vt:lpstr>指向指针的指针</vt:lpstr>
      <vt:lpstr>PowerPoint 演示文稿</vt:lpstr>
      <vt:lpstr>函数类型</vt:lpstr>
      <vt:lpstr>函数类型：typedef</vt:lpstr>
      <vt:lpstr>函数类型</vt:lpstr>
      <vt:lpstr>指向函数的指针</vt:lpstr>
      <vt:lpstr>指向函数的指针</vt:lpstr>
      <vt:lpstr>指向函数的指针</vt:lpstr>
      <vt:lpstr>指向函数的指针</vt:lpstr>
      <vt:lpstr>指向函数的指针</vt:lpstr>
      <vt:lpstr>指向函数的指针</vt:lpstr>
      <vt:lpstr>回调函数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999</cp:revision>
  <dcterms:created xsi:type="dcterms:W3CDTF">2021-10-07T04:52:51Z</dcterms:created>
  <dcterms:modified xsi:type="dcterms:W3CDTF">2025-01-04T02:13:58Z</dcterms:modified>
</cp:coreProperties>
</file>