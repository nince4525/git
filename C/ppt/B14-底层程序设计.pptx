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2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494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9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2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30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8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31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0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15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8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732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底层程序设计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504DE-046D-432C-AC75-B8B18167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AEE46-610D-4C82-9FAB-DB049F04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移位：对所有整数类型有效</a:t>
            </a:r>
            <a:endParaRPr lang="en-US" altLang="zh-CN" dirty="0"/>
          </a:p>
          <a:p>
            <a:pPr lvl="1"/>
            <a:r>
              <a:rPr lang="zh-CN" altLang="en-US" dirty="0"/>
              <a:t>左移：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&lt;&lt;</a:t>
            </a:r>
            <a:r>
              <a:rPr lang="en-US" altLang="zh-CN" dirty="0"/>
              <a:t> j	</a:t>
            </a:r>
            <a:r>
              <a:rPr lang="en-US" altLang="zh-CN" dirty="0" err="1"/>
              <a:t>i</a:t>
            </a:r>
            <a:r>
              <a:rPr lang="zh-CN" altLang="en-US" dirty="0"/>
              <a:t>的所有二进制位向左移动</a:t>
            </a:r>
            <a:r>
              <a:rPr lang="en-US" altLang="zh-CN" dirty="0"/>
              <a:t>j</a:t>
            </a:r>
            <a:r>
              <a:rPr lang="zh-CN" altLang="en-US" dirty="0"/>
              <a:t>位；移出部分被丢弃，右边补</a:t>
            </a:r>
            <a:r>
              <a:rPr lang="en-US" altLang="zh-CN" dirty="0"/>
              <a:t>0</a:t>
            </a:r>
          </a:p>
          <a:p>
            <a:pPr lvl="2"/>
            <a:r>
              <a:rPr lang="zh-CN" altLang="en-US" dirty="0"/>
              <a:t>等效于：</a:t>
            </a:r>
            <a:r>
              <a:rPr lang="en-US" altLang="zh-CN" dirty="0" err="1"/>
              <a:t>i</a:t>
            </a:r>
            <a:r>
              <a:rPr lang="en-US" altLang="zh-CN" dirty="0"/>
              <a:t> * 2</a:t>
            </a:r>
            <a:r>
              <a:rPr lang="en-US" altLang="zh-CN" baseline="30000" dirty="0"/>
              <a:t>j</a:t>
            </a:r>
          </a:p>
          <a:p>
            <a:pPr lvl="1"/>
            <a:r>
              <a:rPr lang="zh-CN" altLang="en-US" dirty="0"/>
              <a:t>右移：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&gt;&gt;</a:t>
            </a:r>
            <a:r>
              <a:rPr lang="en-US" altLang="zh-CN" dirty="0"/>
              <a:t> j	</a:t>
            </a:r>
            <a:r>
              <a:rPr lang="en-US" altLang="zh-CN" dirty="0" err="1"/>
              <a:t>i</a:t>
            </a:r>
            <a:r>
              <a:rPr lang="zh-CN" altLang="en-US" dirty="0"/>
              <a:t>的所有二进制位向右移动</a:t>
            </a:r>
            <a:r>
              <a:rPr lang="en-US" altLang="zh-CN" dirty="0"/>
              <a:t>j</a:t>
            </a:r>
            <a:r>
              <a:rPr lang="zh-CN" altLang="en-US" dirty="0"/>
              <a:t>位；移出部分被丢弃，右边补原最高位</a:t>
            </a:r>
            <a:endParaRPr lang="en-US" altLang="zh-CN" dirty="0"/>
          </a:p>
          <a:p>
            <a:pPr lvl="2"/>
            <a:r>
              <a:rPr lang="zh-CN" altLang="en-US" dirty="0"/>
              <a:t>等效于：</a:t>
            </a:r>
            <a:r>
              <a:rPr lang="en-US" altLang="zh-CN" dirty="0" err="1"/>
              <a:t>i</a:t>
            </a:r>
            <a:r>
              <a:rPr lang="en-US" altLang="zh-CN" dirty="0"/>
              <a:t> / 2</a:t>
            </a:r>
            <a:r>
              <a:rPr lang="en-US" altLang="zh-CN" baseline="30000" dirty="0"/>
              <a:t>j</a:t>
            </a:r>
            <a:endParaRPr lang="zh-CN" altLang="en-US" baseline="30000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5D79E8B0-AACE-3114-2112-8C8156039B12}"/>
              </a:ext>
            </a:extLst>
          </p:cNvPr>
          <p:cNvSpPr/>
          <p:nvPr/>
        </p:nvSpPr>
        <p:spPr>
          <a:xfrm>
            <a:off x="4878946" y="3845414"/>
            <a:ext cx="2434107" cy="740535"/>
          </a:xfrm>
          <a:prstGeom prst="wedgeRectCallout">
            <a:avLst>
              <a:gd name="adj1" fmla="val 30225"/>
              <a:gd name="adj2" fmla="val -11923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整数用</a:t>
            </a:r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表示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14F05AF1-391F-61F9-F7FD-B8B0FE9D609B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bitops.c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6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4A4BD-EC22-4F09-99F6-3DD62B45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F113F-76F4-4BD1-8924-7422F481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按位求反 </a:t>
            </a:r>
            <a:r>
              <a:rPr lang="en-US" altLang="zh-CN" b="1" dirty="0">
                <a:solidFill>
                  <a:srgbClr val="FF0000"/>
                </a:solidFill>
              </a:rPr>
              <a:t>~</a:t>
            </a:r>
          </a:p>
          <a:p>
            <a:pPr marL="457200" lvl="1" indent="0">
              <a:buNone/>
            </a:pPr>
            <a:r>
              <a:rPr lang="en-US" altLang="zh-CN" dirty="0"/>
              <a:t>char a = 0xF0; 	/*11110000*/</a:t>
            </a:r>
          </a:p>
          <a:p>
            <a:pPr marL="457200" lvl="1" indent="0">
              <a:buNone/>
            </a:pPr>
            <a:r>
              <a:rPr lang="en-US" altLang="zh-CN" dirty="0"/>
              <a:t>~a </a:t>
            </a:r>
            <a:r>
              <a:rPr lang="en-US" altLang="zh-CN" dirty="0">
                <a:sym typeface="Wingdings" panose="05000000000000000000" pitchFamily="2" charset="2"/>
              </a:rPr>
              <a:t> 0x0F 	/*00001111*/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按位与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&amp;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char b = 0xC5,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1000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01*/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m = 0x94;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0010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b &amp; m  0x84 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0000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00*/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B17267C5-7F62-5F4D-B0E8-BEEE651E49F8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bitops.c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10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4A4BD-EC22-4F09-99F6-3DD62B45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F113F-76F4-4BD1-8924-7422F481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按位或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|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char b = 0xC5,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11</a:t>
            </a:r>
            <a:r>
              <a:rPr lang="en-US" altLang="zh-CN" dirty="0">
                <a:sym typeface="Wingdings" panose="05000000000000000000" pitchFamily="2" charset="2"/>
              </a:rPr>
              <a:t>000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m = 0x94;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b | m  0xD5  	/*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按位异或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^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char b = 0xC5, 	/*1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010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m = 0x94; 	/*1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010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b ^ m  0x51  	/*0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000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634191F7-9505-A535-9BB2-050F2B2A2395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bitops.c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3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49011-CF70-496C-97C0-32FC59A0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D3948D-21F1-457F-96D4-C8E9C5C5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清位和置位</a:t>
            </a:r>
            <a:endParaRPr lang="en-US" altLang="zh-CN" dirty="0"/>
          </a:p>
          <a:p>
            <a:pPr lvl="1"/>
            <a:r>
              <a:rPr lang="zh-CN" altLang="en-US" dirty="0"/>
              <a:t>掩码</a:t>
            </a:r>
            <a:r>
              <a:rPr lang="en-US" altLang="zh-CN" dirty="0"/>
              <a:t>mask</a:t>
            </a:r>
            <a:r>
              <a:rPr lang="zh-CN" altLang="en-US" dirty="0"/>
              <a:t>：与掩码（清位）和或掩码（置位）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char b = 0xBE, 		/*1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111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     cm = 0xEF, 		/*111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1111*/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	 </a:t>
            </a:r>
            <a:r>
              <a:rPr lang="en-US" altLang="zh-CN" dirty="0" err="1">
                <a:sym typeface="Wingdings" panose="05000000000000000000" pitchFamily="2" charset="2"/>
              </a:rPr>
              <a:t>sm</a:t>
            </a:r>
            <a:r>
              <a:rPr lang="en-US" altLang="zh-CN" dirty="0">
                <a:sym typeface="Wingdings" panose="05000000000000000000" pitchFamily="2" charset="2"/>
              </a:rPr>
              <a:t> = 0x10; 		/*0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00000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b &amp; cm 	 0xAE		/*101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0</a:t>
            </a:r>
            <a:r>
              <a:rPr lang="en-US" altLang="zh-CN" dirty="0">
                <a:sym typeface="Wingdings" panose="05000000000000000000" pitchFamily="2" charset="2"/>
              </a:rPr>
              <a:t>1110*/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b | </a:t>
            </a:r>
            <a:r>
              <a:rPr lang="en-US" altLang="zh-CN" dirty="0" err="1">
                <a:sym typeface="Wingdings" panose="05000000000000000000" pitchFamily="2" charset="2"/>
              </a:rPr>
              <a:t>sm</a:t>
            </a:r>
            <a:r>
              <a:rPr lang="en-US" altLang="zh-CN" dirty="0">
                <a:sym typeface="Wingdings" panose="05000000000000000000" pitchFamily="2" charset="2"/>
              </a:rPr>
              <a:t> 	 0xFF		/*1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11111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*/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77B8CFD-F163-286B-6A3A-E9A17EEDB59E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bitops.c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2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B54F6-F8E1-4706-AB29-913F4E82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结构中的位域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33A16-1826-482D-B138-3EEA751E5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struct date {</a:t>
            </a:r>
          </a:p>
          <a:p>
            <a:pPr marL="0" indent="0">
              <a:buNone/>
            </a:pPr>
            <a:r>
              <a:rPr lang="en-US" altLang="zh-CN" dirty="0"/>
              <a:t>	int year, month, day;</a:t>
            </a:r>
          </a:p>
          <a:p>
            <a:pPr marL="0" indent="0">
              <a:buNone/>
            </a:pPr>
            <a:r>
              <a:rPr lang="en-US" altLang="zh-CN" dirty="0"/>
              <a:t>}; //</a:t>
            </a:r>
            <a:r>
              <a:rPr lang="zh-CN" altLang="en-US" dirty="0"/>
              <a:t>这个结构占据</a:t>
            </a:r>
            <a:r>
              <a:rPr lang="en-US" altLang="zh-CN" dirty="0"/>
              <a:t>12B / 96b</a:t>
            </a:r>
          </a:p>
          <a:p>
            <a:pPr marL="0" indent="0">
              <a:buNone/>
            </a:pPr>
            <a:r>
              <a:rPr lang="zh-CN" altLang="en-US" dirty="0"/>
              <a:t>问题是：三个成员需要这么长吗？</a:t>
            </a:r>
            <a:endParaRPr lang="en-US" altLang="zh-CN" dirty="0"/>
          </a:p>
          <a:p>
            <a:pPr lvl="1"/>
            <a:r>
              <a:rPr lang="en-US" altLang="zh-CN" dirty="0"/>
              <a:t>day</a:t>
            </a:r>
            <a:r>
              <a:rPr lang="zh-CN" altLang="en-US" dirty="0"/>
              <a:t>：</a:t>
            </a:r>
            <a:r>
              <a:rPr lang="en-US" altLang="zh-CN" dirty="0"/>
              <a:t>	2</a:t>
            </a:r>
            <a:r>
              <a:rPr lang="zh-CN" altLang="en-US" dirty="0"/>
              <a:t>位十进制值，最大不超过</a:t>
            </a:r>
            <a:r>
              <a:rPr lang="en-US" altLang="zh-CN" dirty="0"/>
              <a:t>31</a:t>
            </a:r>
            <a:r>
              <a:rPr lang="zh-CN" altLang="en-US" dirty="0"/>
              <a:t>，因此</a:t>
            </a:r>
            <a:r>
              <a:rPr lang="en-US" altLang="zh-CN" dirty="0"/>
              <a:t>5</a:t>
            </a:r>
            <a:r>
              <a:rPr lang="zh-CN" altLang="en-US" dirty="0"/>
              <a:t>位二进制就够了</a:t>
            </a:r>
            <a:endParaRPr lang="en-US" altLang="zh-CN" dirty="0"/>
          </a:p>
          <a:p>
            <a:pPr lvl="1"/>
            <a:r>
              <a:rPr lang="en-US" altLang="zh-CN" dirty="0"/>
              <a:t>month</a:t>
            </a:r>
            <a:r>
              <a:rPr lang="zh-CN" altLang="en-US" dirty="0"/>
              <a:t>：</a:t>
            </a:r>
            <a:r>
              <a:rPr lang="en-US" altLang="zh-CN" dirty="0"/>
              <a:t>	2</a:t>
            </a:r>
            <a:r>
              <a:rPr lang="zh-CN" altLang="en-US" dirty="0"/>
              <a:t>位十进制值，最大不超过</a:t>
            </a:r>
            <a:r>
              <a:rPr lang="en-US" altLang="zh-CN" dirty="0"/>
              <a:t>12</a:t>
            </a:r>
            <a:r>
              <a:rPr lang="zh-CN" altLang="en-US" dirty="0"/>
              <a:t>，因此</a:t>
            </a:r>
            <a:r>
              <a:rPr lang="en-US" altLang="zh-CN" dirty="0"/>
              <a:t>4</a:t>
            </a:r>
            <a:r>
              <a:rPr lang="zh-CN" altLang="en-US" dirty="0"/>
              <a:t>位二进制就够了</a:t>
            </a:r>
            <a:endParaRPr lang="en-US" altLang="zh-CN" dirty="0"/>
          </a:p>
          <a:p>
            <a:pPr lvl="1"/>
            <a:r>
              <a:rPr lang="en-US" altLang="zh-CN" dirty="0"/>
              <a:t>year</a:t>
            </a:r>
            <a:r>
              <a:rPr lang="zh-CN" altLang="en-US" dirty="0"/>
              <a:t>：</a:t>
            </a:r>
            <a:r>
              <a:rPr lang="en-US" altLang="zh-CN" dirty="0"/>
              <a:t>	4</a:t>
            </a:r>
            <a:r>
              <a:rPr lang="zh-CN" altLang="en-US" dirty="0"/>
              <a:t>位十进制，最大不超过</a:t>
            </a:r>
            <a:r>
              <a:rPr lang="en-US" altLang="zh-CN" dirty="0"/>
              <a:t>9999</a:t>
            </a:r>
            <a:r>
              <a:rPr lang="zh-CN" altLang="en-US" dirty="0"/>
              <a:t>，因此</a:t>
            </a:r>
            <a:r>
              <a:rPr lang="en-US" altLang="zh-CN" dirty="0"/>
              <a:t>14</a:t>
            </a:r>
            <a:r>
              <a:rPr lang="zh-CN" altLang="en-US" dirty="0"/>
              <a:t>位二进制就够了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010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B54F6-F8E1-4706-AB29-913F4E820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结构中的位域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33A16-1826-482D-B138-3EEA751E5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解决方案：将结构压缩在一个无符号整数（</a:t>
            </a:r>
            <a:r>
              <a:rPr lang="en-US" altLang="zh-CN" dirty="0"/>
              <a:t>32</a:t>
            </a:r>
            <a:r>
              <a:rPr lang="zh-CN" altLang="en-US" dirty="0"/>
              <a:t>位）中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struct date {</a:t>
            </a:r>
          </a:p>
          <a:p>
            <a:pPr marL="0" indent="0">
              <a:buNone/>
            </a:pPr>
            <a:r>
              <a:rPr lang="en-US" altLang="zh-CN" dirty="0"/>
              <a:t>	unsigned day</a:t>
            </a:r>
            <a:r>
              <a:rPr lang="en-US" altLang="zh-CN" b="1" dirty="0">
                <a:solidFill>
                  <a:srgbClr val="FF0000"/>
                </a:solidFill>
              </a:rPr>
              <a:t>: 5</a:t>
            </a:r>
            <a:r>
              <a:rPr lang="en-US" altLang="zh-CN" dirty="0"/>
              <a:t>;		//</a:t>
            </a:r>
            <a:r>
              <a:rPr lang="zh-CN" altLang="en-US" dirty="0"/>
              <a:t>成员</a:t>
            </a:r>
            <a:r>
              <a:rPr lang="en-US" altLang="zh-CN" dirty="0"/>
              <a:t>day</a:t>
            </a:r>
            <a:r>
              <a:rPr lang="zh-CN" altLang="en-US" dirty="0"/>
              <a:t>只占据</a:t>
            </a:r>
            <a:r>
              <a:rPr lang="en-US" altLang="zh-CN" dirty="0"/>
              <a:t>5</a:t>
            </a:r>
            <a:r>
              <a:rPr lang="zh-CN" altLang="en-US" dirty="0"/>
              <a:t>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unsigned month</a:t>
            </a:r>
            <a:r>
              <a:rPr lang="en-US" altLang="zh-CN" b="1" dirty="0">
                <a:solidFill>
                  <a:srgbClr val="FF0000"/>
                </a:solidFill>
              </a:rPr>
              <a:t>: 4</a:t>
            </a:r>
            <a:r>
              <a:rPr lang="en-US" altLang="zh-CN" dirty="0"/>
              <a:t>;	//</a:t>
            </a:r>
            <a:r>
              <a:rPr lang="zh-CN" altLang="en-US" dirty="0"/>
              <a:t>成员</a:t>
            </a:r>
            <a:r>
              <a:rPr lang="en-US" altLang="zh-CN" dirty="0"/>
              <a:t>month</a:t>
            </a:r>
            <a:r>
              <a:rPr lang="zh-CN" altLang="en-US" dirty="0"/>
              <a:t>只占据</a:t>
            </a:r>
            <a:r>
              <a:rPr lang="en-US" altLang="zh-CN" dirty="0"/>
              <a:t>4</a:t>
            </a:r>
            <a:r>
              <a:rPr lang="zh-CN" altLang="en-US" dirty="0"/>
              <a:t>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unsigned year</a:t>
            </a:r>
            <a:r>
              <a:rPr lang="en-US" altLang="zh-CN" b="1" dirty="0">
                <a:solidFill>
                  <a:srgbClr val="FF0000"/>
                </a:solidFill>
              </a:rPr>
              <a:t>: 23</a:t>
            </a:r>
            <a:r>
              <a:rPr lang="en-US" altLang="zh-CN" dirty="0"/>
              <a:t>;	//</a:t>
            </a:r>
            <a:r>
              <a:rPr lang="zh-CN" altLang="en-US" dirty="0"/>
              <a:t>成员</a:t>
            </a:r>
            <a:r>
              <a:rPr lang="en-US" altLang="zh-CN" dirty="0"/>
              <a:t>year</a:t>
            </a:r>
            <a:r>
              <a:rPr lang="zh-CN" altLang="en-US" dirty="0"/>
              <a:t>填满剩下的</a:t>
            </a:r>
            <a:r>
              <a:rPr lang="en-US" altLang="zh-CN" dirty="0"/>
              <a:t>23</a:t>
            </a:r>
            <a:r>
              <a:rPr lang="zh-CN" altLang="en-US" dirty="0"/>
              <a:t>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F9BE081-DFFB-8DA0-885D-E797692690E5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Consolas" panose="020B0609020204030204" pitchFamily="49" charset="0"/>
              </a:rPr>
              <a:t>bitfield</a:t>
            </a:r>
            <a:r>
              <a:rPr lang="en-US" altLang="zh-CN" sz="1400" dirty="0">
                <a:latin typeface="Consolas" panose="020B0609020204030204" pitchFamily="49" charset="0"/>
              </a:rPr>
              <a:t>*.c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47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31358-D99C-46A5-9CF1-CD860CE3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结构中的位域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3F33A-DF11-479F-8632-B13D6D964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可以对位于的成员进行赋值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struct date d;</a:t>
            </a:r>
          </a:p>
          <a:p>
            <a:pPr marL="0" indent="0">
              <a:buNone/>
            </a:pPr>
            <a:r>
              <a:rPr lang="en-US" altLang="zh-CN" dirty="0" err="1"/>
              <a:t>d.year</a:t>
            </a:r>
            <a:r>
              <a:rPr lang="en-US" altLang="zh-CN" dirty="0"/>
              <a:t> = 2021; </a:t>
            </a:r>
            <a:r>
              <a:rPr lang="en-US" altLang="zh-CN" dirty="0" err="1"/>
              <a:t>d.month</a:t>
            </a:r>
            <a:r>
              <a:rPr lang="en-US" altLang="zh-CN" dirty="0"/>
              <a:t> = 12; </a:t>
            </a:r>
            <a:r>
              <a:rPr lang="en-US" altLang="zh-CN" dirty="0" err="1"/>
              <a:t>d.day</a:t>
            </a:r>
            <a:r>
              <a:rPr lang="en-US" altLang="zh-CN"/>
              <a:t> = 13;</a:t>
            </a:r>
            <a:endParaRPr lang="en-US" altLang="zh-CN" dirty="0"/>
          </a:p>
          <a:p>
            <a:r>
              <a:rPr lang="zh-CN" altLang="en-US" dirty="0"/>
              <a:t>位域的成员没有地址！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2730F5E-CEDB-2661-48F0-181E66B25CA1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bitfield.c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2483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1788</TotalTime>
  <Words>498</Words>
  <Application>Microsoft Office PowerPoint</Application>
  <PresentationFormat>宽屏</PresentationFormat>
  <Paragraphs>60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Consolas</vt:lpstr>
      <vt:lpstr>Wingdings</vt:lpstr>
      <vt:lpstr>Office 主题​​</vt:lpstr>
      <vt:lpstr>底层程序设计</vt:lpstr>
      <vt:lpstr>位运算</vt:lpstr>
      <vt:lpstr>位运算</vt:lpstr>
      <vt:lpstr>位运算</vt:lpstr>
      <vt:lpstr>位运算的应用</vt:lpstr>
      <vt:lpstr>结构中的位域</vt:lpstr>
      <vt:lpstr>结构中的位域</vt:lpstr>
      <vt:lpstr>结构中的位域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917</cp:revision>
  <dcterms:created xsi:type="dcterms:W3CDTF">2021-10-07T04:52:51Z</dcterms:created>
  <dcterms:modified xsi:type="dcterms:W3CDTF">2025-01-04T02:17:48Z</dcterms:modified>
</cp:coreProperties>
</file>